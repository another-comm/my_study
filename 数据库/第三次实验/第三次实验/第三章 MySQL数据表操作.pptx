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3" r:id="rId4"/>
    <p:sldId id="284" r:id="rId5"/>
    <p:sldId id="303" r:id="rId6"/>
    <p:sldId id="304" r:id="rId7"/>
    <p:sldId id="305" r:id="rId8"/>
    <p:sldId id="306" r:id="rId9"/>
    <p:sldId id="323" r:id="rId10"/>
    <p:sldId id="307" r:id="rId11"/>
    <p:sldId id="308" r:id="rId12"/>
    <p:sldId id="326" r:id="rId13"/>
    <p:sldId id="324" r:id="rId14"/>
    <p:sldId id="325" r:id="rId15"/>
    <p:sldId id="327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09" r:id="rId25"/>
    <p:sldId id="310" r:id="rId26"/>
    <p:sldId id="311" r:id="rId27"/>
    <p:sldId id="312" r:id="rId28"/>
    <p:sldId id="313" r:id="rId29"/>
    <p:sldId id="289" r:id="rId30"/>
    <p:sldId id="290" r:id="rId31"/>
    <p:sldId id="291" r:id="rId32"/>
    <p:sldId id="292" r:id="rId33"/>
    <p:sldId id="322" r:id="rId34"/>
    <p:sldId id="294" r:id="rId35"/>
    <p:sldId id="293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72319" autoAdjust="0"/>
  </p:normalViewPr>
  <p:slideViewPr>
    <p:cSldViewPr>
      <p:cViewPr varScale="1">
        <p:scale>
          <a:sx n="64" d="100"/>
          <a:sy n="64" d="100"/>
        </p:scale>
        <p:origin x="165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387C57A-58E9-42F6-BEBA-1D429236CFDA}" type="datetimeFigureOut">
              <a:rPr lang="zh-CN" altLang="en-US" smtClean="0"/>
              <a:pPr/>
              <a:t>2024/4/3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3069471-EE9A-48D0-9853-9CEB3C0836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应用教程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第三章 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数据表操作管理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数据表</a:t>
            </a:r>
            <a:endParaRPr lang="en-US" altLang="zh-CN" dirty="0" smtClean="0"/>
          </a:p>
          <a:p>
            <a:r>
              <a:rPr lang="zh-CN" altLang="en-US" dirty="0" smtClean="0"/>
              <a:t>创建表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数据类型</a:t>
            </a:r>
            <a:endParaRPr lang="en-US" altLang="zh-CN" sz="16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1600" dirty="0" smtClean="0"/>
              <a:t>完整性约束</a:t>
            </a:r>
            <a:endParaRPr lang="en-US" altLang="zh-CN" dirty="0" smtClean="0"/>
          </a:p>
          <a:p>
            <a:r>
              <a:rPr lang="zh-CN" altLang="en-US" dirty="0" smtClean="0"/>
              <a:t>查看当前数据库下已有数据表</a:t>
            </a:r>
            <a:endParaRPr lang="en-US" altLang="zh-CN" dirty="0" smtClean="0"/>
          </a:p>
          <a:p>
            <a:r>
              <a:rPr lang="zh-CN" altLang="en-US" dirty="0" smtClean="0"/>
              <a:t>查看指定数据表的详细信息</a:t>
            </a:r>
            <a:endParaRPr lang="en-US" altLang="zh-CN" dirty="0" smtClean="0"/>
          </a:p>
          <a:p>
            <a:r>
              <a:rPr lang="zh-CN" altLang="en-US" dirty="0" smtClean="0"/>
              <a:t>查看表结构</a:t>
            </a:r>
            <a:endParaRPr lang="en-US" altLang="zh-CN" dirty="0" smtClean="0"/>
          </a:p>
          <a:p>
            <a:r>
              <a:rPr lang="zh-CN" altLang="en-US" dirty="0" smtClean="0"/>
              <a:t>删除指定的数据表</a:t>
            </a:r>
            <a:endParaRPr lang="en-US" altLang="zh-CN" dirty="0" smtClean="0"/>
          </a:p>
          <a:p>
            <a:r>
              <a:rPr lang="zh-CN" altLang="en-US" dirty="0" smtClean="0"/>
              <a:t>表结构相关操纵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是数据库最重要的组成部分之一，数据是保存在数据表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zh-CN" altLang="en-US" dirty="0"/>
              <a:t>数据表由行</a:t>
            </a:r>
            <a:r>
              <a:rPr lang="en-US" altLang="zh-CN" dirty="0"/>
              <a:t>(row)</a:t>
            </a:r>
            <a:r>
              <a:rPr lang="zh-CN" altLang="en-US" dirty="0"/>
              <a:t>和列</a:t>
            </a:r>
            <a:r>
              <a:rPr lang="en-US" altLang="zh-CN" dirty="0"/>
              <a:t>(column)</a:t>
            </a:r>
            <a:r>
              <a:rPr lang="zh-CN" altLang="en-US" dirty="0"/>
              <a:t>来</a:t>
            </a:r>
            <a:r>
              <a:rPr lang="zh-CN" altLang="en-US" dirty="0" smtClean="0"/>
              <a:t>组成</a:t>
            </a:r>
            <a:endParaRPr lang="en-US" altLang="zh-CN" dirty="0" smtClean="0"/>
          </a:p>
          <a:p>
            <a:r>
              <a:rPr lang="zh-CN" altLang="en-US" dirty="0"/>
              <a:t>每个数据表中至少有一列，行可以有零行一行或者多行</a:t>
            </a:r>
            <a:r>
              <a:rPr lang="zh-CN" altLang="en-US" dirty="0" smtClean="0"/>
              <a:t>组成</a:t>
            </a:r>
            <a:endParaRPr lang="en-US" altLang="zh-CN" dirty="0" smtClean="0"/>
          </a:p>
          <a:p>
            <a:r>
              <a:rPr lang="zh-CN" altLang="en-US" dirty="0"/>
              <a:t>表名要求唯一，不要包含特殊字符，最好含义明确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03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9"/>
            <a:ext cx="9731424" cy="252373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zh-CN" sz="2400" dirty="0"/>
              <a:t>CREATE TABLE [IF NOT EXISTS] </a:t>
            </a:r>
            <a:r>
              <a:rPr lang="en-US" altLang="zh-CN" sz="2400" dirty="0" err="1"/>
              <a:t>tbl_name</a:t>
            </a:r>
            <a:r>
              <a:rPr lang="en-US" altLang="zh-CN" sz="2400" dirty="0"/>
              <a:t>(</a:t>
            </a:r>
          </a:p>
          <a:p>
            <a:pPr marL="109728" indent="0">
              <a:buNone/>
            </a:pPr>
            <a:r>
              <a:rPr lang="zh-CN" altLang="en-US" sz="2400" dirty="0"/>
              <a:t>    字段名称 字段类型 </a:t>
            </a:r>
            <a:r>
              <a:rPr lang="en-US" altLang="zh-CN" sz="2400" dirty="0"/>
              <a:t>[</a:t>
            </a:r>
            <a:r>
              <a:rPr lang="zh-CN" altLang="en-US" sz="2400" dirty="0"/>
              <a:t>完整性约束条</a:t>
            </a:r>
            <a:r>
              <a:rPr lang="zh-CN" altLang="en-US" sz="2400"/>
              <a:t>件</a:t>
            </a:r>
            <a:r>
              <a:rPr lang="en-US" altLang="zh-CN" sz="2400" smtClean="0"/>
              <a:t>][COMMENT ‘string’],</a:t>
            </a:r>
            <a:endParaRPr lang="en-US" altLang="zh-CN" sz="2400" dirty="0"/>
          </a:p>
          <a:p>
            <a:pPr marL="109728" indent="0">
              <a:buNone/>
            </a:pPr>
            <a:r>
              <a:rPr lang="zh-CN" altLang="en-US" sz="2400" dirty="0"/>
              <a:t>    字段名称 字段类型 </a:t>
            </a:r>
            <a:r>
              <a:rPr lang="en-US" altLang="zh-CN" sz="2400" dirty="0"/>
              <a:t>[</a:t>
            </a:r>
            <a:r>
              <a:rPr lang="zh-CN" altLang="en-US" sz="2400" dirty="0"/>
              <a:t>完整性约束条</a:t>
            </a:r>
            <a:r>
              <a:rPr lang="zh-CN" altLang="en-US" sz="2400"/>
              <a:t>件</a:t>
            </a:r>
            <a:r>
              <a:rPr lang="en-US" altLang="zh-CN" sz="2400" smtClean="0"/>
              <a:t>][</a:t>
            </a:r>
            <a:r>
              <a:rPr lang="en-US" altLang="zh-CN" sz="2400"/>
              <a:t>COMMENT ‘string</a:t>
            </a:r>
            <a:r>
              <a:rPr lang="en-US" altLang="zh-CN" sz="2400" smtClean="0"/>
              <a:t>’],</a:t>
            </a:r>
            <a:endParaRPr lang="en-US" altLang="zh-CN" sz="2400" dirty="0"/>
          </a:p>
          <a:p>
            <a:pPr marL="109728" indent="0">
              <a:buNone/>
            </a:pPr>
            <a:r>
              <a:rPr lang="en-US" altLang="zh-CN" sz="2400" dirty="0"/>
              <a:t>...</a:t>
            </a:r>
          </a:p>
          <a:p>
            <a:pPr marL="109728" indent="0">
              <a:buNone/>
            </a:pPr>
            <a:r>
              <a:rPr lang="en-US" altLang="zh-CN" sz="2400" dirty="0" smtClean="0"/>
              <a:t>)[ENGINE</a:t>
            </a:r>
            <a:r>
              <a:rPr lang="en-US" altLang="zh-CN" sz="2400" dirty="0"/>
              <a:t>=</a:t>
            </a:r>
            <a:r>
              <a:rPr lang="zh-CN" altLang="en-US" sz="2400" dirty="0"/>
              <a:t>存储引擎 </a:t>
            </a:r>
            <a:r>
              <a:rPr lang="en-US" altLang="zh-CN" sz="2400" dirty="0"/>
              <a:t>CHARSET=</a:t>
            </a:r>
            <a:r>
              <a:rPr lang="zh-CN" altLang="en-US" sz="2400" dirty="0"/>
              <a:t>编码</a:t>
            </a:r>
            <a:r>
              <a:rPr lang="zh-CN" altLang="en-US" sz="2400" dirty="0" smtClean="0"/>
              <a:t>方式</a:t>
            </a:r>
            <a:r>
              <a:rPr lang="en-US" altLang="zh-CN" sz="2400" dirty="0" smtClean="0"/>
              <a:t>];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创建表</a:t>
            </a:r>
          </a:p>
        </p:txBody>
      </p:sp>
    </p:spTree>
    <p:extLst>
      <p:ext uri="{BB962C8B-B14F-4D97-AF65-F5344CB8AC3E}">
        <p14:creationId xmlns:p14="http://schemas.microsoft.com/office/powerpoint/2010/main" val="412988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2DA2BF"/>
              </a:buClr>
            </a:pPr>
            <a:r>
              <a:rPr lang="zh-CN" altLang="en-US" dirty="0">
                <a:solidFill>
                  <a:prstClr val="black"/>
                </a:solidFill>
              </a:rPr>
              <a:t>整型</a:t>
            </a:r>
            <a:endParaRPr lang="en-US" altLang="zh-CN" dirty="0">
              <a:solidFill>
                <a:prstClr val="black"/>
              </a:solidFill>
            </a:endParaRPr>
          </a:p>
          <a:p>
            <a:pPr lvl="0">
              <a:buClr>
                <a:srgbClr val="2DA2BF"/>
              </a:buClr>
            </a:pPr>
            <a:r>
              <a:rPr lang="zh-CN" altLang="en-US" dirty="0">
                <a:solidFill>
                  <a:prstClr val="black"/>
                </a:solidFill>
              </a:rPr>
              <a:t>浮点型</a:t>
            </a:r>
            <a:endParaRPr lang="en-US" altLang="zh-CN" dirty="0">
              <a:solidFill>
                <a:prstClr val="black"/>
              </a:solidFill>
            </a:endParaRPr>
          </a:p>
          <a:p>
            <a:pPr lvl="0">
              <a:buClr>
                <a:srgbClr val="2DA2BF"/>
              </a:buClr>
            </a:pPr>
            <a:r>
              <a:rPr lang="zh-CN" altLang="en-US" dirty="0">
                <a:solidFill>
                  <a:prstClr val="black"/>
                </a:solidFill>
              </a:rPr>
              <a:t>字符型</a:t>
            </a:r>
            <a:endParaRPr lang="en-US" altLang="zh-CN" dirty="0">
              <a:solidFill>
                <a:prstClr val="black"/>
              </a:solidFill>
            </a:endParaRPr>
          </a:p>
          <a:p>
            <a:pPr lvl="0">
              <a:buClr>
                <a:srgbClr val="2DA2BF"/>
              </a:buClr>
            </a:pPr>
            <a:r>
              <a:rPr lang="zh-CN" altLang="en-US" dirty="0">
                <a:solidFill>
                  <a:prstClr val="black"/>
                </a:solidFill>
              </a:rPr>
              <a:t>日</a:t>
            </a:r>
            <a:r>
              <a:rPr lang="zh-CN" altLang="en-US">
                <a:solidFill>
                  <a:prstClr val="black"/>
                </a:solidFill>
              </a:rPr>
              <a:t>期</a:t>
            </a:r>
            <a:r>
              <a:rPr lang="zh-CN" altLang="en-US" smtClean="0">
                <a:solidFill>
                  <a:prstClr val="black"/>
                </a:solidFill>
              </a:rPr>
              <a:t>型</a:t>
            </a:r>
            <a:endParaRPr lang="en-US" altLang="zh-CN" smtClean="0">
              <a:solidFill>
                <a:prstClr val="black"/>
              </a:solidFill>
            </a:endParaRPr>
          </a:p>
          <a:p>
            <a:pPr lvl="0">
              <a:buClr>
                <a:srgbClr val="2DA2BF"/>
              </a:buClr>
            </a:pPr>
            <a:r>
              <a:rPr lang="en-US" altLang="zh-CN" smtClean="0">
                <a:solidFill>
                  <a:prstClr val="black"/>
                </a:solidFill>
              </a:rPr>
              <a:t>JSON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64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整型</a:t>
            </a:r>
            <a:endParaRPr lang="zh-CN" altLang="en-US" dirty="0"/>
          </a:p>
        </p:txBody>
      </p:sp>
      <p:pic>
        <p:nvPicPr>
          <p:cNvPr id="5" name="内容占位符 4" descr="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97" y="1268760"/>
            <a:ext cx="9049803" cy="4011117"/>
          </a:xfrm>
        </p:spPr>
      </p:pic>
    </p:spTree>
    <p:extLst>
      <p:ext uri="{BB962C8B-B14F-4D97-AF65-F5344CB8AC3E}">
        <p14:creationId xmlns:p14="http://schemas.microsoft.com/office/powerpoint/2010/main" val="203924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25" y="1883210"/>
            <a:ext cx="8229600" cy="3617042"/>
          </a:xfr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浮点型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29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字符型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8646492" cy="370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9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" t="23684" r="32356" b="2631"/>
          <a:stretch/>
        </p:blipFill>
        <p:spPr>
          <a:xfrm>
            <a:off x="251519" y="1916832"/>
            <a:ext cx="8450653" cy="2232248"/>
          </a:xfrm>
        </p:spPr>
      </p:pic>
    </p:spTree>
    <p:extLst>
      <p:ext uri="{BB962C8B-B14F-4D97-AF65-F5344CB8AC3E}">
        <p14:creationId xmlns:p14="http://schemas.microsoft.com/office/powerpoint/2010/main" val="64238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714488"/>
            <a:ext cx="8718301" cy="3573215"/>
          </a:xfr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日期型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6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日期型</a:t>
            </a:r>
            <a:r>
              <a:rPr lang="en-US" altLang="zh-CN" dirty="0" smtClean="0"/>
              <a:t>——DATETIME</a:t>
            </a:r>
            <a:r>
              <a:rPr lang="zh-CN" altLang="en-US" dirty="0" smtClean="0"/>
              <a:t>与</a:t>
            </a:r>
            <a:r>
              <a:rPr lang="en-US" dirty="0" smtClean="0"/>
              <a:t>TIMESTAMP</a:t>
            </a:r>
            <a:r>
              <a:rPr lang="zh-CN" altLang="en-US" dirty="0" smtClean="0"/>
              <a:t>的区别</a:t>
            </a:r>
            <a:r>
              <a:rPr lang="en-US" dirty="0" smtClean="0"/>
              <a:t/>
            </a:r>
            <a:br>
              <a:rPr lang="en-US" dirty="0" smtClean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8596" y="1428736"/>
            <a:ext cx="828680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相同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    显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TIMESTAMP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列的显示格式与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DATETIME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列相同。换句话说，显示宽度固定在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19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字符，并且格式为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YYYY-MM-DD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HH:MM:SS。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不同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    范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</a:rPr>
              <a:t>围</a:t>
            </a:r>
          </a:p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DATETIME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以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‘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YYYY-MM-DD HH:MM:SS’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格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式检索和显示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DATETIME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值。支持的范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围为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‘1000-01-01 00:00:00’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到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‘9999-12-31 23:59:59</a:t>
            </a:r>
            <a:r>
              <a:rPr lang="en-US" altLang="zh-CN" sz="240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’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defRPr/>
            </a:pPr>
            <a:r>
              <a:rPr lang="en-US" altLang="zh-CN" sz="2400" b="1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TIMESTAMP</a:t>
            </a:r>
            <a:r>
              <a:rPr lang="zh-CN" altLang="en-US" sz="24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值不能早于</a:t>
            </a:r>
            <a:r>
              <a:rPr lang="en-US" altLang="zh-CN" sz="24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1970</a:t>
            </a:r>
            <a:r>
              <a:rPr lang="zh-CN" altLang="en-US" sz="24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或晚于</a:t>
            </a:r>
            <a:r>
              <a:rPr lang="en-US" altLang="zh-CN" sz="24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2037</a:t>
            </a:r>
          </a:p>
          <a:p>
            <a:pPr>
              <a:defRPr/>
            </a:pPr>
            <a:endParaRPr lang="en-US" altLang="zh-CN" sz="2000" smtClean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9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endParaRPr lang="en-US" altLang="zh-CN" sz="2800">
              <a:solidFill>
                <a:prstClr val="black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zh-CN" altLang="en-US" sz="2800">
                <a:solidFill>
                  <a:prstClr val="black"/>
                </a:solidFill>
              </a:rPr>
              <a:t> </a:t>
            </a:r>
            <a:r>
              <a:rPr lang="zh-CN" altLang="en-US" sz="2800" smtClean="0">
                <a:solidFill>
                  <a:prstClr val="black"/>
                </a:solidFill>
              </a:rPr>
              <a:t>储</a:t>
            </a:r>
            <a:r>
              <a:rPr lang="zh-CN" altLang="en-US" sz="2800">
                <a:solidFill>
                  <a:prstClr val="black"/>
                </a:solidFill>
              </a:rPr>
              <a:t>存</a:t>
            </a:r>
          </a:p>
          <a:p>
            <a:pPr marL="109728" lvl="0" indent="0">
              <a:buNone/>
              <a:defRPr/>
            </a:pPr>
            <a:r>
              <a:rPr lang="en-US" altLang="zh-CN" sz="2800" b="1">
                <a:solidFill>
                  <a:prstClr val="black"/>
                </a:solidFill>
              </a:rPr>
              <a:t>TIMESTAMP </a:t>
            </a:r>
            <a:r>
              <a:rPr lang="en-US" altLang="zh-CN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个字节储存，存储空间比较小，表示的日期时间范围也比较小</a:t>
            </a:r>
            <a:r>
              <a:rPr lang="zh-CN" altLang="en-US" sz="280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。底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层存储方式不同，</a:t>
            </a:r>
            <a:r>
              <a:rPr lang="en-US" altLang="zh-CN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TIMESTAMP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底层存储的是毫秒值，距离</a:t>
            </a:r>
            <a:r>
              <a:rPr lang="en-US" altLang="zh-CN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1970-1-1 0:0:0 0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毫秒的毫秒值。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两个日期比较大小或日期计算时，</a:t>
            </a:r>
            <a:r>
              <a:rPr lang="en-US" altLang="zh-CN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TIMESTAMP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更方便、更快</a:t>
            </a:r>
            <a:r>
              <a:rPr lang="zh-CN" altLang="en-US" sz="280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800" smtClean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09728" indent="0">
              <a:buNone/>
              <a:defRPr/>
            </a:pPr>
            <a:r>
              <a:rPr lang="en-US" altLang="zh-CN" sz="2800" b="1" smtClean="0">
                <a:solidFill>
                  <a:prstClr val="black"/>
                </a:solidFill>
              </a:rPr>
              <a:t>DATETIME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按</a:t>
            </a:r>
            <a:r>
              <a:rPr lang="en-US" altLang="zh-CN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个字节储存，按实际格式储存</a:t>
            </a:r>
            <a:r>
              <a:rPr lang="zh-CN" altLang="en-US" sz="280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800" smtClean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defRPr/>
            </a:pPr>
            <a:endParaRPr lang="en-US" altLang="zh-CN" sz="280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2800" smtClean="0">
                <a:solidFill>
                  <a:prstClr val="black"/>
                </a:solidFill>
              </a:rPr>
              <a:t>时</a:t>
            </a:r>
            <a:r>
              <a:rPr lang="zh-CN" altLang="en-US" sz="2800">
                <a:solidFill>
                  <a:prstClr val="black"/>
                </a:solidFill>
              </a:rPr>
              <a:t>区</a:t>
            </a:r>
            <a:endParaRPr lang="en-US" altLang="zh-CN" sz="2800">
              <a:solidFill>
                <a:prstClr val="black"/>
              </a:solidFill>
            </a:endParaRPr>
          </a:p>
          <a:p>
            <a:pPr marL="109728" lvl="0" indent="0">
              <a:buNone/>
              <a:defRPr/>
            </a:pPr>
            <a:r>
              <a:rPr lang="en-US" altLang="zh-CN" sz="2800" b="1">
                <a:solidFill>
                  <a:prstClr val="black"/>
                </a:solidFill>
              </a:rPr>
              <a:t>TIMESTAMP</a:t>
            </a:r>
            <a:r>
              <a:rPr lang="zh-CN" altLang="en-US" sz="2800">
                <a:solidFill>
                  <a:prstClr val="black"/>
                </a:solidFill>
              </a:rPr>
              <a:t>和时区有关。</a:t>
            </a:r>
            <a:r>
              <a:rPr lang="en-US" altLang="zh-CN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TIMESTAMP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会根据用户的时区不同，显示不同的结果。</a:t>
            </a:r>
            <a:endParaRPr lang="en-US" altLang="zh-CN" sz="280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09728" indent="0">
              <a:buNone/>
              <a:defRPr/>
            </a:pPr>
            <a:r>
              <a:rPr lang="en-US" altLang="zh-CN" sz="2800" b="1">
                <a:solidFill>
                  <a:prstClr val="black"/>
                </a:solidFill>
              </a:rPr>
              <a:t>DATETIME</a:t>
            </a:r>
            <a:r>
              <a:rPr lang="zh-CN" altLang="en-US" sz="2800">
                <a:solidFill>
                  <a:prstClr val="black"/>
                </a:solidFill>
              </a:rPr>
              <a:t>与时区无关。</a:t>
            </a:r>
            <a:r>
              <a:rPr lang="zh-CN" altLang="en-US" sz="280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只能反映出插入时当地的时区，其他时区的人查看数据必然会有误差的。</a:t>
            </a:r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日期型</a:t>
            </a:r>
            <a:r>
              <a:rPr lang="en-US" altLang="zh-CN"/>
              <a:t>——DATETIME</a:t>
            </a:r>
            <a:r>
              <a:rPr lang="zh-CN" altLang="en-US"/>
              <a:t>与</a:t>
            </a:r>
            <a:r>
              <a:rPr lang="en-US" altLang="zh-CN"/>
              <a:t>TIMESTAMP</a:t>
            </a:r>
            <a:r>
              <a:rPr lang="zh-CN" altLang="en-US"/>
              <a:t>的区</a:t>
            </a:r>
            <a:r>
              <a:rPr lang="zh-CN" altLang="en-US" smtClean="0"/>
              <a:t>别（续）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35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4992" y="1268761"/>
            <a:ext cx="7501384" cy="2376264"/>
          </a:xfrm>
        </p:spPr>
        <p:txBody>
          <a:bodyPr>
            <a:noAutofit/>
          </a:bodyPr>
          <a:lstStyle/>
          <a:p>
            <a:r>
              <a:rPr lang="en-US" altLang="zh-CN" sz="2400" smtClean="0"/>
              <a:t>JSON</a:t>
            </a:r>
            <a:r>
              <a:rPr lang="zh-CN" altLang="en-US" sz="2400"/>
              <a:t>（</a:t>
            </a:r>
            <a:r>
              <a:rPr lang="en-US" altLang="zh-CN" sz="2400"/>
              <a:t>JavaScript Object Notation</a:t>
            </a:r>
            <a:r>
              <a:rPr lang="zh-CN" altLang="en-US" sz="2400"/>
              <a:t>）是一种轻量级的 数据交换格式 。简洁和清晰的层次结构使得 </a:t>
            </a:r>
            <a:r>
              <a:rPr lang="en-US" altLang="zh-CN" sz="2400"/>
              <a:t>JSON </a:t>
            </a:r>
            <a:r>
              <a:rPr lang="zh-CN" altLang="en-US" sz="2400"/>
              <a:t>成为理想的</a:t>
            </a:r>
            <a:r>
              <a:rPr lang="zh-CN" altLang="en-US" sz="2400">
                <a:solidFill>
                  <a:srgbClr val="FF0000"/>
                </a:solidFill>
              </a:rPr>
              <a:t>数据交换语言</a:t>
            </a:r>
            <a:r>
              <a:rPr lang="zh-CN" altLang="en-US" sz="2400" smtClean="0"/>
              <a:t>。</a:t>
            </a:r>
            <a:r>
              <a:rPr lang="en-US" altLang="zh-CN" sz="2400" smtClean="0"/>
              <a:t>JSON</a:t>
            </a:r>
            <a:r>
              <a:rPr lang="zh-CN" altLang="en-US" sz="2400" smtClean="0"/>
              <a:t>数据可</a:t>
            </a:r>
            <a:r>
              <a:rPr lang="zh-CN" altLang="en-US" sz="2400"/>
              <a:t>以在网络或者程序之间</a:t>
            </a:r>
            <a:r>
              <a:rPr lang="zh-CN" altLang="en-US" sz="2400" smtClean="0"/>
              <a:t>轻松</a:t>
            </a:r>
            <a:r>
              <a:rPr lang="zh-CN" altLang="en-US" sz="2400"/>
              <a:t>地传</a:t>
            </a:r>
            <a:r>
              <a:rPr lang="zh-CN" altLang="en-US" sz="2400" smtClean="0"/>
              <a:t>递，</a:t>
            </a:r>
            <a:r>
              <a:rPr lang="zh-CN" altLang="en-US" sz="2400"/>
              <a:t>并在需要的时候将它还原为各编程语言所支持的数据格式。在</a:t>
            </a:r>
            <a:r>
              <a:rPr lang="en-US" altLang="zh-CN" sz="2400"/>
              <a:t>MySQL 5.7</a:t>
            </a:r>
            <a:r>
              <a:rPr lang="zh-CN" altLang="en-US" sz="2400"/>
              <a:t>中，就已经支持</a:t>
            </a:r>
            <a:r>
              <a:rPr lang="en-US" altLang="zh-CN" sz="2400"/>
              <a:t>JSON</a:t>
            </a:r>
            <a:r>
              <a:rPr lang="zh-CN" altLang="en-US" sz="2400"/>
              <a:t>数据类型</a:t>
            </a:r>
            <a:r>
              <a:rPr lang="zh-CN" altLang="en-US" sz="2400" smtClean="0"/>
              <a:t>。</a:t>
            </a:r>
            <a:endParaRPr lang="zh-CN" altLang="en-US" sz="24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JSON</a:t>
            </a:r>
            <a:r>
              <a:rPr lang="zh-CN" altLang="en-US"/>
              <a:t>类型</a:t>
            </a:r>
          </a:p>
        </p:txBody>
      </p:sp>
    </p:spTree>
    <p:extLst>
      <p:ext uri="{BB962C8B-B14F-4D97-AF65-F5344CB8AC3E}">
        <p14:creationId xmlns:p14="http://schemas.microsoft.com/office/powerpoint/2010/main" val="410229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-10815" r="24868"/>
          <a:stretch/>
        </p:blipFill>
        <p:spPr>
          <a:xfrm>
            <a:off x="-1188640" y="1484784"/>
            <a:ext cx="10082181" cy="385453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3528" y="407707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JSON </a:t>
            </a:r>
            <a:r>
              <a:rPr lang="zh-CN" altLang="en-US" smtClean="0"/>
              <a:t>对象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3528" y="249289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JSON </a:t>
            </a:r>
            <a:r>
              <a:rPr lang="zh-CN" altLang="en-US" smtClean="0"/>
              <a:t>数组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340830"/>
              </p:ext>
            </p:extLst>
          </p:nvPr>
        </p:nvGraphicFramePr>
        <p:xfrm>
          <a:off x="35495" y="1844199"/>
          <a:ext cx="9108505" cy="3273606"/>
        </p:xfrm>
        <a:graphic>
          <a:graphicData uri="http://schemas.openxmlformats.org/drawingml/2006/table">
            <a:tbl>
              <a:tblPr/>
              <a:tblGrid>
                <a:gridCol w="130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9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36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03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Num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name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Sex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birthday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address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salary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51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 smtClean="0">
                          <a:latin typeface="+mn-ea"/>
                          <a:ea typeface="+mn-ea"/>
                          <a:cs typeface="Times New Roman"/>
                        </a:rPr>
                        <a:t>Smallint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char(10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latin typeface="+mn-ea"/>
                          <a:ea typeface="+mn-ea"/>
                          <a:cs typeface="Times New Roman"/>
                        </a:rPr>
                        <a:t>Varchar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(20)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latin typeface="+mn-ea"/>
                          <a:ea typeface="+mn-ea"/>
                          <a:cs typeface="Times New Roman"/>
                        </a:rPr>
                        <a:t>Enum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zh-CN" sz="1800" kern="100" dirty="0">
                          <a:latin typeface="+mn-ea"/>
                          <a:ea typeface="+mn-ea"/>
                          <a:cs typeface="Times New Roman"/>
                        </a:rPr>
                        <a:t>男</a:t>
                      </a:r>
                      <a:r>
                        <a:rPr lang="zh-CN" sz="1800" kern="100">
                          <a:latin typeface="+mn-ea"/>
                          <a:ea typeface="+mn-ea"/>
                          <a:cs typeface="Times New Roman"/>
                        </a:rPr>
                        <a:t>，</a:t>
                      </a:r>
                      <a:r>
                        <a:rPr lang="zh-CN" sz="1800" kern="100" smtClean="0">
                          <a:latin typeface="+mn-ea"/>
                          <a:ea typeface="+mn-ea"/>
                          <a:cs typeface="Times New Roman"/>
                        </a:rPr>
                        <a:t>女</a:t>
                      </a:r>
                      <a:r>
                        <a:rPr lang="zh-CN" altLang="en-US" sz="1800" kern="100" smtClean="0">
                          <a:latin typeface="+mn-ea"/>
                          <a:ea typeface="+mn-ea"/>
                          <a:cs typeface="Times New Roman"/>
                        </a:rPr>
                        <a:t>，保密</a:t>
                      </a: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Date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JSON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DECIMAL(8,2</a:t>
                      </a: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8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0001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n-ea"/>
                          <a:ea typeface="+mn-ea"/>
                          <a:cs typeface="Times New Roman"/>
                        </a:rPr>
                        <a:t>8133500127</a:t>
                      </a:r>
                      <a:endParaRPr lang="zh-CN" sz="1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张三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男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1969-02-22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8010.75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72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612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  员工表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87624" y="558924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en-US" altLang="zh-CN" kern="100">
                <a:latin typeface="+mn-ea"/>
                <a:cs typeface="Times New Roman"/>
              </a:rPr>
              <a:t>{"province":"</a:t>
            </a:r>
            <a:r>
              <a:rPr lang="zh-CN" altLang="en-US" kern="100">
                <a:latin typeface="+mn-ea"/>
                <a:cs typeface="Times New Roman"/>
              </a:rPr>
              <a:t>江苏</a:t>
            </a:r>
            <a:r>
              <a:rPr lang="en-US" altLang="zh-CN" kern="100">
                <a:latin typeface="+mn-ea"/>
                <a:cs typeface="Times New Roman"/>
              </a:rPr>
              <a:t>","city":"</a:t>
            </a:r>
            <a:r>
              <a:rPr lang="zh-CN" altLang="en-US" kern="100">
                <a:latin typeface="+mn-ea"/>
                <a:cs typeface="Times New Roman"/>
              </a:rPr>
              <a:t>无锡</a:t>
            </a:r>
            <a:r>
              <a:rPr lang="en-US" altLang="zh-CN" kern="100">
                <a:latin typeface="+mn-ea"/>
                <a:cs typeface="Times New Roman"/>
              </a:rPr>
              <a:t>","detail":"</a:t>
            </a:r>
            <a:r>
              <a:rPr lang="zh-CN" altLang="en-US" kern="100">
                <a:latin typeface="+mn-ea"/>
                <a:cs typeface="Times New Roman"/>
              </a:rPr>
              <a:t>万科城市花园</a:t>
            </a:r>
            <a:r>
              <a:rPr lang="en-US" altLang="zh-CN" kern="100">
                <a:latin typeface="+mn-ea"/>
                <a:cs typeface="Times New Roman"/>
              </a:rPr>
              <a:t>"}</a:t>
            </a:r>
            <a:endParaRPr lang="zh-CN" altLang="zh-CN" kern="100" dirty="0">
              <a:latin typeface="+mn-ea"/>
              <a:cs typeface="Times New Roman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732240" y="3861048"/>
            <a:ext cx="648072" cy="18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61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 smtClean="0">
                <a:solidFill>
                  <a:schemeClr val="bg2">
                    <a:lumMod val="50000"/>
                  </a:schemeClr>
                </a:solidFill>
              </a:rPr>
              <a:t>约束的功能</a:t>
            </a:r>
            <a:r>
              <a:rPr lang="en-US" altLang="zh-CN" b="1" dirty="0" smtClean="0">
                <a:solidFill>
                  <a:schemeClr val="bg2">
                    <a:lumMod val="50000"/>
                  </a:schemeClr>
                </a:solidFill>
              </a:rPr>
              <a:t>-</a:t>
            </a:r>
            <a:r>
              <a:rPr lang="zh-CN" altLang="en-US" b="1" dirty="0" smtClean="0">
                <a:solidFill>
                  <a:schemeClr val="bg2">
                    <a:lumMod val="50000"/>
                  </a:schemeClr>
                </a:solidFill>
              </a:rPr>
              <a:t>保证数据的完整性和一致性</a:t>
            </a:r>
            <a:endParaRPr lang="en-US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的空值与非空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自动编号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主键约束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唯一约束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默认约束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MySQL</a:t>
            </a:r>
            <a:r>
              <a:rPr lang="zh-CN" altLang="en-US" dirty="0" smtClean="0"/>
              <a:t>的外键约束</a:t>
            </a:r>
            <a:endParaRPr lang="en-US" altLang="zh-CN" dirty="0" smtClean="0"/>
          </a:p>
          <a:p>
            <a:pPr marL="624078" indent="-514350"/>
            <a:r>
              <a:rPr lang="zh-CN" altLang="en-US" b="1" dirty="0" smtClean="0">
                <a:solidFill>
                  <a:schemeClr val="bg2">
                    <a:lumMod val="50000"/>
                  </a:schemeClr>
                </a:solidFill>
              </a:rPr>
              <a:t>约束的数目</a:t>
            </a:r>
            <a:endParaRPr lang="en-US" altLang="zh-CN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624078" indent="-514350">
              <a:buFont typeface="+mj-lt"/>
              <a:buAutoNum type="arabicPeriod"/>
            </a:pPr>
            <a:r>
              <a:rPr lang="zh-CN" altLang="en-US" dirty="0" smtClean="0"/>
              <a:t>表级约束</a:t>
            </a:r>
            <a:endParaRPr lang="en-US" altLang="zh-CN" dirty="0" smtClean="0"/>
          </a:p>
          <a:p>
            <a:pPr marL="624078" indent="-514350">
              <a:buFont typeface="+mj-lt"/>
              <a:buAutoNum type="arabicPeriod"/>
            </a:pPr>
            <a:r>
              <a:rPr lang="zh-CN" altLang="en-US" dirty="0" smtClean="0"/>
              <a:t>列级约束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完整性约束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54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NULL</a:t>
            </a:r>
            <a:r>
              <a:rPr lang="zh-CN" altLang="en-US" dirty="0" smtClean="0"/>
              <a:t>，字段值可以为空</a:t>
            </a:r>
          </a:p>
          <a:p>
            <a:r>
              <a:rPr lang="en-US" dirty="0" smtClean="0"/>
              <a:t>NOT NULL</a:t>
            </a:r>
            <a:r>
              <a:rPr lang="zh-CN" altLang="en-US" dirty="0" smtClean="0"/>
              <a:t>，字段值禁止为空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非空约束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05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AUTO_INCREMENT</a:t>
            </a:r>
            <a:endParaRPr lang="zh-CN" altLang="en-US" dirty="0" smtClean="0"/>
          </a:p>
          <a:p>
            <a:r>
              <a:rPr lang="zh-CN" altLang="en-US" dirty="0" smtClean="0"/>
              <a:t>自动编号，</a:t>
            </a:r>
            <a:r>
              <a:rPr lang="zh-CN" altLang="en-US" dirty="0" smtClean="0">
                <a:solidFill>
                  <a:srgbClr val="FF0000"/>
                </a:solidFill>
              </a:rPr>
              <a:t>且必须与主键组合使用</a:t>
            </a:r>
          </a:p>
          <a:p>
            <a:r>
              <a:rPr lang="zh-CN" altLang="en-US" dirty="0" smtClean="0"/>
              <a:t>默认情况下，启始值为</a:t>
            </a:r>
            <a:r>
              <a:rPr lang="en-US" dirty="0" smtClean="0"/>
              <a:t>1</a:t>
            </a:r>
            <a:r>
              <a:rPr lang="zh-CN" altLang="en-US" dirty="0" smtClean="0"/>
              <a:t>，每次增量为</a:t>
            </a:r>
            <a:r>
              <a:rPr lang="en-US" dirty="0" smtClean="0"/>
              <a:t>1</a:t>
            </a:r>
          </a:p>
          <a:p>
            <a:r>
              <a:rPr lang="zh-CN" altLang="en-US" dirty="0" smtClean="0"/>
              <a:t>设置自动编号的字段，其取值必须为整型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2 </a:t>
            </a:r>
            <a:r>
              <a:rPr lang="en-US" dirty="0" smtClean="0"/>
              <a:t>MySQL</a:t>
            </a:r>
            <a:r>
              <a:rPr lang="zh-CN" altLang="en-US" dirty="0" smtClean="0"/>
              <a:t>自动编号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70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PRIMARY KEY</a:t>
            </a:r>
            <a:endParaRPr lang="zh-CN" altLang="en-US" dirty="0" smtClean="0"/>
          </a:p>
          <a:p>
            <a:r>
              <a:rPr lang="zh-CN" altLang="en-US" dirty="0" smtClean="0"/>
              <a:t>每张数据表</a:t>
            </a:r>
            <a:r>
              <a:rPr lang="zh-CN" altLang="en-US" dirty="0" smtClean="0">
                <a:solidFill>
                  <a:srgbClr val="FF0000"/>
                </a:solidFill>
              </a:rPr>
              <a:t>只能存在一个主键</a:t>
            </a:r>
          </a:p>
          <a:p>
            <a:r>
              <a:rPr lang="zh-CN" altLang="en-US" dirty="0" smtClean="0"/>
              <a:t>主键保证记录的唯一性</a:t>
            </a:r>
          </a:p>
          <a:p>
            <a:r>
              <a:rPr lang="zh-CN" altLang="en-US" dirty="0" smtClean="0"/>
              <a:t>主键自动为</a:t>
            </a:r>
            <a:r>
              <a:rPr lang="en-US" dirty="0" smtClean="0"/>
              <a:t>NOT NULL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3 </a:t>
            </a:r>
            <a:r>
              <a:rPr lang="en-US" dirty="0" smtClean="0"/>
              <a:t>MySQL</a:t>
            </a:r>
            <a:r>
              <a:rPr lang="zh-CN" altLang="en-US" dirty="0" smtClean="0"/>
              <a:t>主键约束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13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UNIQUE</a:t>
            </a:r>
            <a:endParaRPr lang="zh-CN" altLang="en-US" dirty="0" smtClean="0"/>
          </a:p>
          <a:p>
            <a:r>
              <a:rPr lang="zh-CN" altLang="en-US" dirty="0" smtClean="0"/>
              <a:t>唯一约束可以保证记录的唯一性</a:t>
            </a:r>
          </a:p>
          <a:p>
            <a:r>
              <a:rPr lang="zh-CN" altLang="en-US" dirty="0" smtClean="0"/>
              <a:t>唯一约束的字段可以为空值（</a:t>
            </a:r>
            <a:r>
              <a:rPr lang="en-US" dirty="0" smtClean="0"/>
              <a:t>NULL</a:t>
            </a:r>
            <a:r>
              <a:rPr lang="zh-CN" altLang="en-US" dirty="0" smtClean="0"/>
              <a:t>）</a:t>
            </a:r>
          </a:p>
          <a:p>
            <a:r>
              <a:rPr lang="zh-CN" altLang="en-US" dirty="0" smtClean="0"/>
              <a:t>每张数据表可以存在多个唯一约束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 </a:t>
            </a:r>
            <a:r>
              <a:rPr lang="en-US" dirty="0" smtClean="0"/>
              <a:t>MySQL</a:t>
            </a:r>
            <a:r>
              <a:rPr lang="zh-CN" altLang="en-US" dirty="0" smtClean="0"/>
              <a:t>唯一约束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274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DEFAULE</a:t>
            </a:r>
            <a:endParaRPr lang="zh-CN" altLang="en-US" dirty="0" smtClean="0"/>
          </a:p>
          <a:p>
            <a:r>
              <a:rPr lang="zh-CN" altLang="en-US" dirty="0" smtClean="0"/>
              <a:t>当插入记录时，如果没有明确为字段赋值，则自动赋予默认值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5 </a:t>
            </a:r>
            <a:r>
              <a:rPr lang="en-US" dirty="0" smtClean="0"/>
              <a:t>MySQL</a:t>
            </a:r>
            <a:r>
              <a:rPr lang="zh-CN" altLang="en-US" dirty="0" smtClean="0"/>
              <a:t>默认约束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22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FOREINGN KEY</a:t>
            </a:r>
            <a:endParaRPr lang="zh-CN" altLang="en-US" dirty="0" smtClean="0"/>
          </a:p>
          <a:p>
            <a:r>
              <a:rPr lang="zh-CN" altLang="en-US" dirty="0" smtClean="0"/>
              <a:t>保证数据一致性，完整性。</a:t>
            </a:r>
          </a:p>
          <a:p>
            <a:r>
              <a:rPr lang="zh-CN" altLang="en-US" dirty="0" smtClean="0"/>
              <a:t>实现一对一或一对多关系。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6 </a:t>
            </a:r>
            <a:r>
              <a:rPr lang="en-US" dirty="0" smtClean="0"/>
              <a:t>MySQL</a:t>
            </a:r>
            <a:r>
              <a:rPr lang="zh-CN" altLang="en-US" dirty="0" smtClean="0"/>
              <a:t>的外键约束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468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外键约束的要求：</a:t>
            </a:r>
          </a:p>
          <a:p>
            <a:pPr lvl="0"/>
            <a:r>
              <a:rPr lang="zh-CN" altLang="en-US" dirty="0" smtClean="0"/>
              <a:t>父表和子表必须使用相同的存储引擎，而且禁止使用临时表。</a:t>
            </a:r>
          </a:p>
          <a:p>
            <a:pPr lvl="0"/>
            <a:r>
              <a:rPr lang="zh-CN" altLang="en-US" dirty="0" smtClean="0"/>
              <a:t>数据表的存储引擎只能为</a:t>
            </a:r>
            <a:r>
              <a:rPr lang="en-US" dirty="0" err="1" smtClean="0"/>
              <a:t>InnoDB</a:t>
            </a:r>
            <a:r>
              <a:rPr lang="zh-CN" altLang="en-US" dirty="0" smtClean="0"/>
              <a:t>。</a:t>
            </a:r>
          </a:p>
          <a:p>
            <a:pPr lvl="0"/>
            <a:r>
              <a:rPr lang="zh-CN" altLang="en-US" dirty="0" smtClean="0"/>
              <a:t>外键列和参照列必须具有相似的数据类型，其中数字的长度或是否有符号位必须相同；而字符的长度则可以不同。</a:t>
            </a:r>
          </a:p>
          <a:p>
            <a:pPr lvl="0"/>
            <a:r>
              <a:rPr lang="zh-CN" altLang="en-US" dirty="0" smtClean="0"/>
              <a:t>外键列和参照列必须创建索引。如果外键列不存在索引的话，</a:t>
            </a:r>
            <a:r>
              <a:rPr lang="en-US" dirty="0" smtClean="0"/>
              <a:t>MySQL</a:t>
            </a:r>
            <a:r>
              <a:rPr lang="zh-CN" altLang="en-US" dirty="0" smtClean="0"/>
              <a:t>将自动创建索引。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创建表</a:t>
            </a:r>
            <a:r>
              <a:rPr lang="en-US" altLang="zh-CN" dirty="0"/>
              <a:t>——</a:t>
            </a:r>
            <a:r>
              <a:rPr lang="en-US" dirty="0" smtClean="0"/>
              <a:t>MySQL</a:t>
            </a:r>
            <a:r>
              <a:rPr lang="zh-CN" altLang="en-US" dirty="0" smtClean="0"/>
              <a:t>的外键约束（续）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414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447186"/>
              </p:ext>
            </p:extLst>
          </p:nvPr>
        </p:nvGraphicFramePr>
        <p:xfrm>
          <a:off x="35495" y="1844199"/>
          <a:ext cx="9108505" cy="3402161"/>
        </p:xfrm>
        <a:graphic>
          <a:graphicData uri="http://schemas.openxmlformats.org/drawingml/2006/table">
            <a:tbl>
              <a:tblPr/>
              <a:tblGrid>
                <a:gridCol w="130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9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36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03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Id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Num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name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Sex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birthday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address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salary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51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 smtClean="0">
                          <a:latin typeface="+mn-ea"/>
                          <a:ea typeface="+mn-ea"/>
                          <a:cs typeface="Times New Roman"/>
                        </a:rPr>
                        <a:t>Smallint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char(10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latin typeface="+mn-ea"/>
                          <a:ea typeface="+mn-ea"/>
                          <a:cs typeface="Times New Roman"/>
                        </a:rPr>
                        <a:t>Varchar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(20)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latin typeface="+mn-ea"/>
                          <a:ea typeface="+mn-ea"/>
                          <a:cs typeface="Times New Roman"/>
                        </a:rPr>
                        <a:t>Enum</a:t>
                      </a: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zh-CN" sz="1800" kern="100" dirty="0">
                          <a:latin typeface="+mn-ea"/>
                          <a:ea typeface="+mn-ea"/>
                          <a:cs typeface="Times New Roman"/>
                        </a:rPr>
                        <a:t>男</a:t>
                      </a:r>
                      <a:r>
                        <a:rPr lang="zh-CN" sz="1800" kern="100">
                          <a:latin typeface="+mn-ea"/>
                          <a:ea typeface="+mn-ea"/>
                          <a:cs typeface="Times New Roman"/>
                        </a:rPr>
                        <a:t>，</a:t>
                      </a:r>
                      <a:r>
                        <a:rPr lang="zh-CN" sz="1800" kern="100" smtClean="0">
                          <a:latin typeface="+mn-ea"/>
                          <a:ea typeface="+mn-ea"/>
                          <a:cs typeface="Times New Roman"/>
                        </a:rPr>
                        <a:t>女</a:t>
                      </a:r>
                      <a:r>
                        <a:rPr lang="zh-CN" altLang="en-US" sz="1800" kern="100" smtClean="0">
                          <a:latin typeface="+mn-ea"/>
                          <a:ea typeface="+mn-ea"/>
                          <a:cs typeface="Times New Roman"/>
                        </a:rPr>
                        <a:t>，保密</a:t>
                      </a: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Date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JSON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smtClean="0">
                          <a:latin typeface="+mn-ea"/>
                          <a:ea typeface="+mn-ea"/>
                          <a:cs typeface="Times New Roman"/>
                        </a:rPr>
                        <a:t>DECIMAL(8,2</a:t>
                      </a: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8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n-ea"/>
                          <a:ea typeface="+mn-ea"/>
                          <a:cs typeface="Times New Roman"/>
                        </a:rPr>
                        <a:t>0001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n-ea"/>
                          <a:ea typeface="+mn-ea"/>
                          <a:cs typeface="Times New Roman"/>
                        </a:rPr>
                        <a:t>8133500127</a:t>
                      </a:r>
                      <a:endParaRPr lang="zh-CN" sz="1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张三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男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1969-02-22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latin typeface="+mn-ea"/>
                          <a:ea typeface="+mn-ea"/>
                          <a:cs typeface="Times New Roman"/>
                        </a:rPr>
                        <a:t>8010.75</a:t>
                      </a: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725">
                <a:tc>
                  <a:txBody>
                    <a:bodyPr/>
                    <a:lstStyle/>
                    <a:p>
                      <a:pPr marL="0" marR="0" lvl="0" indent="2667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主键自增</a:t>
                      </a:r>
                      <a:endParaRPr lang="zh-CN" altLang="zh-CN" sz="1800" kern="10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工号唯一</a:t>
                      </a:r>
                      <a:endParaRPr lang="zh-CN" altLang="zh-CN" sz="1800" kern="10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非空默认值保密</a:t>
                      </a:r>
                      <a:endParaRPr lang="zh-CN" altLang="zh-CN" sz="1800" kern="10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zh-CN" sz="1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14612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  员工表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87624" y="558924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ctr">
              <a:spcAft>
                <a:spcPts val="0"/>
              </a:spcAft>
            </a:pPr>
            <a:r>
              <a:rPr lang="en-US" altLang="zh-CN" kern="100">
                <a:latin typeface="+mn-ea"/>
                <a:cs typeface="Times New Roman"/>
              </a:rPr>
              <a:t>{"province":"</a:t>
            </a:r>
            <a:r>
              <a:rPr lang="zh-CN" altLang="en-US" kern="100">
                <a:latin typeface="+mn-ea"/>
                <a:cs typeface="Times New Roman"/>
              </a:rPr>
              <a:t>江苏</a:t>
            </a:r>
            <a:r>
              <a:rPr lang="en-US" altLang="zh-CN" kern="100">
                <a:latin typeface="+mn-ea"/>
                <a:cs typeface="Times New Roman"/>
              </a:rPr>
              <a:t>","city":"</a:t>
            </a:r>
            <a:r>
              <a:rPr lang="zh-CN" altLang="en-US" kern="100">
                <a:latin typeface="+mn-ea"/>
                <a:cs typeface="Times New Roman"/>
              </a:rPr>
              <a:t>无锡</a:t>
            </a:r>
            <a:r>
              <a:rPr lang="en-US" altLang="zh-CN" kern="100">
                <a:latin typeface="+mn-ea"/>
                <a:cs typeface="Times New Roman"/>
              </a:rPr>
              <a:t>","detail":"</a:t>
            </a:r>
            <a:r>
              <a:rPr lang="zh-CN" altLang="en-US" kern="100">
                <a:latin typeface="+mn-ea"/>
                <a:cs typeface="Times New Roman"/>
              </a:rPr>
              <a:t>万科城市花园</a:t>
            </a:r>
            <a:r>
              <a:rPr lang="en-US" altLang="zh-CN" kern="100">
                <a:latin typeface="+mn-ea"/>
                <a:cs typeface="Times New Roman"/>
              </a:rPr>
              <a:t>"}</a:t>
            </a:r>
            <a:endParaRPr lang="zh-CN" altLang="zh-CN" kern="100" dirty="0">
              <a:latin typeface="+mn-ea"/>
              <a:cs typeface="Times New Roman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732240" y="3861048"/>
            <a:ext cx="648072" cy="18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6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SHOW TABLES</a:t>
            </a:r>
            <a:r>
              <a:rPr lang="en-US" altLang="zh-CN" dirty="0" smtClean="0"/>
              <a:t>;</a:t>
            </a:r>
          </a:p>
          <a:p>
            <a:endParaRPr lang="en-US" altLang="zh-CN" dirty="0" smtClean="0"/>
          </a:p>
          <a:p>
            <a:r>
              <a:rPr lang="en-US" altLang="zh-CN" dirty="0"/>
              <a:t>SHOW [FULL] TABLES [{FROM | IN} </a:t>
            </a:r>
            <a:r>
              <a:rPr lang="en-US" altLang="zh-CN" dirty="0" err="1"/>
              <a:t>db_name</a:t>
            </a:r>
            <a:r>
              <a:rPr lang="en-US" altLang="zh-CN" dirty="0"/>
              <a:t>]</a:t>
            </a:r>
          </a:p>
          <a:p>
            <a:pPr marL="109728" indent="0">
              <a:buNone/>
            </a:pPr>
            <a:r>
              <a:rPr lang="en-US" altLang="zh-CN" dirty="0"/>
              <a:t>[LIKE 'pattern' | WHERE expr]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查看当前数据库下已有数据表</a:t>
            </a:r>
          </a:p>
        </p:txBody>
      </p:sp>
    </p:spTree>
    <p:extLst>
      <p:ext uri="{BB962C8B-B14F-4D97-AF65-F5344CB8AC3E}">
        <p14:creationId xmlns:p14="http://schemas.microsoft.com/office/powerpoint/2010/main" val="287880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SHOW CREATE TABLE </a:t>
            </a:r>
            <a:r>
              <a:rPr lang="en-US" altLang="zh-CN" dirty="0" err="1"/>
              <a:t>tbl_name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查看指定数据表的详细信息</a:t>
            </a:r>
          </a:p>
        </p:txBody>
      </p:sp>
    </p:spTree>
    <p:extLst>
      <p:ext uri="{BB962C8B-B14F-4D97-AF65-F5344CB8AC3E}">
        <p14:creationId xmlns:p14="http://schemas.microsoft.com/office/powerpoint/2010/main" val="21186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DESC </a:t>
            </a:r>
            <a:r>
              <a:rPr lang="en-US" altLang="zh-CN" dirty="0" err="1"/>
              <a:t>tbl_name</a:t>
            </a:r>
            <a:r>
              <a:rPr lang="en-US" altLang="zh-CN" dirty="0" smtClean="0"/>
              <a:t>;</a:t>
            </a:r>
          </a:p>
          <a:p>
            <a:r>
              <a:rPr lang="en-US" altLang="zh-CN" dirty="0"/>
              <a:t>DESCRIBE </a:t>
            </a:r>
            <a:r>
              <a:rPr lang="en-US" altLang="zh-CN" err="1"/>
              <a:t>tbl_name</a:t>
            </a:r>
            <a:r>
              <a:rPr lang="en-US" altLang="zh-CN" smtClean="0"/>
              <a:t>;</a:t>
            </a:r>
          </a:p>
          <a:p>
            <a:r>
              <a:rPr lang="en-US" altLang="zh-CN"/>
              <a:t>SHOW CREATE </a:t>
            </a:r>
            <a:r>
              <a:rPr lang="en-US" altLang="zh-CN"/>
              <a:t>TABLE tbl_name</a:t>
            </a:r>
            <a:r>
              <a:rPr lang="en-US" altLang="zh-CN" smtClean="0"/>
              <a:t>;</a:t>
            </a:r>
          </a:p>
          <a:p>
            <a:r>
              <a:rPr lang="en-US" altLang="zh-CN" smtClean="0"/>
              <a:t>SHOW COLUMNS FROM tbl_name;</a:t>
            </a:r>
            <a:endParaRPr lang="en-US" altLang="zh-CN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查看表结构</a:t>
            </a:r>
          </a:p>
        </p:txBody>
      </p:sp>
    </p:spTree>
    <p:extLst>
      <p:ext uri="{BB962C8B-B14F-4D97-AF65-F5344CB8AC3E}">
        <p14:creationId xmlns:p14="http://schemas.microsoft.com/office/powerpoint/2010/main" val="12472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DROP TABLE [IF EXISTS] </a:t>
            </a:r>
            <a:r>
              <a:rPr lang="en-US" altLang="zh-CN" dirty="0" err="1"/>
              <a:t>tbl_name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删除指定的数据表</a:t>
            </a:r>
          </a:p>
        </p:txBody>
      </p:sp>
    </p:spTree>
    <p:extLst>
      <p:ext uri="{BB962C8B-B14F-4D97-AF65-F5344CB8AC3E}">
        <p14:creationId xmlns:p14="http://schemas.microsoft.com/office/powerpoint/2010/main" val="131255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添加</a:t>
            </a:r>
            <a:r>
              <a:rPr lang="zh-CN" altLang="en-US" dirty="0" smtClean="0">
                <a:solidFill>
                  <a:srgbClr val="0070C0"/>
                </a:solidFill>
              </a:rPr>
              <a:t>字段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r>
              <a:rPr lang="en-US" altLang="zh-CN" dirty="0"/>
              <a:t> </a:t>
            </a:r>
          </a:p>
          <a:p>
            <a:pPr marL="109728" indent="0">
              <a:buNone/>
            </a:pPr>
            <a:r>
              <a:rPr lang="en-US" altLang="zh-CN" dirty="0"/>
              <a:t>ADD </a:t>
            </a:r>
            <a:r>
              <a:rPr lang="zh-CN" altLang="en-US" dirty="0"/>
              <a:t>字段名称 字段属性 </a:t>
            </a:r>
            <a:r>
              <a:rPr lang="en-US" altLang="zh-CN" dirty="0"/>
              <a:t>[</a:t>
            </a:r>
            <a:r>
              <a:rPr lang="zh-CN" altLang="en-US" dirty="0"/>
              <a:t>完整性约束条件</a:t>
            </a:r>
            <a:r>
              <a:rPr lang="en-US" altLang="zh-CN" dirty="0"/>
              <a:t>] [FIRST|AFTER </a:t>
            </a:r>
            <a:r>
              <a:rPr lang="zh-CN" altLang="en-US" dirty="0"/>
              <a:t>字段名称</a:t>
            </a:r>
            <a:r>
              <a:rPr lang="en-US" altLang="zh-CN" dirty="0" smtClean="0"/>
              <a:t>]</a:t>
            </a:r>
          </a:p>
          <a:p>
            <a:pPr marL="109728" indent="0">
              <a:buNone/>
            </a:pPr>
            <a:endParaRPr lang="en-US" altLang="zh-CN" dirty="0" smtClean="0"/>
          </a:p>
          <a:p>
            <a:r>
              <a:rPr lang="zh-CN" altLang="en-US" dirty="0">
                <a:solidFill>
                  <a:srgbClr val="0070C0"/>
                </a:solidFill>
              </a:rPr>
              <a:t>删除</a:t>
            </a:r>
            <a:r>
              <a:rPr lang="zh-CN" altLang="en-US" dirty="0" smtClean="0">
                <a:solidFill>
                  <a:srgbClr val="0070C0"/>
                </a:solidFill>
              </a:rPr>
              <a:t>字段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DROP </a:t>
            </a:r>
            <a:r>
              <a:rPr lang="zh-CN" altLang="en-US" dirty="0"/>
              <a:t>字段</a:t>
            </a:r>
            <a:r>
              <a:rPr lang="zh-CN" altLang="en-US" dirty="0" smtClean="0"/>
              <a:t>名称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表结构相关操作</a:t>
            </a:r>
          </a:p>
        </p:txBody>
      </p:sp>
    </p:spTree>
    <p:extLst>
      <p:ext uri="{BB962C8B-B14F-4D97-AF65-F5344CB8AC3E}">
        <p14:creationId xmlns:p14="http://schemas.microsoft.com/office/powerpoint/2010/main" val="275842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修改</a:t>
            </a:r>
            <a:r>
              <a:rPr lang="zh-CN" altLang="en-US" dirty="0">
                <a:solidFill>
                  <a:srgbClr val="0070C0"/>
                </a:solidFill>
              </a:rPr>
              <a:t>字段类型、字段</a:t>
            </a:r>
            <a:r>
              <a:rPr lang="zh-CN" altLang="en-US" dirty="0" smtClean="0">
                <a:solidFill>
                  <a:srgbClr val="0070C0"/>
                </a:solidFill>
              </a:rPr>
              <a:t>属性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MODIFY </a:t>
            </a:r>
            <a:r>
              <a:rPr lang="zh-CN" altLang="en-US" dirty="0"/>
              <a:t>字段名称 字段类型 </a:t>
            </a:r>
            <a:r>
              <a:rPr lang="en-US" altLang="zh-CN" dirty="0"/>
              <a:t>[</a:t>
            </a:r>
            <a:r>
              <a:rPr lang="zh-CN" altLang="en-US" dirty="0"/>
              <a:t>字段属性</a:t>
            </a:r>
            <a:r>
              <a:rPr lang="en-US" altLang="zh-CN" dirty="0"/>
              <a:t>] [FIRST | AFTER </a:t>
            </a:r>
            <a:r>
              <a:rPr lang="zh-CN" altLang="en-US" dirty="0"/>
              <a:t>字段名称</a:t>
            </a:r>
            <a:r>
              <a:rPr lang="en-US" altLang="zh-CN" dirty="0" smtClean="0"/>
              <a:t>]</a:t>
            </a:r>
          </a:p>
          <a:p>
            <a:pPr marL="109728" indent="0">
              <a:buNone/>
            </a:pPr>
            <a:endParaRPr lang="en-US" altLang="zh-CN" dirty="0" smtClean="0"/>
          </a:p>
          <a:p>
            <a:r>
              <a:rPr lang="zh-CN" altLang="en-US" dirty="0" smtClean="0">
                <a:solidFill>
                  <a:srgbClr val="0070C0"/>
                </a:solidFill>
              </a:rPr>
              <a:t>修改字段</a:t>
            </a:r>
            <a:r>
              <a:rPr lang="zh-CN" altLang="en-US" dirty="0">
                <a:solidFill>
                  <a:srgbClr val="0070C0"/>
                </a:solidFill>
              </a:rPr>
              <a:t>名称、字段类型、字段</a:t>
            </a:r>
            <a:r>
              <a:rPr lang="zh-CN" altLang="en-US" dirty="0" smtClean="0">
                <a:solidFill>
                  <a:srgbClr val="0070C0"/>
                </a:solidFill>
              </a:rPr>
              <a:t>属性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ALTER TABLE tbl_name</a:t>
            </a:r>
          </a:p>
          <a:p>
            <a:pPr marL="109728" indent="0">
              <a:buNone/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原字段名称 新字段名称 字段类型 字段属性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[FIRST | AFTER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字段名称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</a:t>
            </a:r>
            <a:r>
              <a:rPr lang="zh-CN" altLang="en-US" dirty="0" smtClean="0"/>
              <a:t>操作（续）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57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添加主</a:t>
            </a:r>
            <a:r>
              <a:rPr lang="zh-CN" altLang="en-US" dirty="0" smtClean="0">
                <a:solidFill>
                  <a:srgbClr val="0070C0"/>
                </a:solidFill>
              </a:rPr>
              <a:t>键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ADD PRIMARY KEY(</a:t>
            </a:r>
            <a:r>
              <a:rPr lang="zh-CN" altLang="en-US" dirty="0"/>
              <a:t>字段名称</a:t>
            </a:r>
            <a:r>
              <a:rPr lang="en-US" altLang="zh-CN" dirty="0" smtClean="0"/>
              <a:t>)</a:t>
            </a:r>
          </a:p>
          <a:p>
            <a:pPr marL="109728" indent="0">
              <a:buNone/>
            </a:pPr>
            <a:endParaRPr lang="en-US" altLang="zh-CN" dirty="0" smtClean="0"/>
          </a:p>
          <a:p>
            <a:r>
              <a:rPr lang="zh-CN" altLang="en-US" dirty="0">
                <a:solidFill>
                  <a:srgbClr val="0070C0"/>
                </a:solidFill>
              </a:rPr>
              <a:t>删除主</a:t>
            </a:r>
            <a:r>
              <a:rPr lang="zh-CN" altLang="en-US" dirty="0" smtClean="0">
                <a:solidFill>
                  <a:srgbClr val="0070C0"/>
                </a:solidFill>
              </a:rPr>
              <a:t>键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DROP PRIMARY KEY</a:t>
            </a:r>
            <a:r>
              <a:rPr lang="en-US" altLang="zh-CN" dirty="0" smtClean="0"/>
              <a:t>;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表结构相关操作（续）</a:t>
            </a:r>
          </a:p>
        </p:txBody>
      </p:sp>
    </p:spTree>
    <p:extLst>
      <p:ext uri="{BB962C8B-B14F-4D97-AF65-F5344CB8AC3E}">
        <p14:creationId xmlns:p14="http://schemas.microsoft.com/office/powerpoint/2010/main" val="273729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添加唯一</a:t>
            </a:r>
          </a:p>
          <a:p>
            <a:pPr marL="109728" indent="0"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ALTER TABLE 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tbl_name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pPr marL="109728" indent="0"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ADD UNIQUE KEY|INDEX [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index_name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] 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字段名称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endParaRPr lang="en-US" altLang="zh-CN" dirty="0" smtClean="0">
              <a:solidFill>
                <a:srgbClr val="0070C0"/>
              </a:solidFill>
            </a:endParaRPr>
          </a:p>
          <a:p>
            <a:r>
              <a:rPr lang="zh-CN" altLang="en-US" dirty="0" smtClean="0">
                <a:solidFill>
                  <a:srgbClr val="0070C0"/>
                </a:solidFill>
              </a:rPr>
              <a:t>删除唯一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r>
              <a:rPr lang="en-US" altLang="zh-CN" dirty="0"/>
              <a:t> </a:t>
            </a:r>
          </a:p>
          <a:p>
            <a:pPr marL="109728" indent="0">
              <a:buNone/>
            </a:pPr>
            <a:r>
              <a:rPr lang="en-US" altLang="zh-CN" dirty="0"/>
              <a:t>DROP </a:t>
            </a:r>
            <a:r>
              <a:rPr lang="en-US" altLang="zh-CN" dirty="0" err="1"/>
              <a:t>index_name</a:t>
            </a:r>
            <a:r>
              <a:rPr lang="en-US" altLang="zh-CN" dirty="0" smtClean="0"/>
              <a:t>;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表结构相关操作（续）</a:t>
            </a:r>
          </a:p>
        </p:txBody>
      </p:sp>
    </p:spTree>
    <p:extLst>
      <p:ext uri="{BB962C8B-B14F-4D97-AF65-F5344CB8AC3E}">
        <p14:creationId xmlns:p14="http://schemas.microsoft.com/office/powerpoint/2010/main" val="290534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增加</a:t>
            </a:r>
            <a:r>
              <a:rPr lang="zh-CN" altLang="en-US" dirty="0"/>
              <a:t>外</a:t>
            </a:r>
            <a:r>
              <a:rPr lang="zh-CN" altLang="en-US" dirty="0" smtClean="0"/>
              <a:t>键</a:t>
            </a:r>
            <a:endParaRPr lang="en-US" altLang="zh-CN" dirty="0"/>
          </a:p>
          <a:p>
            <a:pPr marL="109728" lvl="0" indent="0">
              <a:buClr>
                <a:srgbClr val="2DA2BF"/>
              </a:buClr>
              <a:buNone/>
            </a:pPr>
            <a:r>
              <a:rPr lang="en-US" altLang="zh-CN" dirty="0" smtClean="0"/>
              <a:t>ALTER </a:t>
            </a:r>
            <a:r>
              <a:rPr lang="en-US" altLang="zh-CN"/>
              <a:t>TABLE </a:t>
            </a:r>
            <a:r>
              <a:rPr lang="en-US" altLang="zh-CN" smtClean="0">
                <a:solidFill>
                  <a:prstClr val="black">
                    <a:lumMod val="95000"/>
                    <a:lumOff val="5000"/>
                  </a:prstClr>
                </a:solidFill>
              </a:rPr>
              <a:t>tbl_name1</a:t>
            </a:r>
            <a:endParaRPr lang="en-US" altLang="zh-CN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marL="109728" indent="0">
              <a:buNone/>
            </a:pPr>
            <a:r>
              <a:rPr lang="en-US" altLang="zh-CN" dirty="0" smtClean="0"/>
              <a:t> </a:t>
            </a:r>
            <a:r>
              <a:rPr lang="en-US" altLang="zh-CN" dirty="0"/>
              <a:t>ADD FOREIGN </a:t>
            </a:r>
            <a:r>
              <a:rPr lang="en-US" altLang="zh-CN" dirty="0" smtClean="0"/>
              <a:t>KEY(</a:t>
            </a:r>
            <a:r>
              <a:rPr lang="zh-CN" altLang="en-US" dirty="0" smtClean="0"/>
              <a:t>字段名</a:t>
            </a:r>
            <a:r>
              <a:rPr lang="en-US" altLang="zh-CN" dirty="0" smtClean="0"/>
              <a:t>) </a:t>
            </a:r>
            <a:r>
              <a:rPr lang="en-US" altLang="zh-CN" smtClean="0"/>
              <a:t>REFERENCES </a:t>
            </a:r>
            <a:r>
              <a:rPr lang="en-US" altLang="zh-CN" smtClean="0">
                <a:solidFill>
                  <a:prstClr val="black">
                    <a:lumMod val="95000"/>
                    <a:lumOff val="5000"/>
                  </a:prstClr>
                </a:solidFill>
              </a:rPr>
              <a:t>tbl_name2</a:t>
            </a:r>
            <a:r>
              <a:rPr lang="en-US" altLang="zh-CN" smtClean="0"/>
              <a:t>(</a:t>
            </a:r>
            <a:r>
              <a:rPr lang="zh-CN" altLang="en-US" dirty="0" smtClean="0"/>
              <a:t>字段名</a:t>
            </a:r>
            <a:r>
              <a:rPr lang="en-US" altLang="zh-CN" dirty="0" smtClean="0"/>
              <a:t>);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 smtClean="0"/>
              <a:t>删除</a:t>
            </a:r>
            <a:r>
              <a:rPr lang="zh-CN" altLang="en-US" dirty="0"/>
              <a:t>外</a:t>
            </a:r>
            <a:r>
              <a:rPr lang="zh-CN" altLang="en-US" dirty="0" smtClean="0"/>
              <a:t>键</a:t>
            </a:r>
            <a:endParaRPr lang="en-US" altLang="zh-CN" dirty="0"/>
          </a:p>
          <a:p>
            <a:pPr marL="109728" lvl="0" indent="0">
              <a:buClr>
                <a:srgbClr val="2DA2BF"/>
              </a:buClr>
              <a:buNone/>
            </a:pPr>
            <a:r>
              <a:rPr lang="en-US" altLang="zh-CN" dirty="0"/>
              <a:t>ALTER TABLE 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</a:rPr>
              <a:t>tbl_name</a:t>
            </a:r>
          </a:p>
          <a:p>
            <a:pPr marL="109728" indent="0">
              <a:buNone/>
            </a:pPr>
            <a:r>
              <a:rPr lang="en-US" altLang="zh-CN" smtClean="0"/>
              <a:t>DROP </a:t>
            </a:r>
            <a:r>
              <a:rPr lang="en-US" altLang="zh-CN" dirty="0"/>
              <a:t>FOREIGN KEY </a:t>
            </a:r>
            <a:r>
              <a:rPr lang="zh-CN" altLang="en-US" dirty="0" smtClean="0"/>
              <a:t>外键名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64646"/>
                </a:solidFill>
              </a:rPr>
              <a:t>表结构相关操作（续）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03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添加默认值</a:t>
            </a: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ALTER </a:t>
            </a:r>
            <a:r>
              <a:rPr lang="zh-CN" altLang="en-US" dirty="0"/>
              <a:t>字段名称 </a:t>
            </a:r>
            <a:r>
              <a:rPr lang="en-US" altLang="zh-CN" dirty="0"/>
              <a:t>SET DEFAULT </a:t>
            </a:r>
            <a:r>
              <a:rPr lang="zh-CN" altLang="en-US" dirty="0"/>
              <a:t>默认值</a:t>
            </a:r>
            <a:r>
              <a:rPr lang="en-US" altLang="zh-CN" dirty="0" smtClean="0"/>
              <a:t>;</a:t>
            </a:r>
          </a:p>
          <a:p>
            <a:pPr marL="109728" indent="0">
              <a:buNone/>
            </a:pPr>
            <a:endParaRPr lang="en-US" altLang="zh-CN" dirty="0"/>
          </a:p>
          <a:p>
            <a:r>
              <a:rPr lang="zh-CN" altLang="en-US" dirty="0">
                <a:solidFill>
                  <a:srgbClr val="0070C0"/>
                </a:solidFill>
              </a:rPr>
              <a:t>删除默认值</a:t>
            </a:r>
          </a:p>
          <a:p>
            <a:pPr marL="109728" indent="0">
              <a:buNone/>
            </a:pPr>
            <a:r>
              <a:rPr lang="en-US" altLang="zh-CN" dirty="0"/>
              <a:t>ALTER TABLE </a:t>
            </a:r>
            <a:r>
              <a:rPr lang="en-US" altLang="zh-CN" dirty="0" err="1"/>
              <a:t>tbl_name</a:t>
            </a:r>
            <a:endParaRPr lang="en-US" altLang="zh-CN" dirty="0"/>
          </a:p>
          <a:p>
            <a:pPr marL="109728" indent="0">
              <a:buNone/>
            </a:pPr>
            <a:r>
              <a:rPr lang="en-US" altLang="zh-CN" dirty="0"/>
              <a:t>ALTER </a:t>
            </a:r>
            <a:r>
              <a:rPr lang="zh-CN" altLang="en-US" dirty="0"/>
              <a:t>字段名称 </a:t>
            </a:r>
            <a:r>
              <a:rPr lang="en-US" altLang="zh-CN" dirty="0"/>
              <a:t>DROP DEFAULT</a:t>
            </a:r>
          </a:p>
          <a:p>
            <a:pPr marL="109728" indent="0">
              <a:buNone/>
            </a:pPr>
            <a:endParaRPr lang="en-US" altLang="zh-CN" dirty="0" smtClean="0"/>
          </a:p>
          <a:p>
            <a:pPr marL="109728" indent="0">
              <a:buNone/>
            </a:pPr>
            <a:endParaRPr lang="en-US" altLang="zh-CN" dirty="0"/>
          </a:p>
          <a:p>
            <a:pPr marL="109728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</a:t>
            </a:r>
            <a:r>
              <a:rPr lang="zh-CN" altLang="en-US" dirty="0" smtClean="0"/>
              <a:t>操作（续）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27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修改数据表名称</a:t>
            </a:r>
          </a:p>
          <a:p>
            <a:pPr marL="109728" indent="0"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ALTER TABLE 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tbl_name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</a:rPr>
              <a:t>RENAME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[TO|AS] 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new_tbl_name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pPr marL="109728" indent="0">
              <a:buNone/>
            </a:pP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  <a:p>
            <a:pPr marL="109728" indent="0">
              <a:buNone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RENAME TABLE 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tbl_name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TO 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new_tbl_name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;</a:t>
            </a:r>
          </a:p>
          <a:p>
            <a:endParaRPr lang="en-US" altLang="zh-CN" dirty="0" smtClean="0">
              <a:solidFill>
                <a:srgbClr val="0070C0"/>
              </a:solidFill>
            </a:endParaRPr>
          </a:p>
          <a:p>
            <a:pPr marL="109728" indent="0">
              <a:buNone/>
            </a:pPr>
            <a:endParaRPr lang="en-US" altLang="zh-CN" dirty="0" smtClean="0"/>
          </a:p>
          <a:p>
            <a:pPr lvl="0">
              <a:buClr>
                <a:srgbClr val="2DA2BF"/>
              </a:buClr>
            </a:pPr>
            <a:r>
              <a:rPr lang="zh-CN" altLang="en-US" dirty="0" smtClean="0">
                <a:solidFill>
                  <a:srgbClr val="0070C0"/>
                </a:solidFill>
              </a:rPr>
              <a:t>修改存储引擎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pPr marL="109728" lvl="0" indent="0">
              <a:buClr>
                <a:srgbClr val="2DA2BF"/>
              </a:buClr>
              <a:buNone/>
            </a:pPr>
            <a:r>
              <a:rPr lang="en-US" altLang="zh-CN" dirty="0" smtClean="0">
                <a:solidFill>
                  <a:prstClr val="black"/>
                </a:solidFill>
              </a:rPr>
              <a:t>ALTER </a:t>
            </a:r>
            <a:r>
              <a:rPr lang="en-US" altLang="zh-CN" dirty="0">
                <a:solidFill>
                  <a:prstClr val="black"/>
                </a:solidFill>
              </a:rPr>
              <a:t>TABLE </a:t>
            </a:r>
            <a:r>
              <a:rPr lang="en-US" altLang="zh-CN" dirty="0" err="1">
                <a:solidFill>
                  <a:prstClr val="black"/>
                </a:solidFill>
              </a:rPr>
              <a:t>tbl_name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</a:rPr>
              <a:t>ENGINE=</a:t>
            </a:r>
            <a:r>
              <a:rPr lang="zh-CN" altLang="en-US" dirty="0" smtClean="0">
                <a:solidFill>
                  <a:prstClr val="black"/>
                </a:solidFill>
              </a:rPr>
              <a:t>存储引擎名</a:t>
            </a:r>
            <a:endParaRPr lang="zh-CN" altLang="en-US" dirty="0">
              <a:solidFill>
                <a:srgbClr val="0070C0"/>
              </a:solidFill>
            </a:endParaRPr>
          </a:p>
          <a:p>
            <a:pPr marL="109728" indent="0">
              <a:buNone/>
            </a:pP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表结构相关操作（续）</a:t>
            </a:r>
          </a:p>
        </p:txBody>
      </p:sp>
    </p:spTree>
    <p:extLst>
      <p:ext uri="{BB962C8B-B14F-4D97-AF65-F5344CB8AC3E}">
        <p14:creationId xmlns:p14="http://schemas.microsoft.com/office/powerpoint/2010/main" val="422845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2961</TotalTime>
  <Words>1651</Words>
  <Application>Microsoft Office PowerPoint</Application>
  <PresentationFormat>全屏显示(4:3)</PresentationFormat>
  <Paragraphs>217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黑体</vt:lpstr>
      <vt:lpstr>华文楷体</vt:lpstr>
      <vt:lpstr>Arial</vt:lpstr>
      <vt:lpstr>Lucida Sans Unicode</vt:lpstr>
      <vt:lpstr>Times New Roman</vt:lpstr>
      <vt:lpstr>Verdana</vt:lpstr>
      <vt:lpstr>Wingdings</vt:lpstr>
      <vt:lpstr>Wingdings 2</vt:lpstr>
      <vt:lpstr>Wingdings 3</vt:lpstr>
      <vt:lpstr>聚合</vt:lpstr>
      <vt:lpstr>MySQL应用教程</vt:lpstr>
      <vt:lpstr>内容提要</vt:lpstr>
      <vt:lpstr>数据表</vt:lpstr>
      <vt:lpstr>创建表</vt:lpstr>
      <vt:lpstr>数据类型</vt:lpstr>
      <vt:lpstr>整型</vt:lpstr>
      <vt:lpstr>浮点型</vt:lpstr>
      <vt:lpstr>字符型</vt:lpstr>
      <vt:lpstr>PowerPoint 演示文稿</vt:lpstr>
      <vt:lpstr>日期型</vt:lpstr>
      <vt:lpstr> 日期型——DATETIME与TIMESTAMP的区别 </vt:lpstr>
      <vt:lpstr>日期型——DATETIME与TIMESTAMP的区别（续）</vt:lpstr>
      <vt:lpstr>JSON类型</vt:lpstr>
      <vt:lpstr>PowerPoint 演示文稿</vt:lpstr>
      <vt:lpstr>例  员工表</vt:lpstr>
      <vt:lpstr>完整性约束</vt:lpstr>
      <vt:lpstr>1 非空约束</vt:lpstr>
      <vt:lpstr>2 MySQL自动编号</vt:lpstr>
      <vt:lpstr>3 MySQL主键约束</vt:lpstr>
      <vt:lpstr>4 MySQL唯一约束</vt:lpstr>
      <vt:lpstr>5 MySQL默认约束</vt:lpstr>
      <vt:lpstr>6 MySQL的外键约束</vt:lpstr>
      <vt:lpstr>创建表——MySQL的外键约束（续）</vt:lpstr>
      <vt:lpstr>例  员工表</vt:lpstr>
      <vt:lpstr>查看当前数据库下已有数据表</vt:lpstr>
      <vt:lpstr>查看指定数据表的详细信息</vt:lpstr>
      <vt:lpstr>查看表结构</vt:lpstr>
      <vt:lpstr>删除指定的数据表</vt:lpstr>
      <vt:lpstr>表结构相关操作</vt:lpstr>
      <vt:lpstr>表结构相关操作（续）</vt:lpstr>
      <vt:lpstr>表结构相关操作（续）</vt:lpstr>
      <vt:lpstr>表结构相关操作（续）</vt:lpstr>
      <vt:lpstr>表结构相关操作（续）</vt:lpstr>
      <vt:lpstr>表结构相关操作（续）</vt:lpstr>
      <vt:lpstr>表结构相关操作（续）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MySQL应用教程</dc:title>
  <dc:creator>微软用户</dc:creator>
  <cp:lastModifiedBy>Administrator</cp:lastModifiedBy>
  <cp:revision>65</cp:revision>
  <dcterms:created xsi:type="dcterms:W3CDTF">2018-09-06T01:54:01Z</dcterms:created>
  <dcterms:modified xsi:type="dcterms:W3CDTF">2024-04-02T21:55:18Z</dcterms:modified>
</cp:coreProperties>
</file>