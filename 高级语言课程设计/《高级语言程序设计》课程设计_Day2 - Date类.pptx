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547" r:id="rId2"/>
    <p:sldId id="583" r:id="rId3"/>
    <p:sldId id="562" r:id="rId4"/>
    <p:sldId id="563" r:id="rId5"/>
    <p:sldId id="564" r:id="rId6"/>
    <p:sldId id="565" r:id="rId7"/>
    <p:sldId id="584" r:id="rId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ng" initials="D" lastIdx="1" clrIdx="0">
    <p:extLst>
      <p:ext uri="{19B8F6BF-5375-455C-9EA6-DF929625EA0E}">
        <p15:presenceInfo xmlns:p15="http://schemas.microsoft.com/office/powerpoint/2012/main" userId="c0dae3c0225ac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FF"/>
    <a:srgbClr val="00FF00"/>
    <a:srgbClr val="000000"/>
    <a:srgbClr val="FF33CC"/>
    <a:srgbClr val="FF0000"/>
    <a:srgbClr val="FFFF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90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D797D23-B8E0-4ECE-A4D8-379C36FFDF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59D1B6A-953B-4E08-B013-6A327341322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8259552-4B8E-431D-AAF0-EB4804A91EAB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D47C2BE0-3916-4BC1-A5B6-AF7A4D25923C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noProof="0"/>
              <a:t>单击此处编辑母版文本样式</a:t>
            </a:r>
          </a:p>
          <a:p>
            <a:pPr lvl="1"/>
            <a:r>
              <a:rPr lang="zh-CN" altLang="zh-CN" noProof="0"/>
              <a:t>第二级</a:t>
            </a:r>
          </a:p>
          <a:p>
            <a:pPr lvl="2"/>
            <a:r>
              <a:rPr lang="zh-CN" altLang="zh-CN" noProof="0"/>
              <a:t>第三级</a:t>
            </a:r>
          </a:p>
          <a:p>
            <a:pPr lvl="3"/>
            <a:r>
              <a:rPr lang="zh-CN" altLang="zh-CN" noProof="0"/>
              <a:t>第四级</a:t>
            </a:r>
          </a:p>
          <a:p>
            <a:pPr lvl="4"/>
            <a:r>
              <a:rPr lang="zh-CN" altLang="zh-CN" noProof="0"/>
              <a:t>第五级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DCAC8FEC-5CA2-49D4-84EF-F4AF435159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D915CC7-C322-43AD-B317-27AA4C0EB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609C2-2FD7-4825-8F42-B1D34E8A54B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4AB274-BCF5-4A1A-B30E-33E40C2F4E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3F23E2-2000-45DC-98F6-A7BBF11960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0D9287-7CE1-4F9B-94E9-8C4EFB5D71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B0619-654D-4ADC-83D9-19D3F0E481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1409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DD09A-31EC-4E9B-9967-7A1C1CF0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6451EAA-6CAE-48E3-A144-6884A27989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E7249-3C24-4171-B81E-E10CB97F3DB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982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FFB71-6B16-4C66-89CC-4CDE1582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214D41E6-C3A8-4F23-BF48-9550CDD234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1DC9A-D0DF-45BC-AA5C-3EFAD36151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7994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27CA1-8F1E-48C9-83AF-9548D530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98B4889C-F7EA-4565-BE01-4A6927784F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6C29F9-199F-431A-B387-C015FFD994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88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6A3D4F-1656-43EC-9301-5AE8E37B6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8">
            <a:extLst>
              <a:ext uri="{FF2B5EF4-FFF2-40B4-BE49-F238E27FC236}">
                <a16:creationId xmlns:a16="http://schemas.microsoft.com/office/drawing/2014/main" id="{364BBF4F-B1EF-455A-85CF-EF5F94E83A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EA694-AF73-4F21-B49B-F9BCAF0A700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6148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38D7D2-59D9-4059-AE46-92A07464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1D3ACB0F-97B6-4AF1-BEE4-AB55A206E5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B08C5-27AA-4DA1-B0AA-E71676E8C0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243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E7839A-DFFA-4BFF-B117-D0284672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3">
            <a:extLst>
              <a:ext uri="{FF2B5EF4-FFF2-40B4-BE49-F238E27FC236}">
                <a16:creationId xmlns:a16="http://schemas.microsoft.com/office/drawing/2014/main" id="{E2E6EA4B-F12F-4D26-89DA-F0DA95A79E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BE2DE5-46F6-4408-865D-05AE1F5483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69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397D3F-21F0-439A-9D6F-3B0FB121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36EC318A-4602-4875-A945-49B2CB4E5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F5796-02BC-4AA2-A690-95C7D740B2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0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21805D-4C2C-492D-9D38-EC4574B2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51F058D3-6D02-4528-AFBE-99C8F85B70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C7929-A820-4229-BA8F-55FF1E7D77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930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34650C-DEB9-4335-93AB-8CB283875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668A402-A7F5-4CBD-80F9-EBB6D53A4A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E35C23-489A-4EDE-A344-B8AB8714CB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70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F21693-0514-472D-87D6-D8AA1D51B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E27A72D8-1604-48C3-9384-580C10D28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7C137-734B-4589-9CD0-B52F10793B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1529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AD367-2C5D-4767-BF6F-9E8D65540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5F94A75-F1BF-4C53-AD8F-31034C0A87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A5B00-2202-4BAF-9577-B9BCA874025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2567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28774-EE17-47DB-AD5D-163237EA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>
            <a:extLst>
              <a:ext uri="{FF2B5EF4-FFF2-40B4-BE49-F238E27FC236}">
                <a16:creationId xmlns:a16="http://schemas.microsoft.com/office/drawing/2014/main" id="{C6C2D794-DA38-4ED1-B0EC-773E01AA3A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5F686-5F8C-4F31-B213-52607044D37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94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0D00C8-2945-4D02-93FD-5CD76793C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95CAF6-8558-4669-BBE0-8BAB4BF14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B6A222-A7E2-45F5-AB4A-568E6472F0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B089FAA-E83A-4CF7-876F-74690FA138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zh-CN" altLang="en-US"/>
              <a:t>精品课件，精彩无限！</a:t>
            </a: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7675F0-B44A-4CF4-9600-BEF534E044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61DEE4F0-593B-4518-B70E-879717E842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6" r:id="rId3"/>
    <p:sldLayoutId id="2147484227" r:id="rId4"/>
    <p:sldLayoutId id="2147484228" r:id="rId5"/>
    <p:sldLayoutId id="2147484229" r:id="rId6"/>
    <p:sldLayoutId id="2147484230" r:id="rId7"/>
    <p:sldLayoutId id="2147484231" r:id="rId8"/>
    <p:sldLayoutId id="2147484232" r:id="rId9"/>
    <p:sldLayoutId id="2147484233" r:id="rId10"/>
    <p:sldLayoutId id="2147484234" r:id="rId11"/>
    <p:sldLayoutId id="2147484235" r:id="rId12"/>
    <p:sldLayoutId id="2147484236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23CDFB4C-B160-4023-B106-82B8CD3B4D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62E54F-ECB6-47FE-B365-6A4293C2D8ED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9D68ABC6-9FB8-49B9-A492-704442B70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2684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《</a:t>
            </a: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高级语言程序设计</a:t>
            </a:r>
            <a: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》</a:t>
            </a:r>
            <a:br>
              <a:rPr kumimoji="1" lang="en-US" altLang="zh-CN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</a:br>
            <a:r>
              <a:rPr kumimoji="1" lang="zh-CN" altLang="en-US" b="1" dirty="0">
                <a:solidFill>
                  <a:srgbClr val="8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黑体" pitchFamily="2" charset="-122"/>
              </a:rPr>
              <a:t>课程设计</a:t>
            </a:r>
          </a:p>
        </p:txBody>
      </p:sp>
      <p:sp>
        <p:nvSpPr>
          <p:cNvPr id="15364" name="副标题 2">
            <a:extLst>
              <a:ext uri="{FF2B5EF4-FFF2-40B4-BE49-F238E27FC236}">
                <a16:creationId xmlns:a16="http://schemas.microsoft.com/office/drawing/2014/main" id="{C8EA317F-EAE0-445E-9D96-AD3168F04509}"/>
              </a:ext>
            </a:extLst>
          </p:cNvPr>
          <p:cNvSpPr txBox="1">
            <a:spLocks/>
          </p:cNvSpPr>
          <p:nvPr/>
        </p:nvSpPr>
        <p:spPr bwMode="auto">
          <a:xfrm>
            <a:off x="1568450" y="4076700"/>
            <a:ext cx="61722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信息与计算科学系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2024-2025-2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学期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>
            <a:extLst>
              <a:ext uri="{FF2B5EF4-FFF2-40B4-BE49-F238E27FC236}">
                <a16:creationId xmlns:a16="http://schemas.microsoft.com/office/drawing/2014/main" id="{556E0348-C7DC-4711-8AAC-7C0ACF0F5E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6F411A-EF77-49E9-9982-B505BE45085E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/>
          </a:p>
        </p:txBody>
      </p:sp>
      <p:sp>
        <p:nvSpPr>
          <p:cNvPr id="33796" name="文本框 1">
            <a:extLst>
              <a:ext uri="{FF2B5EF4-FFF2-40B4-BE49-F238E27FC236}">
                <a16:creationId xmlns:a16="http://schemas.microsoft.com/office/drawing/2014/main" id="{90218BE3-0A5D-4758-844C-095363DEC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710" y="1055237"/>
            <a:ext cx="34932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/>
              <a:t>将</a:t>
            </a:r>
            <a:r>
              <a:rPr lang="en-US" altLang="zh-CN" sz="2400" b="1" dirty="0"/>
              <a:t>int date</a:t>
            </a:r>
            <a:r>
              <a:rPr lang="zh-CN" altLang="en-US" sz="2400" b="1" dirty="0"/>
              <a:t>升级为</a:t>
            </a:r>
            <a:r>
              <a:rPr lang="en-US" altLang="zh-CN" sz="2400" b="1" dirty="0"/>
              <a:t>Date</a:t>
            </a:r>
            <a:r>
              <a:rPr lang="zh-CN" altLang="en-US" sz="2400" b="1" dirty="0"/>
              <a:t>类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E51FA3-5F95-4E8B-9653-5E89D4AF0001}"/>
              </a:ext>
            </a:extLst>
          </p:cNvPr>
          <p:cNvSpPr txBox="1"/>
          <p:nvPr/>
        </p:nvSpPr>
        <p:spPr>
          <a:xfrm>
            <a:off x="755576" y="1517199"/>
            <a:ext cx="72008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>
                <a:solidFill>
                  <a:srgbClr val="00B0F0"/>
                </a:solidFill>
              </a:rPr>
              <a:t>日期</a:t>
            </a:r>
            <a:r>
              <a:rPr lang="zh-CN" altLang="en-US" sz="2200" b="1" dirty="0"/>
              <a:t>用一个</a:t>
            </a:r>
            <a:r>
              <a:rPr lang="zh-CN" altLang="en-US" sz="2200" b="1" dirty="0">
                <a:solidFill>
                  <a:srgbClr val="00B0F0"/>
                </a:solidFill>
              </a:rPr>
              <a:t>整数</a:t>
            </a:r>
            <a:r>
              <a:rPr lang="zh-CN" altLang="en-US" sz="2200" b="1" dirty="0"/>
              <a:t>表示：</a:t>
            </a:r>
          </a:p>
          <a:p>
            <a:r>
              <a:rPr lang="zh-CN" altLang="en-US" sz="2200" dirty="0"/>
              <a:t>计算两个日期相距天数非常方便，但这种表示方法不直观、对用户不友好</a:t>
            </a:r>
          </a:p>
          <a:p>
            <a:endParaRPr lang="zh-CN" altLang="en-US" sz="2200" dirty="0"/>
          </a:p>
          <a:p>
            <a:r>
              <a:rPr lang="zh-CN" altLang="en-US" sz="2200" b="1" dirty="0">
                <a:solidFill>
                  <a:srgbClr val="00B0F0"/>
                </a:solidFill>
              </a:rPr>
              <a:t>日期</a:t>
            </a:r>
            <a:r>
              <a:rPr lang="zh-CN" altLang="en-US" sz="2200" b="1" dirty="0"/>
              <a:t>用一个</a:t>
            </a:r>
            <a:r>
              <a:rPr lang="zh-CN" altLang="en-US" sz="2200" b="1" dirty="0">
                <a:solidFill>
                  <a:srgbClr val="00B0F0"/>
                </a:solidFill>
              </a:rPr>
              <a:t>类</a:t>
            </a:r>
            <a:r>
              <a:rPr lang="zh-CN" altLang="en-US" sz="2200" b="1" dirty="0"/>
              <a:t>表示：</a:t>
            </a:r>
          </a:p>
          <a:p>
            <a:r>
              <a:rPr lang="zh-CN" altLang="en-US" sz="2200" dirty="0"/>
              <a:t>内含年、月、日三个数据成员，但计算两个日期相差天数比较复杂</a:t>
            </a:r>
          </a:p>
          <a:p>
            <a:endParaRPr lang="zh-CN" altLang="en-US" sz="2200" dirty="0"/>
          </a:p>
          <a:p>
            <a:r>
              <a:rPr lang="zh-CN" altLang="en-US" sz="2200" b="1" dirty="0"/>
              <a:t>计算日期间相差天数：</a:t>
            </a:r>
          </a:p>
          <a:p>
            <a:r>
              <a:rPr lang="zh-CN" altLang="en-US" sz="2200" dirty="0"/>
              <a:t>选取一个比较规整的基准日期，在创建日期对象时将该日期到这个基准日期的相对天数计算出来，记为“相对日期”</a:t>
            </a:r>
          </a:p>
          <a:p>
            <a:r>
              <a:rPr lang="zh-CN" altLang="en-US" sz="2200" dirty="0"/>
              <a:t>计算两个日期相差天数时，将两者的“相对日期”相减，即为相差天数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>
            <a:extLst>
              <a:ext uri="{FF2B5EF4-FFF2-40B4-BE49-F238E27FC236}">
                <a16:creationId xmlns:a16="http://schemas.microsoft.com/office/drawing/2014/main" id="{927A3D70-2A1C-4451-B5AA-794CF36F1E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43AE3A-57F5-4406-9861-8B023A515387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A886FCA-7D83-471C-8051-984900A4B2EE}"/>
                  </a:ext>
                </a:extLst>
              </p:cNvPr>
              <p:cNvSpPr/>
              <p:nvPr/>
            </p:nvSpPr>
            <p:spPr>
              <a:xfrm>
                <a:off x="587077" y="908720"/>
                <a:ext cx="7920880" cy="47236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将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公元元年</a:t>
                </a:r>
                <a:r>
                  <a:rPr lang="en-US" altLang="zh-CN" sz="2400" b="1" dirty="0">
                    <a:solidFill>
                      <a:srgbClr val="00B0F0"/>
                    </a:solidFill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月</a:t>
                </a:r>
                <a:r>
                  <a:rPr lang="en-US" altLang="zh-CN" sz="2400" b="1" dirty="0">
                    <a:solidFill>
                      <a:srgbClr val="00B0F0"/>
                    </a:solidFill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</a:rPr>
                  <a:t>日作为公共的基准日期</a:t>
                </a:r>
                <a:r>
                  <a:rPr lang="zh-CN" altLang="en-US" sz="2400" dirty="0"/>
                  <a:t>，将</a:t>
                </a:r>
                <a:r>
                  <a:rPr lang="en-US" altLang="zh-CN" sz="2400" dirty="0"/>
                  <a:t>y</a:t>
                </a:r>
                <a:r>
                  <a:rPr lang="zh-CN" altLang="en-US" sz="2400" dirty="0"/>
                  <a:t>年</a:t>
                </a:r>
                <a:r>
                  <a:rPr lang="en-US" altLang="zh-CN" sz="2400" dirty="0"/>
                  <a:t>m</a:t>
                </a:r>
                <a:r>
                  <a:rPr lang="zh-CN" altLang="en-US" sz="2400" dirty="0"/>
                  <a:t>月</a:t>
                </a:r>
                <a:r>
                  <a:rPr lang="en-US" altLang="zh-CN" sz="2400" dirty="0"/>
                  <a:t>d</a:t>
                </a:r>
                <a:r>
                  <a:rPr lang="zh-CN" altLang="en-US" sz="2400" dirty="0"/>
                  <a:t>日相距这一天的天数记为</a:t>
                </a:r>
                <a:r>
                  <a:rPr lang="en-US" altLang="zh-CN" sz="2400" dirty="0"/>
                  <a:t>f(y/m/d, 1/1/1)</a:t>
                </a:r>
                <a:r>
                  <a:rPr lang="zh-CN" altLang="en-US" sz="2400" dirty="0"/>
                  <a:t>，将其分解为三部分：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 smtClean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altLang="zh-CN" sz="2400" dirty="0"/>
                  <a:t>(y/m/d,1/1/1)=f(y/1/1,1/1/1)+f(y/m/1,y/1/1)+f(y/m/</a:t>
                </a:r>
                <a:r>
                  <a:rPr lang="en-US" altLang="zh-CN" sz="2400" dirty="0" err="1"/>
                  <a:t>d,y</a:t>
                </a:r>
                <a:r>
                  <a:rPr lang="en-US" altLang="zh-CN" sz="2400" dirty="0"/>
                  <a:t>/m/1)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f(y/1/1,1/1/1)=365(y-1)+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-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00</m:t>
                            </m:r>
                          </m:den>
                        </m:f>
                      </m:e>
                    </m:d>
                  </m:oMath>
                </a14:m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f(y/m/</a:t>
                </a:r>
                <a:r>
                  <a:rPr lang="en-US" altLang="zh-CN" sz="2400" dirty="0" err="1"/>
                  <a:t>d,y</a:t>
                </a:r>
                <a:r>
                  <a:rPr lang="en-US" altLang="zh-CN" sz="2400" dirty="0"/>
                  <a:t>/m/1)=d-1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f(y/m/1,y/1/1)</a:t>
                </a:r>
                <a:r>
                  <a:rPr lang="zh-CN" altLang="en-US" sz="2400" dirty="0"/>
                  <a:t>：由于每个月的天数不同，无法用统一的公式表示。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A886FCA-7D83-471C-8051-984900A4B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077" y="908720"/>
                <a:ext cx="7920880" cy="4723601"/>
              </a:xfrm>
              <a:prstGeom prst="rect">
                <a:avLst/>
              </a:prstGeom>
              <a:blipFill>
                <a:blip r:embed="rId2"/>
                <a:stretch>
                  <a:fillRect l="-1154" r="-538" b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>
            <a:extLst>
              <a:ext uri="{FF2B5EF4-FFF2-40B4-BE49-F238E27FC236}">
                <a16:creationId xmlns:a16="http://schemas.microsoft.com/office/drawing/2014/main" id="{87821532-D081-45B6-9655-A99D810C0F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378A79-500A-4D6B-8CC3-5D209A2A637F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BE327E-71DB-4255-AA5D-EBB7D39D6E56}"/>
              </a:ext>
            </a:extLst>
          </p:cNvPr>
          <p:cNvSpPr txBox="1"/>
          <p:nvPr/>
        </p:nvSpPr>
        <p:spPr>
          <a:xfrm>
            <a:off x="539552" y="1340768"/>
            <a:ext cx="768119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F0"/>
                </a:solidFill>
              </a:rPr>
              <a:t>平年：</a:t>
            </a:r>
            <a:r>
              <a:rPr lang="zh-CN" altLang="en-US" sz="2400" dirty="0"/>
              <a:t>指定月份的</a:t>
            </a:r>
            <a:r>
              <a:rPr lang="en-US" altLang="zh-CN" sz="2400" dirty="0"/>
              <a:t>1</a:t>
            </a:r>
            <a:r>
              <a:rPr lang="zh-CN" altLang="en-US" sz="2400" dirty="0"/>
              <a:t>日与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1</a:t>
            </a:r>
            <a:r>
              <a:rPr lang="zh-CN" altLang="en-US" sz="2400" dirty="0"/>
              <a:t>日相差天数可以由月份</a:t>
            </a:r>
            <a:r>
              <a:rPr lang="en-US" altLang="zh-CN" sz="2400" dirty="0"/>
              <a:t>m</a:t>
            </a:r>
            <a:r>
              <a:rPr lang="zh-CN" altLang="en-US" sz="2400" dirty="0"/>
              <a:t>唯一确定，因此可以把每月</a:t>
            </a:r>
            <a:r>
              <a:rPr lang="en-US" altLang="zh-CN" sz="2400" dirty="0"/>
              <a:t>1</a:t>
            </a:r>
            <a:r>
              <a:rPr lang="zh-CN" altLang="en-US" sz="2400" dirty="0"/>
              <a:t>日到</a:t>
            </a:r>
            <a:r>
              <a:rPr lang="en-US" altLang="zh-CN" sz="2400" dirty="0"/>
              <a:t>1</a:t>
            </a:r>
            <a:r>
              <a:rPr lang="zh-CN" altLang="en-US" sz="2400" dirty="0"/>
              <a:t>月</a:t>
            </a:r>
            <a:r>
              <a:rPr lang="en-US" altLang="zh-CN" sz="2400" dirty="0"/>
              <a:t>1</a:t>
            </a:r>
            <a:r>
              <a:rPr lang="zh-CN" altLang="en-US" sz="2400" dirty="0"/>
              <a:t>日的天数放在一个数组中，</a:t>
            </a:r>
            <a:r>
              <a:rPr lang="zh-CN" altLang="en-US" sz="2400" dirty="0">
                <a:solidFill>
                  <a:srgbClr val="00B0F0"/>
                </a:solidFill>
              </a:rPr>
              <a:t>计算时只要查询数组</a:t>
            </a:r>
            <a:r>
              <a:rPr lang="zh-CN" altLang="en-US" sz="2400" dirty="0"/>
              <a:t>，便可以得到</a:t>
            </a:r>
            <a:r>
              <a:rPr lang="en-US" altLang="zh-CN" sz="2400" dirty="0"/>
              <a:t>f(y/</a:t>
            </a:r>
            <a:r>
              <a:rPr lang="en-US" altLang="zh-CN" sz="2400" dirty="0">
                <a:solidFill>
                  <a:srgbClr val="00B0F0"/>
                </a:solidFill>
              </a:rPr>
              <a:t>m</a:t>
            </a:r>
            <a:r>
              <a:rPr lang="en-US" altLang="zh-CN" sz="2400" dirty="0"/>
              <a:t>/1,y/1/1)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B0F0"/>
                </a:solidFill>
              </a:rPr>
              <a:t>闰年：</a:t>
            </a:r>
            <a:r>
              <a:rPr lang="zh-CN" altLang="en-US" sz="2400" dirty="0">
                <a:solidFill>
                  <a:srgbClr val="00B0F0"/>
                </a:solidFill>
              </a:rPr>
              <a:t>仍然可以通过数组查询</a:t>
            </a:r>
            <a:r>
              <a:rPr lang="zh-CN" altLang="en-US" sz="2400" dirty="0"/>
              <a:t>，只需在</a:t>
            </a:r>
            <a:r>
              <a:rPr lang="en-US" altLang="zh-CN" sz="2400" dirty="0"/>
              <a:t>m&gt;2</a:t>
            </a:r>
            <a:r>
              <a:rPr lang="zh-CN" altLang="en-US" sz="2400" dirty="0"/>
              <a:t>时将查得的值加</a:t>
            </a:r>
            <a:r>
              <a:rPr lang="en-US" altLang="zh-CN" sz="2400" dirty="0"/>
              <a:t>1</a:t>
            </a:r>
            <a:r>
              <a:rPr lang="zh-CN" altLang="en-US" sz="2400" dirty="0"/>
              <a:t>，该值只依赖于</a:t>
            </a:r>
            <a:r>
              <a:rPr lang="en-US" altLang="zh-CN" sz="2400" dirty="0"/>
              <a:t>m</a:t>
            </a:r>
            <a:r>
              <a:rPr lang="zh-CN" altLang="en-US" sz="2400" dirty="0"/>
              <a:t>和</a:t>
            </a:r>
            <a:r>
              <a:rPr lang="en-US" altLang="zh-CN" sz="2400" dirty="0"/>
              <a:t>y</a:t>
            </a:r>
            <a:r>
              <a:rPr lang="zh-CN" altLang="en-US" sz="2400" dirty="0"/>
              <a:t>，记为：</a:t>
            </a:r>
            <a:r>
              <a:rPr lang="en-US" altLang="zh-CN" sz="2400" dirty="0">
                <a:solidFill>
                  <a:srgbClr val="00B0F0"/>
                </a:solidFill>
              </a:rPr>
              <a:t>g(</a:t>
            </a:r>
            <a:r>
              <a:rPr lang="en-US" altLang="zh-CN" sz="2400" dirty="0" err="1">
                <a:solidFill>
                  <a:srgbClr val="00B0F0"/>
                </a:solidFill>
              </a:rPr>
              <a:t>m,y</a:t>
            </a:r>
            <a:r>
              <a:rPr lang="en-US" altLang="zh-CN" sz="2400" dirty="0">
                <a:solidFill>
                  <a:srgbClr val="00B0F0"/>
                </a:solidFill>
              </a:rPr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>
            <a:extLst>
              <a:ext uri="{FF2B5EF4-FFF2-40B4-BE49-F238E27FC236}">
                <a16:creationId xmlns:a16="http://schemas.microsoft.com/office/drawing/2014/main" id="{37D45948-2EAE-4542-8FA4-C5C4F947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内容占位符 2">
                <a:extLst>
                  <a:ext uri="{FF2B5EF4-FFF2-40B4-BE49-F238E27FC236}">
                    <a16:creationId xmlns:a16="http://schemas.microsoft.com/office/drawing/2014/main" id="{6E046992-F4A4-42A1-9B0D-58078BDE2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如果把公元元年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月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日的相对日期定为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，那么公元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年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月</a:t>
                </a:r>
                <a:r>
                  <a:rPr lang="en-US" altLang="zh-C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日的相对日期为：</a:t>
                </a:r>
                <a:endParaRPr lang="en-US" altLang="zh-CN" sz="2400" b="1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1" dirty="0"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en-US" altLang="zh-CN" sz="2400" dirty="0"/>
                  <a:t>(y/m/d,1/1/1)+1= 365(y-1)+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-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400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+g(</a:t>
                </a:r>
                <a:r>
                  <a:rPr lang="en-US" altLang="zh-CN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m,y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)+d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6867" name="内容占位符 2">
                <a:extLst>
                  <a:ext uri="{FF2B5EF4-FFF2-40B4-BE49-F238E27FC236}">
                    <a16:creationId xmlns:a16="http://schemas.microsoft.com/office/drawing/2014/main" id="{6E046992-F4A4-42A1-9B0D-58078BDE2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F1F85F4C-1538-42B6-A706-F7A0294FA8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C5EFA8-E748-462A-A038-DE772617572C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>
            <a:extLst>
              <a:ext uri="{FF2B5EF4-FFF2-40B4-BE49-F238E27FC236}">
                <a16:creationId xmlns:a16="http://schemas.microsoft.com/office/drawing/2014/main" id="{237902B0-8A39-405A-9A24-6FE4BB9D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381BCD2B-C68B-4997-B17D-FF468AAFC4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977B47-0CF4-4CAB-8D8E-52C9CD548D34}" type="slidenum">
              <a:rPr lang="zh-CN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57BB2F4-A9E1-45CB-AF22-F4F7875BE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95" y="1417638"/>
            <a:ext cx="3190875" cy="35814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2687EAA-1934-43B5-B6DB-F5033E8367CA}"/>
              </a:ext>
            </a:extLst>
          </p:cNvPr>
          <p:cNvSpPr txBox="1"/>
          <p:nvPr/>
        </p:nvSpPr>
        <p:spPr>
          <a:xfrm>
            <a:off x="3851920" y="2231701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totalDays</a:t>
            </a:r>
            <a:r>
              <a:rPr lang="zh-CN" altLang="en-US" dirty="0"/>
              <a:t>表示这一天的相对日期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B4778F-8E3B-4F87-AADC-FDBA5EDD0BC8}"/>
              </a:ext>
            </a:extLst>
          </p:cNvPr>
          <p:cNvSpPr txBox="1"/>
          <p:nvPr/>
        </p:nvSpPr>
        <p:spPr>
          <a:xfrm>
            <a:off x="3751752" y="3068560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得到当前月的天数的</a:t>
            </a:r>
            <a:r>
              <a:rPr lang="en-US" altLang="zh-CN" dirty="0" err="1"/>
              <a:t>getMaxDay</a:t>
            </a:r>
            <a:r>
              <a:rPr lang="zh-CN" altLang="en-US" dirty="0"/>
              <a:t>函数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8CF04BA-5646-4041-BD0B-56C644EC9A16}"/>
              </a:ext>
            </a:extLst>
          </p:cNvPr>
          <p:cNvSpPr txBox="1"/>
          <p:nvPr/>
        </p:nvSpPr>
        <p:spPr>
          <a:xfrm>
            <a:off x="3770948" y="3748910"/>
            <a:ext cx="479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用来判断当前年是否为闰年的</a:t>
            </a:r>
            <a:r>
              <a:rPr lang="en-US" altLang="zh-CN" dirty="0" err="1"/>
              <a:t>isLeapYear</a:t>
            </a:r>
            <a:r>
              <a:rPr lang="zh-CN" altLang="en-US" dirty="0"/>
              <a:t>函数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D14F38-FB74-4B30-8F61-EC73493DFD19}"/>
              </a:ext>
            </a:extLst>
          </p:cNvPr>
          <p:cNvSpPr txBox="1"/>
          <p:nvPr/>
        </p:nvSpPr>
        <p:spPr>
          <a:xfrm>
            <a:off x="3813448" y="4251955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用来将当前日期输出的</a:t>
            </a:r>
            <a:r>
              <a:rPr lang="en-US" altLang="zh-CN" dirty="0"/>
              <a:t>show</a:t>
            </a:r>
            <a:r>
              <a:rPr lang="zh-CN" altLang="en-US" dirty="0"/>
              <a:t>函数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F65800-1A1F-4BD0-8DA4-6B83A1E30629}"/>
              </a:ext>
            </a:extLst>
          </p:cNvPr>
          <p:cNvSpPr txBox="1"/>
          <p:nvPr/>
        </p:nvSpPr>
        <p:spPr>
          <a:xfrm>
            <a:off x="3751752" y="4907150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用来判断当前日期与指定日期相差天数的</a:t>
            </a:r>
            <a:endParaRPr lang="en-US" altLang="zh-CN" dirty="0"/>
          </a:p>
          <a:p>
            <a:r>
              <a:rPr lang="en-US" altLang="zh-CN" dirty="0"/>
              <a:t>distance</a:t>
            </a:r>
            <a:r>
              <a:rPr lang="zh-CN" altLang="en-US" dirty="0"/>
              <a:t>函数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DBD48-11BB-4B09-8BDF-60D12E1C3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562817-F7B8-4AAF-9282-AF4D641BE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763BCC-A918-4B31-A956-74D41AA72C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6E7249-3C24-4171-B81E-E10CB97F3DB0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09669D-F424-497F-B58F-1434FF968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3" y="683040"/>
            <a:ext cx="9062753" cy="544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5438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16695</TotalTime>
  <Pages>0</Pages>
  <Words>481</Words>
  <Characters>0</Characters>
  <Application>Microsoft Office PowerPoint</Application>
  <DocSecurity>0</DocSecurity>
  <PresentationFormat>全屏显示(4:3)</PresentationFormat>
  <Lines>0</Lines>
  <Paragraphs>38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Times New Roman</vt:lpstr>
      <vt:lpstr>默认设计模板</vt:lpstr>
      <vt:lpstr>《高级语言程序设计》 课程设计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广西师范大学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C++的初步知识 </dc:title>
  <dc:subject/>
  <dc:creator>赵建州</dc:creator>
  <cp:keywords/>
  <dc:description/>
  <cp:lastModifiedBy>yanrui ding</cp:lastModifiedBy>
  <cp:revision>613</cp:revision>
  <cp:lastPrinted>1899-12-30T00:00:00Z</cp:lastPrinted>
  <dcterms:created xsi:type="dcterms:W3CDTF">2007-08-16T07:56:20Z</dcterms:created>
  <dcterms:modified xsi:type="dcterms:W3CDTF">2025-06-30T03:07:28Z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2052-6.6.0.2461</vt:lpwstr>
  </property>
</Properties>
</file>