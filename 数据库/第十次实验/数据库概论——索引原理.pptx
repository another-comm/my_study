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8"/>
  </p:notesMasterIdLst>
  <p:sldIdLst>
    <p:sldId id="256" r:id="rId2"/>
    <p:sldId id="257" r:id="rId3"/>
    <p:sldId id="258" r:id="rId4"/>
    <p:sldId id="285" r:id="rId5"/>
    <p:sldId id="286" r:id="rId6"/>
    <p:sldId id="287" r:id="rId7"/>
    <p:sldId id="288" r:id="rId8"/>
    <p:sldId id="289" r:id="rId9"/>
    <p:sldId id="290" r:id="rId10"/>
    <p:sldId id="293" r:id="rId11"/>
    <p:sldId id="294" r:id="rId12"/>
    <p:sldId id="291" r:id="rId13"/>
    <p:sldId id="292" r:id="rId14"/>
    <p:sldId id="259" r:id="rId15"/>
    <p:sldId id="260" r:id="rId16"/>
    <p:sldId id="295" r:id="rId17"/>
    <p:sldId id="305" r:id="rId18"/>
    <p:sldId id="262" r:id="rId19"/>
    <p:sldId id="304" r:id="rId20"/>
    <p:sldId id="263" r:id="rId21"/>
    <p:sldId id="264" r:id="rId22"/>
    <p:sldId id="265" r:id="rId23"/>
    <p:sldId id="266" r:id="rId24"/>
    <p:sldId id="267" r:id="rId25"/>
    <p:sldId id="268" r:id="rId26"/>
    <p:sldId id="269" r:id="rId27"/>
    <p:sldId id="270" r:id="rId28"/>
    <p:sldId id="272" r:id="rId29"/>
    <p:sldId id="273" r:id="rId30"/>
    <p:sldId id="271" r:id="rId31"/>
    <p:sldId id="302" r:id="rId32"/>
    <p:sldId id="274" r:id="rId33"/>
    <p:sldId id="275" r:id="rId34"/>
    <p:sldId id="276" r:id="rId35"/>
    <p:sldId id="280" r:id="rId36"/>
    <p:sldId id="282" r:id="rId37"/>
    <p:sldId id="283" r:id="rId38"/>
    <p:sldId id="278" r:id="rId39"/>
    <p:sldId id="279" r:id="rId40"/>
    <p:sldId id="300" r:id="rId41"/>
    <p:sldId id="296" r:id="rId42"/>
    <p:sldId id="297" r:id="rId43"/>
    <p:sldId id="301" r:id="rId44"/>
    <p:sldId id="298" r:id="rId45"/>
    <p:sldId id="299" r:id="rId46"/>
    <p:sldId id="303" r:id="rId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023" y="3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67D53-B251-46ED-AA6C-5C2B2FA58C58}" type="datetimeFigureOut">
              <a:rPr lang="zh-CN" altLang="en-US" smtClean="0"/>
              <a:t>2025/11/11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C9563-4AE5-4671-B799-D978E124EF5B}" type="slidenum">
              <a:rPr lang="zh-CN" altLang="en-US" smtClean="0"/>
              <a:t>‹#›</a:t>
            </a:fld>
            <a:endParaRPr lang="zh-CN" altLang="en-US"/>
          </a:p>
        </p:txBody>
      </p:sp>
    </p:spTree>
    <p:extLst>
      <p:ext uri="{BB962C8B-B14F-4D97-AF65-F5344CB8AC3E}">
        <p14:creationId xmlns:p14="http://schemas.microsoft.com/office/powerpoint/2010/main" val="3973025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A5C9563-4AE5-4671-B799-D978E124EF5B}" type="slidenum">
              <a:rPr lang="zh-CN" altLang="en-US" smtClean="0"/>
              <a:t>7</a:t>
            </a:fld>
            <a:endParaRPr lang="zh-CN" altLang="en-US"/>
          </a:p>
        </p:txBody>
      </p:sp>
    </p:spTree>
    <p:extLst>
      <p:ext uri="{BB962C8B-B14F-4D97-AF65-F5344CB8AC3E}">
        <p14:creationId xmlns:p14="http://schemas.microsoft.com/office/powerpoint/2010/main" val="124278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AE49B4-CC2D-4150-9BF5-7B32658D3031}" type="slidenum">
              <a:rPr lang="zh-CN" altLang="en-US" smtClean="0"/>
              <a:pPr/>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6C0FA94-D1D4-4EAB-87A5-57D205C7D675}" type="datetimeFigureOut">
              <a:rPr lang="zh-CN" altLang="en-US" smtClean="0"/>
              <a:pPr/>
              <a:t>2025/11/11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AE49B4-CC2D-4150-9BF5-7B32658D3031}"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6C0FA94-D1D4-4EAB-87A5-57D205C7D675}" type="datetimeFigureOut">
              <a:rPr lang="zh-CN" altLang="en-US" smtClean="0"/>
              <a:pPr/>
              <a:t>2025/11/11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F8AE49B4-CC2D-4150-9BF5-7B32658D303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files.jb51.net/file_images/article/201612/2016121320224714.pn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files.jb51.net/file_images/article/201612/2016121320224715.pn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dirty="0" smtClean="0"/>
              <a:t>数</a:t>
            </a:r>
            <a:r>
              <a:rPr lang="zh-CN" altLang="en-US" smtClean="0"/>
              <a:t>据库原理</a:t>
            </a:r>
            <a:r>
              <a:rPr lang="zh-CN" altLang="en-US" dirty="0" smtClean="0"/>
              <a:t/>
            </a:r>
            <a:br>
              <a:rPr lang="zh-CN" altLang="en-US" dirty="0" smtClean="0"/>
            </a:br>
            <a:endParaRPr lang="zh-CN" altLang="en-US" dirty="0"/>
          </a:p>
        </p:txBody>
      </p:sp>
      <p:sp>
        <p:nvSpPr>
          <p:cNvPr id="3" name="副标题 2"/>
          <p:cNvSpPr>
            <a:spLocks noGrp="1"/>
          </p:cNvSpPr>
          <p:nvPr>
            <p:ph type="subTitle" idx="1"/>
          </p:nvPr>
        </p:nvSpPr>
        <p:spPr/>
        <p:txBody>
          <a:bodyPr/>
          <a:lstStyle/>
          <a:p>
            <a:r>
              <a:rPr lang="en-US" dirty="0" smtClean="0"/>
              <a:t>MySQL</a:t>
            </a:r>
            <a:r>
              <a:rPr lang="zh-CN" altLang="en-US" dirty="0" smtClean="0"/>
              <a:t>索引背后的数据结构及算法原理</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内容提要</a:t>
            </a:r>
            <a:endParaRPr lang="zh-CN" altLang="en-US" dirty="0"/>
          </a:p>
        </p:txBody>
      </p:sp>
      <p:sp>
        <p:nvSpPr>
          <p:cNvPr id="3" name="内容占位符 2"/>
          <p:cNvSpPr>
            <a:spLocks noGrp="1"/>
          </p:cNvSpPr>
          <p:nvPr>
            <p:ph idx="1"/>
          </p:nvPr>
        </p:nvSpPr>
        <p:spPr/>
        <p:txBody>
          <a:bodyPr>
            <a:normAutofit/>
          </a:bodyPr>
          <a:lstStyle/>
          <a:p>
            <a:r>
              <a:rPr lang="zh-CN" altLang="en-US" b="1" dirty="0" smtClean="0"/>
              <a:t>一、准备知识</a:t>
            </a:r>
            <a:endParaRPr lang="en-US" altLang="zh-CN" b="1" dirty="0" smtClean="0"/>
          </a:p>
          <a:p>
            <a:r>
              <a:rPr lang="zh-CN" altLang="en-US" b="1" dirty="0" smtClean="0"/>
              <a:t>二、索引的本质</a:t>
            </a:r>
            <a:endParaRPr lang="zh-CN" altLang="en-US" dirty="0" smtClean="0"/>
          </a:p>
          <a:p>
            <a:r>
              <a:rPr lang="zh-CN" altLang="en-US" b="1" dirty="0" smtClean="0"/>
              <a:t>三、索引</a:t>
            </a:r>
            <a:r>
              <a:rPr lang="en-US" b="1" dirty="0" smtClean="0"/>
              <a:t>B-Tree</a:t>
            </a:r>
            <a:r>
              <a:rPr lang="zh-CN" altLang="en-US" b="1" dirty="0" smtClean="0"/>
              <a:t>和</a:t>
            </a:r>
            <a:r>
              <a:rPr lang="en-US" b="1" dirty="0" err="1" smtClean="0"/>
              <a:t>B+Tree</a:t>
            </a:r>
            <a:endParaRPr lang="en-US" b="1" dirty="0" smtClean="0"/>
          </a:p>
          <a:p>
            <a:pPr latinLnBrk="1"/>
            <a:r>
              <a:rPr lang="en-US" altLang="zh-CN" b="1" smtClean="0">
                <a:solidFill>
                  <a:srgbClr val="FF0000"/>
                </a:solidFill>
              </a:rPr>
              <a:t>*</a:t>
            </a:r>
            <a:r>
              <a:rPr lang="zh-CN" altLang="en-US" b="1" smtClean="0"/>
              <a:t>四 </a:t>
            </a:r>
            <a:r>
              <a:rPr lang="zh-CN" altLang="en-US" b="1" dirty="0" smtClean="0"/>
              <a:t>、</a:t>
            </a:r>
            <a:r>
              <a:rPr lang="en-US" b="1" dirty="0" smtClean="0"/>
              <a:t>MySQL</a:t>
            </a:r>
            <a:r>
              <a:rPr lang="zh-CN" altLang="en-US" b="1" dirty="0" smtClean="0"/>
              <a:t>索引实现</a:t>
            </a:r>
            <a:endParaRPr lang="en-US" altLang="zh-CN" b="1" dirty="0" smtClean="0"/>
          </a:p>
          <a:p>
            <a:pPr latinLnBrk="1"/>
            <a:r>
              <a:rPr lang="zh-CN" altLang="en-US" b="1" dirty="0" smtClean="0"/>
              <a:t>五、</a:t>
            </a:r>
            <a:r>
              <a:rPr lang="en-US" b="1" dirty="0" smtClean="0"/>
              <a:t>B-Tree</a:t>
            </a:r>
            <a:r>
              <a:rPr lang="zh-CN" altLang="en-US" b="1" dirty="0" smtClean="0"/>
              <a:t>与</a:t>
            </a:r>
            <a:r>
              <a:rPr lang="en-US" b="1" dirty="0" smtClean="0"/>
              <a:t>hash</a:t>
            </a:r>
            <a:r>
              <a:rPr lang="zh-CN" altLang="en-US" b="1" dirty="0" smtClean="0"/>
              <a:t>索引的比较</a:t>
            </a:r>
            <a:endParaRPr lang="en-US" altLang="zh-CN" b="1" dirty="0" smtClean="0"/>
          </a:p>
          <a:p>
            <a:pPr latinLnBrk="1"/>
            <a:r>
              <a:rPr lang="zh-CN" altLang="en-US" b="1" dirty="0" smtClean="0"/>
              <a:t>六、索引的优缺点</a:t>
            </a:r>
            <a:endParaRPr lang="en-US" altLang="zh-CN" b="1" dirty="0" smtClean="0"/>
          </a:p>
          <a:p>
            <a:pPr latinLnBrk="1"/>
            <a:r>
              <a:rPr lang="zh-CN" altLang="en-US" b="1" dirty="0" smtClean="0"/>
              <a:t>七、索引使用的注意</a:t>
            </a:r>
            <a:r>
              <a:rPr lang="zh-CN" altLang="en-US" b="1" dirty="0"/>
              <a:t>事项</a:t>
            </a:r>
            <a:endParaRPr lang="zh-CN" altLang="en-US" dirty="0" smtClean="0"/>
          </a:p>
          <a:p>
            <a:pPr latinLnBrk="1"/>
            <a:endParaRPr lang="zh-CN" altLang="en-US" dirty="0" smtClean="0"/>
          </a:p>
          <a:p>
            <a:pPr latinLnBrk="1"/>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一、准备知识</a:t>
            </a:r>
            <a:endParaRPr lang="en-US" altLang="zh-CN" b="1" dirty="0" smtClean="0"/>
          </a:p>
        </p:txBody>
      </p:sp>
      <p:sp>
        <p:nvSpPr>
          <p:cNvPr id="3" name="内容占位符 2"/>
          <p:cNvSpPr>
            <a:spLocks noGrp="1"/>
          </p:cNvSpPr>
          <p:nvPr>
            <p:ph idx="1"/>
          </p:nvPr>
        </p:nvSpPr>
        <p:spPr/>
        <p:txBody>
          <a:bodyPr/>
          <a:lstStyle/>
          <a:p>
            <a:pPr lvl="0"/>
            <a:r>
              <a:rPr lang="en-US" dirty="0" smtClean="0"/>
              <a:t>B-Tree</a:t>
            </a:r>
            <a:r>
              <a:rPr lang="zh-CN" altLang="en-US" dirty="0" smtClean="0"/>
              <a:t>树简介</a:t>
            </a:r>
          </a:p>
          <a:p>
            <a:pPr lvl="0"/>
            <a:r>
              <a:rPr lang="zh-CN" altLang="en-US" dirty="0" smtClean="0"/>
              <a:t>磁盘存取原理</a:t>
            </a: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1.1 B-Tree</a:t>
            </a:r>
            <a:r>
              <a:rPr lang="zh-CN" altLang="en-US" dirty="0" smtClean="0"/>
              <a:t>数据结构（续）</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76784" y="2420889"/>
                <a:ext cx="8229600" cy="4104456"/>
              </a:xfrm>
            </p:spPr>
            <p:txBody>
              <a:bodyPr/>
              <a:lstStyle/>
              <a:p>
                <a:pPr marL="0" lvl="0" indent="0">
                  <a:spcBef>
                    <a:spcPts val="835"/>
                  </a:spcBef>
                  <a:spcAft>
                    <a:spcPts val="835"/>
                  </a:spcAft>
                  <a:buClrTx/>
                  <a:buSzTx/>
                  <a:buNone/>
                </a:pPr>
                <a:r>
                  <a:rPr lang="en-US" altLang="zh-CN" sz="2000" dirty="0" smtClean="0">
                    <a:solidFill>
                      <a:srgbClr val="000000"/>
                    </a:solidFill>
                    <a:latin typeface="华文楷体" panose="02010600040101010101" pitchFamily="2" charset="-122"/>
                    <a:cs typeface="宋体" panose="02010600030101010101" pitchFamily="2" charset="-122"/>
                  </a:rPr>
                  <a:t>1</a:t>
                </a:r>
                <a:r>
                  <a:rPr lang="zh-CN" altLang="zh-CN" sz="2000" dirty="0" smtClean="0">
                    <a:solidFill>
                      <a:srgbClr val="000000"/>
                    </a:solidFill>
                    <a:latin typeface="华文楷体" panose="02010600040101010101" pitchFamily="2" charset="-122"/>
                    <a:cs typeface="宋体" panose="02010600030101010101" pitchFamily="2" charset="-122"/>
                  </a:rPr>
                  <a:t>）</a:t>
                </a:r>
                <a:r>
                  <a:rPr lang="zh-CN" altLang="zh-CN" sz="2000" dirty="0">
                    <a:solidFill>
                      <a:srgbClr val="000000"/>
                    </a:solidFill>
                    <a:latin typeface="华文楷体" panose="02010600040101010101" pitchFamily="2" charset="-122"/>
                    <a:cs typeface="宋体" panose="02010600030101010101" pitchFamily="2" charset="-122"/>
                  </a:rPr>
                  <a:t>每个结点的结构为：其中，</a:t>
                </a:r>
                <a14:m>
                  <m:oMath xmlns:m="http://schemas.openxmlformats.org/officeDocument/2006/math">
                    <m:r>
                      <m:rPr>
                        <m:sty m:val="p"/>
                      </m:rPr>
                      <a:rPr lang="en-US" altLang="zh-CN" sz="2000">
                        <a:solidFill>
                          <a:srgbClr val="000000"/>
                        </a:solidFill>
                        <a:latin typeface="Cambria Math" panose="02040503050406030204" pitchFamily="18" charset="0"/>
                        <a:cs typeface="宋体" panose="02010600030101010101" pitchFamily="2" charset="-122"/>
                      </a:rPr>
                      <m:t>n</m:t>
                    </m:r>
                  </m:oMath>
                </a14:m>
                <a:r>
                  <a:rPr lang="zh-CN" altLang="zh-CN" sz="2000" dirty="0">
                    <a:solidFill>
                      <a:srgbClr val="000000"/>
                    </a:solidFill>
                    <a:latin typeface="华文楷体" panose="02010600040101010101" pitchFamily="2" charset="-122"/>
                    <a:cs typeface="宋体" panose="02010600030101010101" pitchFamily="2" charset="-122"/>
                  </a:rPr>
                  <a:t>为该结点中关键字的个数；</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m:rPr>
                            <m:sty m:val="p"/>
                          </m:rPr>
                          <a:rPr lang="en-US" altLang="zh-CN" sz="2000">
                            <a:solidFill>
                              <a:srgbClr val="000000"/>
                            </a:solidFill>
                            <a:latin typeface="Cambria Math" panose="02040503050406030204" pitchFamily="18" charset="0"/>
                            <a:cs typeface="宋体" panose="02010600030101010101" pitchFamily="2" charset="-122"/>
                          </a:rPr>
                          <m:t>i</m:t>
                        </m:r>
                      </m:sub>
                    </m:sSub>
                  </m:oMath>
                </a14:m>
                <a:r>
                  <a:rPr lang="zh-CN" altLang="zh-CN" sz="2000" dirty="0">
                    <a:solidFill>
                      <a:srgbClr val="000000"/>
                    </a:solidFill>
                    <a:latin typeface="华文楷体" panose="02010600040101010101" pitchFamily="2" charset="-122"/>
                    <a:cs typeface="宋体" panose="02010600030101010101" pitchFamily="2" charset="-122"/>
                  </a:rPr>
                  <a:t>为该结点的</a:t>
                </a:r>
                <a:r>
                  <a:rPr lang="zh-CN" altLang="zh-CN" sz="2000" dirty="0">
                    <a:solidFill>
                      <a:srgbClr val="FF0000"/>
                    </a:solidFill>
                    <a:latin typeface="华文楷体" panose="02010600040101010101" pitchFamily="2" charset="-122"/>
                    <a:cs typeface="宋体" panose="02010600030101010101" pitchFamily="2" charset="-122"/>
                  </a:rPr>
                  <a:t>关键字</a:t>
                </a:r>
                <a:r>
                  <a:rPr lang="zh-CN" altLang="zh-CN" sz="2000" dirty="0">
                    <a:solidFill>
                      <a:srgbClr val="000000"/>
                    </a:solidFill>
                    <a:latin typeface="华文楷体" panose="02010600040101010101" pitchFamily="2" charset="-122"/>
                    <a:cs typeface="宋体" panose="02010600030101010101" pitchFamily="2" charset="-122"/>
                  </a:rPr>
                  <a:t>且满足</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m:rPr>
                            <m:sty m:val="p"/>
                          </m:rPr>
                          <a:rPr lang="en-US" altLang="zh-CN" sz="2000">
                            <a:solidFill>
                              <a:srgbClr val="000000"/>
                            </a:solidFill>
                            <a:latin typeface="Cambria Math" panose="02040503050406030204" pitchFamily="18" charset="0"/>
                            <a:cs typeface="宋体" panose="02010600030101010101" pitchFamily="2" charset="-122"/>
                          </a:rPr>
                          <m:t>i</m:t>
                        </m:r>
                      </m:sub>
                    </m:sSub>
                    <m:r>
                      <a:rPr lang="en-US" altLang="zh-CN" sz="2000">
                        <a:solidFill>
                          <a:srgbClr val="000000"/>
                        </a:solidFill>
                        <a:latin typeface="Cambria Math" panose="02040503050406030204" pitchFamily="18" charset="0"/>
                        <a:cs typeface="宋体" panose="02010600030101010101" pitchFamily="2" charset="-122"/>
                      </a:rPr>
                      <m:t>&lt;</m:t>
                    </m:r>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m:rPr>
                            <m:sty m:val="p"/>
                          </m:rPr>
                          <a:rPr lang="en-US" altLang="zh-CN" sz="2000">
                            <a:solidFill>
                              <a:srgbClr val="000000"/>
                            </a:solidFill>
                            <a:latin typeface="Cambria Math" panose="02040503050406030204" pitchFamily="18" charset="0"/>
                            <a:cs typeface="宋体" panose="02010600030101010101" pitchFamily="2" charset="-122"/>
                          </a:rPr>
                          <m:t>i</m:t>
                        </m:r>
                        <m:r>
                          <a:rPr lang="en-US" altLang="zh-CN" sz="2000">
                            <a:solidFill>
                              <a:srgbClr val="000000"/>
                            </a:solidFill>
                            <a:latin typeface="Cambria Math" panose="02040503050406030204" pitchFamily="18" charset="0"/>
                            <a:cs typeface="宋体" panose="02010600030101010101" pitchFamily="2" charset="-122"/>
                          </a:rPr>
                          <m:t>+1</m:t>
                        </m:r>
                      </m:sub>
                    </m:sSub>
                  </m:oMath>
                </a14:m>
                <a:r>
                  <a:rPr lang="zh-CN" altLang="zh-CN" sz="2000" dirty="0">
                    <a:solidFill>
                      <a:srgbClr val="000000"/>
                    </a:solidFill>
                    <a:latin typeface="华文楷体" panose="02010600040101010101" pitchFamily="2" charset="-122"/>
                    <a:cs typeface="宋体" panose="02010600030101010101" pitchFamily="2" charset="-122"/>
                  </a:rPr>
                  <a:t>；</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P</m:t>
                        </m:r>
                      </m:e>
                      <m:sub>
                        <m:r>
                          <m:rPr>
                            <m:sty m:val="p"/>
                          </m:rPr>
                          <a:rPr lang="en-US" altLang="zh-CN" sz="2000">
                            <a:solidFill>
                              <a:srgbClr val="000000"/>
                            </a:solidFill>
                            <a:latin typeface="Cambria Math" panose="02040503050406030204" pitchFamily="18" charset="0"/>
                            <a:cs typeface="宋体" panose="02010600030101010101" pitchFamily="2" charset="-122"/>
                          </a:rPr>
                          <m:t>i</m:t>
                        </m:r>
                      </m:sub>
                    </m:sSub>
                  </m:oMath>
                </a14:m>
                <a:r>
                  <a:rPr lang="zh-CN" altLang="zh-CN" sz="2000" dirty="0">
                    <a:solidFill>
                      <a:srgbClr val="000000"/>
                    </a:solidFill>
                    <a:latin typeface="华文楷体" panose="02010600040101010101" pitchFamily="2" charset="-122"/>
                    <a:cs typeface="宋体" panose="02010600030101010101" pitchFamily="2" charset="-122"/>
                  </a:rPr>
                  <a:t>为该结点的</a:t>
                </a:r>
                <a:r>
                  <a:rPr lang="zh-CN" altLang="zh-CN" sz="2000" dirty="0">
                    <a:solidFill>
                      <a:srgbClr val="FF0000"/>
                    </a:solidFill>
                    <a:latin typeface="华文楷体" panose="02010600040101010101" pitchFamily="2" charset="-122"/>
                    <a:cs typeface="宋体" panose="02010600030101010101" pitchFamily="2" charset="-122"/>
                  </a:rPr>
                  <a:t>孩子结点指针</a:t>
                </a:r>
                <a:r>
                  <a:rPr lang="zh-CN" altLang="zh-CN" sz="2000" dirty="0">
                    <a:solidFill>
                      <a:srgbClr val="000000"/>
                    </a:solidFill>
                    <a:latin typeface="华文楷体" panose="02010600040101010101" pitchFamily="2" charset="-122"/>
                    <a:cs typeface="宋体" panose="02010600030101010101" pitchFamily="2" charset="-122"/>
                  </a:rPr>
                  <a:t>且满足</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P</m:t>
                        </m:r>
                      </m:e>
                      <m:sub>
                        <m:r>
                          <m:rPr>
                            <m:sty m:val="p"/>
                          </m:rPr>
                          <a:rPr lang="en-US" altLang="zh-CN" sz="2000">
                            <a:solidFill>
                              <a:srgbClr val="000000"/>
                            </a:solidFill>
                            <a:latin typeface="Cambria Math" panose="02040503050406030204" pitchFamily="18" charset="0"/>
                            <a:cs typeface="宋体" panose="02010600030101010101" pitchFamily="2" charset="-122"/>
                          </a:rPr>
                          <m:t>i</m:t>
                        </m:r>
                      </m:sub>
                    </m:sSub>
                  </m:oMath>
                </a14:m>
                <a:r>
                  <a:rPr lang="zh-CN" altLang="zh-CN" sz="2000" dirty="0">
                    <a:solidFill>
                      <a:srgbClr val="000000"/>
                    </a:solidFill>
                    <a:latin typeface="华文楷体" panose="02010600040101010101" pitchFamily="2" charset="-122"/>
                    <a:cs typeface="宋体" panose="02010600030101010101" pitchFamily="2" charset="-122"/>
                  </a:rPr>
                  <a:t>所指结点上的关键字大于</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m:rPr>
                            <m:sty m:val="p"/>
                          </m:rPr>
                          <a:rPr lang="en-US" altLang="zh-CN" sz="2000">
                            <a:solidFill>
                              <a:srgbClr val="000000"/>
                            </a:solidFill>
                            <a:latin typeface="Cambria Math" panose="02040503050406030204" pitchFamily="18" charset="0"/>
                            <a:cs typeface="宋体" panose="02010600030101010101" pitchFamily="2" charset="-122"/>
                          </a:rPr>
                          <m:t>i</m:t>
                        </m:r>
                      </m:sub>
                    </m:sSub>
                  </m:oMath>
                </a14:m>
                <a:r>
                  <a:rPr lang="zh-CN" altLang="zh-CN" sz="2000" dirty="0">
                    <a:solidFill>
                      <a:srgbClr val="000000"/>
                    </a:solidFill>
                    <a:latin typeface="华文楷体" panose="02010600040101010101" pitchFamily="2" charset="-122"/>
                    <a:cs typeface="宋体" panose="02010600030101010101" pitchFamily="2" charset="-122"/>
                  </a:rPr>
                  <a:t>且小于</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m:rPr>
                            <m:sty m:val="p"/>
                          </m:rPr>
                          <a:rPr lang="en-US" altLang="zh-CN" sz="2000">
                            <a:solidFill>
                              <a:srgbClr val="000000"/>
                            </a:solidFill>
                            <a:latin typeface="Cambria Math" panose="02040503050406030204" pitchFamily="18" charset="0"/>
                            <a:cs typeface="宋体" panose="02010600030101010101" pitchFamily="2" charset="-122"/>
                          </a:rPr>
                          <m:t>i</m:t>
                        </m:r>
                        <m:r>
                          <a:rPr lang="en-US" altLang="zh-CN" sz="2000">
                            <a:solidFill>
                              <a:srgbClr val="000000"/>
                            </a:solidFill>
                            <a:latin typeface="Cambria Math" panose="02040503050406030204" pitchFamily="18" charset="0"/>
                            <a:cs typeface="宋体" panose="02010600030101010101" pitchFamily="2" charset="-122"/>
                          </a:rPr>
                          <m:t>+1</m:t>
                        </m:r>
                      </m:sub>
                    </m:sSub>
                  </m:oMath>
                </a14:m>
                <a:r>
                  <a:rPr lang="zh-CN" altLang="zh-CN" sz="2000" dirty="0">
                    <a:solidFill>
                      <a:srgbClr val="000000"/>
                    </a:solidFill>
                    <a:latin typeface="华文楷体" panose="02010600040101010101" pitchFamily="2" charset="-122"/>
                    <a:cs typeface="宋体" panose="02010600030101010101" pitchFamily="2" charset="-122"/>
                  </a:rPr>
                  <a:t>，</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P</m:t>
                        </m:r>
                      </m:e>
                      <m:sub>
                        <m:r>
                          <a:rPr lang="en-US" altLang="zh-CN" sz="2000">
                            <a:solidFill>
                              <a:srgbClr val="000000"/>
                            </a:solidFill>
                            <a:latin typeface="Cambria Math" panose="02040503050406030204" pitchFamily="18" charset="0"/>
                            <a:cs typeface="宋体" panose="02010600030101010101" pitchFamily="2" charset="-122"/>
                          </a:rPr>
                          <m:t>0</m:t>
                        </m:r>
                      </m:sub>
                    </m:sSub>
                  </m:oMath>
                </a14:m>
                <a:r>
                  <a:rPr lang="zh-CN" altLang="zh-CN" sz="2000" dirty="0">
                    <a:solidFill>
                      <a:srgbClr val="000000"/>
                    </a:solidFill>
                    <a:latin typeface="华文楷体" panose="02010600040101010101" pitchFamily="2" charset="-122"/>
                    <a:cs typeface="宋体" panose="02010600030101010101" pitchFamily="2" charset="-122"/>
                  </a:rPr>
                  <a:t>所指结点上的关键字小于</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a:rPr lang="en-US" altLang="zh-CN" sz="2000">
                            <a:solidFill>
                              <a:srgbClr val="000000"/>
                            </a:solidFill>
                            <a:latin typeface="Cambria Math" panose="02040503050406030204" pitchFamily="18" charset="0"/>
                            <a:cs typeface="宋体" panose="02010600030101010101" pitchFamily="2" charset="-122"/>
                          </a:rPr>
                          <m:t>1</m:t>
                        </m:r>
                      </m:sub>
                    </m:sSub>
                  </m:oMath>
                </a14:m>
                <a:r>
                  <a:rPr lang="zh-CN" altLang="zh-CN" sz="2000" dirty="0">
                    <a:solidFill>
                      <a:srgbClr val="000000"/>
                    </a:solidFill>
                    <a:latin typeface="华文楷体" panose="02010600040101010101" pitchFamily="2" charset="-122"/>
                    <a:cs typeface="宋体" panose="02010600030101010101" pitchFamily="2" charset="-122"/>
                  </a:rPr>
                  <a:t>，</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P</m:t>
                        </m:r>
                      </m:e>
                      <m:sub>
                        <m:r>
                          <m:rPr>
                            <m:sty m:val="p"/>
                          </m:rPr>
                          <a:rPr lang="en-US" altLang="zh-CN" sz="2000">
                            <a:solidFill>
                              <a:srgbClr val="000000"/>
                            </a:solidFill>
                            <a:latin typeface="Cambria Math" panose="02040503050406030204" pitchFamily="18" charset="0"/>
                            <a:cs typeface="宋体" panose="02010600030101010101" pitchFamily="2" charset="-122"/>
                          </a:rPr>
                          <m:t>n</m:t>
                        </m:r>
                      </m:sub>
                    </m:sSub>
                  </m:oMath>
                </a14:m>
                <a:r>
                  <a:rPr lang="zh-CN" altLang="zh-CN" sz="2000" dirty="0">
                    <a:solidFill>
                      <a:srgbClr val="000000"/>
                    </a:solidFill>
                    <a:latin typeface="华文楷体" panose="02010600040101010101" pitchFamily="2" charset="-122"/>
                    <a:cs typeface="宋体" panose="02010600030101010101" pitchFamily="2" charset="-122"/>
                  </a:rPr>
                  <a:t>所指结点上的关键字大于</a:t>
                </a:r>
                <a14:m>
                  <m:oMath xmlns:m="http://schemas.openxmlformats.org/officeDocument/2006/math">
                    <m:sSub>
                      <m:sSubPr>
                        <m:ctrlPr>
                          <a:rPr lang="zh-CN" altLang="zh-CN" sz="2000" i="1">
                            <a:solidFill>
                              <a:srgbClr val="000000"/>
                            </a:solidFill>
                            <a:latin typeface="Cambria Math" panose="02040503050406030204" pitchFamily="18" charset="0"/>
                            <a:cs typeface="宋体" panose="02010600030101010101" pitchFamily="2" charset="-122"/>
                          </a:rPr>
                        </m:ctrlPr>
                      </m:sSubPr>
                      <m:e>
                        <m:r>
                          <m:rPr>
                            <m:sty m:val="p"/>
                          </m:rPr>
                          <a:rPr lang="en-US" altLang="zh-CN" sz="2000">
                            <a:solidFill>
                              <a:srgbClr val="000000"/>
                            </a:solidFill>
                            <a:latin typeface="Cambria Math" panose="02040503050406030204" pitchFamily="18" charset="0"/>
                            <a:cs typeface="宋体" panose="02010600030101010101" pitchFamily="2" charset="-122"/>
                          </a:rPr>
                          <m:t>K</m:t>
                        </m:r>
                      </m:e>
                      <m:sub>
                        <m:r>
                          <m:rPr>
                            <m:sty m:val="p"/>
                          </m:rPr>
                          <a:rPr lang="en-US" altLang="zh-CN" sz="2000">
                            <a:solidFill>
                              <a:srgbClr val="000000"/>
                            </a:solidFill>
                            <a:latin typeface="Cambria Math" panose="02040503050406030204" pitchFamily="18" charset="0"/>
                            <a:cs typeface="宋体" panose="02010600030101010101" pitchFamily="2" charset="-122"/>
                          </a:rPr>
                          <m:t>n</m:t>
                        </m:r>
                      </m:sub>
                    </m:sSub>
                  </m:oMath>
                </a14:m>
                <a:r>
                  <a:rPr lang="zh-CN" altLang="zh-CN" sz="2000" dirty="0">
                    <a:solidFill>
                      <a:srgbClr val="000000"/>
                    </a:solidFill>
                    <a:latin typeface="华文楷体" panose="02010600040101010101" pitchFamily="2" charset="-122"/>
                    <a:cs typeface="宋体" panose="02010600030101010101" pitchFamily="2" charset="-122"/>
                  </a:rPr>
                  <a:t>。</a:t>
                </a:r>
                <a:endParaRPr lang="zh-CN" altLang="zh-CN" sz="2000" dirty="0">
                  <a:solidFill>
                    <a:prstClr val="black"/>
                  </a:solidFill>
                  <a:latin typeface="华文楷体" panose="02010600040101010101" pitchFamily="2" charset="-122"/>
                  <a:cs typeface="宋体" panose="02010600030101010101" pitchFamily="2" charset="-122"/>
                </a:endParaRPr>
              </a:p>
              <a:p>
                <a:endParaRPr lang="en-US" altLang="zh-CN" sz="2000" dirty="0" smtClean="0"/>
              </a:p>
              <a:p>
                <a:pPr marL="0" indent="0">
                  <a:buNone/>
                </a:pPr>
                <a:r>
                  <a:rPr lang="en-US" altLang="zh-CN" sz="2000" dirty="0" smtClean="0"/>
                  <a:t>2</a:t>
                </a:r>
                <a:r>
                  <a:rPr lang="zh-CN" altLang="en-US" sz="2000" dirty="0" smtClean="0"/>
                  <a:t>）</a:t>
                </a:r>
                <a:r>
                  <a:rPr lang="zh-CN" altLang="en-US" sz="2000" dirty="0"/>
                  <a:t>结点内各关键字互不相等且按从小到大排列</a:t>
                </a:r>
                <a:r>
                  <a:rPr lang="zh-CN" altLang="en-US" sz="2000" dirty="0" smtClean="0"/>
                  <a:t>。</a:t>
                </a:r>
                <a:endParaRPr lang="en-US" altLang="zh-CN" sz="2000" dirty="0" smtClean="0"/>
              </a:p>
              <a:p>
                <a:pPr marL="0" indent="0">
                  <a:buNone/>
                </a:pPr>
                <a:endParaRPr lang="zh-CN" altLang="en-US" sz="2000" dirty="0"/>
              </a:p>
              <a:p>
                <a:pPr marL="0" indent="0">
                  <a:buNone/>
                </a:pPr>
                <a:r>
                  <a:rPr lang="en-US" altLang="zh-CN" sz="2000" dirty="0" smtClean="0"/>
                  <a:t>3</a:t>
                </a:r>
                <a:r>
                  <a:rPr lang="zh-CN" altLang="en-US" sz="2000" dirty="0" smtClean="0"/>
                  <a:t>）</a:t>
                </a:r>
                <a:r>
                  <a:rPr lang="zh-CN" altLang="en-US" sz="2000" dirty="0"/>
                  <a:t>叶子结点处于同一层；</a:t>
                </a:r>
                <a:r>
                  <a:rPr lang="zh-CN" altLang="en-US" sz="2000" dirty="0">
                    <a:solidFill>
                      <a:srgbClr val="FF0000"/>
                    </a:solidFill>
                  </a:rPr>
                  <a:t>叶子结点的孩子指针可以用空指针表示</a:t>
                </a:r>
                <a:r>
                  <a:rPr lang="zh-CN" altLang="en-US" sz="2000" dirty="0"/>
                  <a:t>，是查找失败到达的位置。</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76784" y="2420889"/>
                <a:ext cx="8229600" cy="4104456"/>
              </a:xfrm>
              <a:blipFill>
                <a:blip r:embed="rId2"/>
                <a:stretch>
                  <a:fillRect l="-741" t="-594" r="-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 name="内容占位符 6"/>
              <p:cNvGraphicFramePr>
                <a:graphicFrameLocks/>
              </p:cNvGraphicFramePr>
              <p:nvPr>
                <p:extLst>
                  <p:ext uri="{D42A27DB-BD31-4B8C-83A1-F6EECF244321}">
                    <p14:modId xmlns:p14="http://schemas.microsoft.com/office/powerpoint/2010/main" val="353177516"/>
                  </p:ext>
                </p:extLst>
              </p:nvPr>
            </p:nvGraphicFramePr>
            <p:xfrm>
              <a:off x="2699792" y="1524714"/>
              <a:ext cx="2376262" cy="375920"/>
            </p:xfrm>
            <a:graphic>
              <a:graphicData uri="http://schemas.openxmlformats.org/drawingml/2006/table">
                <a:tbl>
                  <a:tblPr firstRow="1" firstCol="1" bandRow="1"/>
                  <a:tblGrid>
                    <a:gridCol w="339466">
                      <a:extLst>
                        <a:ext uri="{9D8B030D-6E8A-4147-A177-3AD203B41FA5}">
                          <a16:colId xmlns:a16="http://schemas.microsoft.com/office/drawing/2014/main" val="1410260289"/>
                        </a:ext>
                      </a:extLst>
                    </a:gridCol>
                    <a:gridCol w="339466">
                      <a:extLst>
                        <a:ext uri="{9D8B030D-6E8A-4147-A177-3AD203B41FA5}">
                          <a16:colId xmlns:a16="http://schemas.microsoft.com/office/drawing/2014/main" val="1177190188"/>
                        </a:ext>
                      </a:extLst>
                    </a:gridCol>
                    <a:gridCol w="339466">
                      <a:extLst>
                        <a:ext uri="{9D8B030D-6E8A-4147-A177-3AD203B41FA5}">
                          <a16:colId xmlns:a16="http://schemas.microsoft.com/office/drawing/2014/main" val="2409141326"/>
                        </a:ext>
                      </a:extLst>
                    </a:gridCol>
                    <a:gridCol w="339466">
                      <a:extLst>
                        <a:ext uri="{9D8B030D-6E8A-4147-A177-3AD203B41FA5}">
                          <a16:colId xmlns:a16="http://schemas.microsoft.com/office/drawing/2014/main" val="2110086938"/>
                        </a:ext>
                      </a:extLst>
                    </a:gridCol>
                    <a:gridCol w="339466">
                      <a:extLst>
                        <a:ext uri="{9D8B030D-6E8A-4147-A177-3AD203B41FA5}">
                          <a16:colId xmlns:a16="http://schemas.microsoft.com/office/drawing/2014/main" val="1726608969"/>
                        </a:ext>
                      </a:extLst>
                    </a:gridCol>
                    <a:gridCol w="339466">
                      <a:extLst>
                        <a:ext uri="{9D8B030D-6E8A-4147-A177-3AD203B41FA5}">
                          <a16:colId xmlns:a16="http://schemas.microsoft.com/office/drawing/2014/main" val="3108876895"/>
                        </a:ext>
                      </a:extLst>
                    </a:gridCol>
                    <a:gridCol w="339466">
                      <a:extLst>
                        <a:ext uri="{9D8B030D-6E8A-4147-A177-3AD203B41FA5}">
                          <a16:colId xmlns:a16="http://schemas.microsoft.com/office/drawing/2014/main" val="2578923153"/>
                        </a:ext>
                      </a:extLst>
                    </a:gridCol>
                  </a:tblGrid>
                  <a:tr h="288032">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sSub>
                                  <m:sSubPr>
                                    <m:ctrlPr>
                                      <a:rPr lang="zh-CN" sz="18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smtClean="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0</m:t>
                                    </m:r>
                                  </m:sub>
                                </m:sSub>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sSub>
                                  <m:sSubPr>
                                    <m:ctrlPr>
                                      <a:rPr lang="zh-CN" sz="18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𝐾</m:t>
                                    </m:r>
                                  </m:e>
                                  <m:sub>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A1C7"/>
                        </a:solidFill>
                      </a:tcPr>
                    </a:tc>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sSub>
                                  <m:sSubPr>
                                    <m:ctrlPr>
                                      <a:rPr lang="zh-CN" sz="18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smtClean="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sSub>
                                  <m:sSubPr>
                                    <m:ctrlPr>
                                      <a:rPr lang="zh-CN" sz="18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𝐾</m:t>
                                    </m:r>
                                  </m:e>
                                  <m:sub>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A1C7"/>
                        </a:solidFill>
                      </a:tcPr>
                    </a:tc>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r>
                                  <a:rPr lang="en-US" sz="18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sSub>
                                  <m:sSubPr>
                                    <m:ctrlPr>
                                      <a:rPr lang="zh-CN" sz="18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𝐾</m:t>
                                    </m:r>
                                  </m:e>
                                  <m:sub>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𝑛</m:t>
                                    </m:r>
                                  </m:sub>
                                </m:sSub>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A1C7"/>
                        </a:solidFill>
                      </a:tcPr>
                    </a:tc>
                    <a:tc>
                      <a:txBody>
                        <a:bodyPr/>
                        <a:lstStyle/>
                        <a:p>
                          <a:pPr>
                            <a:spcBef>
                              <a:spcPts val="835"/>
                            </a:spcBef>
                            <a:spcAft>
                              <a:spcPts val="835"/>
                            </a:spcAft>
                          </a:pPr>
                          <a14:m>
                            <m:oMathPara xmlns:m="http://schemas.openxmlformats.org/officeDocument/2006/math">
                              <m:oMathParaPr>
                                <m:jc m:val="centerGroup"/>
                              </m:oMathParaPr>
                              <m:oMath xmlns:m="http://schemas.openxmlformats.org/officeDocument/2006/math">
                                <m:sSub>
                                  <m:sSubPr>
                                    <m:ctrlPr>
                                      <a:rPr lang="zh-CN" sz="18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sz="18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𝑛</m:t>
                                    </m:r>
                                  </m:sub>
                                </m:sSub>
                              </m:oMath>
                            </m:oMathPara>
                          </a14:m>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extLst>
                      <a:ext uri="{0D108BD9-81ED-4DB2-BD59-A6C34878D82A}">
                        <a16:rowId xmlns:a16="http://schemas.microsoft.com/office/drawing/2014/main" val="1448374862"/>
                      </a:ext>
                    </a:extLst>
                  </a:tr>
                </a:tbl>
              </a:graphicData>
            </a:graphic>
          </p:graphicFrame>
        </mc:Choice>
        <mc:Fallback xmlns="">
          <p:graphicFrame>
            <p:nvGraphicFramePr>
              <p:cNvPr id="5" name="内容占位符 6"/>
              <p:cNvGraphicFramePr>
                <a:graphicFrameLocks/>
              </p:cNvGraphicFramePr>
              <p:nvPr>
                <p:extLst>
                  <p:ext uri="{D42A27DB-BD31-4B8C-83A1-F6EECF244321}">
                    <p14:modId xmlns:p14="http://schemas.microsoft.com/office/powerpoint/2010/main" val="353177516"/>
                  </p:ext>
                </p:extLst>
              </p:nvPr>
            </p:nvGraphicFramePr>
            <p:xfrm>
              <a:off x="2699792" y="1524714"/>
              <a:ext cx="2376262" cy="375920"/>
            </p:xfrm>
            <a:graphic>
              <a:graphicData uri="http://schemas.openxmlformats.org/drawingml/2006/table">
                <a:tbl>
                  <a:tblPr firstRow="1" firstCol="1" bandRow="1"/>
                  <a:tblGrid>
                    <a:gridCol w="339466">
                      <a:extLst>
                        <a:ext uri="{9D8B030D-6E8A-4147-A177-3AD203B41FA5}">
                          <a16:colId xmlns:a16="http://schemas.microsoft.com/office/drawing/2014/main" val="1410260289"/>
                        </a:ext>
                      </a:extLst>
                    </a:gridCol>
                    <a:gridCol w="339466">
                      <a:extLst>
                        <a:ext uri="{9D8B030D-6E8A-4147-A177-3AD203B41FA5}">
                          <a16:colId xmlns:a16="http://schemas.microsoft.com/office/drawing/2014/main" val="1177190188"/>
                        </a:ext>
                      </a:extLst>
                    </a:gridCol>
                    <a:gridCol w="339466">
                      <a:extLst>
                        <a:ext uri="{9D8B030D-6E8A-4147-A177-3AD203B41FA5}">
                          <a16:colId xmlns:a16="http://schemas.microsoft.com/office/drawing/2014/main" val="2409141326"/>
                        </a:ext>
                      </a:extLst>
                    </a:gridCol>
                    <a:gridCol w="339466">
                      <a:extLst>
                        <a:ext uri="{9D8B030D-6E8A-4147-A177-3AD203B41FA5}">
                          <a16:colId xmlns:a16="http://schemas.microsoft.com/office/drawing/2014/main" val="2110086938"/>
                        </a:ext>
                      </a:extLst>
                    </a:gridCol>
                    <a:gridCol w="339466">
                      <a:extLst>
                        <a:ext uri="{9D8B030D-6E8A-4147-A177-3AD203B41FA5}">
                          <a16:colId xmlns:a16="http://schemas.microsoft.com/office/drawing/2014/main" val="1726608969"/>
                        </a:ext>
                      </a:extLst>
                    </a:gridCol>
                    <a:gridCol w="339466">
                      <a:extLst>
                        <a:ext uri="{9D8B030D-6E8A-4147-A177-3AD203B41FA5}">
                          <a16:colId xmlns:a16="http://schemas.microsoft.com/office/drawing/2014/main" val="3108876895"/>
                        </a:ext>
                      </a:extLst>
                    </a:gridCol>
                    <a:gridCol w="339466">
                      <a:extLst>
                        <a:ext uri="{9D8B030D-6E8A-4147-A177-3AD203B41FA5}">
                          <a16:colId xmlns:a16="http://schemas.microsoft.com/office/drawing/2014/main" val="2578923153"/>
                        </a:ext>
                      </a:extLst>
                    </a:gridCol>
                  </a:tblGrid>
                  <a:tr h="375920">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786" t="-1613" r="-601786" b="-322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1786" t="-1613" r="-501786" b="-322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1786" t="-1613" r="-401786" b="-322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07273" t="-1613" r="-309091" b="-322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0000" t="-1613" r="-203571" b="-322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00000" t="-1613" r="-103571" b="-322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00000" t="-1613" r="-3571" b="-3226"/>
                          </a:stretch>
                        </a:blipFill>
                      </a:tcPr>
                    </a:tc>
                    <a:extLst>
                      <a:ext uri="{0D108BD9-81ED-4DB2-BD59-A6C34878D82A}">
                        <a16:rowId xmlns:a16="http://schemas.microsoft.com/office/drawing/2014/main" val="1448374862"/>
                      </a:ext>
                    </a:extLst>
                  </a:tr>
                </a:tbl>
              </a:graphicData>
            </a:graphic>
          </p:graphicFrame>
        </mc:Fallback>
      </mc:AlternateContent>
      <p:cxnSp>
        <p:nvCxnSpPr>
          <p:cNvPr id="6" name="直接箭头连接符 5"/>
          <p:cNvCxnSpPr/>
          <p:nvPr/>
        </p:nvCxnSpPr>
        <p:spPr>
          <a:xfrm flipH="1">
            <a:off x="5148064" y="1712674"/>
            <a:ext cx="6480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933201" y="1918573"/>
            <a:ext cx="2232248" cy="646331"/>
          </a:xfrm>
          <a:prstGeom prst="rect">
            <a:avLst/>
          </a:prstGeom>
          <a:noFill/>
        </p:spPr>
        <p:txBody>
          <a:bodyPr wrap="square" rtlCol="0">
            <a:spAutoFit/>
          </a:bodyPr>
          <a:lstStyle/>
          <a:p>
            <a:r>
              <a:rPr lang="en-US" altLang="zh-CN" dirty="0" smtClean="0"/>
              <a:t>B-Tree</a:t>
            </a:r>
            <a:r>
              <a:rPr lang="zh-CN" altLang="en-US" dirty="0" smtClean="0"/>
              <a:t>中的结点</a:t>
            </a:r>
            <a:endParaRPr lang="en-US" altLang="zh-CN" dirty="0" smtClean="0"/>
          </a:p>
          <a:p>
            <a:endParaRPr lang="zh-CN" altLang="en-US" dirty="0"/>
          </a:p>
        </p:txBody>
      </p:sp>
      <mc:AlternateContent xmlns:mc="http://schemas.openxmlformats.org/markup-compatibility/2006" xmlns:a14="http://schemas.microsoft.com/office/drawing/2010/main">
        <mc:Choice Requires="a14">
          <p:sp>
            <p:nvSpPr>
              <p:cNvPr id="8" name="文本框 7"/>
              <p:cNvSpPr txBox="1"/>
              <p:nvPr/>
            </p:nvSpPr>
            <p:spPr>
              <a:xfrm>
                <a:off x="5868144" y="1333699"/>
                <a:ext cx="1872208" cy="923330"/>
              </a:xfrm>
              <a:prstGeom prst="rect">
                <a:avLst/>
              </a:prstGeom>
              <a:noFill/>
              <a:ln>
                <a:solidFill>
                  <a:schemeClr val="bg2">
                    <a:lumMod val="75000"/>
                  </a:schemeClr>
                </a:solidFill>
              </a:ln>
            </p:spPr>
            <p:txBody>
              <a:bodyPr wrap="square" rtlCol="0">
                <a:spAutoFit/>
              </a:bodyPr>
              <a:lstStyle/>
              <a:p>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𝐾</m:t>
                        </m:r>
                      </m:e>
                      <m:sub>
                        <m:r>
                          <m:rPr>
                            <m:sty m:val="p"/>
                          </m:rPr>
                          <a:rPr lang="en-US" altLang="zh-CN" i="1" dirty="0">
                            <a:latin typeface="Cambria Math" panose="02040503050406030204" pitchFamily="18" charset="0"/>
                          </a:rPr>
                          <m:t>i</m:t>
                        </m:r>
                      </m:sub>
                    </m:sSub>
                    <m:r>
                      <a:rPr lang="en-US" altLang="zh-CN" b="0" i="1" dirty="0" smtClean="0">
                        <a:latin typeface="Cambria Math" panose="02040503050406030204" pitchFamily="18" charset="0"/>
                      </a:rPr>
                      <m:t>:</m:t>
                    </m:r>
                  </m:oMath>
                </a14:m>
                <a:r>
                  <a:rPr lang="zh-CN" altLang="en-US" dirty="0" smtClean="0"/>
                  <a:t>   关键字</a:t>
                </a:r>
                <a:endParaRPr lang="en-US" altLang="zh-CN" dirty="0" smtClean="0"/>
              </a:p>
              <a:p>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𝑃</m:t>
                        </m:r>
                      </m:e>
                      <m:sub>
                        <m:r>
                          <m:rPr>
                            <m:sty m:val="p"/>
                          </m:rPr>
                          <a:rPr lang="en-US" altLang="zh-CN" i="1" dirty="0">
                            <a:latin typeface="Cambria Math" panose="02040503050406030204" pitchFamily="18" charset="0"/>
                          </a:rPr>
                          <m:t>i</m:t>
                        </m:r>
                      </m:sub>
                    </m:sSub>
                    <m:r>
                      <a:rPr lang="zh-CN" altLang="en-US" i="1" dirty="0">
                        <a:latin typeface="Cambria Math" panose="02040503050406030204" pitchFamily="18" charset="0"/>
                      </a:rPr>
                      <m:t>：</m:t>
                    </m:r>
                  </m:oMath>
                </a14:m>
                <a:r>
                  <a:rPr lang="zh-CN" altLang="en-US" dirty="0" smtClean="0"/>
                  <a:t>指向孩子结点的指针</a:t>
                </a:r>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5868144" y="1333699"/>
                <a:ext cx="1872208" cy="923330"/>
              </a:xfrm>
              <a:prstGeom prst="rect">
                <a:avLst/>
              </a:prstGeom>
              <a:blipFill>
                <a:blip r:embed="rId4"/>
                <a:stretch>
                  <a:fillRect l="-2589" t="-2614" b="-9804"/>
                </a:stretch>
              </a:blipFill>
              <a:ln>
                <a:solidFill>
                  <a:schemeClr val="bg2">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301894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a:t>
            </a:r>
          </a:p>
        </p:txBody>
      </p:sp>
      <mc:AlternateContent xmlns:mc="http://schemas.openxmlformats.org/markup-compatibility/2006" xmlns:a14="http://schemas.microsoft.com/office/drawing/2010/main">
        <mc:Choice Requires="a14">
          <p:graphicFrame>
            <p:nvGraphicFramePr>
              <p:cNvPr id="5" name="内容占位符 4"/>
              <p:cNvGraphicFramePr>
                <a:graphicFrameLocks noGrp="1"/>
              </p:cNvGraphicFramePr>
              <p:nvPr>
                <p:ph idx="1"/>
                <p:extLst>
                  <p:ext uri="{D42A27DB-BD31-4B8C-83A1-F6EECF244321}">
                    <p14:modId xmlns:p14="http://schemas.microsoft.com/office/powerpoint/2010/main" val="247456416"/>
                  </p:ext>
                </p:extLst>
              </p:nvPr>
            </p:nvGraphicFramePr>
            <p:xfrm>
              <a:off x="3275857" y="1708886"/>
              <a:ext cx="1224135" cy="304800"/>
            </p:xfrm>
            <a:graphic>
              <a:graphicData uri="http://schemas.openxmlformats.org/drawingml/2006/table">
                <a:tbl>
                  <a:tblPr firstRow="1" bandRow="1">
                    <a:tableStyleId>{5C22544A-7EE6-4342-B048-85BDC9FD1C3A}</a:tableStyleId>
                  </a:tblPr>
                  <a:tblGrid>
                    <a:gridCol w="408045">
                      <a:extLst>
                        <a:ext uri="{9D8B030D-6E8A-4147-A177-3AD203B41FA5}">
                          <a16:colId xmlns:a16="http://schemas.microsoft.com/office/drawing/2014/main" val="2439247418"/>
                        </a:ext>
                      </a:extLst>
                    </a:gridCol>
                    <a:gridCol w="408045">
                      <a:extLst>
                        <a:ext uri="{9D8B030D-6E8A-4147-A177-3AD203B41FA5}">
                          <a16:colId xmlns:a16="http://schemas.microsoft.com/office/drawing/2014/main" val="2065841117"/>
                        </a:ext>
                      </a:extLst>
                    </a:gridCol>
                    <a:gridCol w="408045">
                      <a:extLst>
                        <a:ext uri="{9D8B030D-6E8A-4147-A177-3AD203B41FA5}">
                          <a16:colId xmlns:a16="http://schemas.microsoft.com/office/drawing/2014/main" val="1756638396"/>
                        </a:ext>
                      </a:extLst>
                    </a:gridCol>
                  </a:tblGrid>
                  <a:tr h="207399">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𝑷</m:t>
                                    </m:r>
                                  </m:e>
                                  <m:sub>
                                    <m:r>
                                      <a:rPr lang="en-US" altLang="zh-CN" sz="1400" b="1" i="1" smtClean="0">
                                        <a:latin typeface="Cambria Math" panose="02040503050406030204" pitchFamily="18" charset="0"/>
                                      </a:rPr>
                                      <m:t>𝟎</m:t>
                                    </m:r>
                                  </m:sub>
                                </m:sSub>
                              </m:oMath>
                            </m:oMathPara>
                          </a14:m>
                          <a:endParaRPr lang="zh-CN" altLang="en-US" sz="1400" dirty="0"/>
                        </a:p>
                      </a:txBody>
                      <a:tcPr/>
                    </a:tc>
                    <a:tc>
                      <a:txBody>
                        <a:bodyPr/>
                        <a:lstStyle/>
                        <a:p>
                          <a:r>
                            <a:rPr lang="en-US" altLang="zh-CN" sz="1400" dirty="0" smtClean="0"/>
                            <a:t>30</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𝑷</m:t>
                                    </m:r>
                                  </m:e>
                                  <m:sub>
                                    <m:r>
                                      <a:rPr lang="en-US" altLang="zh-CN" sz="1400" b="1" i="1" smtClean="0">
                                        <a:latin typeface="Cambria Math" panose="02040503050406030204" pitchFamily="18" charset="0"/>
                                      </a:rPr>
                                      <m:t>𝟏</m:t>
                                    </m:r>
                                  </m:sub>
                                </m:sSub>
                              </m:oMath>
                            </m:oMathPara>
                          </a14:m>
                          <a:endParaRPr lang="zh-CN" altLang="en-US" sz="1400" dirty="0"/>
                        </a:p>
                      </a:txBody>
                      <a:tcPr/>
                    </a:tc>
                    <a:extLst>
                      <a:ext uri="{0D108BD9-81ED-4DB2-BD59-A6C34878D82A}">
                        <a16:rowId xmlns:a16="http://schemas.microsoft.com/office/drawing/2014/main" val="2302541723"/>
                      </a:ext>
                    </a:extLst>
                  </a:tr>
                </a:tbl>
              </a:graphicData>
            </a:graphic>
          </p:graphicFrame>
        </mc:Choice>
        <mc:Fallback xmlns="">
          <p:graphicFrame>
            <p:nvGraphicFramePr>
              <p:cNvPr id="5" name="内容占位符 4"/>
              <p:cNvGraphicFramePr>
                <a:graphicFrameLocks noGrp="1"/>
              </p:cNvGraphicFramePr>
              <p:nvPr>
                <p:ph idx="1"/>
                <p:extLst>
                  <p:ext uri="{D42A27DB-BD31-4B8C-83A1-F6EECF244321}">
                    <p14:modId xmlns:p14="http://schemas.microsoft.com/office/powerpoint/2010/main" val="247456416"/>
                  </p:ext>
                </p:extLst>
              </p:nvPr>
            </p:nvGraphicFramePr>
            <p:xfrm>
              <a:off x="3275857" y="1708886"/>
              <a:ext cx="1224135" cy="304800"/>
            </p:xfrm>
            <a:graphic>
              <a:graphicData uri="http://schemas.openxmlformats.org/drawingml/2006/table">
                <a:tbl>
                  <a:tblPr firstRow="1" bandRow="1">
                    <a:tableStyleId>{5C22544A-7EE6-4342-B048-85BDC9FD1C3A}</a:tableStyleId>
                  </a:tblPr>
                  <a:tblGrid>
                    <a:gridCol w="408045">
                      <a:extLst>
                        <a:ext uri="{9D8B030D-6E8A-4147-A177-3AD203B41FA5}">
                          <a16:colId xmlns:a16="http://schemas.microsoft.com/office/drawing/2014/main" val="2439247418"/>
                        </a:ext>
                      </a:extLst>
                    </a:gridCol>
                    <a:gridCol w="408045">
                      <a:extLst>
                        <a:ext uri="{9D8B030D-6E8A-4147-A177-3AD203B41FA5}">
                          <a16:colId xmlns:a16="http://schemas.microsoft.com/office/drawing/2014/main" val="2065841117"/>
                        </a:ext>
                      </a:extLst>
                    </a:gridCol>
                    <a:gridCol w="408045">
                      <a:extLst>
                        <a:ext uri="{9D8B030D-6E8A-4147-A177-3AD203B41FA5}">
                          <a16:colId xmlns:a16="http://schemas.microsoft.com/office/drawing/2014/main" val="1756638396"/>
                        </a:ext>
                      </a:extLst>
                    </a:gridCol>
                  </a:tblGrid>
                  <a:tr h="304800">
                    <a:tc>
                      <a:txBody>
                        <a:bodyPr/>
                        <a:lstStyle/>
                        <a:p>
                          <a:endParaRPr lang="zh-CN"/>
                        </a:p>
                      </a:txBody>
                      <a:tcPr>
                        <a:blipFill>
                          <a:blip r:embed="rId2"/>
                          <a:stretch>
                            <a:fillRect l="-1493" t="-3922" r="-207463" b="-17647"/>
                          </a:stretch>
                        </a:blipFill>
                      </a:tcPr>
                    </a:tc>
                    <a:tc>
                      <a:txBody>
                        <a:bodyPr/>
                        <a:lstStyle/>
                        <a:p>
                          <a:r>
                            <a:rPr lang="en-US" altLang="zh-CN" sz="1400" dirty="0" smtClean="0"/>
                            <a:t>30</a:t>
                          </a:r>
                          <a:endParaRPr lang="zh-CN" altLang="en-US" sz="1400" dirty="0"/>
                        </a:p>
                      </a:txBody>
                      <a:tcPr>
                        <a:solidFill>
                          <a:schemeClr val="accent5">
                            <a:lumMod val="75000"/>
                          </a:schemeClr>
                        </a:solidFill>
                      </a:tcPr>
                    </a:tc>
                    <a:tc>
                      <a:txBody>
                        <a:bodyPr/>
                        <a:lstStyle/>
                        <a:p>
                          <a:endParaRPr lang="zh-CN"/>
                        </a:p>
                      </a:txBody>
                      <a:tcPr>
                        <a:blipFill>
                          <a:blip r:embed="rId2"/>
                          <a:stretch>
                            <a:fillRect l="-202985" t="-3922" r="-5970" b="-17647"/>
                          </a:stretch>
                        </a:blipFill>
                      </a:tcPr>
                    </a:tc>
                    <a:extLst>
                      <a:ext uri="{0D108BD9-81ED-4DB2-BD59-A6C34878D82A}">
                        <a16:rowId xmlns:a16="http://schemas.microsoft.com/office/drawing/2014/main" val="2302541723"/>
                      </a:ext>
                    </a:extLst>
                  </a:tr>
                </a:tbl>
              </a:graphicData>
            </a:graphic>
          </p:graphicFrame>
        </mc:Fallback>
      </mc:AlternateContent>
      <p:cxnSp>
        <p:nvCxnSpPr>
          <p:cNvPr id="7" name="直接箭头连接符 6"/>
          <p:cNvCxnSpPr/>
          <p:nvPr/>
        </p:nvCxnSpPr>
        <p:spPr>
          <a:xfrm flipH="1">
            <a:off x="2627784" y="2013686"/>
            <a:ext cx="936104" cy="55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4319973" y="1955039"/>
            <a:ext cx="972108" cy="586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1" name="表格 10"/>
              <p:cNvGraphicFramePr>
                <a:graphicFrameLocks noGrp="1"/>
              </p:cNvGraphicFramePr>
              <p:nvPr>
                <p:extLst>
                  <p:ext uri="{D42A27DB-BD31-4B8C-83A1-F6EECF244321}">
                    <p14:modId xmlns:p14="http://schemas.microsoft.com/office/powerpoint/2010/main" val="3470210011"/>
                  </p:ext>
                </p:extLst>
              </p:nvPr>
            </p:nvGraphicFramePr>
            <p:xfrm>
              <a:off x="1471439" y="2578479"/>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15</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dirty="0" smtClean="0"/>
                            <a:t>26</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extLst>
                      <a:ext uri="{0D108BD9-81ED-4DB2-BD59-A6C34878D82A}">
                        <a16:rowId xmlns:a16="http://schemas.microsoft.com/office/drawing/2014/main" val="1349913947"/>
                      </a:ext>
                    </a:extLst>
                  </a:tr>
                </a:tbl>
              </a:graphicData>
            </a:graphic>
          </p:graphicFrame>
        </mc:Choice>
        <mc:Fallback xmlns="">
          <p:graphicFrame>
            <p:nvGraphicFramePr>
              <p:cNvPr id="11" name="表格 10"/>
              <p:cNvGraphicFramePr>
                <a:graphicFrameLocks noGrp="1"/>
              </p:cNvGraphicFramePr>
              <p:nvPr>
                <p:extLst>
                  <p:ext uri="{D42A27DB-BD31-4B8C-83A1-F6EECF244321}">
                    <p14:modId xmlns:p14="http://schemas.microsoft.com/office/powerpoint/2010/main" val="3470210011"/>
                  </p:ext>
                </p:extLst>
              </p:nvPr>
            </p:nvGraphicFramePr>
            <p:xfrm>
              <a:off x="1471439" y="2578479"/>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endParaRPr lang="zh-CN"/>
                        </a:p>
                      </a:txBody>
                      <a:tcPr>
                        <a:blipFill>
                          <a:blip r:embed="rId3"/>
                          <a:stretch>
                            <a:fillRect l="-1471" t="-3448" r="-386765" b="-6897"/>
                          </a:stretch>
                        </a:blipFill>
                      </a:tcPr>
                    </a:tc>
                    <a:tc>
                      <a:txBody>
                        <a:bodyPr/>
                        <a:lstStyle/>
                        <a:p>
                          <a:r>
                            <a:rPr lang="en-US" altLang="zh-CN" sz="1400" dirty="0" smtClean="0"/>
                            <a:t>15</a:t>
                          </a:r>
                          <a:endParaRPr lang="zh-CN" altLang="en-US" sz="1400" dirty="0"/>
                        </a:p>
                      </a:txBody>
                      <a:tcPr>
                        <a:solidFill>
                          <a:schemeClr val="accent5">
                            <a:lumMod val="75000"/>
                          </a:schemeClr>
                        </a:solidFill>
                      </a:tcPr>
                    </a:tc>
                    <a:tc>
                      <a:txBody>
                        <a:bodyPr/>
                        <a:lstStyle/>
                        <a:p>
                          <a:endParaRPr lang="zh-CN"/>
                        </a:p>
                      </a:txBody>
                      <a:tcPr>
                        <a:blipFill>
                          <a:blip r:embed="rId3"/>
                          <a:stretch>
                            <a:fillRect l="-253704" t="-3448" r="-261111" b="-6897"/>
                          </a:stretch>
                        </a:blipFill>
                      </a:tcPr>
                    </a:tc>
                    <a:tc>
                      <a:txBody>
                        <a:bodyPr/>
                        <a:lstStyle/>
                        <a:p>
                          <a:r>
                            <a:rPr lang="en-US" altLang="zh-CN" sz="1400" dirty="0" smtClean="0"/>
                            <a:t>26</a:t>
                          </a:r>
                          <a:endParaRPr lang="zh-CN" altLang="en-US" sz="1400" dirty="0"/>
                        </a:p>
                      </a:txBody>
                      <a:tcPr>
                        <a:solidFill>
                          <a:schemeClr val="accent5">
                            <a:lumMod val="75000"/>
                          </a:schemeClr>
                        </a:solidFill>
                      </a:tcPr>
                    </a:tc>
                    <a:tc>
                      <a:txBody>
                        <a:bodyPr/>
                        <a:lstStyle/>
                        <a:p>
                          <a:endParaRPr lang="zh-CN"/>
                        </a:p>
                      </a:txBody>
                      <a:tcPr>
                        <a:blipFill>
                          <a:blip r:embed="rId3"/>
                          <a:stretch>
                            <a:fillRect l="-420635" t="-3448" r="-6349" b="-6897"/>
                          </a:stretch>
                        </a:blipFill>
                      </a:tcPr>
                    </a:tc>
                    <a:extLst>
                      <a:ext uri="{0D108BD9-81ED-4DB2-BD59-A6C34878D82A}">
                        <a16:rowId xmlns:a16="http://schemas.microsoft.com/office/drawing/2014/main" val="134991394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表格 12"/>
              <p:cNvGraphicFramePr>
                <a:graphicFrameLocks noGrp="1"/>
              </p:cNvGraphicFramePr>
              <p:nvPr>
                <p:extLst>
                  <p:ext uri="{D42A27DB-BD31-4B8C-83A1-F6EECF244321}">
                    <p14:modId xmlns:p14="http://schemas.microsoft.com/office/powerpoint/2010/main" val="3427115372"/>
                  </p:ext>
                </p:extLst>
              </p:nvPr>
            </p:nvGraphicFramePr>
            <p:xfrm>
              <a:off x="4788024" y="2546761"/>
              <a:ext cx="2016224" cy="306176"/>
            </p:xfrm>
            <a:graphic>
              <a:graphicData uri="http://schemas.openxmlformats.org/drawingml/2006/table">
                <a:tbl>
                  <a:tblPr firstRow="1" bandRow="1">
                    <a:tableStyleId>{5C22544A-7EE6-4342-B048-85BDC9FD1C3A}</a:tableStyleId>
                  </a:tblPr>
                  <a:tblGrid>
                    <a:gridCol w="419965">
                      <a:extLst>
                        <a:ext uri="{9D8B030D-6E8A-4147-A177-3AD203B41FA5}">
                          <a16:colId xmlns:a16="http://schemas.microsoft.com/office/drawing/2014/main" val="3845694294"/>
                        </a:ext>
                      </a:extLst>
                    </a:gridCol>
                    <a:gridCol w="419965">
                      <a:extLst>
                        <a:ext uri="{9D8B030D-6E8A-4147-A177-3AD203B41FA5}">
                          <a16:colId xmlns:a16="http://schemas.microsoft.com/office/drawing/2014/main" val="1635966283"/>
                        </a:ext>
                      </a:extLst>
                    </a:gridCol>
                    <a:gridCol w="332376">
                      <a:extLst>
                        <a:ext uri="{9D8B030D-6E8A-4147-A177-3AD203B41FA5}">
                          <a16:colId xmlns:a16="http://schemas.microsoft.com/office/drawing/2014/main" val="2211611616"/>
                        </a:ext>
                      </a:extLst>
                    </a:gridCol>
                    <a:gridCol w="450616">
                      <a:extLst>
                        <a:ext uri="{9D8B030D-6E8A-4147-A177-3AD203B41FA5}">
                          <a16:colId xmlns:a16="http://schemas.microsoft.com/office/drawing/2014/main" val="1591540975"/>
                        </a:ext>
                      </a:extLst>
                    </a:gridCol>
                    <a:gridCol w="393302">
                      <a:extLst>
                        <a:ext uri="{9D8B030D-6E8A-4147-A177-3AD203B41FA5}">
                          <a16:colId xmlns:a16="http://schemas.microsoft.com/office/drawing/2014/main" val="1383541737"/>
                        </a:ext>
                      </a:extLst>
                    </a:gridCol>
                  </a:tblGrid>
                  <a:tr h="306176">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39</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dirty="0" smtClean="0"/>
                            <a:t>45</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extLst>
                      <a:ext uri="{0D108BD9-81ED-4DB2-BD59-A6C34878D82A}">
                        <a16:rowId xmlns:a16="http://schemas.microsoft.com/office/drawing/2014/main" val="1349913947"/>
                      </a:ext>
                    </a:extLst>
                  </a:tr>
                </a:tbl>
              </a:graphicData>
            </a:graphic>
          </p:graphicFrame>
        </mc:Choice>
        <mc:Fallback xmlns="">
          <p:graphicFrame>
            <p:nvGraphicFramePr>
              <p:cNvPr id="13" name="表格 12"/>
              <p:cNvGraphicFramePr>
                <a:graphicFrameLocks noGrp="1"/>
              </p:cNvGraphicFramePr>
              <p:nvPr>
                <p:extLst>
                  <p:ext uri="{D42A27DB-BD31-4B8C-83A1-F6EECF244321}">
                    <p14:modId xmlns:p14="http://schemas.microsoft.com/office/powerpoint/2010/main" val="3427115372"/>
                  </p:ext>
                </p:extLst>
              </p:nvPr>
            </p:nvGraphicFramePr>
            <p:xfrm>
              <a:off x="4788024" y="2546761"/>
              <a:ext cx="2016224" cy="306176"/>
            </p:xfrm>
            <a:graphic>
              <a:graphicData uri="http://schemas.openxmlformats.org/drawingml/2006/table">
                <a:tbl>
                  <a:tblPr firstRow="1" bandRow="1">
                    <a:tableStyleId>{5C22544A-7EE6-4342-B048-85BDC9FD1C3A}</a:tableStyleId>
                  </a:tblPr>
                  <a:tblGrid>
                    <a:gridCol w="419965">
                      <a:extLst>
                        <a:ext uri="{9D8B030D-6E8A-4147-A177-3AD203B41FA5}">
                          <a16:colId xmlns:a16="http://schemas.microsoft.com/office/drawing/2014/main" val="3845694294"/>
                        </a:ext>
                      </a:extLst>
                    </a:gridCol>
                    <a:gridCol w="419965">
                      <a:extLst>
                        <a:ext uri="{9D8B030D-6E8A-4147-A177-3AD203B41FA5}">
                          <a16:colId xmlns:a16="http://schemas.microsoft.com/office/drawing/2014/main" val="1635966283"/>
                        </a:ext>
                      </a:extLst>
                    </a:gridCol>
                    <a:gridCol w="332376">
                      <a:extLst>
                        <a:ext uri="{9D8B030D-6E8A-4147-A177-3AD203B41FA5}">
                          <a16:colId xmlns:a16="http://schemas.microsoft.com/office/drawing/2014/main" val="2211611616"/>
                        </a:ext>
                      </a:extLst>
                    </a:gridCol>
                    <a:gridCol w="450616">
                      <a:extLst>
                        <a:ext uri="{9D8B030D-6E8A-4147-A177-3AD203B41FA5}">
                          <a16:colId xmlns:a16="http://schemas.microsoft.com/office/drawing/2014/main" val="1591540975"/>
                        </a:ext>
                      </a:extLst>
                    </a:gridCol>
                    <a:gridCol w="393302">
                      <a:extLst>
                        <a:ext uri="{9D8B030D-6E8A-4147-A177-3AD203B41FA5}">
                          <a16:colId xmlns:a16="http://schemas.microsoft.com/office/drawing/2014/main" val="1383541737"/>
                        </a:ext>
                      </a:extLst>
                    </a:gridCol>
                  </a:tblGrid>
                  <a:tr h="306176">
                    <a:tc>
                      <a:txBody>
                        <a:bodyPr/>
                        <a:lstStyle/>
                        <a:p>
                          <a:endParaRPr lang="zh-CN"/>
                        </a:p>
                      </a:txBody>
                      <a:tcPr>
                        <a:blipFill>
                          <a:blip r:embed="rId4"/>
                          <a:stretch>
                            <a:fillRect l="-1449" t="-3846" r="-386957" b="-15385"/>
                          </a:stretch>
                        </a:blipFill>
                      </a:tcPr>
                    </a:tc>
                    <a:tc>
                      <a:txBody>
                        <a:bodyPr/>
                        <a:lstStyle/>
                        <a:p>
                          <a:r>
                            <a:rPr lang="en-US" altLang="zh-CN" sz="1400" dirty="0" smtClean="0"/>
                            <a:t>39</a:t>
                          </a:r>
                          <a:endParaRPr lang="zh-CN" altLang="en-US" sz="1400" dirty="0"/>
                        </a:p>
                      </a:txBody>
                      <a:tcPr>
                        <a:solidFill>
                          <a:schemeClr val="accent5">
                            <a:lumMod val="75000"/>
                          </a:schemeClr>
                        </a:solidFill>
                      </a:tcPr>
                    </a:tc>
                    <a:tc>
                      <a:txBody>
                        <a:bodyPr/>
                        <a:lstStyle/>
                        <a:p>
                          <a:endParaRPr lang="zh-CN"/>
                        </a:p>
                      </a:txBody>
                      <a:tcPr>
                        <a:blipFill>
                          <a:blip r:embed="rId4"/>
                          <a:stretch>
                            <a:fillRect l="-252727" t="-3846" r="-260000" b="-15385"/>
                          </a:stretch>
                        </a:blipFill>
                      </a:tcPr>
                    </a:tc>
                    <a:tc>
                      <a:txBody>
                        <a:bodyPr/>
                        <a:lstStyle/>
                        <a:p>
                          <a:r>
                            <a:rPr lang="en-US" altLang="zh-CN" sz="1400" dirty="0" smtClean="0"/>
                            <a:t>45</a:t>
                          </a:r>
                          <a:endParaRPr lang="zh-CN" altLang="en-US" sz="1400" dirty="0"/>
                        </a:p>
                      </a:txBody>
                      <a:tcPr>
                        <a:solidFill>
                          <a:schemeClr val="accent5">
                            <a:lumMod val="75000"/>
                          </a:schemeClr>
                        </a:solidFill>
                      </a:tcPr>
                    </a:tc>
                    <a:tc>
                      <a:txBody>
                        <a:bodyPr/>
                        <a:lstStyle/>
                        <a:p>
                          <a:endParaRPr lang="zh-CN"/>
                        </a:p>
                      </a:txBody>
                      <a:tcPr>
                        <a:blipFill>
                          <a:blip r:embed="rId4"/>
                          <a:stretch>
                            <a:fillRect l="-412308" t="-3846" r="-6154" b="-15385"/>
                          </a:stretch>
                        </a:blipFill>
                      </a:tcPr>
                    </a:tc>
                    <a:extLst>
                      <a:ext uri="{0D108BD9-81ED-4DB2-BD59-A6C34878D82A}">
                        <a16:rowId xmlns:a16="http://schemas.microsoft.com/office/drawing/2014/main" val="1349913947"/>
                      </a:ext>
                    </a:extLst>
                  </a:tr>
                </a:tbl>
              </a:graphicData>
            </a:graphic>
          </p:graphicFrame>
        </mc:Fallback>
      </mc:AlternateContent>
      <p:cxnSp>
        <p:nvCxnSpPr>
          <p:cNvPr id="16" name="直接箭头连接符 15"/>
          <p:cNvCxnSpPr/>
          <p:nvPr/>
        </p:nvCxnSpPr>
        <p:spPr>
          <a:xfrm>
            <a:off x="6660232" y="2858485"/>
            <a:ext cx="576064" cy="611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5580112" y="2852937"/>
            <a:ext cx="216026" cy="576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971600" y="2924944"/>
            <a:ext cx="648072" cy="434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2483768" y="2924944"/>
            <a:ext cx="4218" cy="100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3275857" y="2924944"/>
            <a:ext cx="72007" cy="54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1" name="表格 30"/>
              <p:cNvGraphicFramePr>
                <a:graphicFrameLocks noGrp="1"/>
              </p:cNvGraphicFramePr>
              <p:nvPr>
                <p:extLst>
                  <p:ext uri="{D42A27DB-BD31-4B8C-83A1-F6EECF244321}">
                    <p14:modId xmlns:p14="http://schemas.microsoft.com/office/powerpoint/2010/main" val="3061651467"/>
                  </p:ext>
                </p:extLst>
              </p:nvPr>
            </p:nvGraphicFramePr>
            <p:xfrm>
              <a:off x="6113095" y="3480269"/>
              <a:ext cx="3030905" cy="304800"/>
            </p:xfrm>
            <a:graphic>
              <a:graphicData uri="http://schemas.openxmlformats.org/drawingml/2006/table">
                <a:tbl>
                  <a:tblPr firstRow="1" bandRow="1">
                    <a:tableStyleId>{5C22544A-7EE6-4342-B048-85BDC9FD1C3A}</a:tableStyleId>
                  </a:tblPr>
                  <a:tblGrid>
                    <a:gridCol w="573124">
                      <a:extLst>
                        <a:ext uri="{9D8B030D-6E8A-4147-A177-3AD203B41FA5}">
                          <a16:colId xmlns:a16="http://schemas.microsoft.com/office/drawing/2014/main" val="1587765914"/>
                        </a:ext>
                      </a:extLst>
                    </a:gridCol>
                    <a:gridCol w="439580">
                      <a:extLst>
                        <a:ext uri="{9D8B030D-6E8A-4147-A177-3AD203B41FA5}">
                          <a16:colId xmlns:a16="http://schemas.microsoft.com/office/drawing/2014/main" val="4129518968"/>
                        </a:ext>
                      </a:extLst>
                    </a:gridCol>
                    <a:gridCol w="396652">
                      <a:extLst>
                        <a:ext uri="{9D8B030D-6E8A-4147-A177-3AD203B41FA5}">
                          <a16:colId xmlns:a16="http://schemas.microsoft.com/office/drawing/2014/main" val="3787641013"/>
                        </a:ext>
                      </a:extLst>
                    </a:gridCol>
                    <a:gridCol w="396652">
                      <a:extLst>
                        <a:ext uri="{9D8B030D-6E8A-4147-A177-3AD203B41FA5}">
                          <a16:colId xmlns:a16="http://schemas.microsoft.com/office/drawing/2014/main" val="1896097849"/>
                        </a:ext>
                      </a:extLst>
                    </a:gridCol>
                    <a:gridCol w="367371">
                      <a:extLst>
                        <a:ext uri="{9D8B030D-6E8A-4147-A177-3AD203B41FA5}">
                          <a16:colId xmlns:a16="http://schemas.microsoft.com/office/drawing/2014/main" val="3728772354"/>
                        </a:ext>
                      </a:extLst>
                    </a:gridCol>
                    <a:gridCol w="428763">
                      <a:extLst>
                        <a:ext uri="{9D8B030D-6E8A-4147-A177-3AD203B41FA5}">
                          <a16:colId xmlns:a16="http://schemas.microsoft.com/office/drawing/2014/main" val="45157070"/>
                        </a:ext>
                      </a:extLst>
                    </a:gridCol>
                    <a:gridCol w="428763">
                      <a:extLst>
                        <a:ext uri="{9D8B030D-6E8A-4147-A177-3AD203B41FA5}">
                          <a16:colId xmlns:a16="http://schemas.microsoft.com/office/drawing/2014/main" val="1746043367"/>
                        </a:ext>
                      </a:extLst>
                    </a:gridCol>
                  </a:tblGrid>
                  <a:tr h="288033">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47</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smtClean="0"/>
                            <a:t>48</a:t>
                          </a:r>
                          <a:endParaRPr lang="zh-CN" altLang="en-US" sz="140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tc>
                      <a:txBody>
                        <a:bodyPr/>
                        <a:lstStyle/>
                        <a:p>
                          <a:r>
                            <a:rPr lang="en-US" altLang="zh-CN" sz="1400" dirty="0" smtClean="0"/>
                            <a:t>52</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𝟑</m:t>
                                    </m:r>
                                  </m:sub>
                                </m:sSub>
                              </m:oMath>
                            </m:oMathPara>
                          </a14:m>
                          <a:endParaRPr lang="zh-CN" altLang="en-US" sz="1400" dirty="0"/>
                        </a:p>
                      </a:txBody>
                      <a:tcPr/>
                    </a:tc>
                    <a:extLst>
                      <a:ext uri="{0D108BD9-81ED-4DB2-BD59-A6C34878D82A}">
                        <a16:rowId xmlns:a16="http://schemas.microsoft.com/office/drawing/2014/main" val="574048744"/>
                      </a:ext>
                    </a:extLst>
                  </a:tr>
                </a:tbl>
              </a:graphicData>
            </a:graphic>
          </p:graphicFrame>
        </mc:Choice>
        <mc:Fallback xmlns="">
          <p:graphicFrame>
            <p:nvGraphicFramePr>
              <p:cNvPr id="31" name="表格 30"/>
              <p:cNvGraphicFramePr>
                <a:graphicFrameLocks noGrp="1"/>
              </p:cNvGraphicFramePr>
              <p:nvPr>
                <p:extLst>
                  <p:ext uri="{D42A27DB-BD31-4B8C-83A1-F6EECF244321}">
                    <p14:modId xmlns:p14="http://schemas.microsoft.com/office/powerpoint/2010/main" val="3061651467"/>
                  </p:ext>
                </p:extLst>
              </p:nvPr>
            </p:nvGraphicFramePr>
            <p:xfrm>
              <a:off x="6113095" y="3480269"/>
              <a:ext cx="3030905" cy="304800"/>
            </p:xfrm>
            <a:graphic>
              <a:graphicData uri="http://schemas.openxmlformats.org/drawingml/2006/table">
                <a:tbl>
                  <a:tblPr firstRow="1" bandRow="1">
                    <a:tableStyleId>{5C22544A-7EE6-4342-B048-85BDC9FD1C3A}</a:tableStyleId>
                  </a:tblPr>
                  <a:tblGrid>
                    <a:gridCol w="573124">
                      <a:extLst>
                        <a:ext uri="{9D8B030D-6E8A-4147-A177-3AD203B41FA5}">
                          <a16:colId xmlns:a16="http://schemas.microsoft.com/office/drawing/2014/main" val="1587765914"/>
                        </a:ext>
                      </a:extLst>
                    </a:gridCol>
                    <a:gridCol w="439580">
                      <a:extLst>
                        <a:ext uri="{9D8B030D-6E8A-4147-A177-3AD203B41FA5}">
                          <a16:colId xmlns:a16="http://schemas.microsoft.com/office/drawing/2014/main" val="4129518968"/>
                        </a:ext>
                      </a:extLst>
                    </a:gridCol>
                    <a:gridCol w="396652">
                      <a:extLst>
                        <a:ext uri="{9D8B030D-6E8A-4147-A177-3AD203B41FA5}">
                          <a16:colId xmlns:a16="http://schemas.microsoft.com/office/drawing/2014/main" val="3787641013"/>
                        </a:ext>
                      </a:extLst>
                    </a:gridCol>
                    <a:gridCol w="396652">
                      <a:extLst>
                        <a:ext uri="{9D8B030D-6E8A-4147-A177-3AD203B41FA5}">
                          <a16:colId xmlns:a16="http://schemas.microsoft.com/office/drawing/2014/main" val="1896097849"/>
                        </a:ext>
                      </a:extLst>
                    </a:gridCol>
                    <a:gridCol w="367371">
                      <a:extLst>
                        <a:ext uri="{9D8B030D-6E8A-4147-A177-3AD203B41FA5}">
                          <a16:colId xmlns:a16="http://schemas.microsoft.com/office/drawing/2014/main" val="3728772354"/>
                        </a:ext>
                      </a:extLst>
                    </a:gridCol>
                    <a:gridCol w="428763">
                      <a:extLst>
                        <a:ext uri="{9D8B030D-6E8A-4147-A177-3AD203B41FA5}">
                          <a16:colId xmlns:a16="http://schemas.microsoft.com/office/drawing/2014/main" val="45157070"/>
                        </a:ext>
                      </a:extLst>
                    </a:gridCol>
                    <a:gridCol w="428763">
                      <a:extLst>
                        <a:ext uri="{9D8B030D-6E8A-4147-A177-3AD203B41FA5}">
                          <a16:colId xmlns:a16="http://schemas.microsoft.com/office/drawing/2014/main" val="1746043367"/>
                        </a:ext>
                      </a:extLst>
                    </a:gridCol>
                  </a:tblGrid>
                  <a:tr h="304800">
                    <a:tc>
                      <a:txBody>
                        <a:bodyPr/>
                        <a:lstStyle/>
                        <a:p>
                          <a:endParaRPr lang="zh-CN"/>
                        </a:p>
                      </a:txBody>
                      <a:tcPr>
                        <a:blipFill>
                          <a:blip r:embed="rId5"/>
                          <a:stretch>
                            <a:fillRect l="-1064" t="-3922" r="-435106" b="-17647"/>
                          </a:stretch>
                        </a:blipFill>
                      </a:tcPr>
                    </a:tc>
                    <a:tc>
                      <a:txBody>
                        <a:bodyPr/>
                        <a:lstStyle/>
                        <a:p>
                          <a:r>
                            <a:rPr lang="en-US" altLang="zh-CN" sz="1400" dirty="0" smtClean="0"/>
                            <a:t>47</a:t>
                          </a:r>
                          <a:endParaRPr lang="zh-CN" altLang="en-US" sz="1400" dirty="0"/>
                        </a:p>
                      </a:txBody>
                      <a:tcPr>
                        <a:solidFill>
                          <a:schemeClr val="accent5">
                            <a:lumMod val="75000"/>
                          </a:schemeClr>
                        </a:solidFill>
                      </a:tcPr>
                    </a:tc>
                    <a:tc>
                      <a:txBody>
                        <a:bodyPr/>
                        <a:lstStyle/>
                        <a:p>
                          <a:endParaRPr lang="zh-CN"/>
                        </a:p>
                      </a:txBody>
                      <a:tcPr>
                        <a:blipFill>
                          <a:blip r:embed="rId5"/>
                          <a:stretch>
                            <a:fillRect l="-253030" t="-3922" r="-410606" b="-17647"/>
                          </a:stretch>
                        </a:blipFill>
                      </a:tcPr>
                    </a:tc>
                    <a:tc>
                      <a:txBody>
                        <a:bodyPr/>
                        <a:lstStyle/>
                        <a:p>
                          <a:r>
                            <a:rPr lang="en-US" altLang="zh-CN" sz="1400" smtClean="0"/>
                            <a:t>48</a:t>
                          </a:r>
                          <a:endParaRPr lang="zh-CN" altLang="en-US" sz="1400"/>
                        </a:p>
                      </a:txBody>
                      <a:tcPr>
                        <a:solidFill>
                          <a:schemeClr val="accent5">
                            <a:lumMod val="75000"/>
                          </a:schemeClr>
                        </a:solidFill>
                      </a:tcPr>
                    </a:tc>
                    <a:tc>
                      <a:txBody>
                        <a:bodyPr/>
                        <a:lstStyle/>
                        <a:p>
                          <a:endParaRPr lang="zh-CN"/>
                        </a:p>
                      </a:txBody>
                      <a:tcPr>
                        <a:blipFill>
                          <a:blip r:embed="rId5"/>
                          <a:stretch>
                            <a:fillRect l="-496667" t="-3922" r="-243333" b="-17647"/>
                          </a:stretch>
                        </a:blipFill>
                      </a:tcPr>
                    </a:tc>
                    <a:tc>
                      <a:txBody>
                        <a:bodyPr/>
                        <a:lstStyle/>
                        <a:p>
                          <a:r>
                            <a:rPr lang="en-US" altLang="zh-CN" sz="1400" dirty="0" smtClean="0"/>
                            <a:t>52</a:t>
                          </a:r>
                          <a:endParaRPr lang="zh-CN" altLang="en-US" sz="1400" dirty="0"/>
                        </a:p>
                      </a:txBody>
                      <a:tcPr>
                        <a:solidFill>
                          <a:schemeClr val="accent5">
                            <a:lumMod val="75000"/>
                          </a:schemeClr>
                        </a:solidFill>
                      </a:tcPr>
                    </a:tc>
                    <a:tc>
                      <a:txBody>
                        <a:bodyPr/>
                        <a:lstStyle/>
                        <a:p>
                          <a:endParaRPr lang="zh-CN"/>
                        </a:p>
                      </a:txBody>
                      <a:tcPr>
                        <a:blipFill>
                          <a:blip r:embed="rId5"/>
                          <a:stretch>
                            <a:fillRect l="-612857" t="-3922" r="-7143" b="-17647"/>
                          </a:stretch>
                        </a:blipFill>
                      </a:tcPr>
                    </a:tc>
                    <a:extLst>
                      <a:ext uri="{0D108BD9-81ED-4DB2-BD59-A6C34878D82A}">
                        <a16:rowId xmlns:a16="http://schemas.microsoft.com/office/drawing/2014/main" val="57404874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9" name="表格 48"/>
              <p:cNvGraphicFramePr>
                <a:graphicFrameLocks noGrp="1"/>
              </p:cNvGraphicFramePr>
              <p:nvPr>
                <p:extLst>
                  <p:ext uri="{D42A27DB-BD31-4B8C-83A1-F6EECF244321}">
                    <p14:modId xmlns:p14="http://schemas.microsoft.com/office/powerpoint/2010/main" val="3254769318"/>
                  </p:ext>
                </p:extLst>
              </p:nvPr>
            </p:nvGraphicFramePr>
            <p:xfrm>
              <a:off x="1471439" y="3943773"/>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22</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dirty="0" smtClean="0"/>
                            <a:t>25</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extLst>
                      <a:ext uri="{0D108BD9-81ED-4DB2-BD59-A6C34878D82A}">
                        <a16:rowId xmlns:a16="http://schemas.microsoft.com/office/drawing/2014/main" val="1349913947"/>
                      </a:ext>
                    </a:extLst>
                  </a:tr>
                </a:tbl>
              </a:graphicData>
            </a:graphic>
          </p:graphicFrame>
        </mc:Choice>
        <mc:Fallback xmlns="">
          <p:graphicFrame>
            <p:nvGraphicFramePr>
              <p:cNvPr id="49" name="表格 48"/>
              <p:cNvGraphicFramePr>
                <a:graphicFrameLocks noGrp="1"/>
              </p:cNvGraphicFramePr>
              <p:nvPr>
                <p:extLst>
                  <p:ext uri="{D42A27DB-BD31-4B8C-83A1-F6EECF244321}">
                    <p14:modId xmlns:p14="http://schemas.microsoft.com/office/powerpoint/2010/main" val="3254769318"/>
                  </p:ext>
                </p:extLst>
              </p:nvPr>
            </p:nvGraphicFramePr>
            <p:xfrm>
              <a:off x="1471439" y="3943773"/>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endParaRPr lang="zh-CN"/>
                        </a:p>
                      </a:txBody>
                      <a:tcPr>
                        <a:blipFill>
                          <a:blip r:embed="rId6"/>
                          <a:stretch>
                            <a:fillRect l="-1471" t="-3448" r="-386765" b="-6897"/>
                          </a:stretch>
                        </a:blipFill>
                      </a:tcPr>
                    </a:tc>
                    <a:tc>
                      <a:txBody>
                        <a:bodyPr/>
                        <a:lstStyle/>
                        <a:p>
                          <a:r>
                            <a:rPr lang="en-US" altLang="zh-CN" sz="1400" dirty="0" smtClean="0"/>
                            <a:t>22</a:t>
                          </a:r>
                          <a:endParaRPr lang="zh-CN" altLang="en-US" sz="1400" dirty="0"/>
                        </a:p>
                      </a:txBody>
                      <a:tcPr>
                        <a:solidFill>
                          <a:schemeClr val="accent5">
                            <a:lumMod val="75000"/>
                          </a:schemeClr>
                        </a:solidFill>
                      </a:tcPr>
                    </a:tc>
                    <a:tc>
                      <a:txBody>
                        <a:bodyPr/>
                        <a:lstStyle/>
                        <a:p>
                          <a:endParaRPr lang="zh-CN"/>
                        </a:p>
                      </a:txBody>
                      <a:tcPr>
                        <a:blipFill>
                          <a:blip r:embed="rId6"/>
                          <a:stretch>
                            <a:fillRect l="-253704" t="-3448" r="-261111" b="-6897"/>
                          </a:stretch>
                        </a:blipFill>
                      </a:tcPr>
                    </a:tc>
                    <a:tc>
                      <a:txBody>
                        <a:bodyPr/>
                        <a:lstStyle/>
                        <a:p>
                          <a:r>
                            <a:rPr lang="en-US" altLang="zh-CN" sz="1400" dirty="0" smtClean="0"/>
                            <a:t>25</a:t>
                          </a:r>
                          <a:endParaRPr lang="zh-CN" altLang="en-US" sz="1400" dirty="0"/>
                        </a:p>
                      </a:txBody>
                      <a:tcPr>
                        <a:solidFill>
                          <a:schemeClr val="accent5">
                            <a:lumMod val="75000"/>
                          </a:schemeClr>
                        </a:solidFill>
                      </a:tcPr>
                    </a:tc>
                    <a:tc>
                      <a:txBody>
                        <a:bodyPr/>
                        <a:lstStyle/>
                        <a:p>
                          <a:endParaRPr lang="zh-CN"/>
                        </a:p>
                      </a:txBody>
                      <a:tcPr>
                        <a:blipFill>
                          <a:blip r:embed="rId6"/>
                          <a:stretch>
                            <a:fillRect l="-420635" t="-3448" r="-6349" b="-6897"/>
                          </a:stretch>
                        </a:blipFill>
                      </a:tcPr>
                    </a:tc>
                    <a:extLst>
                      <a:ext uri="{0D108BD9-81ED-4DB2-BD59-A6C34878D82A}">
                        <a16:rowId xmlns:a16="http://schemas.microsoft.com/office/drawing/2014/main" val="1349913947"/>
                      </a:ext>
                    </a:extLst>
                  </a:tr>
                </a:tbl>
              </a:graphicData>
            </a:graphic>
          </p:graphicFrame>
        </mc:Fallback>
      </mc:AlternateContent>
      <p:cxnSp>
        <p:nvCxnSpPr>
          <p:cNvPr id="53" name="直接箭头连接符 52"/>
          <p:cNvCxnSpPr/>
          <p:nvPr/>
        </p:nvCxnSpPr>
        <p:spPr>
          <a:xfrm flipH="1">
            <a:off x="4572000" y="2852937"/>
            <a:ext cx="434156" cy="617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393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1.2 </a:t>
            </a:r>
            <a:r>
              <a:rPr lang="zh-CN" altLang="en-US" dirty="0" smtClean="0"/>
              <a:t>磁盘存取原理</a:t>
            </a:r>
            <a:r>
              <a:rPr lang="en-US" altLang="zh-CN" dirty="0" smtClean="0"/>
              <a:t>——</a:t>
            </a:r>
            <a:r>
              <a:rPr lang="zh-CN" altLang="en-US" dirty="0" smtClean="0"/>
              <a:t>主存存取原理</a:t>
            </a:r>
            <a:endParaRPr lang="zh-CN" altLang="en-US" dirty="0"/>
          </a:p>
        </p:txBody>
      </p:sp>
      <p:sp>
        <p:nvSpPr>
          <p:cNvPr id="3" name="内容占位符 2"/>
          <p:cNvSpPr>
            <a:spLocks noGrp="1"/>
          </p:cNvSpPr>
          <p:nvPr>
            <p:ph idx="1"/>
          </p:nvPr>
        </p:nvSpPr>
        <p:spPr>
          <a:xfrm>
            <a:off x="4860032" y="1556792"/>
            <a:ext cx="3826768" cy="4569371"/>
          </a:xfrm>
          <a:ln>
            <a:solidFill>
              <a:schemeClr val="bg2">
                <a:lumMod val="25000"/>
              </a:schemeClr>
            </a:solidFill>
          </a:ln>
        </p:spPr>
        <p:txBody>
          <a:bodyPr>
            <a:normAutofit/>
          </a:bodyPr>
          <a:lstStyle/>
          <a:p>
            <a:r>
              <a:rPr lang="zh-CN" altLang="en-US" sz="2400" dirty="0"/>
              <a:t>从  抽象角度看，主存是一系列的存储单元组成的矩阵，每个存储单元存储固定大小的数据。每个存储单元有唯一的地址，现代主存的编址规则比较复杂，这里将其简化成一个二维地址：通过一个行地址和一个列地址可以唯一定位到一个存储单元</a:t>
            </a:r>
            <a:r>
              <a:rPr lang="zh-CN" altLang="en-US" sz="2400" dirty="0" smtClean="0"/>
              <a:t>。</a:t>
            </a:r>
            <a:endParaRPr lang="zh-CN" altLang="en-US" sz="2400" dirty="0"/>
          </a:p>
        </p:txBody>
      </p:sp>
      <p:pic>
        <p:nvPicPr>
          <p:cNvPr id="4" name="图片 3" descr="MySQL索引背后的数据结构及算法原理"/>
          <p:cNvPicPr/>
          <p:nvPr/>
        </p:nvPicPr>
        <p:blipFill>
          <a:blip r:embed="rId2"/>
          <a:srcRect/>
          <a:stretch>
            <a:fillRect/>
          </a:stretch>
        </p:blipFill>
        <p:spPr bwMode="auto">
          <a:xfrm>
            <a:off x="539552" y="2204864"/>
            <a:ext cx="3995820" cy="2756019"/>
          </a:xfrm>
          <a:prstGeom prst="rect">
            <a:avLst/>
          </a:prstGeom>
          <a:noFill/>
          <a:ln w="9525">
            <a:noFill/>
            <a:miter lim="800000"/>
            <a:headEnd/>
            <a:tailEnd/>
          </a:ln>
        </p:spPr>
      </p:pic>
      <p:sp>
        <p:nvSpPr>
          <p:cNvPr id="5" name="矩形 4"/>
          <p:cNvSpPr/>
          <p:nvPr/>
        </p:nvSpPr>
        <p:spPr>
          <a:xfrm>
            <a:off x="827584" y="5013176"/>
            <a:ext cx="2836033" cy="369332"/>
          </a:xfrm>
          <a:prstGeom prst="rect">
            <a:avLst/>
          </a:prstGeom>
        </p:spPr>
        <p:txBody>
          <a:bodyPr wrap="none">
            <a:spAutoFit/>
          </a:bodyPr>
          <a:lstStyle/>
          <a:p>
            <a:r>
              <a:rPr lang="zh-CN" altLang="en-US" dirty="0" smtClean="0"/>
              <a:t>图</a:t>
            </a:r>
            <a:r>
              <a:rPr lang="en-US" altLang="zh-CN" dirty="0"/>
              <a:t> </a:t>
            </a:r>
            <a:r>
              <a:rPr lang="en-US" altLang="zh-CN" dirty="0" smtClean="0"/>
              <a:t> </a:t>
            </a:r>
            <a:r>
              <a:rPr lang="zh-CN" altLang="en-US" dirty="0" smtClean="0"/>
              <a:t>一</a:t>
            </a:r>
            <a:r>
              <a:rPr lang="zh-CN" altLang="en-US" dirty="0"/>
              <a:t>个</a:t>
            </a:r>
            <a:r>
              <a:rPr lang="en-US" altLang="zh-CN" dirty="0"/>
              <a:t>4 x 4</a:t>
            </a:r>
            <a:r>
              <a:rPr lang="zh-CN" altLang="en-US" dirty="0"/>
              <a:t>的主存模型。</a:t>
            </a:r>
          </a:p>
        </p:txBody>
      </p:sp>
    </p:spTree>
    <p:extLst>
      <p:ext uri="{BB962C8B-B14F-4D97-AF65-F5344CB8AC3E}">
        <p14:creationId xmlns:p14="http://schemas.microsoft.com/office/powerpoint/2010/main" val="1445289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1.2 </a:t>
            </a:r>
            <a:r>
              <a:rPr lang="zh-CN" altLang="en-US" dirty="0" smtClean="0"/>
              <a:t>磁盘</a:t>
            </a:r>
            <a:r>
              <a:rPr lang="zh-CN" altLang="en-US" dirty="0"/>
              <a:t>存取原理</a:t>
            </a:r>
            <a:r>
              <a:rPr lang="en-US" altLang="zh-CN" dirty="0"/>
              <a:t>——</a:t>
            </a:r>
            <a:r>
              <a:rPr lang="zh-CN" altLang="en-US" dirty="0"/>
              <a:t>主存存取</a:t>
            </a:r>
            <a:r>
              <a:rPr lang="zh-CN" altLang="en-US" dirty="0" smtClean="0"/>
              <a:t>原理</a:t>
            </a:r>
            <a:r>
              <a:rPr lang="en-US" altLang="zh-CN" dirty="0" smtClean="0"/>
              <a:t>(</a:t>
            </a:r>
            <a:r>
              <a:rPr lang="zh-CN" altLang="en-US" dirty="0" smtClean="0"/>
              <a:t>续</a:t>
            </a:r>
            <a:r>
              <a:rPr lang="en-US" altLang="zh-CN" dirty="0"/>
              <a:t>)</a:t>
            </a:r>
            <a:endParaRPr lang="zh-CN" altLang="en-US" dirty="0"/>
          </a:p>
        </p:txBody>
      </p:sp>
      <p:sp>
        <p:nvSpPr>
          <p:cNvPr id="3" name="内容占位符 2"/>
          <p:cNvSpPr>
            <a:spLocks noGrp="1"/>
          </p:cNvSpPr>
          <p:nvPr>
            <p:ph idx="1"/>
          </p:nvPr>
        </p:nvSpPr>
        <p:spPr>
          <a:xfrm>
            <a:off x="4716015" y="1484784"/>
            <a:ext cx="4005859" cy="5184576"/>
          </a:xfrm>
          <a:ln>
            <a:solidFill>
              <a:schemeClr val="bg2">
                <a:lumMod val="50000"/>
              </a:schemeClr>
            </a:solidFill>
          </a:ln>
        </p:spPr>
        <p:txBody>
          <a:bodyPr>
            <a:noAutofit/>
          </a:bodyPr>
          <a:lstStyle/>
          <a:p>
            <a:pPr marL="0" indent="0">
              <a:buNone/>
            </a:pPr>
            <a:r>
              <a:rPr lang="zh-CN" altLang="en-US" sz="2400" dirty="0">
                <a:solidFill>
                  <a:srgbClr val="FF0000"/>
                </a:solidFill>
              </a:rPr>
              <a:t>主存的存取过程如下：</a:t>
            </a:r>
          </a:p>
          <a:p>
            <a:pPr marL="0" indent="0">
              <a:buNone/>
            </a:pPr>
            <a:r>
              <a:rPr lang="zh-CN" altLang="en-US" sz="2400" dirty="0" smtClean="0"/>
              <a:t>    当</a:t>
            </a:r>
            <a:r>
              <a:rPr lang="zh-CN" altLang="en-US" sz="2400" dirty="0"/>
              <a:t>系统需要读取主存时，则将地址信号放到地址总线上传给主存，主存读到地址信号后，解析信号并定位到指定存储单元，然后将此存储单元数据放到数据总线上，供其它部件读取。</a:t>
            </a:r>
          </a:p>
          <a:p>
            <a:pPr marL="0" indent="0">
              <a:buNone/>
            </a:pPr>
            <a:r>
              <a:rPr lang="zh-CN" altLang="en-US" sz="2400" dirty="0" smtClean="0"/>
              <a:t>    写</a:t>
            </a:r>
            <a:r>
              <a:rPr lang="zh-CN" altLang="en-US" sz="2400" dirty="0"/>
              <a:t>主存的过程类似，系统将要写入单元地址和数据分别放在地址总线和数据总线上，主存读取两个总线的内容，做相应的写操作</a:t>
            </a:r>
            <a:r>
              <a:rPr lang="zh-CN" altLang="en-US" sz="2400" dirty="0" smtClean="0"/>
              <a:t>。</a:t>
            </a:r>
            <a:endParaRPr lang="zh-CN" altLang="en-US" sz="2400" dirty="0"/>
          </a:p>
        </p:txBody>
      </p:sp>
      <p:pic>
        <p:nvPicPr>
          <p:cNvPr id="4" name="图片 3" descr="MySQL索引背后的数据结构及算法原理"/>
          <p:cNvPicPr/>
          <p:nvPr/>
        </p:nvPicPr>
        <p:blipFill>
          <a:blip r:embed="rId3"/>
          <a:srcRect/>
          <a:stretch>
            <a:fillRect/>
          </a:stretch>
        </p:blipFill>
        <p:spPr bwMode="auto">
          <a:xfrm>
            <a:off x="539552" y="2204864"/>
            <a:ext cx="3995820" cy="2756019"/>
          </a:xfrm>
          <a:prstGeom prst="rect">
            <a:avLst/>
          </a:prstGeom>
          <a:noFill/>
          <a:ln w="9525">
            <a:noFill/>
            <a:miter lim="800000"/>
            <a:headEnd/>
            <a:tailEnd/>
          </a:ln>
        </p:spPr>
      </p:pic>
      <p:sp>
        <p:nvSpPr>
          <p:cNvPr id="5" name="矩形 4"/>
          <p:cNvSpPr/>
          <p:nvPr/>
        </p:nvSpPr>
        <p:spPr>
          <a:xfrm>
            <a:off x="827584" y="5013176"/>
            <a:ext cx="2836033" cy="369332"/>
          </a:xfrm>
          <a:prstGeom prst="rect">
            <a:avLst/>
          </a:prstGeom>
        </p:spPr>
        <p:txBody>
          <a:bodyPr wrap="none">
            <a:spAutoFit/>
          </a:bodyPr>
          <a:lstStyle/>
          <a:p>
            <a:r>
              <a:rPr lang="zh-CN" altLang="en-US" dirty="0" smtClean="0"/>
              <a:t>图</a:t>
            </a:r>
            <a:r>
              <a:rPr lang="en-US" altLang="zh-CN" dirty="0"/>
              <a:t> </a:t>
            </a:r>
            <a:r>
              <a:rPr lang="en-US" altLang="zh-CN" dirty="0" smtClean="0"/>
              <a:t> </a:t>
            </a:r>
            <a:r>
              <a:rPr lang="zh-CN" altLang="en-US" dirty="0" smtClean="0"/>
              <a:t>一</a:t>
            </a:r>
            <a:r>
              <a:rPr lang="zh-CN" altLang="en-US" dirty="0"/>
              <a:t>个</a:t>
            </a:r>
            <a:r>
              <a:rPr lang="en-US" altLang="zh-CN" dirty="0"/>
              <a:t>4 x 4</a:t>
            </a:r>
            <a:r>
              <a:rPr lang="zh-CN" altLang="en-US" dirty="0"/>
              <a:t>的主存模型。</a:t>
            </a:r>
          </a:p>
        </p:txBody>
      </p:sp>
    </p:spTree>
    <p:extLst>
      <p:ext uri="{BB962C8B-B14F-4D97-AF65-F5344CB8AC3E}">
        <p14:creationId xmlns:p14="http://schemas.microsoft.com/office/powerpoint/2010/main" val="713163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磁盘存取原理</a:t>
            </a:r>
            <a:r>
              <a:rPr lang="en-US" altLang="zh-CN" dirty="0"/>
              <a:t>——</a:t>
            </a:r>
            <a:r>
              <a:rPr lang="zh-CN" altLang="en-US" dirty="0"/>
              <a:t>主存存取</a:t>
            </a:r>
            <a:r>
              <a:rPr lang="zh-CN" altLang="en-US" dirty="0" smtClean="0"/>
              <a:t>原理</a:t>
            </a:r>
            <a:r>
              <a:rPr lang="en-US" altLang="zh-CN" dirty="0"/>
              <a:t>(</a:t>
            </a:r>
            <a:r>
              <a:rPr lang="zh-CN" altLang="en-US" dirty="0"/>
              <a:t>续</a:t>
            </a:r>
            <a:r>
              <a:rPr lang="en-US" altLang="zh-CN" dirty="0"/>
              <a:t>)</a:t>
            </a:r>
            <a:endParaRPr lang="zh-CN" altLang="en-US" dirty="0"/>
          </a:p>
        </p:txBody>
      </p:sp>
      <p:sp>
        <p:nvSpPr>
          <p:cNvPr id="3" name="内容占位符 2"/>
          <p:cNvSpPr>
            <a:spLocks noGrp="1"/>
          </p:cNvSpPr>
          <p:nvPr>
            <p:ph idx="1"/>
          </p:nvPr>
        </p:nvSpPr>
        <p:spPr>
          <a:xfrm>
            <a:off x="5076056" y="1600200"/>
            <a:ext cx="3610744" cy="4525963"/>
          </a:xfrm>
          <a:ln>
            <a:solidFill>
              <a:schemeClr val="bg2">
                <a:lumMod val="50000"/>
              </a:schemeClr>
            </a:solidFill>
          </a:ln>
        </p:spPr>
        <p:txBody>
          <a:bodyPr>
            <a:normAutofit/>
          </a:bodyPr>
          <a:lstStyle/>
          <a:p>
            <a:pPr marL="0" indent="0">
              <a:buNone/>
            </a:pPr>
            <a:r>
              <a:rPr lang="zh-CN" altLang="en-US" sz="2400" dirty="0" smtClean="0"/>
              <a:t>    这里</a:t>
            </a:r>
            <a:r>
              <a:rPr lang="zh-CN" altLang="en-US" sz="2400" dirty="0"/>
              <a:t>可以看出，主存存取的时间仅与存取次数呈线性关系，因为不存在机械操作，</a:t>
            </a:r>
            <a:r>
              <a:rPr lang="zh-CN" altLang="en-US" sz="2400" dirty="0">
                <a:solidFill>
                  <a:srgbClr val="FF0000"/>
                </a:solidFill>
              </a:rPr>
              <a:t>两次存取的数据的“距离”不会对时间有任何影响，</a:t>
            </a:r>
            <a:r>
              <a:rPr lang="zh-CN" altLang="en-US" sz="2400" dirty="0"/>
              <a:t>例如，先取</a:t>
            </a:r>
            <a:r>
              <a:rPr lang="en-US" altLang="zh-CN" sz="2400" dirty="0"/>
              <a:t>A0</a:t>
            </a:r>
            <a:r>
              <a:rPr lang="zh-CN" altLang="en-US" sz="2400" dirty="0"/>
              <a:t>再取</a:t>
            </a:r>
            <a:r>
              <a:rPr lang="en-US" altLang="zh-CN" sz="2400" dirty="0"/>
              <a:t>A1</a:t>
            </a:r>
            <a:r>
              <a:rPr lang="zh-CN" altLang="en-US" sz="2400" dirty="0"/>
              <a:t>和先取</a:t>
            </a:r>
            <a:r>
              <a:rPr lang="en-US" altLang="zh-CN" sz="2400" dirty="0"/>
              <a:t>A0</a:t>
            </a:r>
            <a:r>
              <a:rPr lang="zh-CN" altLang="en-US" sz="2400" dirty="0"/>
              <a:t>再取</a:t>
            </a:r>
            <a:r>
              <a:rPr lang="en-US" altLang="zh-CN" sz="2400" dirty="0"/>
              <a:t>D3</a:t>
            </a:r>
            <a:r>
              <a:rPr lang="zh-CN" altLang="en-US" sz="2400" dirty="0"/>
              <a:t>的时间消耗是一样的。</a:t>
            </a:r>
          </a:p>
        </p:txBody>
      </p:sp>
      <p:pic>
        <p:nvPicPr>
          <p:cNvPr id="4" name="图片 3"/>
          <p:cNvPicPr>
            <a:picLocks noChangeAspect="1"/>
          </p:cNvPicPr>
          <p:nvPr/>
        </p:nvPicPr>
        <p:blipFill>
          <a:blip r:embed="rId2"/>
          <a:stretch>
            <a:fillRect/>
          </a:stretch>
        </p:blipFill>
        <p:spPr>
          <a:xfrm>
            <a:off x="467544" y="2204864"/>
            <a:ext cx="3993226" cy="2755631"/>
          </a:xfrm>
          <a:prstGeom prst="rect">
            <a:avLst/>
          </a:prstGeom>
        </p:spPr>
      </p:pic>
    </p:spTree>
    <p:extLst>
      <p:ext uri="{BB962C8B-B14F-4D97-AF65-F5344CB8AC3E}">
        <p14:creationId xmlns:p14="http://schemas.microsoft.com/office/powerpoint/2010/main" val="1257538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1.2 </a:t>
            </a:r>
            <a:r>
              <a:rPr lang="zh-CN" altLang="en-US" dirty="0"/>
              <a:t>磁盘存取原理</a:t>
            </a:r>
            <a:r>
              <a:rPr lang="en-US" altLang="zh-CN" dirty="0" smtClean="0"/>
              <a:t>——</a:t>
            </a:r>
            <a:r>
              <a:rPr lang="zh-CN" altLang="en-US" dirty="0" smtClean="0"/>
              <a:t>外存</a:t>
            </a:r>
            <a:r>
              <a:rPr lang="zh-CN" altLang="en-US" dirty="0"/>
              <a:t>存取</a:t>
            </a:r>
            <a:r>
              <a:rPr lang="zh-CN" altLang="en-US" dirty="0" smtClean="0"/>
              <a:t>原理</a:t>
            </a:r>
            <a:endParaRPr lang="zh-CN" altLang="en-US" dirty="0"/>
          </a:p>
        </p:txBody>
      </p:sp>
      <p:pic>
        <p:nvPicPr>
          <p:cNvPr id="4" name="图片 3" descr="MySQL索引背后的数据结构及算法原理"/>
          <p:cNvPicPr/>
          <p:nvPr/>
        </p:nvPicPr>
        <p:blipFill>
          <a:blip r:embed="rId2"/>
          <a:srcRect/>
          <a:stretch>
            <a:fillRect/>
          </a:stretch>
        </p:blipFill>
        <p:spPr bwMode="auto">
          <a:xfrm>
            <a:off x="1187624" y="2348880"/>
            <a:ext cx="2541270" cy="1637665"/>
          </a:xfrm>
          <a:prstGeom prst="rect">
            <a:avLst/>
          </a:prstGeom>
          <a:noFill/>
          <a:ln w="9525">
            <a:noFill/>
            <a:miter lim="800000"/>
            <a:headEnd/>
            <a:tailEnd/>
          </a:ln>
        </p:spPr>
      </p:pic>
      <p:sp>
        <p:nvSpPr>
          <p:cNvPr id="6" name="矩形 5"/>
          <p:cNvSpPr/>
          <p:nvPr/>
        </p:nvSpPr>
        <p:spPr>
          <a:xfrm>
            <a:off x="1043608" y="4149080"/>
            <a:ext cx="2550698" cy="369332"/>
          </a:xfrm>
          <a:prstGeom prst="rect">
            <a:avLst/>
          </a:prstGeom>
        </p:spPr>
        <p:txBody>
          <a:bodyPr wrap="none">
            <a:spAutoFit/>
          </a:bodyPr>
          <a:lstStyle/>
          <a:p>
            <a:r>
              <a:rPr lang="zh-CN" altLang="en-US" kern="0" dirty="0" smtClean="0">
                <a:solidFill>
                  <a:srgbClr val="222222"/>
                </a:solidFill>
                <a:latin typeface="+mn-ea"/>
                <a:cs typeface="Tahoma" panose="020B0604030504040204" pitchFamily="34" charset="0"/>
              </a:rPr>
              <a:t> </a:t>
            </a:r>
            <a:r>
              <a:rPr lang="zh-CN" altLang="zh-CN" kern="0" dirty="0" smtClean="0">
                <a:solidFill>
                  <a:srgbClr val="222222"/>
                </a:solidFill>
                <a:latin typeface="+mn-ea"/>
                <a:cs typeface="Tahoma" panose="020B0604030504040204" pitchFamily="34" charset="0"/>
              </a:rPr>
              <a:t>磁盘</a:t>
            </a:r>
            <a:r>
              <a:rPr lang="zh-CN" altLang="zh-CN" kern="0" dirty="0">
                <a:solidFill>
                  <a:srgbClr val="222222"/>
                </a:solidFill>
                <a:latin typeface="+mn-ea"/>
                <a:cs typeface="Tahoma" panose="020B0604030504040204" pitchFamily="34" charset="0"/>
              </a:rPr>
              <a:t>的整体结构示意图</a:t>
            </a:r>
            <a:endParaRPr lang="zh-CN" altLang="en-US" dirty="0">
              <a:latin typeface="+mn-ea"/>
            </a:endParaRPr>
          </a:p>
        </p:txBody>
      </p:sp>
      <p:sp>
        <p:nvSpPr>
          <p:cNvPr id="8" name="矩形 7"/>
          <p:cNvSpPr/>
          <p:nvPr/>
        </p:nvSpPr>
        <p:spPr>
          <a:xfrm>
            <a:off x="5004048" y="1916832"/>
            <a:ext cx="2952328" cy="4308872"/>
          </a:xfrm>
          <a:prstGeom prst="rect">
            <a:avLst/>
          </a:prstGeom>
          <a:ln>
            <a:solidFill>
              <a:schemeClr val="bg2">
                <a:lumMod val="50000"/>
              </a:schemeClr>
            </a:solidFill>
          </a:ln>
        </p:spPr>
        <p:txBody>
          <a:bodyPr wrap="square">
            <a:spAutoFit/>
          </a:bodyPr>
          <a:lstStyle/>
          <a:p>
            <a:pPr algn="just"/>
            <a:r>
              <a:rPr lang="zh-CN" altLang="en-US" smtClean="0"/>
              <a:t>    </a:t>
            </a:r>
            <a:endParaRPr lang="en-US" altLang="zh-CN" smtClean="0"/>
          </a:p>
          <a:p>
            <a:pPr algn="just"/>
            <a:r>
              <a:rPr lang="zh-CN" altLang="en-US" sz="2000" smtClean="0"/>
              <a:t>一</a:t>
            </a:r>
            <a:r>
              <a:rPr lang="zh-CN" altLang="en-US" sz="2000" dirty="0"/>
              <a:t>个磁盘由大小相同且同轴的圆形盘片组成，磁盘可以转动（各个磁盘必须同步转动）。在磁盘的一侧有磁头支架，磁头支架固定了一组磁头，每个磁头负责存取一个磁盘的内容。磁头不能转动，但是可以沿磁盘半径方向运动（实际是斜切向运</a:t>
            </a:r>
            <a:r>
              <a:rPr lang="zh-CN" altLang="en-US" sz="2000"/>
              <a:t>动</a:t>
            </a:r>
            <a:r>
              <a:rPr lang="zh-CN" altLang="en-US" sz="2000" smtClean="0"/>
              <a:t>）。</a:t>
            </a:r>
            <a:endParaRPr lang="zh-CN" altLang="en-US" sz="2000" dirty="0"/>
          </a:p>
          <a:p>
            <a:endParaRPr lang="zh-CN" altLang="en-US" dirty="0"/>
          </a:p>
          <a:p>
            <a:r>
              <a:rPr lang="zh-CN" altLang="en-US" dirty="0"/>
              <a:t> </a:t>
            </a:r>
          </a:p>
        </p:txBody>
      </p:sp>
    </p:spTree>
    <p:extLst>
      <p:ext uri="{BB962C8B-B14F-4D97-AF65-F5344CB8AC3E}">
        <p14:creationId xmlns:p14="http://schemas.microsoft.com/office/powerpoint/2010/main" val="315768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1.2 </a:t>
            </a:r>
            <a:r>
              <a:rPr lang="zh-CN" altLang="en-US" dirty="0" smtClean="0"/>
              <a:t>磁盘存取原理</a:t>
            </a:r>
            <a:r>
              <a:rPr lang="en-US" altLang="zh-CN" dirty="0" smtClean="0"/>
              <a:t>——</a:t>
            </a:r>
            <a:r>
              <a:rPr lang="zh-CN" altLang="en-US" dirty="0" smtClean="0"/>
              <a:t>外存取原理</a:t>
            </a:r>
            <a:endParaRPr lang="zh-CN" altLang="en-US" dirty="0"/>
          </a:p>
        </p:txBody>
      </p:sp>
      <p:sp>
        <p:nvSpPr>
          <p:cNvPr id="3" name="内容占位符 2"/>
          <p:cNvSpPr>
            <a:spLocks noGrp="1"/>
          </p:cNvSpPr>
          <p:nvPr>
            <p:ph idx="1"/>
          </p:nvPr>
        </p:nvSpPr>
        <p:spPr>
          <a:xfrm>
            <a:off x="4572000" y="1600200"/>
            <a:ext cx="4114800" cy="4925144"/>
          </a:xfrm>
          <a:ln>
            <a:solidFill>
              <a:schemeClr val="bg2">
                <a:lumMod val="75000"/>
              </a:schemeClr>
            </a:solidFill>
          </a:ln>
        </p:spPr>
        <p:txBody>
          <a:bodyPr>
            <a:noAutofit/>
          </a:bodyPr>
          <a:lstStyle/>
          <a:p>
            <a:pPr marL="0" indent="0">
              <a:buNone/>
            </a:pPr>
            <a:r>
              <a:rPr lang="zh-CN" altLang="en-US" sz="2600" dirty="0" smtClean="0"/>
              <a:t>    盘</a:t>
            </a:r>
            <a:r>
              <a:rPr lang="zh-CN" altLang="en-US" sz="2600" dirty="0"/>
              <a:t>片被划分成一系列同心环，圆心是盘片中心，每个同心环叫做一个</a:t>
            </a:r>
            <a:r>
              <a:rPr lang="zh-CN" altLang="en-US" sz="2600" dirty="0">
                <a:solidFill>
                  <a:srgbClr val="FF0000"/>
                </a:solidFill>
              </a:rPr>
              <a:t>磁道</a:t>
            </a:r>
            <a:r>
              <a:rPr lang="zh-CN" altLang="en-US" sz="2600" dirty="0"/>
              <a:t>，所有半径相同的磁道组成一个柱面。磁道被沿半径线划分成一个个小的段，每个段叫做一个</a:t>
            </a:r>
            <a:r>
              <a:rPr lang="zh-CN" altLang="en-US" sz="2600" dirty="0">
                <a:solidFill>
                  <a:srgbClr val="FF0000"/>
                </a:solidFill>
              </a:rPr>
              <a:t>扇区</a:t>
            </a:r>
            <a:r>
              <a:rPr lang="zh-CN" altLang="en-US" sz="2600" dirty="0"/>
              <a:t>，每个扇区是磁盘的最小存储单元。为了简单起见，我们下面假设磁盘只有一个盘片和一个磁头。</a:t>
            </a:r>
          </a:p>
        </p:txBody>
      </p:sp>
      <p:pic>
        <p:nvPicPr>
          <p:cNvPr id="4" name="图片 3" descr="MySQL索引背后的数据结构及算法原理"/>
          <p:cNvPicPr/>
          <p:nvPr/>
        </p:nvPicPr>
        <p:blipFill>
          <a:blip r:embed="rId2"/>
          <a:srcRect/>
          <a:stretch>
            <a:fillRect/>
          </a:stretch>
        </p:blipFill>
        <p:spPr bwMode="auto">
          <a:xfrm>
            <a:off x="1115616" y="1988840"/>
            <a:ext cx="2562225" cy="2339340"/>
          </a:xfrm>
          <a:prstGeom prst="rect">
            <a:avLst/>
          </a:prstGeom>
          <a:noFill/>
          <a:ln w="9525">
            <a:noFill/>
            <a:miter lim="800000"/>
            <a:headEnd/>
            <a:tailEnd/>
          </a:ln>
        </p:spPr>
      </p:pic>
      <p:sp>
        <p:nvSpPr>
          <p:cNvPr id="5" name="矩形 4"/>
          <p:cNvSpPr/>
          <p:nvPr/>
        </p:nvSpPr>
        <p:spPr>
          <a:xfrm>
            <a:off x="1168681" y="4510742"/>
            <a:ext cx="2319866" cy="412934"/>
          </a:xfrm>
          <a:prstGeom prst="rect">
            <a:avLst/>
          </a:prstGeom>
        </p:spPr>
        <p:txBody>
          <a:bodyPr wrap="none">
            <a:spAutoFit/>
          </a:bodyPr>
          <a:lstStyle/>
          <a:p>
            <a:pPr algn="ctr" latinLnBrk="1">
              <a:lnSpc>
                <a:spcPts val="2510"/>
              </a:lnSpc>
              <a:spcAft>
                <a:spcPts val="0"/>
              </a:spcAft>
            </a:pPr>
            <a:r>
              <a:rPr lang="en-US" altLang="zh-CN" kern="0" dirty="0" smtClean="0">
                <a:solidFill>
                  <a:srgbClr val="222222"/>
                </a:solidFill>
                <a:latin typeface="+mn-ea"/>
                <a:cs typeface="Times New Roman" panose="02020603050405020304" pitchFamily="18" charset="0"/>
              </a:rPr>
              <a:t> </a:t>
            </a:r>
            <a:r>
              <a:rPr lang="zh-CN" altLang="zh-CN" kern="0" dirty="0" smtClean="0">
                <a:solidFill>
                  <a:srgbClr val="222222"/>
                </a:solidFill>
                <a:latin typeface="+mn-ea"/>
                <a:cs typeface="Tahoma" panose="020B0604030504040204" pitchFamily="34" charset="0"/>
              </a:rPr>
              <a:t>磁盘</a:t>
            </a:r>
            <a:r>
              <a:rPr lang="zh-CN" altLang="zh-CN" kern="0" dirty="0">
                <a:solidFill>
                  <a:srgbClr val="222222"/>
                </a:solidFill>
                <a:latin typeface="+mn-ea"/>
                <a:cs typeface="Tahoma" panose="020B0604030504040204" pitchFamily="34" charset="0"/>
              </a:rPr>
              <a:t>结构的示意图。</a:t>
            </a:r>
            <a:endParaRPr lang="zh-CN" altLang="zh-CN"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1702806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1.2 </a:t>
            </a:r>
            <a:r>
              <a:rPr lang="zh-CN" altLang="en-US" dirty="0"/>
              <a:t>磁盘存取原理</a:t>
            </a:r>
            <a:r>
              <a:rPr lang="en-US" altLang="zh-CN" dirty="0"/>
              <a:t>——</a:t>
            </a:r>
            <a:r>
              <a:rPr lang="zh-CN" altLang="en-US" dirty="0"/>
              <a:t>外存取</a:t>
            </a:r>
            <a:r>
              <a:rPr lang="zh-CN" altLang="en-US" dirty="0" smtClean="0"/>
              <a:t>原理（续）</a:t>
            </a:r>
            <a:endParaRPr lang="zh-CN" altLang="en-US" dirty="0"/>
          </a:p>
        </p:txBody>
      </p:sp>
      <p:sp>
        <p:nvSpPr>
          <p:cNvPr id="3" name="内容占位符 2"/>
          <p:cNvSpPr>
            <a:spLocks noGrp="1"/>
          </p:cNvSpPr>
          <p:nvPr>
            <p:ph idx="1"/>
          </p:nvPr>
        </p:nvSpPr>
        <p:spPr>
          <a:xfrm>
            <a:off x="487731" y="4293096"/>
            <a:ext cx="8229600" cy="1972815"/>
          </a:xfrm>
          <a:ln>
            <a:solidFill>
              <a:schemeClr val="bg2">
                <a:lumMod val="75000"/>
              </a:schemeClr>
            </a:solidFill>
          </a:ln>
        </p:spPr>
        <p:txBody>
          <a:bodyPr>
            <a:normAutofit/>
          </a:bodyPr>
          <a:lstStyle/>
          <a:p>
            <a:pPr marL="0" indent="0">
              <a:buNone/>
            </a:pPr>
            <a:r>
              <a:rPr lang="zh-CN" altLang="en-US" sz="2000" dirty="0" smtClean="0"/>
              <a:t>    当</a:t>
            </a:r>
            <a:r>
              <a:rPr lang="zh-CN" altLang="en-US" sz="2000" dirty="0"/>
              <a:t>需要从磁盘读取数据时，系统会将数据逻辑地址传给磁盘，磁盘的控制电路按照寻址逻辑将逻辑地址翻译成物理地址，即确定要读的数据在哪个磁道，哪个扇区。为了读取这个扇区的数据，需要将磁头放到这个扇区上方，为了实现这一点，磁头需要移动对准相应磁道，这个过程叫做寻道，所耗费时间叫做</a:t>
            </a:r>
            <a:r>
              <a:rPr lang="zh-CN" altLang="en-US" sz="2000" dirty="0">
                <a:solidFill>
                  <a:srgbClr val="FF0000"/>
                </a:solidFill>
              </a:rPr>
              <a:t>寻道时间</a:t>
            </a:r>
            <a:r>
              <a:rPr lang="zh-CN" altLang="en-US" sz="2000" dirty="0"/>
              <a:t>，然后磁盘旋转将目标扇区旋转到磁头下，这个过程耗费的时间叫做</a:t>
            </a:r>
            <a:r>
              <a:rPr lang="zh-CN" altLang="en-US" sz="2000" dirty="0">
                <a:solidFill>
                  <a:srgbClr val="FF0000"/>
                </a:solidFill>
              </a:rPr>
              <a:t>旋转时间</a:t>
            </a:r>
            <a:r>
              <a:rPr lang="zh-CN" altLang="en-US" sz="2000" dirty="0"/>
              <a:t>。</a:t>
            </a:r>
          </a:p>
        </p:txBody>
      </p:sp>
      <p:pic>
        <p:nvPicPr>
          <p:cNvPr id="4" name="图片 3"/>
          <p:cNvPicPr>
            <a:picLocks noChangeAspect="1"/>
          </p:cNvPicPr>
          <p:nvPr/>
        </p:nvPicPr>
        <p:blipFill>
          <a:blip r:embed="rId2"/>
          <a:stretch>
            <a:fillRect/>
          </a:stretch>
        </p:blipFill>
        <p:spPr>
          <a:xfrm>
            <a:off x="1115616" y="1647202"/>
            <a:ext cx="2688569" cy="2274005"/>
          </a:xfrm>
          <a:prstGeom prst="rect">
            <a:avLst/>
          </a:prstGeom>
        </p:spPr>
      </p:pic>
      <p:pic>
        <p:nvPicPr>
          <p:cNvPr id="5" name="图片 4"/>
          <p:cNvPicPr>
            <a:picLocks noChangeAspect="1"/>
          </p:cNvPicPr>
          <p:nvPr/>
        </p:nvPicPr>
        <p:blipFill>
          <a:blip r:embed="rId3"/>
          <a:stretch>
            <a:fillRect/>
          </a:stretch>
        </p:blipFill>
        <p:spPr>
          <a:xfrm>
            <a:off x="5292080" y="1275314"/>
            <a:ext cx="2560542" cy="3017782"/>
          </a:xfrm>
          <a:prstGeom prst="rect">
            <a:avLst/>
          </a:prstGeom>
        </p:spPr>
      </p:pic>
    </p:spTree>
    <p:extLst>
      <p:ext uri="{BB962C8B-B14F-4D97-AF65-F5344CB8AC3E}">
        <p14:creationId xmlns:p14="http://schemas.microsoft.com/office/powerpoint/2010/main" val="305931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1.2 </a:t>
            </a:r>
            <a:r>
              <a:rPr lang="zh-CN" altLang="en-US" dirty="0" smtClean="0"/>
              <a:t>磁盘存取原理</a:t>
            </a:r>
            <a:r>
              <a:rPr lang="en-US" altLang="zh-CN" dirty="0" smtClean="0"/>
              <a:t>——</a:t>
            </a:r>
            <a:r>
              <a:rPr lang="zh-CN" altLang="en-US" dirty="0" smtClean="0"/>
              <a:t>局部</a:t>
            </a:r>
            <a:r>
              <a:rPr lang="zh-CN" altLang="en-US" dirty="0"/>
              <a:t>性原理与磁盘预读</a:t>
            </a:r>
          </a:p>
        </p:txBody>
      </p:sp>
      <p:sp>
        <p:nvSpPr>
          <p:cNvPr id="3" name="内容占位符 2"/>
          <p:cNvSpPr>
            <a:spLocks noGrp="1"/>
          </p:cNvSpPr>
          <p:nvPr>
            <p:ph idx="1"/>
          </p:nvPr>
        </p:nvSpPr>
        <p:spPr/>
        <p:txBody>
          <a:bodyPr>
            <a:normAutofit/>
          </a:bodyPr>
          <a:lstStyle/>
          <a:p>
            <a:pPr marL="0" indent="0">
              <a:buNone/>
            </a:pPr>
            <a:r>
              <a:rPr lang="zh-CN" altLang="en-US" sz="2400" dirty="0" smtClean="0"/>
              <a:t>    由于</a:t>
            </a:r>
            <a:r>
              <a:rPr lang="zh-CN" altLang="en-US" sz="2400" dirty="0"/>
              <a:t>存储介质的特性，磁盘本身存取就比主存慢很多，</a:t>
            </a:r>
            <a:r>
              <a:rPr lang="zh-CN" altLang="en-US" sz="2400" dirty="0" smtClean="0"/>
              <a:t>再加上</a:t>
            </a:r>
            <a:r>
              <a:rPr lang="zh-CN" altLang="en-US" sz="2400" dirty="0"/>
              <a:t>机械运动耗费，磁盘的存取速度往往是主存的</a:t>
            </a:r>
            <a:r>
              <a:rPr lang="zh-CN" altLang="en-US" sz="2400" dirty="0" smtClean="0"/>
              <a:t>几百分之一</a:t>
            </a:r>
            <a:r>
              <a:rPr lang="zh-CN" altLang="en-US" sz="2400" dirty="0"/>
              <a:t>，因此为了提高效率，要尽量减少磁盘</a:t>
            </a:r>
            <a:r>
              <a:rPr lang="en-US" altLang="zh-CN" sz="2400" dirty="0"/>
              <a:t>I/O</a:t>
            </a:r>
            <a:r>
              <a:rPr lang="zh-CN" altLang="en-US" sz="2400" dirty="0"/>
              <a:t>。为了达到这个目的，磁盘往往不是严格按需读取，而是每次都会预读，即使只需要一个字节，磁盘也会从这个位置开始，顺序向后读取一定长度的数据放入内存。</a:t>
            </a:r>
            <a:r>
              <a:rPr lang="zh-CN" altLang="en-US" sz="2400" dirty="0">
                <a:solidFill>
                  <a:srgbClr val="FF0000"/>
                </a:solidFill>
              </a:rPr>
              <a:t>这样做的理论依据是计算机科学中著名的局部性原理：当一个数据被用到时，其附近的数据也通常会马上被使用。</a:t>
            </a:r>
          </a:p>
        </p:txBody>
      </p:sp>
    </p:spTree>
    <p:extLst>
      <p:ext uri="{BB962C8B-B14F-4D97-AF65-F5344CB8AC3E}">
        <p14:creationId xmlns:p14="http://schemas.microsoft.com/office/powerpoint/2010/main" val="1636115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1.2 </a:t>
            </a:r>
            <a:r>
              <a:rPr lang="zh-CN" altLang="en-US" dirty="0"/>
              <a:t>磁盘存取原理</a:t>
            </a:r>
            <a:r>
              <a:rPr lang="en-US" altLang="zh-CN" dirty="0"/>
              <a:t>——</a:t>
            </a:r>
            <a:r>
              <a:rPr lang="zh-CN" altLang="en-US" dirty="0"/>
              <a:t>局部性原理与磁盘预</a:t>
            </a:r>
            <a:r>
              <a:rPr lang="zh-CN" altLang="en-US" dirty="0" smtClean="0"/>
              <a:t>读（续）</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zh-CN" altLang="en-US" dirty="0" smtClean="0"/>
              <a:t>     由于</a:t>
            </a:r>
            <a:r>
              <a:rPr lang="zh-CN" altLang="en-US" dirty="0"/>
              <a:t>磁盘顺序读取的效率很高（不需要寻道时间，只需很少的旋转时间），因此对于具有局部性的程序来说，预读可以提高</a:t>
            </a:r>
            <a:r>
              <a:rPr lang="en-US" altLang="zh-CN" dirty="0"/>
              <a:t>I/O</a:t>
            </a:r>
            <a:r>
              <a:rPr lang="zh-CN" altLang="en-US" dirty="0"/>
              <a:t>效率</a:t>
            </a:r>
            <a:r>
              <a:rPr lang="zh-CN" altLang="en-US" dirty="0" smtClean="0"/>
              <a:t>。</a:t>
            </a:r>
            <a:endParaRPr lang="en-US" altLang="zh-CN" dirty="0" smtClean="0"/>
          </a:p>
          <a:p>
            <a:pPr marL="0" indent="0">
              <a:buNone/>
            </a:pPr>
            <a:endParaRPr lang="zh-CN" altLang="en-US" dirty="0"/>
          </a:p>
          <a:p>
            <a:pPr marL="0" indent="0">
              <a:buNone/>
            </a:pPr>
            <a:r>
              <a:rPr lang="zh-CN" altLang="en-US" dirty="0" smtClean="0"/>
              <a:t>     预</a:t>
            </a:r>
            <a:r>
              <a:rPr lang="zh-CN" altLang="en-US" dirty="0"/>
              <a:t>读的长度一般为页（</a:t>
            </a:r>
            <a:r>
              <a:rPr lang="en-US" altLang="zh-CN" dirty="0"/>
              <a:t>page</a:t>
            </a:r>
            <a:r>
              <a:rPr lang="zh-CN" altLang="en-US" dirty="0"/>
              <a:t>）的整倍数。页是计算机管理存储器的逻辑块，硬件及操作系统往往将主存和磁盘存储区分割为连续的大小相等的块，每个存储块称为一页，主存和磁盘以页为单位交换数据。当程序要读取的数据不在主存中时，会触发一个缺页异常，此时系统会向磁盘发出读盘信号，磁盘会找到数据的起始位置并向后连续读取一页或几页载入内存中，然后异常返回，程序继续运行。</a:t>
            </a:r>
          </a:p>
          <a:p>
            <a:endParaRPr lang="zh-CN" altLang="en-US" dirty="0"/>
          </a:p>
        </p:txBody>
      </p:sp>
    </p:spTree>
    <p:extLst>
      <p:ext uri="{BB962C8B-B14F-4D97-AF65-F5344CB8AC3E}">
        <p14:creationId xmlns:p14="http://schemas.microsoft.com/office/powerpoint/2010/main" val="249095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smtClean="0"/>
              <a:t>二、索引的本质</a:t>
            </a:r>
            <a:endParaRPr lang="zh-CN" altLang="en-US" dirty="0"/>
          </a:p>
        </p:txBody>
      </p:sp>
      <p:sp>
        <p:nvSpPr>
          <p:cNvPr id="3" name="内容占位符 2"/>
          <p:cNvSpPr>
            <a:spLocks noGrp="1"/>
          </p:cNvSpPr>
          <p:nvPr>
            <p:ph idx="1"/>
          </p:nvPr>
        </p:nvSpPr>
        <p:spPr/>
        <p:txBody>
          <a:bodyPr/>
          <a:lstStyle/>
          <a:p>
            <a:r>
              <a:rPr lang="zh-CN" altLang="en-US" dirty="0" smtClean="0"/>
              <a:t>索引的定义：索引（</a:t>
            </a:r>
            <a:r>
              <a:rPr lang="en-US" smtClean="0"/>
              <a:t>Index</a:t>
            </a:r>
            <a:r>
              <a:rPr lang="zh-CN" altLang="en-US" smtClean="0"/>
              <a:t>）是一</a:t>
            </a:r>
            <a:r>
              <a:rPr lang="zh-CN" altLang="en-US" dirty="0" smtClean="0"/>
              <a:t>种特殊的</a:t>
            </a:r>
            <a:r>
              <a:rPr lang="zh-CN" altLang="en-US" dirty="0" smtClean="0">
                <a:solidFill>
                  <a:srgbClr val="FF0000"/>
                </a:solidFill>
              </a:rPr>
              <a:t>数据结构</a:t>
            </a:r>
            <a:r>
              <a:rPr lang="zh-CN" altLang="en-US" dirty="0" smtClean="0"/>
              <a:t>，其作用相当于一本书的目录，可以用来快速查询数据库表中的特定记录。</a:t>
            </a:r>
            <a:endParaRPr lang="en-US" altLang="zh-CN" dirty="0" smtClean="0"/>
          </a:p>
          <a:p>
            <a:pPr marL="0" indent="0">
              <a:buNone/>
            </a:pPr>
            <a:endParaRPr lang="en-US" altLang="zh-CN" dirty="0" smtClean="0"/>
          </a:p>
          <a:p>
            <a:r>
              <a:rPr lang="zh-CN" altLang="en-US" dirty="0" smtClean="0"/>
              <a:t>最常见的索引是</a:t>
            </a:r>
            <a:r>
              <a:rPr lang="en-US" dirty="0" err="1" smtClean="0"/>
              <a:t>Btree</a:t>
            </a:r>
            <a:r>
              <a:rPr lang="zh-CN" altLang="en-US" dirty="0" smtClean="0"/>
              <a:t>索引和</a:t>
            </a:r>
            <a:r>
              <a:rPr lang="en-US" dirty="0" smtClean="0"/>
              <a:t>Hash</a:t>
            </a:r>
            <a:r>
              <a:rPr lang="zh-CN" altLang="en-US" dirty="0" smtClean="0"/>
              <a:t>索引。</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2. </a:t>
            </a:r>
            <a:r>
              <a:rPr lang="en-US" dirty="0" smtClean="0"/>
              <a:t>1 B-Tree</a:t>
            </a:r>
            <a:r>
              <a:rPr lang="zh-CN" altLang="en-US" dirty="0" smtClean="0"/>
              <a:t>索引的前身</a:t>
            </a:r>
            <a:br>
              <a:rPr lang="zh-CN" altLang="en-US" dirty="0" smtClean="0"/>
            </a:br>
            <a:r>
              <a:rPr lang="zh-CN" altLang="en-US" dirty="0" smtClean="0"/>
              <a:t>二叉树索引</a:t>
            </a:r>
            <a:endParaRPr lang="zh-CN" altLang="en-US" dirty="0"/>
          </a:p>
        </p:txBody>
      </p:sp>
      <p:pic>
        <p:nvPicPr>
          <p:cNvPr id="4" name="内容占位符 3" descr="MySQL索引背后的数据结构及算法原理"/>
          <p:cNvPicPr>
            <a:picLocks noGrp="1"/>
          </p:cNvPicPr>
          <p:nvPr>
            <p:ph idx="1"/>
          </p:nvPr>
        </p:nvPicPr>
        <p:blipFill>
          <a:blip r:embed="rId2"/>
          <a:srcRect/>
          <a:stretch>
            <a:fillRect/>
          </a:stretch>
        </p:blipFill>
        <p:spPr bwMode="auto">
          <a:xfrm>
            <a:off x="2483768" y="1679461"/>
            <a:ext cx="5601482" cy="2829320"/>
          </a:xfrm>
          <a:prstGeom prst="rect">
            <a:avLst/>
          </a:prstGeom>
          <a:noFill/>
          <a:ln w="9525">
            <a:noFill/>
            <a:miter lim="800000"/>
            <a:headEnd/>
            <a:tailEnd/>
          </a:ln>
        </p:spPr>
      </p:pic>
      <p:sp>
        <p:nvSpPr>
          <p:cNvPr id="5" name="TextBox 4"/>
          <p:cNvSpPr txBox="1"/>
          <p:nvPr/>
        </p:nvSpPr>
        <p:spPr>
          <a:xfrm>
            <a:off x="1285852" y="1857364"/>
            <a:ext cx="3143272" cy="461665"/>
          </a:xfrm>
          <a:prstGeom prst="rect">
            <a:avLst/>
          </a:prstGeom>
          <a:noFill/>
        </p:spPr>
        <p:txBody>
          <a:bodyPr wrap="square" rtlCol="0">
            <a:spAutoFit/>
          </a:bodyPr>
          <a:lstStyle/>
          <a:p>
            <a:r>
              <a:rPr lang="zh-CN" altLang="en-US" sz="2400" dirty="0" smtClean="0"/>
              <a:t>示例：</a:t>
            </a:r>
            <a:endParaRPr lang="zh-CN" altLang="en-US" sz="2400" dirty="0"/>
          </a:p>
        </p:txBody>
      </p:sp>
      <mc:AlternateContent xmlns:mc="http://schemas.openxmlformats.org/markup-compatibility/2006" xmlns:a14="http://schemas.microsoft.com/office/drawing/2010/main">
        <mc:Choice Requires="a14">
          <p:sp>
            <p:nvSpPr>
              <p:cNvPr id="3" name="Rectangle 1"/>
              <p:cNvSpPr>
                <a:spLocks noChangeArrowheads="1"/>
              </p:cNvSpPr>
              <p:nvPr/>
            </p:nvSpPr>
            <p:spPr bwMode="auto">
              <a:xfrm>
                <a:off x="899592" y="4676727"/>
                <a:ext cx="7632848" cy="1323439"/>
              </a:xfrm>
              <a:prstGeom prst="rect">
                <a:avLst/>
              </a:prstGeom>
              <a:noFill/>
              <a:ln w="9525">
                <a:solidFill>
                  <a:schemeClr val="bg2">
                    <a:lumMod val="75000"/>
                  </a:schemeClr>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1600" dirty="0" smtClean="0">
                    <a:solidFill>
                      <a:srgbClr val="5A5A5A"/>
                    </a:solidFill>
                    <a:latin typeface="+mn-ea"/>
                  </a:rPr>
                  <a:t>上例</a:t>
                </a:r>
                <a:r>
                  <a:rPr kumimoji="0" lang="zh-CN" altLang="zh-CN" sz="1600" b="0" i="0" u="none" strike="noStrike" cap="none" normalizeH="0" baseline="0" dirty="0" smtClean="0">
                    <a:ln>
                      <a:noFill/>
                    </a:ln>
                    <a:solidFill>
                      <a:srgbClr val="5A5A5A"/>
                    </a:solidFill>
                    <a:effectLst/>
                    <a:latin typeface="+mn-ea"/>
                  </a:rPr>
                  <a:t>展示了一种可能的索引方式。左边是数据表，一共有两列七条记录，最左边的是数据记录的物理地址（注意逻辑上相邻的记录在磁盘上也并不是一定物理相邻的）。为了加快Col2的查找，可以维护一个右边所示的二叉查找树，每个节点分别包含索引键值和一个指向对应数据记录物理地址的指针，这样就可以运用二叉查找在O(</a:t>
                </a:r>
                <a14:m>
                  <m:oMath xmlns:m="http://schemas.openxmlformats.org/officeDocument/2006/math">
                    <m:sSub>
                      <m:sSubPr>
                        <m:ctrlPr>
                          <a:rPr kumimoji="0" lang="en-US" altLang="zh-CN" sz="1600" b="0" i="1" u="none" strike="noStrike" cap="none" normalizeH="0" baseline="0" dirty="0" smtClean="0">
                            <a:ln>
                              <a:noFill/>
                            </a:ln>
                            <a:solidFill>
                              <a:srgbClr val="5A5A5A"/>
                            </a:solidFill>
                            <a:effectLst/>
                            <a:latin typeface="Cambria Math" panose="02040503050406030204" pitchFamily="18" charset="0"/>
                          </a:rPr>
                        </m:ctrlPr>
                      </m:sSubPr>
                      <m:e>
                        <m:r>
                          <a:rPr kumimoji="0" lang="en-US" altLang="zh-CN" sz="1600" b="0" i="1" u="none" strike="noStrike" cap="none" normalizeH="0" baseline="0" dirty="0" smtClean="0">
                            <a:ln>
                              <a:noFill/>
                            </a:ln>
                            <a:solidFill>
                              <a:srgbClr val="5A5A5A"/>
                            </a:solidFill>
                            <a:effectLst/>
                            <a:latin typeface="Cambria Math" panose="02040503050406030204" pitchFamily="18" charset="0"/>
                          </a:rPr>
                          <m:t>𝑙𝑜𝑔</m:t>
                        </m:r>
                      </m:e>
                      <m:sub>
                        <m:r>
                          <a:rPr kumimoji="0" lang="en-US" altLang="zh-CN" sz="1600" b="0" i="1" u="none" strike="noStrike" cap="none" normalizeH="0" baseline="0" dirty="0" smtClean="0">
                            <a:ln>
                              <a:noFill/>
                            </a:ln>
                            <a:solidFill>
                              <a:srgbClr val="5A5A5A"/>
                            </a:solidFill>
                            <a:effectLst/>
                            <a:latin typeface="Cambria Math" panose="02040503050406030204" pitchFamily="18" charset="0"/>
                          </a:rPr>
                          <m:t>2</m:t>
                        </m:r>
                      </m:sub>
                    </m:sSub>
                    <m:r>
                      <a:rPr kumimoji="0" lang="zh-CN" altLang="zh-CN" sz="1600" b="0" i="1" u="none" strike="noStrike" cap="none" normalizeH="0" baseline="0" dirty="0" smtClean="0">
                        <a:ln>
                          <a:noFill/>
                        </a:ln>
                        <a:solidFill>
                          <a:srgbClr val="5A5A5A"/>
                        </a:solidFill>
                        <a:effectLst/>
                        <a:latin typeface="Cambria Math" panose="02040503050406030204" pitchFamily="18" charset="0"/>
                      </a:rPr>
                      <m:t>𝑛</m:t>
                    </m:r>
                  </m:oMath>
                </a14:m>
                <a:r>
                  <a:rPr kumimoji="0" lang="zh-CN" altLang="zh-CN" sz="1600" b="0" i="0" u="none" strike="noStrike" cap="none" normalizeH="0" baseline="0" dirty="0" smtClean="0">
                    <a:ln>
                      <a:noFill/>
                    </a:ln>
                    <a:solidFill>
                      <a:srgbClr val="5A5A5A"/>
                    </a:solidFill>
                    <a:effectLst/>
                    <a:latin typeface="+mn-ea"/>
                  </a:rPr>
                  <a:t>)</a:t>
                </a:r>
                <a:r>
                  <a:rPr lang="zh-CN" altLang="en-US" sz="1600" dirty="0">
                    <a:solidFill>
                      <a:srgbClr val="5A5A5A"/>
                    </a:solidFill>
                    <a:latin typeface="+mn-ea"/>
                  </a:rPr>
                  <a:t>的复杂度内获取到相应数据。</a:t>
                </a:r>
                <a:endParaRPr kumimoji="0" lang="zh-CN" altLang="zh-CN" sz="1600" b="0" i="0" u="none" strike="noStrike" cap="none" normalizeH="0" baseline="0" dirty="0" smtClean="0">
                  <a:ln>
                    <a:noFill/>
                  </a:ln>
                  <a:solidFill>
                    <a:schemeClr val="tx1"/>
                  </a:solidFill>
                  <a:effectLst/>
                  <a:latin typeface="+mn-ea"/>
                </a:endParaRPr>
              </a:p>
            </p:txBody>
          </p:sp>
        </mc:Choice>
        <mc:Fallback xmlns="">
          <p:sp>
            <p:nvSpPr>
              <p:cNvPr id="3" name="Rectangle 1"/>
              <p:cNvSpPr>
                <a:spLocks noRot="1" noChangeAspect="1" noMove="1" noResize="1" noEditPoints="1" noAdjustHandles="1" noChangeArrowheads="1" noChangeShapeType="1" noTextEdit="1"/>
              </p:cNvSpPr>
              <p:nvPr/>
            </p:nvSpPr>
            <p:spPr bwMode="auto">
              <a:xfrm>
                <a:off x="899592" y="4676727"/>
                <a:ext cx="7632848" cy="1323439"/>
              </a:xfrm>
              <a:prstGeom prst="rect">
                <a:avLst/>
              </a:prstGeom>
              <a:blipFill>
                <a:blip r:embed="rId3"/>
                <a:stretch>
                  <a:fillRect l="-399" b="-5479"/>
                </a:stretch>
              </a:blipFill>
              <a:ln w="9525">
                <a:solidFill>
                  <a:schemeClr val="bg2">
                    <a:lumMod val="7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矩形 5"/>
          <p:cNvSpPr/>
          <p:nvPr/>
        </p:nvSpPr>
        <p:spPr>
          <a:xfrm>
            <a:off x="899592" y="6093296"/>
            <a:ext cx="7704856" cy="584775"/>
          </a:xfrm>
          <a:prstGeom prst="rect">
            <a:avLst/>
          </a:prstGeom>
          <a:ln>
            <a:solidFill>
              <a:schemeClr val="bg2">
                <a:lumMod val="75000"/>
              </a:schemeClr>
            </a:solidFill>
          </a:ln>
        </p:spPr>
        <p:txBody>
          <a:bodyPr wrap="square">
            <a:spAutoFit/>
          </a:bodyPr>
          <a:lstStyle/>
          <a:p>
            <a:r>
              <a:rPr lang="zh-CN" altLang="en-US" sz="1600" dirty="0"/>
              <a:t>虽然这是一个货真价实的索引，但是实际的数据库系统几乎没有使用二叉查找</a:t>
            </a:r>
            <a:r>
              <a:rPr lang="zh-CN" altLang="en-US" sz="1600" dirty="0" smtClean="0"/>
              <a:t>树，</a:t>
            </a:r>
            <a:r>
              <a:rPr lang="zh-CN" altLang="en-US" sz="1600" dirty="0"/>
              <a:t>原因会在下文介绍。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1B36"/>
                </a:solidFill>
              </a:rPr>
              <a:t>2.2 hash</a:t>
            </a:r>
            <a:r>
              <a:rPr lang="zh-CN" altLang="en-US" dirty="0">
                <a:solidFill>
                  <a:srgbClr val="001B36"/>
                </a:solidFill>
              </a:rPr>
              <a:t>索引</a:t>
            </a:r>
            <a:endParaRPr lang="zh-CN" altLang="en-US" dirty="0"/>
          </a:p>
        </p:txBody>
      </p:sp>
      <p:sp>
        <p:nvSpPr>
          <p:cNvPr id="3" name="内容占位符 2"/>
          <p:cNvSpPr>
            <a:spLocks noGrp="1"/>
          </p:cNvSpPr>
          <p:nvPr>
            <p:ph idx="1"/>
          </p:nvPr>
        </p:nvSpPr>
        <p:spPr>
          <a:xfrm>
            <a:off x="1186600" y="1268760"/>
            <a:ext cx="6768752" cy="864096"/>
          </a:xfrm>
          <a:ln>
            <a:solidFill>
              <a:schemeClr val="bg2">
                <a:lumMod val="75000"/>
              </a:schemeClr>
            </a:solidFill>
          </a:ln>
        </p:spPr>
        <p:txBody>
          <a:bodyPr>
            <a:noAutofit/>
          </a:bodyPr>
          <a:lstStyle/>
          <a:p>
            <a:pPr marL="0" indent="0">
              <a:buNone/>
            </a:pPr>
            <a:r>
              <a:rPr lang="en-US" altLang="zh-CN" sz="1600" dirty="0">
                <a:latin typeface="黑体" panose="02010609060101010101" pitchFamily="49" charset="-122"/>
                <a:ea typeface="黑体" panose="02010609060101010101" pitchFamily="49" charset="-122"/>
              </a:rPr>
              <a:t>keys</a:t>
            </a:r>
            <a:r>
              <a:rPr lang="zh-CN" altLang="en-US" sz="1600" dirty="0">
                <a:latin typeface="黑体" panose="02010609060101010101" pitchFamily="49" charset="-122"/>
                <a:ea typeface="黑体" panose="02010609060101010101" pitchFamily="49" charset="-122"/>
              </a:rPr>
              <a:t>：</a:t>
            </a:r>
            <a:r>
              <a:rPr lang="zh-CN" altLang="en-US" sz="1600" dirty="0">
                <a:latin typeface="+mn-ea"/>
              </a:rPr>
              <a:t>代表创建</a:t>
            </a:r>
            <a:r>
              <a:rPr lang="zh-CN" altLang="en-US" sz="1600" dirty="0" smtClean="0">
                <a:latin typeface="+mn-ea"/>
              </a:rPr>
              <a:t>索引列</a:t>
            </a:r>
            <a:r>
              <a:rPr lang="zh-CN" altLang="en-US" sz="1600" dirty="0">
                <a:latin typeface="+mn-ea"/>
              </a:rPr>
              <a:t>的值；</a:t>
            </a:r>
          </a:p>
          <a:p>
            <a:pPr marL="0" indent="0">
              <a:buNone/>
            </a:pPr>
            <a:r>
              <a:rPr lang="en-US" altLang="zh-CN" sz="1600" dirty="0">
                <a:latin typeface="黑体" panose="02010609060101010101" pitchFamily="49" charset="-122"/>
                <a:ea typeface="黑体" panose="02010609060101010101" pitchFamily="49" charset="-122"/>
              </a:rPr>
              <a:t>buckets</a:t>
            </a:r>
            <a:r>
              <a:rPr lang="zh-CN" altLang="en-US" sz="1600" dirty="0"/>
              <a:t>： 就是计算出来的</a:t>
            </a:r>
            <a:r>
              <a:rPr lang="en-US" altLang="zh-CN" sz="1600" dirty="0"/>
              <a:t>hash</a:t>
            </a:r>
            <a:r>
              <a:rPr lang="zh-CN" altLang="en-US" sz="1600" dirty="0"/>
              <a:t>值和对应的数据的</a:t>
            </a:r>
            <a:r>
              <a:rPr lang="zh-CN" altLang="en-US" sz="1600"/>
              <a:t>物</a:t>
            </a:r>
            <a:r>
              <a:rPr lang="zh-CN" altLang="en-US" sz="1600" smtClean="0"/>
              <a:t>理地址组</a:t>
            </a:r>
            <a:r>
              <a:rPr lang="zh-CN" altLang="en-US" sz="1600" dirty="0"/>
              <a:t>成的</a:t>
            </a:r>
            <a:r>
              <a:rPr lang="en-US" altLang="zh-CN" sz="1600" dirty="0"/>
              <a:t>hash</a:t>
            </a:r>
            <a:r>
              <a:rPr lang="zh-CN" altLang="en-US" sz="1600" dirty="0"/>
              <a:t>表；</a:t>
            </a:r>
          </a:p>
          <a:p>
            <a:pPr marL="0" indent="0">
              <a:buNone/>
            </a:pPr>
            <a:r>
              <a:rPr lang="en-US" altLang="zh-CN" sz="1600" dirty="0">
                <a:latin typeface="黑体" panose="02010609060101010101" pitchFamily="49" charset="-122"/>
                <a:ea typeface="黑体" panose="02010609060101010101" pitchFamily="49" charset="-122"/>
              </a:rPr>
              <a:t>entries</a:t>
            </a:r>
            <a:r>
              <a:rPr lang="zh-CN" altLang="en-US" sz="1600" dirty="0"/>
              <a:t>：就是代表具体的数据行；</a:t>
            </a:r>
          </a:p>
        </p:txBody>
      </p:sp>
      <p:pic>
        <p:nvPicPr>
          <p:cNvPr id="2050" name="Picture 2" descr="http://img.blog.itpub.net/blog/attachment/201801/15/29654823_1515977809h9vf.jpg?x-oss-process=style/b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420888"/>
            <a:ext cx="5400600" cy="32666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539552" y="5711123"/>
            <a:ext cx="8496944" cy="1015663"/>
          </a:xfrm>
          <a:prstGeom prst="rect">
            <a:avLst/>
          </a:prstGeom>
          <a:solidFill>
            <a:srgbClr val="FAF7EF"/>
          </a:solidFill>
          <a:ln w="9525">
            <a:solidFill>
              <a:schemeClr val="bg2">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zh-CN" sz="2000" b="0" i="0" u="none" strike="noStrike" cap="none" normalizeH="0" baseline="0" dirty="0" smtClean="0">
                <a:ln>
                  <a:noFill/>
                </a:ln>
                <a:solidFill>
                  <a:srgbClr val="000000"/>
                </a:solidFill>
                <a:effectLst/>
                <a:latin typeface="+mn-ea"/>
                <a:cs typeface="宋体" pitchFamily="2" charset="-122"/>
              </a:rPr>
              <a:t>每个</a:t>
            </a:r>
            <a:r>
              <a:rPr kumimoji="0" lang="en-US" altLang="zh-CN" sz="2000" b="0" i="0" u="none" strike="noStrike" cap="none" normalizeH="0" baseline="0" dirty="0" smtClean="0">
                <a:ln>
                  <a:noFill/>
                </a:ln>
                <a:solidFill>
                  <a:srgbClr val="000000"/>
                </a:solidFill>
                <a:effectLst/>
                <a:latin typeface="+mn-ea"/>
                <a:cs typeface="宋体" pitchFamily="2" charset="-122"/>
              </a:rPr>
              <a:t>buckets</a:t>
            </a:r>
            <a:r>
              <a:rPr kumimoji="0" lang="zh-CN" sz="2000" b="0" i="0" u="none" strike="noStrike" cap="none" normalizeH="0" baseline="0" dirty="0" smtClean="0">
                <a:ln>
                  <a:noFill/>
                </a:ln>
                <a:solidFill>
                  <a:srgbClr val="000000"/>
                </a:solidFill>
                <a:effectLst/>
                <a:latin typeface="+mn-ea"/>
                <a:cs typeface="宋体" pitchFamily="2" charset="-122"/>
              </a:rPr>
              <a:t>的编号是顺序的，但是数据行不是顺序的</a:t>
            </a:r>
            <a:r>
              <a:rPr kumimoji="0" lang="zh-CN" sz="2000" b="1" i="0" u="none" strike="noStrike" cap="none" normalizeH="0" baseline="0" dirty="0" smtClean="0">
                <a:ln>
                  <a:noFill/>
                </a:ln>
                <a:solidFill>
                  <a:srgbClr val="000000"/>
                </a:solidFill>
                <a:effectLst/>
                <a:latin typeface="+mn-ea"/>
                <a:cs typeface="宋体" pitchFamily="2" charset="-122"/>
              </a:rPr>
              <a:t>。</a:t>
            </a:r>
            <a:endParaRPr kumimoji="0" lang="en-US" altLang="zh-CN" sz="2000" b="1" i="0" u="none" strike="noStrike" cap="none" normalizeH="0" baseline="0" dirty="0" smtClean="0">
              <a:ln>
                <a:noFill/>
              </a:ln>
              <a:solidFill>
                <a:srgbClr val="000000"/>
              </a:solidFill>
              <a:effectLst/>
              <a:latin typeface="+mn-ea"/>
              <a:cs typeface="宋体" pitchFamily="2" charset="-122"/>
            </a:endParaRP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zh-CN" altLang="en-US" sz="2000" b="0" i="0" u="none" strike="noStrike" cap="none" normalizeH="0" baseline="0" dirty="0" smtClean="0">
                <a:ln>
                  <a:noFill/>
                </a:ln>
                <a:solidFill>
                  <a:srgbClr val="000000"/>
                </a:solidFill>
                <a:effectLst/>
                <a:latin typeface="+mn-ea"/>
                <a:cs typeface="宋体" pitchFamily="2" charset="-122"/>
              </a:rPr>
              <a:t>因为索引自身只需要存储对应的哈希值，所以索引的结构十分紧凑，这也让哈希索引查找的速度非常快。</a:t>
            </a:r>
            <a:endParaRPr kumimoji="0" lang="zh-CN" altLang="en-US" sz="2000" b="0" i="0" u="none" strike="noStrike" cap="none" normalizeH="0" baseline="0" dirty="0" smtClean="0">
              <a:ln>
                <a:noFill/>
              </a:ln>
              <a:solidFill>
                <a:schemeClr val="tx1"/>
              </a:solidFill>
              <a:effectLst/>
              <a:latin typeface="+mn-ea"/>
              <a:cs typeface="宋体" pitchFamily="2" charset="-122"/>
            </a:endParaRPr>
          </a:p>
        </p:txBody>
      </p:sp>
    </p:spTree>
    <p:extLst>
      <p:ext uri="{BB962C8B-B14F-4D97-AF65-F5344CB8AC3E}">
        <p14:creationId xmlns:p14="http://schemas.microsoft.com/office/powerpoint/2010/main" val="26357884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内容占位符 4"/>
              <p:cNvGraphicFramePr>
                <a:graphicFrameLocks noGrp="1"/>
              </p:cNvGraphicFramePr>
              <p:nvPr>
                <p:ph idx="1"/>
                <p:extLst>
                  <p:ext uri="{D42A27DB-BD31-4B8C-83A1-F6EECF244321}">
                    <p14:modId xmlns:p14="http://schemas.microsoft.com/office/powerpoint/2010/main" val="110509312"/>
                  </p:ext>
                </p:extLst>
              </p:nvPr>
            </p:nvGraphicFramePr>
            <p:xfrm>
              <a:off x="2915816" y="1988840"/>
              <a:ext cx="1224135" cy="304800"/>
            </p:xfrm>
            <a:graphic>
              <a:graphicData uri="http://schemas.openxmlformats.org/drawingml/2006/table">
                <a:tbl>
                  <a:tblPr firstRow="1" bandRow="1">
                    <a:tableStyleId>{5C22544A-7EE6-4342-B048-85BDC9FD1C3A}</a:tableStyleId>
                  </a:tblPr>
                  <a:tblGrid>
                    <a:gridCol w="408045">
                      <a:extLst>
                        <a:ext uri="{9D8B030D-6E8A-4147-A177-3AD203B41FA5}">
                          <a16:colId xmlns:a16="http://schemas.microsoft.com/office/drawing/2014/main" val="2439247418"/>
                        </a:ext>
                      </a:extLst>
                    </a:gridCol>
                    <a:gridCol w="408045">
                      <a:extLst>
                        <a:ext uri="{9D8B030D-6E8A-4147-A177-3AD203B41FA5}">
                          <a16:colId xmlns:a16="http://schemas.microsoft.com/office/drawing/2014/main" val="2065841117"/>
                        </a:ext>
                      </a:extLst>
                    </a:gridCol>
                    <a:gridCol w="408045">
                      <a:extLst>
                        <a:ext uri="{9D8B030D-6E8A-4147-A177-3AD203B41FA5}">
                          <a16:colId xmlns:a16="http://schemas.microsoft.com/office/drawing/2014/main" val="1756638396"/>
                        </a:ext>
                      </a:extLst>
                    </a:gridCol>
                  </a:tblGrid>
                  <a:tr h="207399">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𝑷</m:t>
                                    </m:r>
                                  </m:e>
                                  <m:sub>
                                    <m:r>
                                      <a:rPr lang="en-US" altLang="zh-CN" sz="1400" b="1" i="1" smtClean="0">
                                        <a:latin typeface="Cambria Math" panose="02040503050406030204" pitchFamily="18" charset="0"/>
                                      </a:rPr>
                                      <m:t>𝟎</m:t>
                                    </m:r>
                                  </m:sub>
                                </m:sSub>
                              </m:oMath>
                            </m:oMathPara>
                          </a14:m>
                          <a:endParaRPr lang="zh-CN" altLang="en-US" sz="1400" dirty="0"/>
                        </a:p>
                      </a:txBody>
                      <a:tcPr/>
                    </a:tc>
                    <a:tc>
                      <a:txBody>
                        <a:bodyPr/>
                        <a:lstStyle/>
                        <a:p>
                          <a:r>
                            <a:rPr lang="en-US" altLang="zh-CN" sz="1400" dirty="0" smtClean="0"/>
                            <a:t>30</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𝑷</m:t>
                                    </m:r>
                                  </m:e>
                                  <m:sub>
                                    <m:r>
                                      <a:rPr lang="en-US" altLang="zh-CN" sz="1400" b="1" i="1" smtClean="0">
                                        <a:latin typeface="Cambria Math" panose="02040503050406030204" pitchFamily="18" charset="0"/>
                                      </a:rPr>
                                      <m:t>𝟏</m:t>
                                    </m:r>
                                  </m:sub>
                                </m:sSub>
                              </m:oMath>
                            </m:oMathPara>
                          </a14:m>
                          <a:endParaRPr lang="zh-CN" altLang="en-US" sz="1400" dirty="0"/>
                        </a:p>
                      </a:txBody>
                      <a:tcPr/>
                    </a:tc>
                    <a:extLst>
                      <a:ext uri="{0D108BD9-81ED-4DB2-BD59-A6C34878D82A}">
                        <a16:rowId xmlns:a16="http://schemas.microsoft.com/office/drawing/2014/main" val="2302541723"/>
                      </a:ext>
                    </a:extLst>
                  </a:tr>
                </a:tbl>
              </a:graphicData>
            </a:graphic>
          </p:graphicFrame>
        </mc:Choice>
        <mc:Fallback xmlns="">
          <p:graphicFrame>
            <p:nvGraphicFramePr>
              <p:cNvPr id="5" name="内容占位符 4"/>
              <p:cNvGraphicFramePr>
                <a:graphicFrameLocks noGrp="1"/>
              </p:cNvGraphicFramePr>
              <p:nvPr>
                <p:ph idx="1"/>
                <p:extLst>
                  <p:ext uri="{D42A27DB-BD31-4B8C-83A1-F6EECF244321}">
                    <p14:modId xmlns:p14="http://schemas.microsoft.com/office/powerpoint/2010/main" val="110509312"/>
                  </p:ext>
                </p:extLst>
              </p:nvPr>
            </p:nvGraphicFramePr>
            <p:xfrm>
              <a:off x="2915816" y="1988840"/>
              <a:ext cx="1224135" cy="304800"/>
            </p:xfrm>
            <a:graphic>
              <a:graphicData uri="http://schemas.openxmlformats.org/drawingml/2006/table">
                <a:tbl>
                  <a:tblPr firstRow="1" bandRow="1">
                    <a:tableStyleId>{5C22544A-7EE6-4342-B048-85BDC9FD1C3A}</a:tableStyleId>
                  </a:tblPr>
                  <a:tblGrid>
                    <a:gridCol w="408045">
                      <a:extLst>
                        <a:ext uri="{9D8B030D-6E8A-4147-A177-3AD203B41FA5}">
                          <a16:colId xmlns:a16="http://schemas.microsoft.com/office/drawing/2014/main" val="2439247418"/>
                        </a:ext>
                      </a:extLst>
                    </a:gridCol>
                    <a:gridCol w="408045">
                      <a:extLst>
                        <a:ext uri="{9D8B030D-6E8A-4147-A177-3AD203B41FA5}">
                          <a16:colId xmlns:a16="http://schemas.microsoft.com/office/drawing/2014/main" val="2065841117"/>
                        </a:ext>
                      </a:extLst>
                    </a:gridCol>
                    <a:gridCol w="408045">
                      <a:extLst>
                        <a:ext uri="{9D8B030D-6E8A-4147-A177-3AD203B41FA5}">
                          <a16:colId xmlns:a16="http://schemas.microsoft.com/office/drawing/2014/main" val="1756638396"/>
                        </a:ext>
                      </a:extLst>
                    </a:gridCol>
                  </a:tblGrid>
                  <a:tr h="304800">
                    <a:tc>
                      <a:txBody>
                        <a:bodyPr/>
                        <a:lstStyle/>
                        <a:p>
                          <a:endParaRPr lang="zh-CN"/>
                        </a:p>
                      </a:txBody>
                      <a:tcPr>
                        <a:blipFill>
                          <a:blip r:embed="rId2"/>
                          <a:stretch>
                            <a:fillRect l="-1493" t="-3922" r="-207463" b="-17647"/>
                          </a:stretch>
                        </a:blipFill>
                      </a:tcPr>
                    </a:tc>
                    <a:tc>
                      <a:txBody>
                        <a:bodyPr/>
                        <a:lstStyle/>
                        <a:p>
                          <a:r>
                            <a:rPr lang="en-US" altLang="zh-CN" sz="1400" dirty="0" smtClean="0"/>
                            <a:t>30</a:t>
                          </a:r>
                          <a:endParaRPr lang="zh-CN" altLang="en-US" sz="1400" dirty="0"/>
                        </a:p>
                      </a:txBody>
                      <a:tcPr>
                        <a:solidFill>
                          <a:schemeClr val="accent5">
                            <a:lumMod val="75000"/>
                          </a:schemeClr>
                        </a:solidFill>
                      </a:tcPr>
                    </a:tc>
                    <a:tc>
                      <a:txBody>
                        <a:bodyPr/>
                        <a:lstStyle/>
                        <a:p>
                          <a:endParaRPr lang="zh-CN"/>
                        </a:p>
                      </a:txBody>
                      <a:tcPr>
                        <a:blipFill>
                          <a:blip r:embed="rId2"/>
                          <a:stretch>
                            <a:fillRect l="-202985" t="-3922" r="-5970" b="-17647"/>
                          </a:stretch>
                        </a:blipFill>
                      </a:tcPr>
                    </a:tc>
                    <a:extLst>
                      <a:ext uri="{0D108BD9-81ED-4DB2-BD59-A6C34878D82A}">
                        <a16:rowId xmlns:a16="http://schemas.microsoft.com/office/drawing/2014/main" val="2302541723"/>
                      </a:ext>
                    </a:extLst>
                  </a:tr>
                </a:tbl>
              </a:graphicData>
            </a:graphic>
          </p:graphicFrame>
        </mc:Fallback>
      </mc:AlternateContent>
      <p:cxnSp>
        <p:nvCxnSpPr>
          <p:cNvPr id="7" name="直接箭头连接符 6"/>
          <p:cNvCxnSpPr/>
          <p:nvPr/>
        </p:nvCxnSpPr>
        <p:spPr>
          <a:xfrm flipH="1">
            <a:off x="2267743" y="2293640"/>
            <a:ext cx="936104" cy="55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3959932" y="2234993"/>
            <a:ext cx="972108" cy="586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1" name="表格 10"/>
              <p:cNvGraphicFramePr>
                <a:graphicFrameLocks noGrp="1"/>
              </p:cNvGraphicFramePr>
              <p:nvPr>
                <p:extLst>
                  <p:ext uri="{D42A27DB-BD31-4B8C-83A1-F6EECF244321}">
                    <p14:modId xmlns:p14="http://schemas.microsoft.com/office/powerpoint/2010/main" val="2180962104"/>
                  </p:ext>
                </p:extLst>
              </p:nvPr>
            </p:nvGraphicFramePr>
            <p:xfrm>
              <a:off x="1111398" y="2858433"/>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15</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dirty="0" smtClean="0"/>
                            <a:t>26</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extLst>
                      <a:ext uri="{0D108BD9-81ED-4DB2-BD59-A6C34878D82A}">
                        <a16:rowId xmlns:a16="http://schemas.microsoft.com/office/drawing/2014/main" val="1349913947"/>
                      </a:ext>
                    </a:extLst>
                  </a:tr>
                </a:tbl>
              </a:graphicData>
            </a:graphic>
          </p:graphicFrame>
        </mc:Choice>
        <mc:Fallback xmlns="">
          <p:graphicFrame>
            <p:nvGraphicFramePr>
              <p:cNvPr id="11" name="表格 10"/>
              <p:cNvGraphicFramePr>
                <a:graphicFrameLocks noGrp="1"/>
              </p:cNvGraphicFramePr>
              <p:nvPr>
                <p:extLst>
                  <p:ext uri="{D42A27DB-BD31-4B8C-83A1-F6EECF244321}">
                    <p14:modId xmlns:p14="http://schemas.microsoft.com/office/powerpoint/2010/main" val="2180962104"/>
                  </p:ext>
                </p:extLst>
              </p:nvPr>
            </p:nvGraphicFramePr>
            <p:xfrm>
              <a:off x="1111398" y="2858433"/>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endParaRPr lang="zh-CN"/>
                        </a:p>
                      </a:txBody>
                      <a:tcPr>
                        <a:blipFill>
                          <a:blip r:embed="rId3"/>
                          <a:stretch>
                            <a:fillRect l="-1471" t="-3448" r="-386765" b="-6897"/>
                          </a:stretch>
                        </a:blipFill>
                      </a:tcPr>
                    </a:tc>
                    <a:tc>
                      <a:txBody>
                        <a:bodyPr/>
                        <a:lstStyle/>
                        <a:p>
                          <a:r>
                            <a:rPr lang="en-US" altLang="zh-CN" sz="1400" dirty="0" smtClean="0"/>
                            <a:t>15</a:t>
                          </a:r>
                          <a:endParaRPr lang="zh-CN" altLang="en-US" sz="1400" dirty="0"/>
                        </a:p>
                      </a:txBody>
                      <a:tcPr>
                        <a:solidFill>
                          <a:schemeClr val="accent5">
                            <a:lumMod val="75000"/>
                          </a:schemeClr>
                        </a:solidFill>
                      </a:tcPr>
                    </a:tc>
                    <a:tc>
                      <a:txBody>
                        <a:bodyPr/>
                        <a:lstStyle/>
                        <a:p>
                          <a:endParaRPr lang="zh-CN"/>
                        </a:p>
                      </a:txBody>
                      <a:tcPr>
                        <a:blipFill>
                          <a:blip r:embed="rId3"/>
                          <a:stretch>
                            <a:fillRect l="-253704" t="-3448" r="-261111" b="-6897"/>
                          </a:stretch>
                        </a:blipFill>
                      </a:tcPr>
                    </a:tc>
                    <a:tc>
                      <a:txBody>
                        <a:bodyPr/>
                        <a:lstStyle/>
                        <a:p>
                          <a:r>
                            <a:rPr lang="en-US" altLang="zh-CN" sz="1400" dirty="0" smtClean="0"/>
                            <a:t>26</a:t>
                          </a:r>
                          <a:endParaRPr lang="zh-CN" altLang="en-US" sz="1400" dirty="0"/>
                        </a:p>
                      </a:txBody>
                      <a:tcPr>
                        <a:solidFill>
                          <a:schemeClr val="accent5">
                            <a:lumMod val="75000"/>
                          </a:schemeClr>
                        </a:solidFill>
                      </a:tcPr>
                    </a:tc>
                    <a:tc>
                      <a:txBody>
                        <a:bodyPr/>
                        <a:lstStyle/>
                        <a:p>
                          <a:endParaRPr lang="zh-CN"/>
                        </a:p>
                      </a:txBody>
                      <a:tcPr>
                        <a:blipFill>
                          <a:blip r:embed="rId3"/>
                          <a:stretch>
                            <a:fillRect l="-420635" t="-3448" r="-6349" b="-6897"/>
                          </a:stretch>
                        </a:blipFill>
                      </a:tcPr>
                    </a:tc>
                    <a:extLst>
                      <a:ext uri="{0D108BD9-81ED-4DB2-BD59-A6C34878D82A}">
                        <a16:rowId xmlns:a16="http://schemas.microsoft.com/office/drawing/2014/main" val="134991394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表格 12"/>
              <p:cNvGraphicFramePr>
                <a:graphicFrameLocks noGrp="1"/>
              </p:cNvGraphicFramePr>
              <p:nvPr>
                <p:extLst>
                  <p:ext uri="{D42A27DB-BD31-4B8C-83A1-F6EECF244321}">
                    <p14:modId xmlns:p14="http://schemas.microsoft.com/office/powerpoint/2010/main" val="1500082542"/>
                  </p:ext>
                </p:extLst>
              </p:nvPr>
            </p:nvGraphicFramePr>
            <p:xfrm>
              <a:off x="4427983" y="2826715"/>
              <a:ext cx="2016224" cy="306176"/>
            </p:xfrm>
            <a:graphic>
              <a:graphicData uri="http://schemas.openxmlformats.org/drawingml/2006/table">
                <a:tbl>
                  <a:tblPr firstRow="1" bandRow="1">
                    <a:tableStyleId>{5C22544A-7EE6-4342-B048-85BDC9FD1C3A}</a:tableStyleId>
                  </a:tblPr>
                  <a:tblGrid>
                    <a:gridCol w="419965">
                      <a:extLst>
                        <a:ext uri="{9D8B030D-6E8A-4147-A177-3AD203B41FA5}">
                          <a16:colId xmlns:a16="http://schemas.microsoft.com/office/drawing/2014/main" val="3845694294"/>
                        </a:ext>
                      </a:extLst>
                    </a:gridCol>
                    <a:gridCol w="419965">
                      <a:extLst>
                        <a:ext uri="{9D8B030D-6E8A-4147-A177-3AD203B41FA5}">
                          <a16:colId xmlns:a16="http://schemas.microsoft.com/office/drawing/2014/main" val="1635966283"/>
                        </a:ext>
                      </a:extLst>
                    </a:gridCol>
                    <a:gridCol w="332376">
                      <a:extLst>
                        <a:ext uri="{9D8B030D-6E8A-4147-A177-3AD203B41FA5}">
                          <a16:colId xmlns:a16="http://schemas.microsoft.com/office/drawing/2014/main" val="2211611616"/>
                        </a:ext>
                      </a:extLst>
                    </a:gridCol>
                    <a:gridCol w="450616">
                      <a:extLst>
                        <a:ext uri="{9D8B030D-6E8A-4147-A177-3AD203B41FA5}">
                          <a16:colId xmlns:a16="http://schemas.microsoft.com/office/drawing/2014/main" val="1591540975"/>
                        </a:ext>
                      </a:extLst>
                    </a:gridCol>
                    <a:gridCol w="393302">
                      <a:extLst>
                        <a:ext uri="{9D8B030D-6E8A-4147-A177-3AD203B41FA5}">
                          <a16:colId xmlns:a16="http://schemas.microsoft.com/office/drawing/2014/main" val="1383541737"/>
                        </a:ext>
                      </a:extLst>
                    </a:gridCol>
                  </a:tblGrid>
                  <a:tr h="306176">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39</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dirty="0" smtClean="0"/>
                            <a:t>45</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extLst>
                      <a:ext uri="{0D108BD9-81ED-4DB2-BD59-A6C34878D82A}">
                        <a16:rowId xmlns:a16="http://schemas.microsoft.com/office/drawing/2014/main" val="1349913947"/>
                      </a:ext>
                    </a:extLst>
                  </a:tr>
                </a:tbl>
              </a:graphicData>
            </a:graphic>
          </p:graphicFrame>
        </mc:Choice>
        <mc:Fallback xmlns="">
          <p:graphicFrame>
            <p:nvGraphicFramePr>
              <p:cNvPr id="13" name="表格 12"/>
              <p:cNvGraphicFramePr>
                <a:graphicFrameLocks noGrp="1"/>
              </p:cNvGraphicFramePr>
              <p:nvPr>
                <p:extLst>
                  <p:ext uri="{D42A27DB-BD31-4B8C-83A1-F6EECF244321}">
                    <p14:modId xmlns:p14="http://schemas.microsoft.com/office/powerpoint/2010/main" val="1500082542"/>
                  </p:ext>
                </p:extLst>
              </p:nvPr>
            </p:nvGraphicFramePr>
            <p:xfrm>
              <a:off x="4427983" y="2826715"/>
              <a:ext cx="2016224" cy="306176"/>
            </p:xfrm>
            <a:graphic>
              <a:graphicData uri="http://schemas.openxmlformats.org/drawingml/2006/table">
                <a:tbl>
                  <a:tblPr firstRow="1" bandRow="1">
                    <a:tableStyleId>{5C22544A-7EE6-4342-B048-85BDC9FD1C3A}</a:tableStyleId>
                  </a:tblPr>
                  <a:tblGrid>
                    <a:gridCol w="419965">
                      <a:extLst>
                        <a:ext uri="{9D8B030D-6E8A-4147-A177-3AD203B41FA5}">
                          <a16:colId xmlns:a16="http://schemas.microsoft.com/office/drawing/2014/main" val="3845694294"/>
                        </a:ext>
                      </a:extLst>
                    </a:gridCol>
                    <a:gridCol w="419965">
                      <a:extLst>
                        <a:ext uri="{9D8B030D-6E8A-4147-A177-3AD203B41FA5}">
                          <a16:colId xmlns:a16="http://schemas.microsoft.com/office/drawing/2014/main" val="1635966283"/>
                        </a:ext>
                      </a:extLst>
                    </a:gridCol>
                    <a:gridCol w="332376">
                      <a:extLst>
                        <a:ext uri="{9D8B030D-6E8A-4147-A177-3AD203B41FA5}">
                          <a16:colId xmlns:a16="http://schemas.microsoft.com/office/drawing/2014/main" val="2211611616"/>
                        </a:ext>
                      </a:extLst>
                    </a:gridCol>
                    <a:gridCol w="450616">
                      <a:extLst>
                        <a:ext uri="{9D8B030D-6E8A-4147-A177-3AD203B41FA5}">
                          <a16:colId xmlns:a16="http://schemas.microsoft.com/office/drawing/2014/main" val="1591540975"/>
                        </a:ext>
                      </a:extLst>
                    </a:gridCol>
                    <a:gridCol w="393302">
                      <a:extLst>
                        <a:ext uri="{9D8B030D-6E8A-4147-A177-3AD203B41FA5}">
                          <a16:colId xmlns:a16="http://schemas.microsoft.com/office/drawing/2014/main" val="1383541737"/>
                        </a:ext>
                      </a:extLst>
                    </a:gridCol>
                  </a:tblGrid>
                  <a:tr h="306176">
                    <a:tc>
                      <a:txBody>
                        <a:bodyPr/>
                        <a:lstStyle/>
                        <a:p>
                          <a:endParaRPr lang="zh-CN"/>
                        </a:p>
                      </a:txBody>
                      <a:tcPr>
                        <a:blipFill>
                          <a:blip r:embed="rId4"/>
                          <a:stretch>
                            <a:fillRect l="-1449" t="-3922" r="-386957" b="-17647"/>
                          </a:stretch>
                        </a:blipFill>
                      </a:tcPr>
                    </a:tc>
                    <a:tc>
                      <a:txBody>
                        <a:bodyPr/>
                        <a:lstStyle/>
                        <a:p>
                          <a:r>
                            <a:rPr lang="en-US" altLang="zh-CN" sz="1400" dirty="0" smtClean="0"/>
                            <a:t>39</a:t>
                          </a:r>
                          <a:endParaRPr lang="zh-CN" altLang="en-US" sz="1400" dirty="0"/>
                        </a:p>
                      </a:txBody>
                      <a:tcPr>
                        <a:solidFill>
                          <a:schemeClr val="accent5">
                            <a:lumMod val="75000"/>
                          </a:schemeClr>
                        </a:solidFill>
                      </a:tcPr>
                    </a:tc>
                    <a:tc>
                      <a:txBody>
                        <a:bodyPr/>
                        <a:lstStyle/>
                        <a:p>
                          <a:endParaRPr lang="zh-CN"/>
                        </a:p>
                      </a:txBody>
                      <a:tcPr>
                        <a:blipFill>
                          <a:blip r:embed="rId4"/>
                          <a:stretch>
                            <a:fillRect l="-252727" t="-3922" r="-260000" b="-17647"/>
                          </a:stretch>
                        </a:blipFill>
                      </a:tcPr>
                    </a:tc>
                    <a:tc>
                      <a:txBody>
                        <a:bodyPr/>
                        <a:lstStyle/>
                        <a:p>
                          <a:r>
                            <a:rPr lang="en-US" altLang="zh-CN" sz="1400" dirty="0" smtClean="0"/>
                            <a:t>45</a:t>
                          </a:r>
                          <a:endParaRPr lang="zh-CN" altLang="en-US" sz="1400" dirty="0"/>
                        </a:p>
                      </a:txBody>
                      <a:tcPr>
                        <a:solidFill>
                          <a:schemeClr val="accent5">
                            <a:lumMod val="75000"/>
                          </a:schemeClr>
                        </a:solidFill>
                      </a:tcPr>
                    </a:tc>
                    <a:tc>
                      <a:txBody>
                        <a:bodyPr/>
                        <a:lstStyle/>
                        <a:p>
                          <a:endParaRPr lang="zh-CN"/>
                        </a:p>
                      </a:txBody>
                      <a:tcPr>
                        <a:blipFill>
                          <a:blip r:embed="rId4"/>
                          <a:stretch>
                            <a:fillRect l="-412308" t="-3922" r="-6154" b="-17647"/>
                          </a:stretch>
                        </a:blipFill>
                      </a:tcPr>
                    </a:tc>
                    <a:extLst>
                      <a:ext uri="{0D108BD9-81ED-4DB2-BD59-A6C34878D82A}">
                        <a16:rowId xmlns:a16="http://schemas.microsoft.com/office/drawing/2014/main" val="1349913947"/>
                      </a:ext>
                    </a:extLst>
                  </a:tr>
                </a:tbl>
              </a:graphicData>
            </a:graphic>
          </p:graphicFrame>
        </mc:Fallback>
      </mc:AlternateContent>
      <p:cxnSp>
        <p:nvCxnSpPr>
          <p:cNvPr id="16" name="直接箭头连接符 15"/>
          <p:cNvCxnSpPr/>
          <p:nvPr/>
        </p:nvCxnSpPr>
        <p:spPr>
          <a:xfrm>
            <a:off x="6300191" y="3138439"/>
            <a:ext cx="576064" cy="611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5220071" y="3132891"/>
            <a:ext cx="216026" cy="576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611559" y="3204898"/>
            <a:ext cx="648072" cy="434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2123727" y="3204898"/>
            <a:ext cx="4218" cy="100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915816" y="3204898"/>
            <a:ext cx="72007" cy="54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1" name="表格 30"/>
              <p:cNvGraphicFramePr>
                <a:graphicFrameLocks noGrp="1"/>
              </p:cNvGraphicFramePr>
              <p:nvPr>
                <p:extLst>
                  <p:ext uri="{D42A27DB-BD31-4B8C-83A1-F6EECF244321}">
                    <p14:modId xmlns:p14="http://schemas.microsoft.com/office/powerpoint/2010/main" val="2417708141"/>
                  </p:ext>
                </p:extLst>
              </p:nvPr>
            </p:nvGraphicFramePr>
            <p:xfrm>
              <a:off x="5753054" y="3760223"/>
              <a:ext cx="3030905" cy="304800"/>
            </p:xfrm>
            <a:graphic>
              <a:graphicData uri="http://schemas.openxmlformats.org/drawingml/2006/table">
                <a:tbl>
                  <a:tblPr firstRow="1" bandRow="1">
                    <a:tableStyleId>{5C22544A-7EE6-4342-B048-85BDC9FD1C3A}</a:tableStyleId>
                  </a:tblPr>
                  <a:tblGrid>
                    <a:gridCol w="573124">
                      <a:extLst>
                        <a:ext uri="{9D8B030D-6E8A-4147-A177-3AD203B41FA5}">
                          <a16:colId xmlns:a16="http://schemas.microsoft.com/office/drawing/2014/main" val="1587765914"/>
                        </a:ext>
                      </a:extLst>
                    </a:gridCol>
                    <a:gridCol w="439580">
                      <a:extLst>
                        <a:ext uri="{9D8B030D-6E8A-4147-A177-3AD203B41FA5}">
                          <a16:colId xmlns:a16="http://schemas.microsoft.com/office/drawing/2014/main" val="4129518968"/>
                        </a:ext>
                      </a:extLst>
                    </a:gridCol>
                    <a:gridCol w="396652">
                      <a:extLst>
                        <a:ext uri="{9D8B030D-6E8A-4147-A177-3AD203B41FA5}">
                          <a16:colId xmlns:a16="http://schemas.microsoft.com/office/drawing/2014/main" val="3787641013"/>
                        </a:ext>
                      </a:extLst>
                    </a:gridCol>
                    <a:gridCol w="396652">
                      <a:extLst>
                        <a:ext uri="{9D8B030D-6E8A-4147-A177-3AD203B41FA5}">
                          <a16:colId xmlns:a16="http://schemas.microsoft.com/office/drawing/2014/main" val="1896097849"/>
                        </a:ext>
                      </a:extLst>
                    </a:gridCol>
                    <a:gridCol w="367371">
                      <a:extLst>
                        <a:ext uri="{9D8B030D-6E8A-4147-A177-3AD203B41FA5}">
                          <a16:colId xmlns:a16="http://schemas.microsoft.com/office/drawing/2014/main" val="3728772354"/>
                        </a:ext>
                      </a:extLst>
                    </a:gridCol>
                    <a:gridCol w="428763">
                      <a:extLst>
                        <a:ext uri="{9D8B030D-6E8A-4147-A177-3AD203B41FA5}">
                          <a16:colId xmlns:a16="http://schemas.microsoft.com/office/drawing/2014/main" val="45157070"/>
                        </a:ext>
                      </a:extLst>
                    </a:gridCol>
                    <a:gridCol w="428763">
                      <a:extLst>
                        <a:ext uri="{9D8B030D-6E8A-4147-A177-3AD203B41FA5}">
                          <a16:colId xmlns:a16="http://schemas.microsoft.com/office/drawing/2014/main" val="1746043367"/>
                        </a:ext>
                      </a:extLst>
                    </a:gridCol>
                  </a:tblGrid>
                  <a:tr h="288033">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47</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smtClean="0"/>
                            <a:t>48</a:t>
                          </a:r>
                          <a:endParaRPr lang="zh-CN" altLang="en-US" sz="140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tc>
                      <a:txBody>
                        <a:bodyPr/>
                        <a:lstStyle/>
                        <a:p>
                          <a:r>
                            <a:rPr lang="en-US" altLang="zh-CN" sz="1400" dirty="0" smtClean="0"/>
                            <a:t>52</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𝟑</m:t>
                                    </m:r>
                                  </m:sub>
                                </m:sSub>
                              </m:oMath>
                            </m:oMathPara>
                          </a14:m>
                          <a:endParaRPr lang="zh-CN" altLang="en-US" sz="1400" dirty="0"/>
                        </a:p>
                      </a:txBody>
                      <a:tcPr/>
                    </a:tc>
                    <a:extLst>
                      <a:ext uri="{0D108BD9-81ED-4DB2-BD59-A6C34878D82A}">
                        <a16:rowId xmlns:a16="http://schemas.microsoft.com/office/drawing/2014/main" val="574048744"/>
                      </a:ext>
                    </a:extLst>
                  </a:tr>
                </a:tbl>
              </a:graphicData>
            </a:graphic>
          </p:graphicFrame>
        </mc:Choice>
        <mc:Fallback xmlns="">
          <p:graphicFrame>
            <p:nvGraphicFramePr>
              <p:cNvPr id="31" name="表格 30"/>
              <p:cNvGraphicFramePr>
                <a:graphicFrameLocks noGrp="1"/>
              </p:cNvGraphicFramePr>
              <p:nvPr>
                <p:extLst>
                  <p:ext uri="{D42A27DB-BD31-4B8C-83A1-F6EECF244321}">
                    <p14:modId xmlns:p14="http://schemas.microsoft.com/office/powerpoint/2010/main" val="2417708141"/>
                  </p:ext>
                </p:extLst>
              </p:nvPr>
            </p:nvGraphicFramePr>
            <p:xfrm>
              <a:off x="5753054" y="3760223"/>
              <a:ext cx="3030905" cy="304800"/>
            </p:xfrm>
            <a:graphic>
              <a:graphicData uri="http://schemas.openxmlformats.org/drawingml/2006/table">
                <a:tbl>
                  <a:tblPr firstRow="1" bandRow="1">
                    <a:tableStyleId>{5C22544A-7EE6-4342-B048-85BDC9FD1C3A}</a:tableStyleId>
                  </a:tblPr>
                  <a:tblGrid>
                    <a:gridCol w="573124">
                      <a:extLst>
                        <a:ext uri="{9D8B030D-6E8A-4147-A177-3AD203B41FA5}">
                          <a16:colId xmlns:a16="http://schemas.microsoft.com/office/drawing/2014/main" val="1587765914"/>
                        </a:ext>
                      </a:extLst>
                    </a:gridCol>
                    <a:gridCol w="439580">
                      <a:extLst>
                        <a:ext uri="{9D8B030D-6E8A-4147-A177-3AD203B41FA5}">
                          <a16:colId xmlns:a16="http://schemas.microsoft.com/office/drawing/2014/main" val="4129518968"/>
                        </a:ext>
                      </a:extLst>
                    </a:gridCol>
                    <a:gridCol w="396652">
                      <a:extLst>
                        <a:ext uri="{9D8B030D-6E8A-4147-A177-3AD203B41FA5}">
                          <a16:colId xmlns:a16="http://schemas.microsoft.com/office/drawing/2014/main" val="3787641013"/>
                        </a:ext>
                      </a:extLst>
                    </a:gridCol>
                    <a:gridCol w="396652">
                      <a:extLst>
                        <a:ext uri="{9D8B030D-6E8A-4147-A177-3AD203B41FA5}">
                          <a16:colId xmlns:a16="http://schemas.microsoft.com/office/drawing/2014/main" val="1896097849"/>
                        </a:ext>
                      </a:extLst>
                    </a:gridCol>
                    <a:gridCol w="367371">
                      <a:extLst>
                        <a:ext uri="{9D8B030D-6E8A-4147-A177-3AD203B41FA5}">
                          <a16:colId xmlns:a16="http://schemas.microsoft.com/office/drawing/2014/main" val="3728772354"/>
                        </a:ext>
                      </a:extLst>
                    </a:gridCol>
                    <a:gridCol w="428763">
                      <a:extLst>
                        <a:ext uri="{9D8B030D-6E8A-4147-A177-3AD203B41FA5}">
                          <a16:colId xmlns:a16="http://schemas.microsoft.com/office/drawing/2014/main" val="45157070"/>
                        </a:ext>
                      </a:extLst>
                    </a:gridCol>
                    <a:gridCol w="428763">
                      <a:extLst>
                        <a:ext uri="{9D8B030D-6E8A-4147-A177-3AD203B41FA5}">
                          <a16:colId xmlns:a16="http://schemas.microsoft.com/office/drawing/2014/main" val="1746043367"/>
                        </a:ext>
                      </a:extLst>
                    </a:gridCol>
                  </a:tblGrid>
                  <a:tr h="304800">
                    <a:tc>
                      <a:txBody>
                        <a:bodyPr/>
                        <a:lstStyle/>
                        <a:p>
                          <a:endParaRPr lang="zh-CN"/>
                        </a:p>
                      </a:txBody>
                      <a:tcPr>
                        <a:blipFill>
                          <a:blip r:embed="rId5"/>
                          <a:stretch>
                            <a:fillRect l="-1064" t="-3922" r="-435106" b="-17647"/>
                          </a:stretch>
                        </a:blipFill>
                      </a:tcPr>
                    </a:tc>
                    <a:tc>
                      <a:txBody>
                        <a:bodyPr/>
                        <a:lstStyle/>
                        <a:p>
                          <a:r>
                            <a:rPr lang="en-US" altLang="zh-CN" sz="1400" dirty="0" smtClean="0"/>
                            <a:t>47</a:t>
                          </a:r>
                          <a:endParaRPr lang="zh-CN" altLang="en-US" sz="1400" dirty="0"/>
                        </a:p>
                      </a:txBody>
                      <a:tcPr>
                        <a:solidFill>
                          <a:schemeClr val="accent5">
                            <a:lumMod val="75000"/>
                          </a:schemeClr>
                        </a:solidFill>
                      </a:tcPr>
                    </a:tc>
                    <a:tc>
                      <a:txBody>
                        <a:bodyPr/>
                        <a:lstStyle/>
                        <a:p>
                          <a:endParaRPr lang="zh-CN"/>
                        </a:p>
                      </a:txBody>
                      <a:tcPr>
                        <a:blipFill>
                          <a:blip r:embed="rId5"/>
                          <a:stretch>
                            <a:fillRect l="-253030" t="-3922" r="-410606" b="-17647"/>
                          </a:stretch>
                        </a:blipFill>
                      </a:tcPr>
                    </a:tc>
                    <a:tc>
                      <a:txBody>
                        <a:bodyPr/>
                        <a:lstStyle/>
                        <a:p>
                          <a:r>
                            <a:rPr lang="en-US" altLang="zh-CN" sz="1400" smtClean="0"/>
                            <a:t>48</a:t>
                          </a:r>
                          <a:endParaRPr lang="zh-CN" altLang="en-US" sz="1400"/>
                        </a:p>
                      </a:txBody>
                      <a:tcPr>
                        <a:solidFill>
                          <a:schemeClr val="accent5">
                            <a:lumMod val="75000"/>
                          </a:schemeClr>
                        </a:solidFill>
                      </a:tcPr>
                    </a:tc>
                    <a:tc>
                      <a:txBody>
                        <a:bodyPr/>
                        <a:lstStyle/>
                        <a:p>
                          <a:endParaRPr lang="zh-CN"/>
                        </a:p>
                      </a:txBody>
                      <a:tcPr>
                        <a:blipFill>
                          <a:blip r:embed="rId5"/>
                          <a:stretch>
                            <a:fillRect l="-496667" t="-3922" r="-243333" b="-17647"/>
                          </a:stretch>
                        </a:blipFill>
                      </a:tcPr>
                    </a:tc>
                    <a:tc>
                      <a:txBody>
                        <a:bodyPr/>
                        <a:lstStyle/>
                        <a:p>
                          <a:r>
                            <a:rPr lang="en-US" altLang="zh-CN" sz="1400" dirty="0" smtClean="0"/>
                            <a:t>52</a:t>
                          </a:r>
                          <a:endParaRPr lang="zh-CN" altLang="en-US" sz="1400" dirty="0"/>
                        </a:p>
                      </a:txBody>
                      <a:tcPr>
                        <a:solidFill>
                          <a:schemeClr val="accent5">
                            <a:lumMod val="75000"/>
                          </a:schemeClr>
                        </a:solidFill>
                      </a:tcPr>
                    </a:tc>
                    <a:tc>
                      <a:txBody>
                        <a:bodyPr/>
                        <a:lstStyle/>
                        <a:p>
                          <a:endParaRPr lang="zh-CN"/>
                        </a:p>
                      </a:txBody>
                      <a:tcPr>
                        <a:blipFill>
                          <a:blip r:embed="rId5"/>
                          <a:stretch>
                            <a:fillRect l="-612857" t="-3922" r="-7143" b="-17647"/>
                          </a:stretch>
                        </a:blipFill>
                      </a:tcPr>
                    </a:tc>
                    <a:extLst>
                      <a:ext uri="{0D108BD9-81ED-4DB2-BD59-A6C34878D82A}">
                        <a16:rowId xmlns:a16="http://schemas.microsoft.com/office/drawing/2014/main" val="57404874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9" name="表格 48"/>
              <p:cNvGraphicFramePr>
                <a:graphicFrameLocks noGrp="1"/>
              </p:cNvGraphicFramePr>
              <p:nvPr>
                <p:extLst>
                  <p:ext uri="{D42A27DB-BD31-4B8C-83A1-F6EECF244321}">
                    <p14:modId xmlns:p14="http://schemas.microsoft.com/office/powerpoint/2010/main" val="2470033156"/>
                  </p:ext>
                </p:extLst>
              </p:nvPr>
            </p:nvGraphicFramePr>
            <p:xfrm>
              <a:off x="1111398" y="4223727"/>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𝟎</m:t>
                                    </m:r>
                                  </m:sub>
                                </m:sSub>
                              </m:oMath>
                            </m:oMathPara>
                          </a14:m>
                          <a:endParaRPr lang="zh-CN" altLang="en-US" sz="1400" dirty="0"/>
                        </a:p>
                      </a:txBody>
                      <a:tcPr/>
                    </a:tc>
                    <a:tc>
                      <a:txBody>
                        <a:bodyPr/>
                        <a:lstStyle/>
                        <a:p>
                          <a:r>
                            <a:rPr lang="en-US" altLang="zh-CN" sz="1400" dirty="0" smtClean="0"/>
                            <a:t>22</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𝟏</m:t>
                                    </m:r>
                                  </m:sub>
                                </m:sSub>
                              </m:oMath>
                            </m:oMathPara>
                          </a14:m>
                          <a:endParaRPr lang="zh-CN" altLang="en-US" sz="1400" dirty="0"/>
                        </a:p>
                      </a:txBody>
                      <a:tcPr/>
                    </a:tc>
                    <a:tc>
                      <a:txBody>
                        <a:bodyPr/>
                        <a:lstStyle/>
                        <a:p>
                          <a:r>
                            <a:rPr lang="en-US" altLang="zh-CN" sz="1400" dirty="0" smtClean="0"/>
                            <a:t>25</a:t>
                          </a:r>
                          <a:endParaRPr lang="zh-CN" altLang="en-US" sz="1400" dirty="0"/>
                        </a:p>
                      </a:txBody>
                      <a:tcPr>
                        <a:solidFill>
                          <a:schemeClr val="accent5">
                            <a:lumMod val="7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bPr>
                                  <m:e>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𝑷</m:t>
                                    </m:r>
                                  </m:e>
                                  <m:sub>
                                    <m:r>
                                      <a:rPr kumimoji="0" lang="en-US" altLang="zh-CN" sz="1400" b="1" i="1" u="none" strike="noStrike" kern="1200" cap="none" spc="0" normalizeH="0" baseline="0" noProof="0" smtClean="0">
                                        <a:ln>
                                          <a:noFill/>
                                        </a:ln>
                                        <a:solidFill>
                                          <a:prstClr val="white"/>
                                        </a:solidFill>
                                        <a:effectLst/>
                                        <a:uLnTx/>
                                        <a:uFillTx/>
                                        <a:latin typeface="Cambria Math" panose="02040503050406030204" pitchFamily="18" charset="0"/>
                                        <a:cs typeface="+mn-cs"/>
                                      </a:rPr>
                                      <m:t>𝟐</m:t>
                                    </m:r>
                                  </m:sub>
                                </m:sSub>
                              </m:oMath>
                            </m:oMathPara>
                          </a14:m>
                          <a:endParaRPr lang="zh-CN" altLang="en-US" sz="1400" dirty="0"/>
                        </a:p>
                      </a:txBody>
                      <a:tcPr/>
                    </a:tc>
                    <a:extLst>
                      <a:ext uri="{0D108BD9-81ED-4DB2-BD59-A6C34878D82A}">
                        <a16:rowId xmlns:a16="http://schemas.microsoft.com/office/drawing/2014/main" val="1349913947"/>
                      </a:ext>
                    </a:extLst>
                  </a:tr>
                </a:tbl>
              </a:graphicData>
            </a:graphic>
          </p:graphicFrame>
        </mc:Choice>
        <mc:Fallback xmlns="">
          <p:graphicFrame>
            <p:nvGraphicFramePr>
              <p:cNvPr id="49" name="表格 48"/>
              <p:cNvGraphicFramePr>
                <a:graphicFrameLocks noGrp="1"/>
              </p:cNvGraphicFramePr>
              <p:nvPr>
                <p:extLst>
                  <p:ext uri="{D42A27DB-BD31-4B8C-83A1-F6EECF244321}">
                    <p14:modId xmlns:p14="http://schemas.microsoft.com/office/powerpoint/2010/main" val="2470033156"/>
                  </p:ext>
                </p:extLst>
              </p:nvPr>
            </p:nvGraphicFramePr>
            <p:xfrm>
              <a:off x="1111398" y="4223727"/>
              <a:ext cx="1986546" cy="346465"/>
            </p:xfrm>
            <a:graphic>
              <a:graphicData uri="http://schemas.openxmlformats.org/drawingml/2006/table">
                <a:tbl>
                  <a:tblPr firstRow="1" bandRow="1">
                    <a:tableStyleId>{5C22544A-7EE6-4342-B048-85BDC9FD1C3A}</a:tableStyleId>
                  </a:tblPr>
                  <a:tblGrid>
                    <a:gridCol w="413783">
                      <a:extLst>
                        <a:ext uri="{9D8B030D-6E8A-4147-A177-3AD203B41FA5}">
                          <a16:colId xmlns:a16="http://schemas.microsoft.com/office/drawing/2014/main" val="3845694294"/>
                        </a:ext>
                      </a:extLst>
                    </a:gridCol>
                    <a:gridCol w="413783">
                      <a:extLst>
                        <a:ext uri="{9D8B030D-6E8A-4147-A177-3AD203B41FA5}">
                          <a16:colId xmlns:a16="http://schemas.microsoft.com/office/drawing/2014/main" val="1635966283"/>
                        </a:ext>
                      </a:extLst>
                    </a:gridCol>
                    <a:gridCol w="327484">
                      <a:extLst>
                        <a:ext uri="{9D8B030D-6E8A-4147-A177-3AD203B41FA5}">
                          <a16:colId xmlns:a16="http://schemas.microsoft.com/office/drawing/2014/main" val="2211611616"/>
                        </a:ext>
                      </a:extLst>
                    </a:gridCol>
                    <a:gridCol w="447729">
                      <a:extLst>
                        <a:ext uri="{9D8B030D-6E8A-4147-A177-3AD203B41FA5}">
                          <a16:colId xmlns:a16="http://schemas.microsoft.com/office/drawing/2014/main" val="1591540975"/>
                        </a:ext>
                      </a:extLst>
                    </a:gridCol>
                    <a:gridCol w="383767">
                      <a:extLst>
                        <a:ext uri="{9D8B030D-6E8A-4147-A177-3AD203B41FA5}">
                          <a16:colId xmlns:a16="http://schemas.microsoft.com/office/drawing/2014/main" val="1383541737"/>
                        </a:ext>
                      </a:extLst>
                    </a:gridCol>
                  </a:tblGrid>
                  <a:tr h="346465">
                    <a:tc>
                      <a:txBody>
                        <a:bodyPr/>
                        <a:lstStyle/>
                        <a:p>
                          <a:endParaRPr lang="zh-CN"/>
                        </a:p>
                      </a:txBody>
                      <a:tcPr>
                        <a:blipFill>
                          <a:blip r:embed="rId6"/>
                          <a:stretch>
                            <a:fillRect l="-1471" t="-3448" r="-386765" b="-6897"/>
                          </a:stretch>
                        </a:blipFill>
                      </a:tcPr>
                    </a:tc>
                    <a:tc>
                      <a:txBody>
                        <a:bodyPr/>
                        <a:lstStyle/>
                        <a:p>
                          <a:r>
                            <a:rPr lang="en-US" altLang="zh-CN" sz="1400" dirty="0" smtClean="0"/>
                            <a:t>22</a:t>
                          </a:r>
                          <a:endParaRPr lang="zh-CN" altLang="en-US" sz="1400" dirty="0"/>
                        </a:p>
                      </a:txBody>
                      <a:tcPr>
                        <a:solidFill>
                          <a:schemeClr val="accent5">
                            <a:lumMod val="75000"/>
                          </a:schemeClr>
                        </a:solidFill>
                      </a:tcPr>
                    </a:tc>
                    <a:tc>
                      <a:txBody>
                        <a:bodyPr/>
                        <a:lstStyle/>
                        <a:p>
                          <a:endParaRPr lang="zh-CN"/>
                        </a:p>
                      </a:txBody>
                      <a:tcPr>
                        <a:blipFill>
                          <a:blip r:embed="rId6"/>
                          <a:stretch>
                            <a:fillRect l="-253704" t="-3448" r="-261111" b="-6897"/>
                          </a:stretch>
                        </a:blipFill>
                      </a:tcPr>
                    </a:tc>
                    <a:tc>
                      <a:txBody>
                        <a:bodyPr/>
                        <a:lstStyle/>
                        <a:p>
                          <a:r>
                            <a:rPr lang="en-US" altLang="zh-CN" sz="1400" dirty="0" smtClean="0"/>
                            <a:t>25</a:t>
                          </a:r>
                          <a:endParaRPr lang="zh-CN" altLang="en-US" sz="1400" dirty="0"/>
                        </a:p>
                      </a:txBody>
                      <a:tcPr>
                        <a:solidFill>
                          <a:schemeClr val="accent5">
                            <a:lumMod val="75000"/>
                          </a:schemeClr>
                        </a:solidFill>
                      </a:tcPr>
                    </a:tc>
                    <a:tc>
                      <a:txBody>
                        <a:bodyPr/>
                        <a:lstStyle/>
                        <a:p>
                          <a:endParaRPr lang="zh-CN"/>
                        </a:p>
                      </a:txBody>
                      <a:tcPr>
                        <a:blipFill>
                          <a:blip r:embed="rId6"/>
                          <a:stretch>
                            <a:fillRect l="-420635" t="-3448" r="-6349" b="-6897"/>
                          </a:stretch>
                        </a:blipFill>
                      </a:tcPr>
                    </a:tc>
                    <a:extLst>
                      <a:ext uri="{0D108BD9-81ED-4DB2-BD59-A6C34878D82A}">
                        <a16:rowId xmlns:a16="http://schemas.microsoft.com/office/drawing/2014/main" val="1349913947"/>
                      </a:ext>
                    </a:extLst>
                  </a:tr>
                </a:tbl>
              </a:graphicData>
            </a:graphic>
          </p:graphicFrame>
        </mc:Fallback>
      </mc:AlternateContent>
      <p:cxnSp>
        <p:nvCxnSpPr>
          <p:cNvPr id="53" name="直接箭头连接符 52"/>
          <p:cNvCxnSpPr/>
          <p:nvPr/>
        </p:nvCxnSpPr>
        <p:spPr>
          <a:xfrm flipH="1">
            <a:off x="4211959" y="3132891"/>
            <a:ext cx="434156" cy="617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标题 1"/>
          <p:cNvSpPr txBox="1">
            <a:spLocks/>
          </p:cNvSpPr>
          <p:nvPr/>
        </p:nvSpPr>
        <p:spPr>
          <a:xfrm>
            <a:off x="539552" y="330766"/>
            <a:ext cx="8229600" cy="1143000"/>
          </a:xfrm>
          <a:prstGeom prst="rect">
            <a:avLst/>
          </a:prstGeom>
        </p:spPr>
        <p:txBody>
          <a:bodyPr vert="horz" rtlCol="0" anchor="ctr">
            <a:norm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r>
              <a:rPr lang="zh-CN" altLang="en-US" b="1" smtClean="0"/>
              <a:t>三、索引</a:t>
            </a:r>
            <a:r>
              <a:rPr lang="en-US" b="1" smtClean="0"/>
              <a:t>B-Tree</a:t>
            </a:r>
            <a:r>
              <a:rPr lang="zh-CN" altLang="en-US" b="1" smtClean="0"/>
              <a:t>和</a:t>
            </a:r>
            <a:r>
              <a:rPr lang="en-US" b="1" smtClean="0"/>
              <a:t>B+Tree</a:t>
            </a:r>
            <a:endParaRPr lang="en-US" b="1" dirty="0" smtClean="0"/>
          </a:p>
        </p:txBody>
      </p:sp>
    </p:spTree>
    <p:extLst>
      <p:ext uri="{BB962C8B-B14F-4D97-AF65-F5344CB8AC3E}">
        <p14:creationId xmlns:p14="http://schemas.microsoft.com/office/powerpoint/2010/main" val="205490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smtClean="0"/>
              <a:t>三、索引</a:t>
            </a:r>
            <a:r>
              <a:rPr lang="en-US" b="1" dirty="0" smtClean="0"/>
              <a:t>B-Tree</a:t>
            </a:r>
            <a:r>
              <a:rPr lang="zh-CN" altLang="en-US" b="1" dirty="0" smtClean="0"/>
              <a:t>和</a:t>
            </a:r>
            <a:r>
              <a:rPr lang="en-US" b="1" dirty="0" err="1" smtClean="0"/>
              <a:t>B+Tree</a:t>
            </a:r>
            <a:endParaRPr lang="en-US" b="1" dirty="0" smtClean="0"/>
          </a:p>
        </p:txBody>
      </p:sp>
      <p:sp>
        <p:nvSpPr>
          <p:cNvPr id="3" name="内容占位符 2"/>
          <p:cNvSpPr>
            <a:spLocks noGrp="1"/>
          </p:cNvSpPr>
          <p:nvPr>
            <p:ph idx="1"/>
          </p:nvPr>
        </p:nvSpPr>
        <p:spPr>
          <a:xfrm>
            <a:off x="446808" y="1261757"/>
            <a:ext cx="8229600" cy="4525963"/>
          </a:xfrm>
        </p:spPr>
        <p:txBody>
          <a:bodyPr>
            <a:normAutofit/>
          </a:bodyPr>
          <a:lstStyle/>
          <a:p>
            <a:pPr latinLnBrk="1"/>
            <a:r>
              <a:rPr lang="zh-CN" altLang="en-US" sz="2800" dirty="0" smtClean="0"/>
              <a:t>系统从磁盘读取数据到内存时是以页基本单位的，位于同一个磁盘块（即一页）的数据会被一次性读取出</a:t>
            </a:r>
            <a:r>
              <a:rPr lang="zh-CN" altLang="en-US" sz="2800" smtClean="0"/>
              <a:t>来。</a:t>
            </a:r>
            <a:endParaRPr lang="en-US" altLang="zh-CN" sz="2800" smtClean="0"/>
          </a:p>
          <a:p>
            <a:pPr latinLnBrk="1"/>
            <a:endParaRPr lang="zh-CN" altLang="en-US" sz="2800" dirty="0" smtClean="0"/>
          </a:p>
          <a:p>
            <a:pPr latinLnBrk="1"/>
            <a:r>
              <a:rPr lang="zh-CN" altLang="en-US" sz="2800" dirty="0" smtClean="0"/>
              <a:t>因此索引</a:t>
            </a:r>
            <a:r>
              <a:rPr lang="en-US" altLang="zh-CN" sz="2800" dirty="0"/>
              <a:t>B-Tree</a:t>
            </a:r>
            <a:r>
              <a:rPr lang="zh-CN" altLang="en-US" sz="2800" dirty="0" smtClean="0"/>
              <a:t>每个结点占用一页的存储空间，每次申请结点时，直接申请一个页的存储空间。这样可以让系统更高效的找到数</a:t>
            </a:r>
            <a:r>
              <a:rPr lang="zh-CN" altLang="en-US" sz="2800" smtClean="0"/>
              <a:t>据。</a:t>
            </a:r>
            <a:endParaRPr lang="en-US" altLang="zh-CN"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B-TREE</a:t>
            </a:r>
            <a:r>
              <a:rPr lang="zh-CN" altLang="en-US" smtClean="0"/>
              <a:t>的一个结点</a:t>
            </a:r>
            <a:endParaRPr lang="zh-CN" altLang="en-US"/>
          </a:p>
        </p:txBody>
      </p:sp>
      <p:pic>
        <p:nvPicPr>
          <p:cNvPr id="4" name="图片 3"/>
          <p:cNvPicPr>
            <a:picLocks noChangeAspect="1"/>
          </p:cNvPicPr>
          <p:nvPr/>
        </p:nvPicPr>
        <p:blipFill>
          <a:blip r:embed="rId2"/>
          <a:stretch>
            <a:fillRect/>
          </a:stretch>
        </p:blipFill>
        <p:spPr>
          <a:xfrm>
            <a:off x="431267" y="2708920"/>
            <a:ext cx="8153555" cy="3701613"/>
          </a:xfrm>
          <a:prstGeom prst="rect">
            <a:avLst/>
          </a:prstGeom>
        </p:spPr>
      </p:pic>
      <p:sp>
        <p:nvSpPr>
          <p:cNvPr id="5" name="矩形 4"/>
          <p:cNvSpPr/>
          <p:nvPr/>
        </p:nvSpPr>
        <p:spPr>
          <a:xfrm>
            <a:off x="719572" y="1484784"/>
            <a:ext cx="7704856" cy="830997"/>
          </a:xfrm>
          <a:prstGeom prst="rect">
            <a:avLst/>
          </a:prstGeom>
        </p:spPr>
        <p:txBody>
          <a:bodyPr wrap="square">
            <a:spAutoFit/>
          </a:bodyPr>
          <a:lstStyle/>
          <a:p>
            <a:pPr latinLnBrk="1"/>
            <a:r>
              <a:rPr lang="zh-CN" altLang="en-US" sz="2400"/>
              <a:t>为了描述索引</a:t>
            </a:r>
            <a:r>
              <a:rPr lang="en-US" altLang="zh-CN" sz="2400"/>
              <a:t>B-Tree</a:t>
            </a:r>
            <a:r>
              <a:rPr lang="zh-CN" altLang="en-US" sz="2400"/>
              <a:t>，首先定义一个二元组</a:t>
            </a:r>
            <a:r>
              <a:rPr lang="en-US" altLang="zh-CN" sz="2400"/>
              <a:t>[key</a:t>
            </a:r>
            <a:r>
              <a:rPr lang="zh-CN" altLang="en-US" sz="2400"/>
              <a:t>，</a:t>
            </a:r>
            <a:r>
              <a:rPr lang="en-US" altLang="zh-CN" sz="2400"/>
              <a:t>data]</a:t>
            </a:r>
            <a:r>
              <a:rPr lang="zh-CN" altLang="en-US" sz="2400"/>
              <a:t>，</a:t>
            </a:r>
            <a:r>
              <a:rPr lang="en-US" altLang="zh-CN" sz="2400"/>
              <a:t>key</a:t>
            </a:r>
            <a:r>
              <a:rPr lang="zh-CN" altLang="en-US" sz="2400"/>
              <a:t>为记录的键值，</a:t>
            </a:r>
            <a:r>
              <a:rPr lang="en-US" altLang="zh-CN" sz="2400"/>
              <a:t>data</a:t>
            </a:r>
            <a:r>
              <a:rPr lang="zh-CN" altLang="en-US" sz="2400"/>
              <a:t>为数据记录除</a:t>
            </a:r>
            <a:r>
              <a:rPr lang="en-US" altLang="zh-CN" sz="2400"/>
              <a:t>key</a:t>
            </a:r>
            <a:r>
              <a:rPr lang="zh-CN" altLang="en-US" sz="2400"/>
              <a:t>外的数据。</a:t>
            </a:r>
            <a:endParaRPr lang="zh-CN" altLang="en-US" sz="2400" dirty="0"/>
          </a:p>
        </p:txBody>
      </p:sp>
    </p:spTree>
    <p:extLst>
      <p:ext uri="{BB962C8B-B14F-4D97-AF65-F5344CB8AC3E}">
        <p14:creationId xmlns:p14="http://schemas.microsoft.com/office/powerpoint/2010/main" val="25019497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a:t>
            </a:r>
            <a:r>
              <a:rPr lang="zh-CN" altLang="en-US" b="1" dirty="0" smtClean="0"/>
              <a:t>索引</a:t>
            </a:r>
            <a:r>
              <a:rPr lang="en-US" b="1" dirty="0" smtClean="0"/>
              <a:t>B-Tree</a:t>
            </a:r>
            <a:endParaRPr lang="zh-CN" altLang="en-US" dirty="0"/>
          </a:p>
        </p:txBody>
      </p:sp>
      <p:pic>
        <p:nvPicPr>
          <p:cNvPr id="5" name="内容占位符 4" descr="20160202204827368 (1).png"/>
          <p:cNvPicPr>
            <a:picLocks noGrp="1" noChangeAspect="1"/>
          </p:cNvPicPr>
          <p:nvPr>
            <p:ph idx="1"/>
          </p:nvPr>
        </p:nvPicPr>
        <p:blipFill>
          <a:blip r:embed="rId2"/>
          <a:stretch>
            <a:fillRect/>
          </a:stretch>
        </p:blipFill>
        <p:spPr>
          <a:xfrm>
            <a:off x="142876" y="1857364"/>
            <a:ext cx="8858280" cy="2952760"/>
          </a:xfrm>
        </p:spPr>
      </p:pic>
      <p:sp>
        <p:nvSpPr>
          <p:cNvPr id="6" name="矩形 5"/>
          <p:cNvSpPr/>
          <p:nvPr/>
        </p:nvSpPr>
        <p:spPr>
          <a:xfrm>
            <a:off x="642910" y="5214950"/>
            <a:ext cx="7929618" cy="707886"/>
          </a:xfrm>
          <a:prstGeom prst="rect">
            <a:avLst/>
          </a:prstGeom>
          <a:ln>
            <a:solidFill>
              <a:schemeClr val="bg2">
                <a:lumMod val="50000"/>
              </a:schemeClr>
            </a:solidFill>
          </a:ln>
        </p:spPr>
        <p:txBody>
          <a:bodyPr wrap="square">
            <a:spAutoFit/>
          </a:bodyPr>
          <a:lstStyle/>
          <a:p>
            <a:r>
              <a:rPr lang="zh-CN" altLang="en-US" sz="2000" dirty="0" smtClean="0">
                <a:solidFill>
                  <a:srgbClr val="FF0000"/>
                </a:solidFill>
              </a:rPr>
              <a:t>    </a:t>
            </a:r>
            <a:r>
              <a:rPr lang="zh-CN" altLang="en-US" sz="2000" dirty="0" smtClean="0"/>
              <a:t>每个</a:t>
            </a:r>
            <a:r>
              <a:rPr lang="zh-CN" altLang="en-US" sz="2000" dirty="0"/>
              <a:t>结</a:t>
            </a:r>
            <a:r>
              <a:rPr lang="zh-CN" altLang="en-US" sz="2000" dirty="0" smtClean="0"/>
              <a:t>点</a:t>
            </a:r>
            <a:r>
              <a:rPr lang="zh-CN" altLang="en-US" sz="2000" dirty="0"/>
              <a:t>占用一页的存储空间，每次</a:t>
            </a:r>
            <a:r>
              <a:rPr lang="zh-CN" altLang="en-US" sz="2000" dirty="0" smtClean="0"/>
              <a:t>申请结点时</a:t>
            </a:r>
            <a:r>
              <a:rPr lang="zh-CN" altLang="en-US" sz="2000" dirty="0"/>
              <a:t>，直接申请一个页的存储空间。</a:t>
            </a:r>
          </a:p>
        </p:txBody>
      </p:sp>
      <p:sp>
        <p:nvSpPr>
          <p:cNvPr id="7" name="文本框 6"/>
          <p:cNvSpPr txBox="1"/>
          <p:nvPr/>
        </p:nvSpPr>
        <p:spPr>
          <a:xfrm>
            <a:off x="642910" y="1857364"/>
            <a:ext cx="1800200" cy="307777"/>
          </a:xfrm>
          <a:prstGeom prst="rect">
            <a:avLst/>
          </a:prstGeom>
          <a:solidFill>
            <a:schemeClr val="bg1"/>
          </a:solidFill>
        </p:spPr>
        <p:txBody>
          <a:bodyPr wrap="square" rtlCol="0">
            <a:spAutoFit/>
          </a:bodyPr>
          <a:lstStyle/>
          <a:p>
            <a:r>
              <a:rPr lang="en-US" altLang="zh-CN" sz="1400" dirty="0" smtClean="0"/>
              <a:t>Key</a:t>
            </a:r>
            <a:r>
              <a:rPr lang="zh-CN" altLang="en-US" sz="1400" dirty="0" smtClean="0"/>
              <a:t>，表中记录的</a:t>
            </a:r>
            <a:r>
              <a:rPr lang="en-US" altLang="zh-CN" sz="1400" dirty="0" smtClean="0"/>
              <a:t>key</a:t>
            </a:r>
            <a:endParaRPr lang="zh-CN" altLang="en-US" sz="1400" dirty="0"/>
          </a:p>
        </p:txBody>
      </p:sp>
      <p:sp>
        <p:nvSpPr>
          <p:cNvPr id="8" name="文本框 7"/>
          <p:cNvSpPr txBox="1"/>
          <p:nvPr/>
        </p:nvSpPr>
        <p:spPr>
          <a:xfrm>
            <a:off x="642910" y="2188133"/>
            <a:ext cx="2016224" cy="307777"/>
          </a:xfrm>
          <a:prstGeom prst="rect">
            <a:avLst/>
          </a:prstGeom>
          <a:solidFill>
            <a:schemeClr val="bg1"/>
          </a:solidFill>
        </p:spPr>
        <p:txBody>
          <a:bodyPr wrap="square" rtlCol="0">
            <a:spAutoFit/>
          </a:bodyPr>
          <a:lstStyle/>
          <a:p>
            <a:r>
              <a:rPr lang="zh-CN" altLang="en-US" sz="1400" dirty="0" smtClean="0"/>
              <a:t>指针，存储子结点地址</a:t>
            </a:r>
            <a:endParaRPr lang="zh-CN" altLang="en-US" sz="1400" dirty="0"/>
          </a:p>
        </p:txBody>
      </p:sp>
      <p:sp>
        <p:nvSpPr>
          <p:cNvPr id="9" name="文本框 8"/>
          <p:cNvSpPr txBox="1"/>
          <p:nvPr/>
        </p:nvSpPr>
        <p:spPr>
          <a:xfrm>
            <a:off x="642910" y="2495911"/>
            <a:ext cx="2848970" cy="307777"/>
          </a:xfrm>
          <a:prstGeom prst="rect">
            <a:avLst/>
          </a:prstGeom>
          <a:solidFill>
            <a:schemeClr val="bg1"/>
          </a:solidFill>
        </p:spPr>
        <p:txBody>
          <a:bodyPr wrap="square" rtlCol="0">
            <a:spAutoFit/>
          </a:bodyPr>
          <a:lstStyle/>
          <a:p>
            <a:r>
              <a:rPr lang="zh-CN" altLang="en-US" sz="1400" dirty="0" smtClean="0"/>
              <a:t>数据，即表记录中除</a:t>
            </a:r>
            <a:r>
              <a:rPr lang="en-US" altLang="zh-CN" sz="1400" dirty="0" smtClean="0"/>
              <a:t>key</a:t>
            </a:r>
            <a:r>
              <a:rPr lang="zh-CN" altLang="en-US" sz="1400" dirty="0" smtClean="0"/>
              <a:t>外的数据</a:t>
            </a:r>
            <a:endParaRPr lang="zh-CN" altLang="en-US" sz="1400" dirty="0"/>
          </a:p>
        </p:txBody>
      </p:sp>
      <p:cxnSp>
        <p:nvCxnSpPr>
          <p:cNvPr id="4" name="直接连接符 3"/>
          <p:cNvCxnSpPr/>
          <p:nvPr/>
        </p:nvCxnSpPr>
        <p:spPr>
          <a:xfrm>
            <a:off x="8748464" y="1856936"/>
            <a:ext cx="10344" cy="92356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12" idx="2"/>
          </p:cNvCxnSpPr>
          <p:nvPr/>
        </p:nvCxnSpPr>
        <p:spPr>
          <a:xfrm>
            <a:off x="8748464" y="3736086"/>
            <a:ext cx="10344" cy="989058"/>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8388424" y="2812756"/>
            <a:ext cx="720080" cy="923330"/>
          </a:xfrm>
          <a:prstGeom prst="rect">
            <a:avLst/>
          </a:prstGeom>
          <a:solidFill>
            <a:srgbClr val="FFC000"/>
          </a:solidFill>
        </p:spPr>
        <p:txBody>
          <a:bodyPr wrap="square" rtlCol="0">
            <a:spAutoFit/>
          </a:bodyPr>
          <a:lstStyle/>
          <a:p>
            <a:r>
              <a:rPr lang="zh-CN" altLang="en-US" dirty="0" smtClean="0"/>
              <a:t>树的深度为</a:t>
            </a:r>
            <a:r>
              <a:rPr lang="en-US" altLang="zh-CN" dirty="0" smtClean="0"/>
              <a:t>3</a:t>
            </a:r>
            <a:endParaRPr lang="zh-CN" altLang="en-US" dirty="0"/>
          </a:p>
        </p:txBody>
      </p:sp>
      <p:pic>
        <p:nvPicPr>
          <p:cNvPr id="3" name="图片 2"/>
          <p:cNvPicPr>
            <a:picLocks noChangeAspect="1"/>
          </p:cNvPicPr>
          <p:nvPr/>
        </p:nvPicPr>
        <p:blipFill>
          <a:blip r:embed="rId3"/>
          <a:stretch>
            <a:fillRect/>
          </a:stretch>
        </p:blipFill>
        <p:spPr>
          <a:xfrm>
            <a:off x="91746" y="1238132"/>
            <a:ext cx="9052253" cy="54228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a:t>
            </a:r>
            <a:r>
              <a:rPr lang="zh-CN" altLang="en-US" b="1" dirty="0" smtClean="0"/>
              <a:t>索引</a:t>
            </a:r>
            <a:r>
              <a:rPr lang="en-US" b="1" dirty="0" smtClean="0"/>
              <a:t>B-Tree</a:t>
            </a:r>
            <a:r>
              <a:rPr lang="zh-CN" altLang="en-US" b="1" dirty="0" smtClean="0"/>
              <a:t>（续）</a:t>
            </a:r>
            <a:endParaRPr lang="zh-CN" altLang="en-US" dirty="0"/>
          </a:p>
        </p:txBody>
      </p:sp>
      <p:sp>
        <p:nvSpPr>
          <p:cNvPr id="3" name="内容占位符 2"/>
          <p:cNvSpPr>
            <a:spLocks noGrp="1"/>
          </p:cNvSpPr>
          <p:nvPr>
            <p:ph idx="1"/>
          </p:nvPr>
        </p:nvSpPr>
        <p:spPr/>
        <p:txBody>
          <a:bodyPr>
            <a:normAutofit fontScale="77500" lnSpcReduction="20000"/>
          </a:bodyPr>
          <a:lstStyle/>
          <a:p>
            <a:pPr lvl="0">
              <a:buNone/>
            </a:pPr>
            <a:r>
              <a:rPr lang="zh-CN" altLang="en-US" dirty="0" smtClean="0"/>
              <a:t>模拟找关键字</a:t>
            </a:r>
            <a:r>
              <a:rPr lang="en-US" dirty="0" smtClean="0"/>
              <a:t>29</a:t>
            </a:r>
            <a:r>
              <a:rPr lang="zh-CN" altLang="en-US" dirty="0" smtClean="0"/>
              <a:t>的过程如下：</a:t>
            </a:r>
            <a:endParaRPr lang="en-US" altLang="zh-CN" dirty="0" smtClean="0"/>
          </a:p>
          <a:p>
            <a:pPr lvl="0"/>
            <a:r>
              <a:rPr lang="zh-CN" altLang="en-US" dirty="0" smtClean="0"/>
              <a:t>查根据根结点找到磁盘块</a:t>
            </a:r>
            <a:r>
              <a:rPr lang="en-US" dirty="0" smtClean="0"/>
              <a:t>1</a:t>
            </a:r>
            <a:r>
              <a:rPr lang="zh-CN" altLang="en-US" dirty="0" smtClean="0"/>
              <a:t>，读入内存。</a:t>
            </a:r>
            <a:r>
              <a:rPr lang="en-US" altLang="zh-CN" dirty="0" smtClean="0"/>
              <a:t>【</a:t>
            </a:r>
            <a:r>
              <a:rPr lang="zh-CN" altLang="en-US" dirty="0" smtClean="0"/>
              <a:t>磁盘</a:t>
            </a:r>
            <a:r>
              <a:rPr lang="en-US" dirty="0" smtClean="0"/>
              <a:t>I/O</a:t>
            </a:r>
            <a:r>
              <a:rPr lang="zh-CN" altLang="en-US" dirty="0" smtClean="0"/>
              <a:t>操作第一次</a:t>
            </a:r>
            <a:r>
              <a:rPr lang="en-US" altLang="zh-CN" dirty="0" smtClean="0"/>
              <a:t>】</a:t>
            </a:r>
          </a:p>
          <a:p>
            <a:pPr lvl="0"/>
            <a:r>
              <a:rPr lang="zh-CN" altLang="en-US" dirty="0" smtClean="0"/>
              <a:t>比较关键字</a:t>
            </a:r>
            <a:r>
              <a:rPr lang="en-US" dirty="0" smtClean="0"/>
              <a:t>29</a:t>
            </a:r>
            <a:r>
              <a:rPr lang="zh-CN" altLang="en-US" dirty="0" smtClean="0"/>
              <a:t>在区间</a:t>
            </a:r>
            <a:r>
              <a:rPr lang="en-US" dirty="0" smtClean="0"/>
              <a:t>(17,35), </a:t>
            </a:r>
            <a:r>
              <a:rPr lang="zh-CN" altLang="en-US" dirty="0" smtClean="0"/>
              <a:t>找到磁盘块</a:t>
            </a:r>
            <a:r>
              <a:rPr lang="en-US" dirty="0" smtClean="0"/>
              <a:t>1</a:t>
            </a:r>
            <a:r>
              <a:rPr lang="zh-CN" altLang="en-US" dirty="0" smtClean="0"/>
              <a:t>的指针</a:t>
            </a:r>
            <a:r>
              <a:rPr lang="en-US" dirty="0" smtClean="0"/>
              <a:t>P2.</a:t>
            </a:r>
            <a:endParaRPr lang="zh-CN" altLang="en-US" dirty="0" smtClean="0"/>
          </a:p>
          <a:p>
            <a:pPr lvl="0"/>
            <a:r>
              <a:rPr lang="zh-CN" altLang="en-US" dirty="0" smtClean="0"/>
              <a:t>根据</a:t>
            </a:r>
            <a:r>
              <a:rPr lang="en-US" dirty="0" smtClean="0"/>
              <a:t>P2</a:t>
            </a:r>
            <a:r>
              <a:rPr lang="zh-CN" altLang="en-US" dirty="0" smtClean="0"/>
              <a:t>指针找到磁盘块</a:t>
            </a:r>
            <a:r>
              <a:rPr lang="en-US" dirty="0" smtClean="0"/>
              <a:t>3</a:t>
            </a:r>
            <a:r>
              <a:rPr lang="zh-CN" altLang="en-US" dirty="0" smtClean="0"/>
              <a:t>，读入内存。</a:t>
            </a:r>
            <a:r>
              <a:rPr lang="en-US" altLang="zh-CN" dirty="0" smtClean="0"/>
              <a:t>【</a:t>
            </a:r>
            <a:r>
              <a:rPr lang="zh-CN" altLang="en-US" dirty="0" smtClean="0"/>
              <a:t>磁盘</a:t>
            </a:r>
            <a:r>
              <a:rPr lang="en-US" dirty="0" smtClean="0"/>
              <a:t>I/O</a:t>
            </a:r>
            <a:r>
              <a:rPr lang="zh-CN" altLang="en-US" dirty="0" smtClean="0"/>
              <a:t>操作第二次</a:t>
            </a:r>
            <a:r>
              <a:rPr lang="en-US" altLang="zh-CN" dirty="0" smtClean="0"/>
              <a:t>】</a:t>
            </a:r>
          </a:p>
          <a:p>
            <a:pPr lvl="0"/>
            <a:r>
              <a:rPr lang="zh-CN" altLang="en-US" dirty="0" smtClean="0"/>
              <a:t>比较关键字</a:t>
            </a:r>
            <a:r>
              <a:rPr lang="en-US" dirty="0" smtClean="0"/>
              <a:t>29</a:t>
            </a:r>
            <a:r>
              <a:rPr lang="zh-CN" altLang="en-US" dirty="0" smtClean="0"/>
              <a:t>在区间（</a:t>
            </a:r>
            <a:r>
              <a:rPr lang="en-US" dirty="0" smtClean="0"/>
              <a:t>26</a:t>
            </a:r>
            <a:r>
              <a:rPr lang="zh-CN" altLang="en-US" dirty="0" smtClean="0"/>
              <a:t>，</a:t>
            </a:r>
            <a:r>
              <a:rPr lang="en-US" dirty="0" smtClean="0"/>
              <a:t>30</a:t>
            </a:r>
            <a:r>
              <a:rPr lang="zh-CN" altLang="en-US" dirty="0" smtClean="0"/>
              <a:t>），找到磁盘块</a:t>
            </a:r>
            <a:r>
              <a:rPr lang="en-US" dirty="0" smtClean="0"/>
              <a:t>3</a:t>
            </a:r>
            <a:r>
              <a:rPr lang="zh-CN" altLang="en-US" dirty="0" smtClean="0"/>
              <a:t>的指针</a:t>
            </a:r>
            <a:r>
              <a:rPr lang="en-US" dirty="0" smtClean="0"/>
              <a:t>P2.</a:t>
            </a:r>
            <a:endParaRPr lang="zh-CN" altLang="en-US" dirty="0" smtClean="0"/>
          </a:p>
          <a:p>
            <a:pPr lvl="0"/>
            <a:r>
              <a:rPr lang="zh-CN" altLang="en-US" dirty="0" smtClean="0"/>
              <a:t>根据</a:t>
            </a:r>
            <a:r>
              <a:rPr lang="en-US" dirty="0" smtClean="0"/>
              <a:t>P2</a:t>
            </a:r>
            <a:r>
              <a:rPr lang="zh-CN" altLang="en-US" dirty="0" smtClean="0"/>
              <a:t>指针找到磁盘块</a:t>
            </a:r>
            <a:r>
              <a:rPr lang="en-US" dirty="0" smtClean="0"/>
              <a:t>8</a:t>
            </a:r>
            <a:r>
              <a:rPr lang="zh-CN" altLang="en-US" dirty="0" smtClean="0"/>
              <a:t>，读入内存。</a:t>
            </a:r>
            <a:r>
              <a:rPr lang="en-US" altLang="zh-CN" dirty="0" smtClean="0"/>
              <a:t>【</a:t>
            </a:r>
            <a:r>
              <a:rPr lang="zh-CN" altLang="en-US" dirty="0" smtClean="0"/>
              <a:t>磁盘</a:t>
            </a:r>
            <a:r>
              <a:rPr lang="en-US" dirty="0" smtClean="0"/>
              <a:t>I/O</a:t>
            </a:r>
            <a:r>
              <a:rPr lang="zh-CN" altLang="en-US" dirty="0" smtClean="0"/>
              <a:t>操作第三次</a:t>
            </a:r>
            <a:r>
              <a:rPr lang="en-US" altLang="zh-CN" dirty="0" smtClean="0"/>
              <a:t>】</a:t>
            </a:r>
          </a:p>
          <a:p>
            <a:r>
              <a:rPr lang="zh-CN" altLang="en-US" dirty="0" smtClean="0"/>
              <a:t>在磁盘块</a:t>
            </a:r>
            <a:r>
              <a:rPr lang="en-US" dirty="0" smtClean="0"/>
              <a:t>8</a:t>
            </a:r>
            <a:r>
              <a:rPr lang="zh-CN" altLang="en-US" dirty="0" smtClean="0"/>
              <a:t>中的关键字列表中找到关键字</a:t>
            </a:r>
            <a:r>
              <a:rPr lang="en-US" dirty="0" smtClean="0"/>
              <a:t>29.</a:t>
            </a:r>
            <a:endParaRPr lang="zh-CN" altLang="en-US" dirty="0"/>
          </a:p>
        </p:txBody>
      </p:sp>
      <p:pic>
        <p:nvPicPr>
          <p:cNvPr id="4" name="图片 3"/>
          <p:cNvPicPr>
            <a:picLocks noChangeAspect="1"/>
          </p:cNvPicPr>
          <p:nvPr/>
        </p:nvPicPr>
        <p:blipFill>
          <a:blip r:embed="rId2"/>
          <a:stretch>
            <a:fillRect/>
          </a:stretch>
        </p:blipFill>
        <p:spPr>
          <a:xfrm>
            <a:off x="0" y="238887"/>
            <a:ext cx="9144000" cy="670296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a:t>
            </a:r>
            <a:r>
              <a:rPr lang="zh-CN" altLang="en-US" b="1" dirty="0" smtClean="0"/>
              <a:t>索引</a:t>
            </a:r>
            <a:r>
              <a:rPr lang="en-US" b="1" dirty="0" smtClean="0"/>
              <a:t>B-Tree</a:t>
            </a:r>
            <a:r>
              <a:rPr lang="zh-CN" altLang="en-US" b="1" dirty="0" smtClean="0"/>
              <a:t>（续）</a:t>
            </a:r>
            <a:endParaRPr lang="zh-CN" altLang="en-US" dirty="0"/>
          </a:p>
        </p:txBody>
      </p:sp>
      <p:sp>
        <p:nvSpPr>
          <p:cNvPr id="3" name="内容占位符 2"/>
          <p:cNvSpPr>
            <a:spLocks noGrp="1"/>
          </p:cNvSpPr>
          <p:nvPr>
            <p:ph idx="1"/>
          </p:nvPr>
        </p:nvSpPr>
        <p:spPr>
          <a:xfrm>
            <a:off x="457200" y="1600201"/>
            <a:ext cx="8229600" cy="2692896"/>
          </a:xfrm>
        </p:spPr>
        <p:txBody>
          <a:bodyPr/>
          <a:lstStyle/>
          <a:p>
            <a:r>
              <a:rPr lang="zh-CN" altLang="en-US" dirty="0" smtClean="0"/>
              <a:t>    分析上面过程，发现需要</a:t>
            </a:r>
            <a:r>
              <a:rPr lang="en-US" dirty="0" smtClean="0"/>
              <a:t>3</a:t>
            </a:r>
            <a:r>
              <a:rPr lang="zh-CN" altLang="en-US" dirty="0" smtClean="0"/>
              <a:t>次磁盘</a:t>
            </a:r>
            <a:r>
              <a:rPr lang="en-US" dirty="0" smtClean="0"/>
              <a:t>I/O</a:t>
            </a:r>
            <a:r>
              <a:rPr lang="zh-CN" altLang="en-US" dirty="0" smtClean="0"/>
              <a:t>操作，和三次内存查询操作。由于内存中的关键字是一个有序表结构，可以利用二分法查找提高效率。</a:t>
            </a:r>
            <a:r>
              <a:rPr lang="zh-CN" altLang="en-US" dirty="0" smtClean="0">
                <a:solidFill>
                  <a:srgbClr val="0070C0"/>
                </a:solidFill>
              </a:rPr>
              <a:t>而</a:t>
            </a:r>
            <a:r>
              <a:rPr lang="en-US" dirty="0" smtClean="0">
                <a:solidFill>
                  <a:srgbClr val="0070C0"/>
                </a:solidFill>
              </a:rPr>
              <a:t>3</a:t>
            </a:r>
            <a:r>
              <a:rPr lang="zh-CN" altLang="en-US" dirty="0" smtClean="0">
                <a:solidFill>
                  <a:srgbClr val="0070C0"/>
                </a:solidFill>
              </a:rPr>
              <a:t>次磁盘</a:t>
            </a:r>
            <a:r>
              <a:rPr lang="en-US" dirty="0" smtClean="0">
                <a:solidFill>
                  <a:srgbClr val="0070C0"/>
                </a:solidFill>
              </a:rPr>
              <a:t>I/O</a:t>
            </a:r>
            <a:r>
              <a:rPr lang="zh-CN" altLang="en-US" dirty="0" smtClean="0">
                <a:solidFill>
                  <a:srgbClr val="0070C0"/>
                </a:solidFill>
              </a:rPr>
              <a:t>操作是影响整个</a:t>
            </a:r>
            <a:r>
              <a:rPr lang="en-US" dirty="0" smtClean="0">
                <a:solidFill>
                  <a:srgbClr val="0070C0"/>
                </a:solidFill>
              </a:rPr>
              <a:t>B-Tree</a:t>
            </a:r>
            <a:r>
              <a:rPr lang="zh-CN" altLang="en-US" dirty="0" smtClean="0">
                <a:solidFill>
                  <a:srgbClr val="0070C0"/>
                </a:solidFill>
              </a:rPr>
              <a:t>查找效率的决定因</a:t>
            </a:r>
            <a:r>
              <a:rPr lang="zh-CN" altLang="en-US" smtClean="0">
                <a:solidFill>
                  <a:srgbClr val="0070C0"/>
                </a:solidFill>
              </a:rPr>
              <a:t>素。</a:t>
            </a:r>
            <a:endParaRPr lang="en-US" altLang="zh-CN" smtClean="0">
              <a:solidFill>
                <a:srgbClr val="0070C0"/>
              </a:solidFill>
            </a:endParaRPr>
          </a:p>
          <a:p>
            <a:endParaRPr lang="zh-CN" altLang="en-US" dirty="0"/>
          </a:p>
        </p:txBody>
      </p:sp>
      <p:sp>
        <p:nvSpPr>
          <p:cNvPr id="4" name="矩形 3"/>
          <p:cNvSpPr/>
          <p:nvPr/>
        </p:nvSpPr>
        <p:spPr>
          <a:xfrm>
            <a:off x="1619672" y="4653136"/>
            <a:ext cx="6128537" cy="646331"/>
          </a:xfrm>
          <a:prstGeom prst="rect">
            <a:avLst/>
          </a:prstGeom>
          <a:solidFill>
            <a:srgbClr val="FFC000"/>
          </a:solidFill>
        </p:spPr>
        <p:txBody>
          <a:bodyPr wrap="none">
            <a:spAutoFit/>
          </a:bodyPr>
          <a:lstStyle/>
          <a:p>
            <a:r>
              <a:rPr lang="zh-CN" altLang="en-US" sz="3600" smtClean="0">
                <a:solidFill>
                  <a:srgbClr val="FF0000"/>
                </a:solidFill>
              </a:rPr>
              <a:t>因此要</a:t>
            </a:r>
            <a:r>
              <a:rPr lang="zh-CN" altLang="en-US" sz="3600">
                <a:solidFill>
                  <a:srgbClr val="FF0000"/>
                </a:solidFill>
              </a:rPr>
              <a:t>控制</a:t>
            </a:r>
            <a:r>
              <a:rPr lang="en-US" altLang="zh-CN" sz="3600">
                <a:solidFill>
                  <a:srgbClr val="FF0000"/>
                </a:solidFill>
              </a:rPr>
              <a:t>B-Tree</a:t>
            </a:r>
            <a:r>
              <a:rPr lang="zh-CN" altLang="en-US" sz="3600">
                <a:solidFill>
                  <a:srgbClr val="FF0000"/>
                </a:solidFill>
              </a:rPr>
              <a:t>的深</a:t>
            </a:r>
            <a:r>
              <a:rPr lang="zh-CN" altLang="en-US" sz="3600" smtClean="0">
                <a:solidFill>
                  <a:srgbClr val="FF0000"/>
                </a:solidFill>
              </a:rPr>
              <a:t>度！！</a:t>
            </a:r>
            <a:endParaRPr lang="zh-CN" altLang="en-US" sz="3600" dirty="0">
              <a:solidFill>
                <a:srgbClr val="FF00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3.2 </a:t>
            </a:r>
            <a:r>
              <a:rPr lang="zh-CN" altLang="en-US" b="1" dirty="0" smtClean="0"/>
              <a:t>索引</a:t>
            </a:r>
            <a:r>
              <a:rPr lang="en-US" b="1" dirty="0" err="1" smtClean="0"/>
              <a:t>B+Tree</a:t>
            </a:r>
            <a:r>
              <a:rPr lang="zh-CN" altLang="en-US" b="1" dirty="0" smtClean="0"/>
              <a:t>（续）</a:t>
            </a:r>
            <a:endParaRPr lang="zh-CN" altLang="en-US" dirty="0"/>
          </a:p>
        </p:txBody>
      </p:sp>
      <p:sp>
        <p:nvSpPr>
          <p:cNvPr id="3" name="内容占位符 2"/>
          <p:cNvSpPr>
            <a:spLocks noGrp="1"/>
          </p:cNvSpPr>
          <p:nvPr>
            <p:ph idx="1"/>
          </p:nvPr>
        </p:nvSpPr>
        <p:spPr/>
        <p:txBody>
          <a:bodyPr>
            <a:normAutofit fontScale="77500" lnSpcReduction="20000"/>
          </a:bodyPr>
          <a:lstStyle/>
          <a:p>
            <a:r>
              <a:rPr lang="en-US" dirty="0" err="1" smtClean="0"/>
              <a:t>B+Tree</a:t>
            </a:r>
            <a:r>
              <a:rPr lang="zh-CN" altLang="en-US" dirty="0" smtClean="0"/>
              <a:t>是在</a:t>
            </a:r>
            <a:r>
              <a:rPr lang="en-US" dirty="0" smtClean="0"/>
              <a:t>B-Tree</a:t>
            </a:r>
            <a:r>
              <a:rPr lang="zh-CN" altLang="en-US" dirty="0" smtClean="0"/>
              <a:t>基础上的一种优化，使其更适合现实外存储索引结构，</a:t>
            </a:r>
            <a:r>
              <a:rPr lang="en-US" dirty="0" smtClean="0"/>
              <a:t>MYSQL </a:t>
            </a:r>
            <a:r>
              <a:rPr lang="zh-CN" altLang="en-US" dirty="0" smtClean="0"/>
              <a:t>的存储引擎就是用</a:t>
            </a:r>
            <a:r>
              <a:rPr lang="en-US" dirty="0" err="1" smtClean="0"/>
              <a:t>B+Tree</a:t>
            </a:r>
            <a:r>
              <a:rPr lang="zh-CN" altLang="en-US" dirty="0" smtClean="0"/>
              <a:t>实现的。</a:t>
            </a:r>
            <a:endParaRPr lang="en-US" altLang="zh-CN" dirty="0" smtClean="0"/>
          </a:p>
          <a:p>
            <a:r>
              <a:rPr lang="zh-CN" altLang="en-US" dirty="0" smtClean="0"/>
              <a:t>从</a:t>
            </a:r>
            <a:r>
              <a:rPr lang="en-US" dirty="0" smtClean="0"/>
              <a:t>B-Tree</a:t>
            </a:r>
            <a:r>
              <a:rPr lang="zh-CN" altLang="en-US" dirty="0" smtClean="0"/>
              <a:t>结构图中可以看到每个结点中包含数据的</a:t>
            </a:r>
            <a:r>
              <a:rPr lang="en-US" dirty="0" smtClean="0"/>
              <a:t>key</a:t>
            </a:r>
            <a:r>
              <a:rPr lang="zh-CN" altLang="en-US" dirty="0" smtClean="0"/>
              <a:t>值，还有</a:t>
            </a:r>
            <a:r>
              <a:rPr lang="en-US" dirty="0" smtClean="0"/>
              <a:t>data</a:t>
            </a:r>
            <a:r>
              <a:rPr lang="zh-CN" altLang="en-US" dirty="0" smtClean="0"/>
              <a:t>值。而每一个页的存储空间时有限的，如果</a:t>
            </a:r>
            <a:r>
              <a:rPr lang="en-US" dirty="0" smtClean="0"/>
              <a:t>data</a:t>
            </a:r>
            <a:r>
              <a:rPr lang="zh-CN" altLang="en-US" dirty="0" smtClean="0"/>
              <a:t>数据较大时将会导致每个节点（即一个页）能存储的</a:t>
            </a:r>
            <a:r>
              <a:rPr lang="en-US" dirty="0" smtClean="0"/>
              <a:t>key</a:t>
            </a:r>
            <a:r>
              <a:rPr lang="zh-CN" altLang="en-US" dirty="0" smtClean="0"/>
              <a:t>的数据量很小，当存储的数据量很大时同样会导致</a:t>
            </a:r>
            <a:r>
              <a:rPr lang="en-US" dirty="0" smtClean="0"/>
              <a:t>B-Tree</a:t>
            </a:r>
            <a:r>
              <a:rPr lang="zh-CN" altLang="en-US" dirty="0" smtClean="0"/>
              <a:t>的深度较大，增大查询时的磁盘</a:t>
            </a:r>
            <a:r>
              <a:rPr lang="en-US" dirty="0" smtClean="0"/>
              <a:t>I/O</a:t>
            </a:r>
            <a:r>
              <a:rPr lang="zh-CN" altLang="en-US" dirty="0" smtClean="0"/>
              <a:t>次数，进而影响查询效率。</a:t>
            </a:r>
            <a:endParaRPr lang="en-US" altLang="zh-CN" dirty="0" smtClean="0"/>
          </a:p>
          <a:p>
            <a:r>
              <a:rPr lang="zh-CN" altLang="en-US" dirty="0" smtClean="0"/>
              <a:t>在</a:t>
            </a:r>
            <a:r>
              <a:rPr lang="en-US" dirty="0" err="1" smtClean="0"/>
              <a:t>B+Tree</a:t>
            </a:r>
            <a:r>
              <a:rPr lang="zh-CN" altLang="en-US" dirty="0" smtClean="0"/>
              <a:t>中，所有数据记录是按照键值大小顺序存放在同一层叶子结点上，而非叶子节点只存放</a:t>
            </a:r>
            <a:r>
              <a:rPr lang="en-US" dirty="0" smtClean="0"/>
              <a:t>key</a:t>
            </a:r>
            <a:r>
              <a:rPr lang="zh-CN" altLang="en-US" dirty="0" smtClean="0"/>
              <a:t>值信息，这样可以大大加大每个结点存储的</a:t>
            </a:r>
            <a:r>
              <a:rPr lang="en-US" dirty="0" smtClean="0"/>
              <a:t>key</a:t>
            </a:r>
            <a:r>
              <a:rPr lang="zh-CN" altLang="en-US" dirty="0" smtClean="0"/>
              <a:t>值数量，降低</a:t>
            </a:r>
            <a:r>
              <a:rPr lang="en-US" dirty="0" err="1" smtClean="0"/>
              <a:t>B+Tree</a:t>
            </a:r>
            <a:r>
              <a:rPr lang="zh-CN" altLang="en-US" dirty="0" smtClean="0"/>
              <a:t>的深度。</a:t>
            </a:r>
          </a:p>
          <a:p>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3.2 </a:t>
            </a:r>
            <a:r>
              <a:rPr lang="zh-CN" altLang="en-US" b="1" dirty="0" smtClean="0"/>
              <a:t>索引</a:t>
            </a:r>
            <a:r>
              <a:rPr lang="en-US" b="1" dirty="0" err="1" smtClean="0"/>
              <a:t>B+Tree</a:t>
            </a:r>
            <a:r>
              <a:rPr lang="zh-CN" altLang="en-US" b="1" dirty="0" smtClean="0"/>
              <a:t>（续）</a:t>
            </a:r>
            <a:endParaRPr lang="zh-CN" altLang="en-US" dirty="0"/>
          </a:p>
        </p:txBody>
      </p:sp>
      <p:sp>
        <p:nvSpPr>
          <p:cNvPr id="3" name="内容占位符 2"/>
          <p:cNvSpPr>
            <a:spLocks noGrp="1"/>
          </p:cNvSpPr>
          <p:nvPr>
            <p:ph idx="1"/>
          </p:nvPr>
        </p:nvSpPr>
        <p:spPr>
          <a:xfrm>
            <a:off x="806896" y="1556792"/>
            <a:ext cx="8229600" cy="4525963"/>
          </a:xfrm>
        </p:spPr>
        <p:txBody>
          <a:bodyPr/>
          <a:lstStyle/>
          <a:p>
            <a:pPr lvl="0" latinLnBrk="1"/>
            <a:r>
              <a:rPr lang="zh-CN" altLang="en-US" sz="2400" dirty="0" smtClean="0"/>
              <a:t>非叶子结点只存储键值信息。</a:t>
            </a:r>
          </a:p>
          <a:p>
            <a:pPr lvl="0" latinLnBrk="1"/>
            <a:r>
              <a:rPr lang="zh-CN" altLang="en-US" sz="2400" dirty="0" smtClean="0"/>
              <a:t>所有叶子结点之间都有一个链指针。</a:t>
            </a:r>
          </a:p>
          <a:p>
            <a:pPr lvl="0" latinLnBrk="1"/>
            <a:r>
              <a:rPr lang="zh-CN" altLang="en-US" sz="2400" dirty="0" smtClean="0"/>
              <a:t>数据记录都存放在叶子结点中。</a:t>
            </a:r>
          </a:p>
          <a:p>
            <a:endParaRPr lang="zh-CN" altLang="en-US" dirty="0"/>
          </a:p>
        </p:txBody>
      </p:sp>
      <p:pic>
        <p:nvPicPr>
          <p:cNvPr id="4" name="图片 3" descr="B+tree.jpg"/>
          <p:cNvPicPr>
            <a:picLocks noChangeAspect="1"/>
          </p:cNvPicPr>
          <p:nvPr/>
        </p:nvPicPr>
        <p:blipFill>
          <a:blip r:embed="rId2"/>
          <a:stretch>
            <a:fillRect/>
          </a:stretch>
        </p:blipFill>
        <p:spPr>
          <a:xfrm>
            <a:off x="107504" y="3261992"/>
            <a:ext cx="8928992" cy="3397624"/>
          </a:xfrm>
          <a:prstGeom prst="rect">
            <a:avLst/>
          </a:prstGeom>
        </p:spPr>
      </p:pic>
      <p:sp>
        <p:nvSpPr>
          <p:cNvPr id="5" name="文本框 4"/>
          <p:cNvSpPr txBox="1"/>
          <p:nvPr/>
        </p:nvSpPr>
        <p:spPr>
          <a:xfrm>
            <a:off x="611560" y="3284984"/>
            <a:ext cx="1800200" cy="307777"/>
          </a:xfrm>
          <a:prstGeom prst="rect">
            <a:avLst/>
          </a:prstGeom>
          <a:solidFill>
            <a:schemeClr val="bg1"/>
          </a:solidFill>
        </p:spPr>
        <p:txBody>
          <a:bodyPr wrap="square" rtlCol="0">
            <a:spAutoFit/>
          </a:bodyPr>
          <a:lstStyle/>
          <a:p>
            <a:r>
              <a:rPr lang="en-US" altLang="zh-CN" sz="1400" dirty="0" smtClean="0"/>
              <a:t>Key</a:t>
            </a:r>
            <a:r>
              <a:rPr lang="zh-CN" altLang="en-US" sz="1400" dirty="0" smtClean="0"/>
              <a:t>，表中记录的</a:t>
            </a:r>
            <a:r>
              <a:rPr lang="en-US" altLang="zh-CN" sz="1400" dirty="0" smtClean="0"/>
              <a:t>key</a:t>
            </a:r>
            <a:endParaRPr lang="zh-CN" altLang="en-US" sz="1400" dirty="0"/>
          </a:p>
        </p:txBody>
      </p:sp>
      <p:sp>
        <p:nvSpPr>
          <p:cNvPr id="6" name="文本框 5"/>
          <p:cNvSpPr txBox="1"/>
          <p:nvPr/>
        </p:nvSpPr>
        <p:spPr>
          <a:xfrm>
            <a:off x="611560" y="3615753"/>
            <a:ext cx="2016224" cy="307777"/>
          </a:xfrm>
          <a:prstGeom prst="rect">
            <a:avLst/>
          </a:prstGeom>
          <a:solidFill>
            <a:schemeClr val="bg1"/>
          </a:solidFill>
        </p:spPr>
        <p:txBody>
          <a:bodyPr wrap="square" rtlCol="0">
            <a:spAutoFit/>
          </a:bodyPr>
          <a:lstStyle/>
          <a:p>
            <a:r>
              <a:rPr lang="zh-CN" altLang="en-US" sz="1400" dirty="0" smtClean="0"/>
              <a:t>指针，存储子结点地址</a:t>
            </a:r>
            <a:endParaRPr lang="zh-CN" altLang="en-US" sz="1400" dirty="0"/>
          </a:p>
        </p:txBody>
      </p:sp>
      <p:sp>
        <p:nvSpPr>
          <p:cNvPr id="7" name="文本框 6"/>
          <p:cNvSpPr txBox="1"/>
          <p:nvPr/>
        </p:nvSpPr>
        <p:spPr>
          <a:xfrm>
            <a:off x="611560" y="3923530"/>
            <a:ext cx="2016224" cy="523220"/>
          </a:xfrm>
          <a:prstGeom prst="rect">
            <a:avLst/>
          </a:prstGeom>
          <a:solidFill>
            <a:schemeClr val="bg1"/>
          </a:solidFill>
        </p:spPr>
        <p:txBody>
          <a:bodyPr wrap="square" rtlCol="0">
            <a:spAutoFit/>
          </a:bodyPr>
          <a:lstStyle/>
          <a:p>
            <a:r>
              <a:rPr lang="zh-CN" altLang="en-US" sz="1400" dirty="0" smtClean="0"/>
              <a:t>数据，即表记录中除</a:t>
            </a:r>
            <a:r>
              <a:rPr lang="en-US" altLang="zh-CN" sz="1400" dirty="0" smtClean="0"/>
              <a:t>key</a:t>
            </a:r>
            <a:r>
              <a:rPr lang="zh-CN" altLang="en-US" sz="1400" dirty="0" smtClean="0"/>
              <a:t>外的数据</a:t>
            </a:r>
            <a:endParaRPr lang="zh-CN" altLang="en-US" sz="1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四 、</a:t>
            </a:r>
            <a:r>
              <a:rPr lang="en-US" dirty="0" smtClean="0"/>
              <a:t>MySQL</a:t>
            </a:r>
            <a:r>
              <a:rPr lang="zh-CN" altLang="en-US" dirty="0" smtClean="0"/>
              <a:t>索引实现</a:t>
            </a:r>
            <a:endParaRPr lang="zh-CN" altLang="en-US" dirty="0"/>
          </a:p>
        </p:txBody>
      </p:sp>
      <p:sp>
        <p:nvSpPr>
          <p:cNvPr id="3" name="内容占位符 2"/>
          <p:cNvSpPr>
            <a:spLocks noGrp="1"/>
          </p:cNvSpPr>
          <p:nvPr>
            <p:ph idx="1"/>
          </p:nvPr>
        </p:nvSpPr>
        <p:spPr/>
        <p:txBody>
          <a:bodyPr/>
          <a:lstStyle/>
          <a:p>
            <a:r>
              <a:rPr lang="zh-CN" altLang="en-US" dirty="0" smtClean="0"/>
              <a:t>在</a:t>
            </a:r>
            <a:r>
              <a:rPr lang="en-US" dirty="0" smtClean="0"/>
              <a:t>MySQL</a:t>
            </a:r>
            <a:r>
              <a:rPr lang="zh-CN" altLang="en-US" dirty="0" smtClean="0"/>
              <a:t>中，索引属于存储引擎级别的概念，不同存储引擎对索引的实现方式是不同的，这里主要讨论</a:t>
            </a:r>
            <a:r>
              <a:rPr lang="en-US" dirty="0" err="1" smtClean="0"/>
              <a:t>MyISAM</a:t>
            </a:r>
            <a:r>
              <a:rPr lang="zh-CN" altLang="en-US" dirty="0" smtClean="0"/>
              <a:t>和</a:t>
            </a:r>
            <a:r>
              <a:rPr lang="en-US" dirty="0" smtClean="0"/>
              <a:t>InnoDB</a:t>
            </a:r>
            <a:r>
              <a:rPr lang="zh-CN" altLang="en-US" dirty="0" smtClean="0"/>
              <a:t>两个存储引擎的索引实现方式。</a:t>
            </a:r>
          </a:p>
          <a:p>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4</a:t>
            </a:r>
            <a:r>
              <a:rPr lang="en-US" dirty="0" smtClean="0"/>
              <a:t>.1 </a:t>
            </a:r>
            <a:r>
              <a:rPr lang="en-US" dirty="0" err="1" smtClean="0"/>
              <a:t>MyISAM</a:t>
            </a:r>
            <a:r>
              <a:rPr lang="zh-CN" altLang="en-US" dirty="0" smtClean="0"/>
              <a:t>索引实现</a:t>
            </a:r>
            <a:endParaRPr lang="zh-CN" altLang="en-US" dirty="0"/>
          </a:p>
        </p:txBody>
      </p:sp>
      <p:sp>
        <p:nvSpPr>
          <p:cNvPr id="3" name="内容占位符 2"/>
          <p:cNvSpPr>
            <a:spLocks noGrp="1"/>
          </p:cNvSpPr>
          <p:nvPr>
            <p:ph idx="1"/>
          </p:nvPr>
        </p:nvSpPr>
        <p:spPr>
          <a:xfrm>
            <a:off x="214282" y="1643050"/>
            <a:ext cx="2614602" cy="4525963"/>
          </a:xfrm>
          <a:solidFill>
            <a:schemeClr val="bg2">
              <a:lumMod val="90000"/>
            </a:schemeClr>
          </a:solidFill>
          <a:ln>
            <a:solidFill>
              <a:schemeClr val="tx1"/>
            </a:solidFill>
          </a:ln>
        </p:spPr>
        <p:txBody>
          <a:bodyPr/>
          <a:lstStyle/>
          <a:p>
            <a:pPr>
              <a:buNone/>
            </a:pPr>
            <a:r>
              <a:rPr lang="zh-CN" altLang="en-US" sz="2400" b="1" dirty="0" smtClean="0">
                <a:solidFill>
                  <a:srgbClr val="FF0000"/>
                </a:solidFill>
              </a:rPr>
              <a:t>主索引</a:t>
            </a:r>
            <a:r>
              <a:rPr lang="en-US" altLang="zh-CN" sz="2400" b="1" dirty="0" smtClean="0"/>
              <a:t>:</a:t>
            </a:r>
            <a:r>
              <a:rPr lang="zh-CN" altLang="en-US" sz="2400" dirty="0" smtClean="0"/>
              <a:t>引擎使用</a:t>
            </a:r>
            <a:r>
              <a:rPr lang="en-US" sz="2400" dirty="0" err="1" smtClean="0"/>
              <a:t>B+Tree</a:t>
            </a:r>
            <a:r>
              <a:rPr lang="zh-CN" altLang="en-US" sz="2400" dirty="0" smtClean="0"/>
              <a:t>作为索引结构，叶节点</a:t>
            </a:r>
            <a:r>
              <a:rPr lang="en-US" altLang="zh-CN" sz="2400" dirty="0" smtClean="0"/>
              <a:t>[</a:t>
            </a:r>
            <a:r>
              <a:rPr lang="en-US" altLang="zh-CN" sz="2400" dirty="0" err="1" smtClean="0"/>
              <a:t>key,data</a:t>
            </a:r>
            <a:r>
              <a:rPr lang="en-US" altLang="zh-CN" sz="2400" dirty="0" smtClean="0"/>
              <a:t>]</a:t>
            </a:r>
            <a:r>
              <a:rPr lang="zh-CN" altLang="en-US" sz="2400" dirty="0" smtClean="0"/>
              <a:t>的</a:t>
            </a:r>
            <a:r>
              <a:rPr lang="en-US" sz="2400" dirty="0" smtClean="0"/>
              <a:t>data</a:t>
            </a:r>
            <a:r>
              <a:rPr lang="zh-CN" altLang="en-US" sz="2400" dirty="0" smtClean="0"/>
              <a:t>域存放的是数据记录的地址。下图是</a:t>
            </a:r>
            <a:r>
              <a:rPr lang="en-US" sz="2400" dirty="0" err="1" smtClean="0"/>
              <a:t>MyISAM</a:t>
            </a:r>
            <a:r>
              <a:rPr lang="zh-CN" altLang="en-US" sz="2400" dirty="0" smtClean="0"/>
              <a:t>索引的原理图：</a:t>
            </a:r>
          </a:p>
          <a:p>
            <a:endParaRPr lang="zh-CN" altLang="en-US" dirty="0"/>
          </a:p>
        </p:txBody>
      </p:sp>
      <p:pic>
        <p:nvPicPr>
          <p:cNvPr id="4" name="图片 3" descr="MySQL索引背后的数据结构及算法原理">
            <a:hlinkClick r:id="rId2" tgtFrame="&quot;_blank&quot;"/>
          </p:cNvPr>
          <p:cNvPicPr/>
          <p:nvPr/>
        </p:nvPicPr>
        <p:blipFill>
          <a:blip r:embed="rId3"/>
          <a:srcRect/>
          <a:stretch>
            <a:fillRect/>
          </a:stretch>
        </p:blipFill>
        <p:spPr bwMode="auto">
          <a:xfrm>
            <a:off x="2987824" y="1769333"/>
            <a:ext cx="5881409" cy="4429132"/>
          </a:xfrm>
          <a:prstGeom prst="rect">
            <a:avLst/>
          </a:prstGeom>
          <a:noFill/>
          <a:ln w="9525">
            <a:noFill/>
            <a:miter lim="800000"/>
            <a:headEnd/>
            <a:tailEnd/>
          </a:ln>
        </p:spPr>
      </p:pic>
      <p:sp>
        <p:nvSpPr>
          <p:cNvPr id="20481" name="Rectangle 1"/>
          <p:cNvSpPr>
            <a:spLocks noChangeArrowheads="1"/>
          </p:cNvSpPr>
          <p:nvPr/>
        </p:nvSpPr>
        <p:spPr bwMode="auto">
          <a:xfrm>
            <a:off x="5072066" y="6286520"/>
            <a:ext cx="2643206"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1" i="0" u="none" strike="noStrike" cap="none" normalizeH="0" baseline="0" dirty="0" smtClean="0">
                <a:ln>
                  <a:noFill/>
                </a:ln>
                <a:solidFill>
                  <a:srgbClr val="222222"/>
                </a:solidFill>
                <a:effectLst/>
                <a:latin typeface="+mn-ea"/>
                <a:cs typeface="Tahoma" pitchFamily="34" charset="0"/>
              </a:rPr>
              <a:t>图</a:t>
            </a:r>
            <a:r>
              <a:rPr kumimoji="0" lang="en-US" altLang="zh-CN" b="1" i="0" u="none" strike="noStrike" cap="none" normalizeH="0" baseline="0" dirty="0" smtClean="0">
                <a:ln>
                  <a:noFill/>
                </a:ln>
                <a:solidFill>
                  <a:srgbClr val="222222"/>
                </a:solidFill>
                <a:effectLst/>
                <a:latin typeface="+mn-ea"/>
                <a:cs typeface="Tahoma" pitchFamily="34" charset="0"/>
              </a:rPr>
              <a:t>  </a:t>
            </a:r>
            <a:r>
              <a:rPr kumimoji="0" lang="en-US" altLang="zh-CN" b="1" i="0" u="none" strike="noStrike" cap="none" normalizeH="0" baseline="0" dirty="0" err="1" smtClean="0">
                <a:ln>
                  <a:noFill/>
                </a:ln>
                <a:solidFill>
                  <a:srgbClr val="222222"/>
                </a:solidFill>
                <a:effectLst/>
                <a:latin typeface="+mn-ea"/>
                <a:cs typeface="Tahoma" pitchFamily="34" charset="0"/>
              </a:rPr>
              <a:t>MyISAM</a:t>
            </a:r>
            <a:r>
              <a:rPr kumimoji="0" lang="zh-CN" altLang="en-US" b="1" i="0" u="none" strike="noStrike" cap="none" normalizeH="0" baseline="0" dirty="0" smtClean="0">
                <a:ln>
                  <a:noFill/>
                </a:ln>
                <a:solidFill>
                  <a:srgbClr val="222222"/>
                </a:solidFill>
                <a:effectLst/>
                <a:latin typeface="+mn-ea"/>
                <a:cs typeface="Tahoma" pitchFamily="34" charset="0"/>
              </a:rPr>
              <a:t>主索引</a:t>
            </a:r>
            <a:endParaRPr kumimoji="0" lang="zh-CN" altLang="en-US" b="1" i="0" u="none" strike="noStrike" cap="none" normalizeH="0" baseline="0" dirty="0" smtClean="0">
              <a:ln>
                <a:noFill/>
              </a:ln>
              <a:solidFill>
                <a:schemeClr val="tx1"/>
              </a:solidFill>
              <a:effectLst/>
              <a:latin typeface="+mn-ea"/>
              <a:cs typeface="宋体" pitchFamily="2" charset="-122"/>
            </a:endParaRPr>
          </a:p>
        </p:txBody>
      </p:sp>
      <p:sp>
        <p:nvSpPr>
          <p:cNvPr id="5" name="椭圆 4"/>
          <p:cNvSpPr/>
          <p:nvPr/>
        </p:nvSpPr>
        <p:spPr>
          <a:xfrm>
            <a:off x="6804248" y="3933056"/>
            <a:ext cx="648072" cy="18722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7236296" y="3573016"/>
            <a:ext cx="432048" cy="360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653311" y="3300295"/>
            <a:ext cx="1403648" cy="369332"/>
          </a:xfrm>
          <a:prstGeom prst="rect">
            <a:avLst/>
          </a:prstGeom>
          <a:noFill/>
        </p:spPr>
        <p:txBody>
          <a:bodyPr wrap="square" rtlCol="0">
            <a:spAutoFit/>
          </a:bodyPr>
          <a:lstStyle/>
          <a:p>
            <a:r>
              <a:rPr lang="en-US" altLang="zh-CN" smtClean="0">
                <a:solidFill>
                  <a:srgbClr val="FF0000"/>
                </a:solidFill>
              </a:rPr>
              <a:t>Primary key</a:t>
            </a:r>
            <a:endParaRPr lang="zh-CN" altLang="en-US">
              <a:solidFill>
                <a:srgbClr val="FF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en-US" dirty="0" smtClean="0"/>
              <a:t>.1 </a:t>
            </a:r>
            <a:r>
              <a:rPr lang="en-US" dirty="0" err="1" smtClean="0"/>
              <a:t>MyISAM</a:t>
            </a:r>
            <a:r>
              <a:rPr lang="zh-CN" altLang="en-US" dirty="0" smtClean="0"/>
              <a:t>索引实现（续）</a:t>
            </a:r>
            <a:endParaRPr lang="zh-CN" altLang="en-US" dirty="0"/>
          </a:p>
        </p:txBody>
      </p:sp>
      <p:sp>
        <p:nvSpPr>
          <p:cNvPr id="3" name="内容占位符 2"/>
          <p:cNvSpPr>
            <a:spLocks noGrp="1"/>
          </p:cNvSpPr>
          <p:nvPr>
            <p:ph idx="1"/>
          </p:nvPr>
        </p:nvSpPr>
        <p:spPr>
          <a:xfrm>
            <a:off x="100010" y="1571612"/>
            <a:ext cx="2328850" cy="4525963"/>
          </a:xfrm>
          <a:solidFill>
            <a:schemeClr val="bg2">
              <a:lumMod val="90000"/>
            </a:schemeClr>
          </a:solidFill>
          <a:ln>
            <a:solidFill>
              <a:schemeClr val="tx1"/>
            </a:solidFill>
          </a:ln>
        </p:spPr>
        <p:txBody>
          <a:bodyPr>
            <a:noAutofit/>
          </a:bodyPr>
          <a:lstStyle/>
          <a:p>
            <a:pPr>
              <a:buNone/>
            </a:pPr>
            <a:r>
              <a:rPr lang="zh-CN" altLang="en-US" sz="2000" b="1" dirty="0" smtClean="0">
                <a:solidFill>
                  <a:srgbClr val="FF0000"/>
                </a:solidFill>
              </a:rPr>
              <a:t>    辅助索引</a:t>
            </a:r>
            <a:r>
              <a:rPr lang="zh-CN" altLang="en-US" sz="2000" b="1" dirty="0" smtClean="0"/>
              <a:t>：</a:t>
            </a:r>
            <a:r>
              <a:rPr lang="zh-CN" altLang="en-US" sz="2000" dirty="0" smtClean="0"/>
              <a:t>主索引和辅助索引（</a:t>
            </a:r>
            <a:r>
              <a:rPr lang="en-US" sz="2000" dirty="0" smtClean="0"/>
              <a:t>Secondary key</a:t>
            </a:r>
            <a:r>
              <a:rPr lang="zh-CN" altLang="en-US" sz="2000" dirty="0" smtClean="0"/>
              <a:t>）在结构上没有任何区别，只是主索引要求</a:t>
            </a:r>
            <a:r>
              <a:rPr lang="en-US" sz="2000" dirty="0" smtClean="0"/>
              <a:t>key</a:t>
            </a:r>
            <a:r>
              <a:rPr lang="zh-CN" altLang="en-US" sz="2000" dirty="0" smtClean="0"/>
              <a:t>是唯一的，而辅助索引的</a:t>
            </a:r>
            <a:r>
              <a:rPr lang="en-US" sz="2000" dirty="0" smtClean="0"/>
              <a:t>key</a:t>
            </a:r>
            <a:r>
              <a:rPr lang="zh-CN" altLang="en-US" sz="2000" dirty="0" smtClean="0"/>
              <a:t>可以重复。如果我们在</a:t>
            </a:r>
            <a:r>
              <a:rPr lang="en-US" sz="2000" dirty="0" smtClean="0"/>
              <a:t>Col2</a:t>
            </a:r>
            <a:r>
              <a:rPr lang="zh-CN" altLang="en-US" sz="2000" dirty="0" smtClean="0"/>
              <a:t>上建立一个辅助索引，则此索引的结构如下图所示</a:t>
            </a:r>
            <a:endParaRPr lang="zh-CN" altLang="en-US" sz="2000" dirty="0"/>
          </a:p>
        </p:txBody>
      </p:sp>
      <p:pic>
        <p:nvPicPr>
          <p:cNvPr id="5" name="图片 4" descr="MySQL索引背后的数据结构及算法原理">
            <a:hlinkClick r:id="rId2" tgtFrame="&quot;_blank&quot;"/>
          </p:cNvPr>
          <p:cNvPicPr/>
          <p:nvPr/>
        </p:nvPicPr>
        <p:blipFill>
          <a:blip r:embed="rId3"/>
          <a:srcRect/>
          <a:stretch>
            <a:fillRect/>
          </a:stretch>
        </p:blipFill>
        <p:spPr bwMode="auto">
          <a:xfrm>
            <a:off x="3071802" y="1428736"/>
            <a:ext cx="5730714" cy="4603898"/>
          </a:xfrm>
          <a:prstGeom prst="rect">
            <a:avLst/>
          </a:prstGeom>
          <a:noFill/>
          <a:ln w="9525">
            <a:noFill/>
            <a:miter lim="800000"/>
            <a:headEnd/>
            <a:tailEnd/>
          </a:ln>
        </p:spPr>
      </p:pic>
      <p:sp>
        <p:nvSpPr>
          <p:cNvPr id="6" name="矩形 5"/>
          <p:cNvSpPr/>
          <p:nvPr/>
        </p:nvSpPr>
        <p:spPr>
          <a:xfrm>
            <a:off x="3143240" y="5572140"/>
            <a:ext cx="2667462" cy="369332"/>
          </a:xfrm>
          <a:prstGeom prst="rect">
            <a:avLst/>
          </a:prstGeom>
        </p:spPr>
        <p:txBody>
          <a:bodyPr wrap="none">
            <a:spAutoFit/>
          </a:bodyPr>
          <a:lstStyle/>
          <a:p>
            <a:r>
              <a:rPr lang="zh-CN" altLang="en-US" b="1" dirty="0"/>
              <a:t>图</a:t>
            </a:r>
            <a:r>
              <a:rPr lang="en-US" b="1" dirty="0"/>
              <a:t>5 </a:t>
            </a:r>
            <a:r>
              <a:rPr lang="en-US" b="1" dirty="0" err="1"/>
              <a:t>MyISAM</a:t>
            </a:r>
            <a:r>
              <a:rPr lang="en-US" b="1" dirty="0"/>
              <a:t> </a:t>
            </a:r>
            <a:r>
              <a:rPr lang="zh-CN" altLang="en-US" b="1" dirty="0"/>
              <a:t>的辅助索引</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4</a:t>
            </a:r>
            <a:r>
              <a:rPr lang="en-US" dirty="0" smtClean="0"/>
              <a:t>.2 InnoDB</a:t>
            </a:r>
            <a:r>
              <a:rPr lang="zh-CN" altLang="en-US" dirty="0" smtClean="0"/>
              <a:t>索引实现</a:t>
            </a:r>
            <a:endParaRPr lang="zh-CN" altLang="en-US" dirty="0"/>
          </a:p>
        </p:txBody>
      </p:sp>
      <p:pic>
        <p:nvPicPr>
          <p:cNvPr id="4" name="内容占位符 3" descr="MySQL索引背后的数据结构及算法原理"/>
          <p:cNvPicPr>
            <a:picLocks noGrp="1"/>
          </p:cNvPicPr>
          <p:nvPr>
            <p:ph idx="1"/>
          </p:nvPr>
        </p:nvPicPr>
        <p:blipFill>
          <a:blip r:embed="rId2"/>
          <a:srcRect/>
          <a:stretch>
            <a:fillRect/>
          </a:stretch>
        </p:blipFill>
        <p:spPr bwMode="auto">
          <a:xfrm>
            <a:off x="2555776" y="2080429"/>
            <a:ext cx="6498577" cy="3292787"/>
          </a:xfrm>
          <a:prstGeom prst="rect">
            <a:avLst/>
          </a:prstGeom>
          <a:noFill/>
          <a:ln w="9525">
            <a:noFill/>
            <a:miter lim="800000"/>
            <a:headEnd/>
            <a:tailEnd/>
          </a:ln>
        </p:spPr>
      </p:pic>
      <p:sp>
        <p:nvSpPr>
          <p:cNvPr id="28673" name="Rectangle 1"/>
          <p:cNvSpPr>
            <a:spLocks noChangeArrowheads="1"/>
          </p:cNvSpPr>
          <p:nvPr/>
        </p:nvSpPr>
        <p:spPr bwMode="auto">
          <a:xfrm>
            <a:off x="2714612" y="6000768"/>
            <a:ext cx="1981632"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1" i="0" u="none" strike="noStrike" cap="none" normalizeH="0" baseline="0" dirty="0" smtClean="0">
                <a:ln>
                  <a:noFill/>
                </a:ln>
                <a:solidFill>
                  <a:srgbClr val="222222"/>
                </a:solidFill>
                <a:effectLst/>
                <a:latin typeface="+mn-ea"/>
                <a:cs typeface="Tahoma" pitchFamily="34" charset="0"/>
              </a:rPr>
              <a:t>图</a:t>
            </a:r>
            <a:r>
              <a:rPr kumimoji="0" lang="en-US" altLang="zh-CN" b="1" i="0" u="none" strike="noStrike" cap="none" normalizeH="0" baseline="0" dirty="0" smtClean="0">
                <a:ln>
                  <a:noFill/>
                </a:ln>
                <a:solidFill>
                  <a:srgbClr val="222222"/>
                </a:solidFill>
                <a:effectLst/>
                <a:latin typeface="+mn-ea"/>
                <a:cs typeface="Tahoma" pitchFamily="34" charset="0"/>
              </a:rPr>
              <a:t>  InnoDB</a:t>
            </a:r>
            <a:r>
              <a:rPr kumimoji="0" lang="zh-CN" altLang="en-US" b="1" i="0" u="none" strike="noStrike" cap="none" normalizeH="0" baseline="0" dirty="0" smtClean="0">
                <a:ln>
                  <a:noFill/>
                </a:ln>
                <a:solidFill>
                  <a:srgbClr val="222222"/>
                </a:solidFill>
                <a:effectLst/>
                <a:latin typeface="+mn-ea"/>
                <a:cs typeface="Tahoma" pitchFamily="34" charset="0"/>
              </a:rPr>
              <a:t>主索引</a:t>
            </a:r>
            <a:endParaRPr kumimoji="0" lang="zh-CN" altLang="en-US" b="1" i="0" u="none" strike="noStrike" cap="none" normalizeH="0" baseline="0" dirty="0" smtClean="0">
              <a:ln>
                <a:noFill/>
              </a:ln>
              <a:solidFill>
                <a:schemeClr val="tx1"/>
              </a:solidFill>
              <a:effectLst/>
              <a:latin typeface="+mn-ea"/>
              <a:cs typeface="宋体" pitchFamily="2" charset="-122"/>
            </a:endParaRPr>
          </a:p>
        </p:txBody>
      </p:sp>
      <p:sp>
        <p:nvSpPr>
          <p:cNvPr id="28674" name="Rectangle 2"/>
          <p:cNvSpPr>
            <a:spLocks noChangeArrowheads="1"/>
          </p:cNvSpPr>
          <p:nvPr/>
        </p:nvSpPr>
        <p:spPr bwMode="auto">
          <a:xfrm>
            <a:off x="179512" y="2100467"/>
            <a:ext cx="1857388" cy="3416320"/>
          </a:xfrm>
          <a:prstGeom prst="rect">
            <a:avLst/>
          </a:prstGeom>
          <a:solidFill>
            <a:schemeClr val="bg2">
              <a:lumMod val="9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rgbClr val="FF0000"/>
                </a:solidFill>
                <a:effectLst/>
                <a:latin typeface="+mn-ea"/>
                <a:cs typeface="Tahoma" pitchFamily="34" charset="0"/>
              </a:rPr>
              <a:t>InnoDB</a:t>
            </a:r>
            <a:r>
              <a:rPr kumimoji="0" lang="zh-CN" altLang="en-US" sz="2400" b="1" i="0" u="none" strike="noStrike" cap="none" normalizeH="0" baseline="0" dirty="0" smtClean="0">
                <a:ln>
                  <a:noFill/>
                </a:ln>
                <a:solidFill>
                  <a:srgbClr val="FF0000"/>
                </a:solidFill>
                <a:effectLst/>
                <a:latin typeface="+mn-ea"/>
                <a:cs typeface="Tahoma" pitchFamily="34" charset="0"/>
              </a:rPr>
              <a:t>主索引</a:t>
            </a:r>
            <a:r>
              <a:rPr kumimoji="0" lang="zh-CN" altLang="en-US" sz="2400" b="0" i="0" u="none" strike="noStrike" cap="none" normalizeH="0" baseline="0" dirty="0" smtClean="0">
                <a:ln>
                  <a:noFill/>
                </a:ln>
                <a:solidFill>
                  <a:srgbClr val="222222"/>
                </a:solidFill>
                <a:effectLst/>
                <a:latin typeface="+mn-ea"/>
                <a:cs typeface="Tahoma" pitchFamily="34" charset="0"/>
              </a:rPr>
              <a:t>（同时也是数据文件）</a:t>
            </a:r>
            <a:r>
              <a:rPr kumimoji="0" lang="en-US" altLang="zh-CN" sz="2400" b="0" i="0" u="none" strike="noStrike" cap="none" normalizeH="0" baseline="0" dirty="0" smtClean="0">
                <a:ln>
                  <a:noFill/>
                </a:ln>
                <a:solidFill>
                  <a:srgbClr val="222222"/>
                </a:solidFill>
                <a:effectLst/>
                <a:latin typeface="+mn-ea"/>
                <a:cs typeface="Tahoma" pitchFamily="34" charset="0"/>
              </a:rPr>
              <a:t>:</a:t>
            </a:r>
            <a:r>
              <a:rPr kumimoji="0" lang="zh-CN" altLang="en-US" sz="2400" b="0" i="0" u="none" strike="noStrike" cap="none" normalizeH="0" baseline="0" dirty="0" smtClean="0">
                <a:ln>
                  <a:noFill/>
                </a:ln>
                <a:solidFill>
                  <a:srgbClr val="222222"/>
                </a:solidFill>
                <a:effectLst/>
                <a:latin typeface="+mn-ea"/>
                <a:cs typeface="Tahoma" pitchFamily="34" charset="0"/>
              </a:rPr>
              <a:t>可以看到叶节点包含了完整的数据记录。这种索引叫做</a:t>
            </a:r>
            <a:r>
              <a:rPr kumimoji="0" lang="zh-CN" altLang="en-US" sz="2400" b="0" i="0" u="none" strike="noStrike" cap="none" normalizeH="0" baseline="0" dirty="0" smtClean="0">
                <a:ln>
                  <a:noFill/>
                </a:ln>
                <a:solidFill>
                  <a:srgbClr val="FF0000"/>
                </a:solidFill>
                <a:effectLst/>
                <a:latin typeface="+mn-ea"/>
                <a:cs typeface="Tahoma" pitchFamily="34" charset="0"/>
              </a:rPr>
              <a:t>聚集索引</a:t>
            </a:r>
            <a:r>
              <a:rPr kumimoji="0" lang="zh-CN" altLang="en-US" b="0" i="0" u="none" strike="noStrike" cap="none" normalizeH="0" baseline="0" dirty="0" smtClean="0">
                <a:ln>
                  <a:noFill/>
                </a:ln>
                <a:solidFill>
                  <a:srgbClr val="222222"/>
                </a:solidFill>
                <a:effectLst/>
                <a:latin typeface="Tahoma" pitchFamily="34" charset="0"/>
                <a:ea typeface="宋体" pitchFamily="2" charset="-122"/>
                <a:cs typeface="Tahoma" pitchFamily="34" charset="0"/>
              </a:rPr>
              <a:t>。</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 name="矩形 2"/>
          <p:cNvSpPr/>
          <p:nvPr/>
        </p:nvSpPr>
        <p:spPr>
          <a:xfrm>
            <a:off x="1254460" y="1196752"/>
            <a:ext cx="6635080" cy="646331"/>
          </a:xfrm>
          <a:prstGeom prst="rect">
            <a:avLst/>
          </a:prstGeom>
          <a:solidFill>
            <a:srgbClr val="FFC000"/>
          </a:solidFill>
        </p:spPr>
        <p:txBody>
          <a:bodyPr wrap="square">
            <a:spAutoFit/>
          </a:bodyPr>
          <a:lstStyle/>
          <a:p>
            <a:r>
              <a:rPr lang="en-US" altLang="zh-CN" dirty="0"/>
              <a:t>InnoDB</a:t>
            </a:r>
            <a:r>
              <a:rPr lang="zh-CN" altLang="en-US" dirty="0"/>
              <a:t>也使用</a:t>
            </a:r>
            <a:r>
              <a:rPr lang="en-US" altLang="zh-CN" dirty="0" err="1"/>
              <a:t>B+Tree</a:t>
            </a:r>
            <a:r>
              <a:rPr lang="zh-CN" altLang="en-US" dirty="0"/>
              <a:t>作为索引结构，但具体实现方式却与</a:t>
            </a:r>
            <a:r>
              <a:rPr lang="en-US" altLang="zh-CN" dirty="0" err="1"/>
              <a:t>MyISAM</a:t>
            </a:r>
            <a:r>
              <a:rPr lang="zh-CN" altLang="en-US" dirty="0"/>
              <a:t>截然不同。</a:t>
            </a:r>
          </a:p>
        </p:txBody>
      </p:sp>
      <p:pic>
        <p:nvPicPr>
          <p:cNvPr id="5" name="图片 4"/>
          <p:cNvPicPr>
            <a:picLocks noChangeAspect="1"/>
          </p:cNvPicPr>
          <p:nvPr/>
        </p:nvPicPr>
        <p:blipFill>
          <a:blip r:embed="rId3"/>
          <a:stretch>
            <a:fillRect/>
          </a:stretch>
        </p:blipFill>
        <p:spPr>
          <a:xfrm>
            <a:off x="7524328" y="4941168"/>
            <a:ext cx="1497173" cy="189096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en-US" dirty="0" smtClean="0"/>
              <a:t>.2 InnoDB</a:t>
            </a:r>
            <a:r>
              <a:rPr lang="zh-CN" altLang="en-US" dirty="0" smtClean="0"/>
              <a:t>索引实现（续）</a:t>
            </a:r>
            <a:endParaRPr lang="zh-CN" altLang="en-US" dirty="0"/>
          </a:p>
        </p:txBody>
      </p:sp>
      <p:sp>
        <p:nvSpPr>
          <p:cNvPr id="3" name="内容占位符 2"/>
          <p:cNvSpPr>
            <a:spLocks noGrp="1"/>
          </p:cNvSpPr>
          <p:nvPr>
            <p:ph idx="1"/>
          </p:nvPr>
        </p:nvSpPr>
        <p:spPr>
          <a:xfrm>
            <a:off x="457200" y="1600200"/>
            <a:ext cx="2257412" cy="4525963"/>
          </a:xfrm>
          <a:solidFill>
            <a:schemeClr val="bg2">
              <a:lumMod val="90000"/>
            </a:schemeClr>
          </a:solidFill>
          <a:ln>
            <a:solidFill>
              <a:schemeClr val="tx1"/>
            </a:solidFill>
          </a:ln>
        </p:spPr>
        <p:txBody>
          <a:bodyPr>
            <a:normAutofit fontScale="85000" lnSpcReduction="10000"/>
          </a:bodyPr>
          <a:lstStyle/>
          <a:p>
            <a:r>
              <a:rPr lang="en-US" b="1" dirty="0" smtClean="0">
                <a:solidFill>
                  <a:srgbClr val="FF0000"/>
                </a:solidFill>
              </a:rPr>
              <a:t>InnoDB</a:t>
            </a:r>
            <a:r>
              <a:rPr lang="zh-CN" altLang="en-US" b="1" dirty="0" smtClean="0">
                <a:solidFill>
                  <a:srgbClr val="FF0000"/>
                </a:solidFill>
              </a:rPr>
              <a:t>辅助索引</a:t>
            </a:r>
            <a:r>
              <a:rPr lang="en-US" altLang="zh-CN" dirty="0" smtClean="0"/>
              <a:t>:</a:t>
            </a:r>
            <a:r>
              <a:rPr lang="zh-CN" altLang="en-US" dirty="0" smtClean="0"/>
              <a:t>辅助索引搜索需要检索两遍索引：首先检索辅助索引获得主键，然后用主键到主索引中检索获得记录。</a:t>
            </a:r>
            <a:endParaRPr lang="zh-CN" altLang="en-US" dirty="0"/>
          </a:p>
        </p:txBody>
      </p:sp>
      <p:pic>
        <p:nvPicPr>
          <p:cNvPr id="4" name="图片 3" descr="MySQL索引背后的数据结构及算法原理"/>
          <p:cNvPicPr/>
          <p:nvPr/>
        </p:nvPicPr>
        <p:blipFill>
          <a:blip r:embed="rId2"/>
          <a:srcRect/>
          <a:stretch>
            <a:fillRect/>
          </a:stretch>
        </p:blipFill>
        <p:spPr bwMode="auto">
          <a:xfrm>
            <a:off x="2928926" y="2071678"/>
            <a:ext cx="5810572" cy="3714776"/>
          </a:xfrm>
          <a:prstGeom prst="rect">
            <a:avLst/>
          </a:prstGeom>
          <a:noFill/>
          <a:ln w="9525">
            <a:noFill/>
            <a:miter lim="800000"/>
            <a:headEnd/>
            <a:tailEnd/>
          </a:ln>
        </p:spPr>
      </p:pic>
      <p:sp>
        <p:nvSpPr>
          <p:cNvPr id="30721" name="Rectangle 1"/>
          <p:cNvSpPr>
            <a:spLocks noChangeArrowheads="1"/>
          </p:cNvSpPr>
          <p:nvPr/>
        </p:nvSpPr>
        <p:spPr bwMode="auto">
          <a:xfrm>
            <a:off x="3857620" y="6000768"/>
            <a:ext cx="4500594"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1" i="0" u="none" strike="noStrike" cap="none" normalizeH="0" baseline="0" dirty="0" smtClean="0">
                <a:ln>
                  <a:noFill/>
                </a:ln>
                <a:solidFill>
                  <a:srgbClr val="222222"/>
                </a:solidFill>
                <a:effectLst/>
                <a:latin typeface="+mn-ea"/>
                <a:cs typeface="Tahoma" pitchFamily="34" charset="0"/>
              </a:rPr>
              <a:t>图</a:t>
            </a:r>
            <a:r>
              <a:rPr kumimoji="0" lang="en-US" altLang="zh-CN" b="1" i="0" u="none" strike="noStrike" cap="none" normalizeH="0" baseline="0" dirty="0" smtClean="0">
                <a:ln>
                  <a:noFill/>
                </a:ln>
                <a:solidFill>
                  <a:srgbClr val="222222"/>
                </a:solidFill>
                <a:effectLst/>
                <a:latin typeface="+mn-ea"/>
                <a:cs typeface="Tahoma" pitchFamily="34" charset="0"/>
              </a:rPr>
              <a:t>7  InnoDB</a:t>
            </a:r>
            <a:r>
              <a:rPr kumimoji="0" lang="zh-CN" altLang="en-US" b="1" i="0" u="none" strike="noStrike" cap="none" normalizeH="0" baseline="0" dirty="0" smtClean="0">
                <a:ln>
                  <a:noFill/>
                </a:ln>
                <a:solidFill>
                  <a:srgbClr val="222222"/>
                </a:solidFill>
                <a:effectLst/>
                <a:latin typeface="+mn-ea"/>
                <a:cs typeface="Tahoma" pitchFamily="34" charset="0"/>
              </a:rPr>
              <a:t>辅助索引</a:t>
            </a:r>
            <a:endParaRPr kumimoji="0" lang="zh-CN" altLang="en-US" b="1" i="0" u="none" strike="noStrike" cap="none" normalizeH="0" baseline="0" dirty="0" smtClean="0">
              <a:ln>
                <a:noFill/>
              </a:ln>
              <a:solidFill>
                <a:schemeClr val="tx1"/>
              </a:solidFill>
              <a:effectLst/>
              <a:latin typeface="+mn-ea"/>
              <a:cs typeface="宋体" pitchFamily="2" charset="-122"/>
            </a:endParaRPr>
          </a:p>
        </p:txBody>
      </p:sp>
      <p:pic>
        <p:nvPicPr>
          <p:cNvPr id="5" name="图片 4"/>
          <p:cNvPicPr>
            <a:picLocks noChangeAspect="1"/>
          </p:cNvPicPr>
          <p:nvPr/>
        </p:nvPicPr>
        <p:blipFill>
          <a:blip r:embed="rId3"/>
          <a:stretch>
            <a:fillRect/>
          </a:stretch>
        </p:blipFill>
        <p:spPr>
          <a:xfrm>
            <a:off x="2742944" y="1417638"/>
            <a:ext cx="1829056" cy="231013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4</a:t>
            </a:r>
            <a:r>
              <a:rPr lang="en-US" dirty="0" smtClean="0"/>
              <a:t>.2 InnoDB</a:t>
            </a:r>
            <a:r>
              <a:rPr lang="zh-CN" altLang="en-US" dirty="0" smtClean="0"/>
              <a:t>索引实现</a:t>
            </a:r>
            <a:endParaRPr lang="zh-CN" altLang="en-US" dirty="0"/>
          </a:p>
        </p:txBody>
      </p:sp>
      <p:sp>
        <p:nvSpPr>
          <p:cNvPr id="3" name="内容占位符 2"/>
          <p:cNvSpPr>
            <a:spLocks noGrp="1"/>
          </p:cNvSpPr>
          <p:nvPr>
            <p:ph idx="1"/>
          </p:nvPr>
        </p:nvSpPr>
        <p:spPr/>
        <p:txBody>
          <a:bodyPr>
            <a:normAutofit fontScale="92500"/>
          </a:bodyPr>
          <a:lstStyle/>
          <a:p>
            <a:r>
              <a:rPr lang="zh-CN" altLang="en-US" sz="2600" dirty="0" smtClean="0"/>
              <a:t>虽然</a:t>
            </a:r>
            <a:r>
              <a:rPr lang="en-US" sz="2600" dirty="0" smtClean="0"/>
              <a:t>InnoDB</a:t>
            </a:r>
            <a:r>
              <a:rPr lang="zh-CN" altLang="en-US" sz="2600" dirty="0" smtClean="0"/>
              <a:t>也使用</a:t>
            </a:r>
            <a:r>
              <a:rPr lang="en-US" sz="2600" dirty="0" err="1" smtClean="0"/>
              <a:t>B+Tree</a:t>
            </a:r>
            <a:r>
              <a:rPr lang="zh-CN" altLang="en-US" sz="2600" dirty="0" smtClean="0"/>
              <a:t>作为索引结构，但具体实现方式却与</a:t>
            </a:r>
            <a:r>
              <a:rPr lang="en-US" sz="2600" dirty="0" err="1" smtClean="0"/>
              <a:t>MyISAM</a:t>
            </a:r>
            <a:r>
              <a:rPr lang="zh-CN" altLang="en-US" sz="2600" dirty="0" smtClean="0"/>
              <a:t>截然不同。</a:t>
            </a:r>
          </a:p>
          <a:p>
            <a:r>
              <a:rPr lang="zh-CN" altLang="en-US" sz="2600" dirty="0" smtClean="0"/>
              <a:t>第一个重大区别是</a:t>
            </a:r>
            <a:r>
              <a:rPr lang="en-US" sz="2600" dirty="0" smtClean="0"/>
              <a:t>InnoDB</a:t>
            </a:r>
            <a:r>
              <a:rPr lang="zh-CN" altLang="en-US" sz="2600" dirty="0" smtClean="0"/>
              <a:t>的数据文件本身就是索引文件。从上文知道，</a:t>
            </a:r>
            <a:r>
              <a:rPr lang="en-US" sz="2600" dirty="0" err="1" smtClean="0"/>
              <a:t>MyISAM</a:t>
            </a:r>
            <a:r>
              <a:rPr lang="zh-CN" altLang="en-US" sz="2600" dirty="0" smtClean="0"/>
              <a:t>索引文件和数据文件是分离的，索引文件仅保存数据记录的地址。而在</a:t>
            </a:r>
            <a:r>
              <a:rPr lang="en-US" sz="2600" dirty="0" smtClean="0"/>
              <a:t>InnoDB</a:t>
            </a:r>
            <a:r>
              <a:rPr lang="zh-CN" altLang="en-US" sz="2600" dirty="0" smtClean="0"/>
              <a:t>中，表数据文件本身就是按</a:t>
            </a:r>
            <a:r>
              <a:rPr lang="en-US" sz="2600" dirty="0" err="1" smtClean="0"/>
              <a:t>B+Tree</a:t>
            </a:r>
            <a:r>
              <a:rPr lang="zh-CN" altLang="en-US" sz="2600" dirty="0" smtClean="0"/>
              <a:t>组织的一个索引结构，这棵树的叶节点</a:t>
            </a:r>
            <a:r>
              <a:rPr lang="en-US" sz="2600" dirty="0" smtClean="0"/>
              <a:t>data</a:t>
            </a:r>
            <a:r>
              <a:rPr lang="zh-CN" altLang="en-US" sz="2600" dirty="0" smtClean="0"/>
              <a:t>域保存了完整的数据记录。这个索引的</a:t>
            </a:r>
            <a:r>
              <a:rPr lang="en-US" sz="2600" dirty="0" smtClean="0"/>
              <a:t>key</a:t>
            </a:r>
            <a:r>
              <a:rPr lang="zh-CN" altLang="en-US" sz="2600" dirty="0" smtClean="0"/>
              <a:t>是数据表的主键，因此</a:t>
            </a:r>
            <a:r>
              <a:rPr lang="en-US" sz="2600" dirty="0" smtClean="0"/>
              <a:t>InnoDB</a:t>
            </a:r>
            <a:r>
              <a:rPr lang="zh-CN" altLang="en-US" sz="2600" dirty="0" smtClean="0"/>
              <a:t>表数据文件本身就是主索引。</a:t>
            </a:r>
            <a:endParaRPr lang="en-US" altLang="zh-CN" sz="2600" dirty="0" smtClean="0"/>
          </a:p>
          <a:p>
            <a:r>
              <a:rPr lang="zh-CN" altLang="en-US" sz="2800" dirty="0" smtClean="0"/>
              <a:t>第二个与</a:t>
            </a:r>
            <a:r>
              <a:rPr lang="en-US" sz="2800" dirty="0" err="1" smtClean="0"/>
              <a:t>MyISAM</a:t>
            </a:r>
            <a:r>
              <a:rPr lang="zh-CN" altLang="en-US" sz="2800" dirty="0" smtClean="0"/>
              <a:t>索引的不同是</a:t>
            </a:r>
            <a:r>
              <a:rPr lang="en-US" sz="2800" dirty="0" smtClean="0"/>
              <a:t>InnoDB</a:t>
            </a:r>
            <a:r>
              <a:rPr lang="zh-CN" altLang="en-US" sz="2800" dirty="0" smtClean="0"/>
              <a:t>的辅助索引</a:t>
            </a:r>
            <a:r>
              <a:rPr lang="en-US" sz="2800" dirty="0" smtClean="0"/>
              <a:t>data</a:t>
            </a:r>
            <a:r>
              <a:rPr lang="zh-CN" altLang="en-US" sz="2800" dirty="0" smtClean="0"/>
              <a:t>域存储相应记录主键的值而不是地址。换句话说，</a:t>
            </a:r>
            <a:r>
              <a:rPr lang="en-US" sz="2800" dirty="0" smtClean="0"/>
              <a:t>InnoDB</a:t>
            </a:r>
            <a:r>
              <a:rPr lang="zh-CN" altLang="en-US" sz="2800" dirty="0" smtClean="0"/>
              <a:t>的所有辅助索引都引用主键作为</a:t>
            </a:r>
            <a:r>
              <a:rPr lang="en-US" sz="2800" dirty="0" smtClean="0"/>
              <a:t>data</a:t>
            </a:r>
            <a:r>
              <a:rPr lang="zh-CN" altLang="en-US" sz="2800" dirty="0" smtClean="0"/>
              <a:t>域。</a:t>
            </a:r>
          </a:p>
          <a:p>
            <a:endParaRPr lang="zh-CN" altLang="en-US" sz="2600" dirty="0" smtClean="0"/>
          </a:p>
          <a:p>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1"/>
            <a:ext cx="8229600" cy="964704"/>
          </a:xfrm>
        </p:spPr>
        <p:txBody>
          <a:bodyPr>
            <a:normAutofit fontScale="92500" lnSpcReduction="10000"/>
          </a:bodyPr>
          <a:lstStyle/>
          <a:p>
            <a:r>
              <a:rPr lang="en-US" altLang="zh-CN" dirty="0" smtClean="0"/>
              <a:t>MYISAN</a:t>
            </a:r>
            <a:r>
              <a:rPr lang="zh-CN" altLang="en-US" dirty="0" smtClean="0"/>
              <a:t>存储引擎下一个数据表有三个存储文件</a:t>
            </a:r>
            <a:endParaRPr lang="zh-CN" altLang="en-US" dirty="0"/>
          </a:p>
        </p:txBody>
      </p:sp>
      <p:pic>
        <p:nvPicPr>
          <p:cNvPr id="4" name="图片 3"/>
          <p:cNvPicPr>
            <a:picLocks noChangeAspect="1"/>
          </p:cNvPicPr>
          <p:nvPr/>
        </p:nvPicPr>
        <p:blipFill>
          <a:blip r:embed="rId2"/>
          <a:stretch>
            <a:fillRect/>
          </a:stretch>
        </p:blipFill>
        <p:spPr>
          <a:xfrm>
            <a:off x="741619" y="2704459"/>
            <a:ext cx="3000794" cy="1362265"/>
          </a:xfrm>
          <a:prstGeom prst="rect">
            <a:avLst/>
          </a:prstGeom>
        </p:spPr>
      </p:pic>
      <p:cxnSp>
        <p:nvCxnSpPr>
          <p:cNvPr id="6" name="直接箭头连接符 5"/>
          <p:cNvCxnSpPr/>
          <p:nvPr/>
        </p:nvCxnSpPr>
        <p:spPr>
          <a:xfrm flipV="1">
            <a:off x="3518397" y="2636912"/>
            <a:ext cx="1197619" cy="360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805220" y="2442343"/>
            <a:ext cx="1008112" cy="369332"/>
          </a:xfrm>
          <a:prstGeom prst="rect">
            <a:avLst/>
          </a:prstGeom>
          <a:solidFill>
            <a:srgbClr val="FFC000"/>
          </a:solidFill>
        </p:spPr>
        <p:txBody>
          <a:bodyPr wrap="square" rtlCol="0">
            <a:spAutoFit/>
          </a:bodyPr>
          <a:lstStyle/>
          <a:p>
            <a:r>
              <a:rPr lang="zh-CN" altLang="en-US" dirty="0" smtClean="0"/>
              <a:t>表定义</a:t>
            </a:r>
            <a:endParaRPr lang="zh-CN" altLang="en-US" dirty="0"/>
          </a:p>
        </p:txBody>
      </p:sp>
      <p:cxnSp>
        <p:nvCxnSpPr>
          <p:cNvPr id="8" name="直接箭头连接符 7"/>
          <p:cNvCxnSpPr/>
          <p:nvPr/>
        </p:nvCxnSpPr>
        <p:spPr>
          <a:xfrm>
            <a:off x="3563888" y="3395213"/>
            <a:ext cx="10801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788024" y="3984761"/>
            <a:ext cx="1008112" cy="369332"/>
          </a:xfrm>
          <a:prstGeom prst="rect">
            <a:avLst/>
          </a:prstGeom>
          <a:solidFill>
            <a:srgbClr val="FFC000"/>
          </a:solidFill>
        </p:spPr>
        <p:txBody>
          <a:bodyPr wrap="square" rtlCol="0">
            <a:spAutoFit/>
          </a:bodyPr>
          <a:lstStyle/>
          <a:p>
            <a:r>
              <a:rPr lang="zh-CN" altLang="en-US" dirty="0" smtClean="0"/>
              <a:t>表索引</a:t>
            </a:r>
            <a:endParaRPr lang="zh-CN" altLang="en-US" dirty="0"/>
          </a:p>
        </p:txBody>
      </p:sp>
      <p:cxnSp>
        <p:nvCxnSpPr>
          <p:cNvPr id="11" name="直接箭头连接符 10"/>
          <p:cNvCxnSpPr/>
          <p:nvPr/>
        </p:nvCxnSpPr>
        <p:spPr>
          <a:xfrm>
            <a:off x="3347864" y="3813580"/>
            <a:ext cx="1224136" cy="342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716016" y="3200925"/>
            <a:ext cx="1008112" cy="369332"/>
          </a:xfrm>
          <a:prstGeom prst="rect">
            <a:avLst/>
          </a:prstGeom>
          <a:solidFill>
            <a:srgbClr val="FFC000"/>
          </a:solidFill>
        </p:spPr>
        <p:txBody>
          <a:bodyPr wrap="square" rtlCol="0">
            <a:spAutoFit/>
          </a:bodyPr>
          <a:lstStyle/>
          <a:p>
            <a:r>
              <a:rPr lang="zh-CN" altLang="en-US" dirty="0" smtClean="0"/>
              <a:t>表数据</a:t>
            </a:r>
            <a:endParaRPr lang="zh-CN" altLang="en-US" dirty="0"/>
          </a:p>
        </p:txBody>
      </p:sp>
      <p:pic>
        <p:nvPicPr>
          <p:cNvPr id="15" name="图片 14"/>
          <p:cNvPicPr>
            <a:picLocks noChangeAspect="1"/>
          </p:cNvPicPr>
          <p:nvPr/>
        </p:nvPicPr>
        <p:blipFill>
          <a:blip r:embed="rId3"/>
          <a:stretch>
            <a:fillRect/>
          </a:stretch>
        </p:blipFill>
        <p:spPr>
          <a:xfrm>
            <a:off x="832875" y="5445224"/>
            <a:ext cx="2495898" cy="933580"/>
          </a:xfrm>
          <a:prstGeom prst="rect">
            <a:avLst/>
          </a:prstGeom>
        </p:spPr>
      </p:pic>
      <p:sp>
        <p:nvSpPr>
          <p:cNvPr id="16" name="内容占位符 2"/>
          <p:cNvSpPr txBox="1">
            <a:spLocks/>
          </p:cNvSpPr>
          <p:nvPr/>
        </p:nvSpPr>
        <p:spPr>
          <a:xfrm>
            <a:off x="457200" y="4455974"/>
            <a:ext cx="8229600" cy="964704"/>
          </a:xfrm>
          <a:prstGeom prst="rect">
            <a:avLst/>
          </a:prstGeom>
        </p:spPr>
        <p:txBody>
          <a:bodyPr vert="horz" rtlCol="0">
            <a:normAutofit fontScale="92500" lnSpcReduction="10000"/>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r>
              <a:rPr lang="en-US" altLang="zh-CN" dirty="0" smtClean="0"/>
              <a:t>INNODB</a:t>
            </a:r>
            <a:r>
              <a:rPr lang="zh-CN" altLang="en-US" dirty="0" smtClean="0"/>
              <a:t>存储引擎下一个数据表只有两个存储文件</a:t>
            </a:r>
            <a:endParaRPr lang="zh-CN" altLang="en-US" dirty="0"/>
          </a:p>
        </p:txBody>
      </p:sp>
      <p:cxnSp>
        <p:nvCxnSpPr>
          <p:cNvPr id="17" name="直接箭头连接符 16"/>
          <p:cNvCxnSpPr/>
          <p:nvPr/>
        </p:nvCxnSpPr>
        <p:spPr>
          <a:xfrm flipV="1">
            <a:off x="2843808" y="5301208"/>
            <a:ext cx="1197619" cy="360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4130631" y="5106639"/>
            <a:ext cx="1008112" cy="369332"/>
          </a:xfrm>
          <a:prstGeom prst="rect">
            <a:avLst/>
          </a:prstGeom>
          <a:solidFill>
            <a:srgbClr val="FFC000"/>
          </a:solidFill>
        </p:spPr>
        <p:txBody>
          <a:bodyPr wrap="square" rtlCol="0">
            <a:spAutoFit/>
          </a:bodyPr>
          <a:lstStyle/>
          <a:p>
            <a:r>
              <a:rPr lang="zh-CN" altLang="en-US" dirty="0" smtClean="0"/>
              <a:t>表定义</a:t>
            </a:r>
            <a:endParaRPr lang="zh-CN" altLang="en-US" dirty="0"/>
          </a:p>
        </p:txBody>
      </p:sp>
      <p:cxnSp>
        <p:nvCxnSpPr>
          <p:cNvPr id="19" name="直接箭头连接符 18"/>
          <p:cNvCxnSpPr/>
          <p:nvPr/>
        </p:nvCxnSpPr>
        <p:spPr>
          <a:xfrm>
            <a:off x="2997145" y="6232289"/>
            <a:ext cx="1214815" cy="2491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4283968" y="6245162"/>
            <a:ext cx="2160240" cy="369332"/>
          </a:xfrm>
          <a:prstGeom prst="rect">
            <a:avLst/>
          </a:prstGeom>
          <a:solidFill>
            <a:srgbClr val="FFC000"/>
          </a:solidFill>
        </p:spPr>
        <p:txBody>
          <a:bodyPr wrap="square" rtlCol="0">
            <a:spAutoFit/>
          </a:bodyPr>
          <a:lstStyle/>
          <a:p>
            <a:r>
              <a:rPr lang="zh-CN" altLang="en-US" dirty="0" smtClean="0"/>
              <a:t>表数据和表索引</a:t>
            </a:r>
            <a:endParaRPr lang="zh-CN" altLang="en-US" dirty="0"/>
          </a:p>
        </p:txBody>
      </p:sp>
    </p:spTree>
    <p:extLst>
      <p:ext uri="{BB962C8B-B14F-4D97-AF65-F5344CB8AC3E}">
        <p14:creationId xmlns:p14="http://schemas.microsoft.com/office/powerpoint/2010/main" val="11935024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en-US" dirty="0" smtClean="0"/>
              <a:t>.2 InnoDB</a:t>
            </a:r>
            <a:r>
              <a:rPr lang="zh-CN" altLang="en-US" dirty="0" smtClean="0"/>
              <a:t>索引实现（续）</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smtClean="0"/>
              <a:t>了解不同存储引擎的索引实现方式对于正确使用和优化索引都非常有帮助，例如知道了</a:t>
            </a:r>
            <a:r>
              <a:rPr lang="en-US" dirty="0" smtClean="0"/>
              <a:t>InnoDB</a:t>
            </a:r>
            <a:r>
              <a:rPr lang="zh-CN" altLang="en-US" dirty="0" smtClean="0"/>
              <a:t>的索引实现后，就很容易明白为什么不建议使用过长的字段作为主键，因为所有辅助索引都引用主索引，过长的主索引会令辅助索引变得过大。</a:t>
            </a:r>
            <a:endParaRPr lang="en-US" altLang="zh-CN" dirty="0" smtClean="0"/>
          </a:p>
          <a:p>
            <a:r>
              <a:rPr lang="zh-CN" altLang="en-US" dirty="0" smtClean="0"/>
              <a:t>再例如，用非单调的字段作为主键在</a:t>
            </a:r>
            <a:r>
              <a:rPr lang="en-US" dirty="0" smtClean="0"/>
              <a:t>InnoDB</a:t>
            </a:r>
            <a:r>
              <a:rPr lang="zh-CN" altLang="en-US" dirty="0" smtClean="0"/>
              <a:t>中不是个好主意，因为</a:t>
            </a:r>
            <a:r>
              <a:rPr lang="en-US" dirty="0" smtClean="0"/>
              <a:t>InnoDB</a:t>
            </a:r>
            <a:r>
              <a:rPr lang="zh-CN" altLang="en-US" dirty="0" smtClean="0"/>
              <a:t>数据文件本身是一颗</a:t>
            </a:r>
            <a:r>
              <a:rPr lang="en-US" dirty="0" err="1" smtClean="0"/>
              <a:t>B+Tree</a:t>
            </a:r>
            <a:r>
              <a:rPr lang="zh-CN" altLang="en-US" dirty="0" smtClean="0"/>
              <a:t>，非单调的主键会造成在插入新记录时数据文件为了维持</a:t>
            </a:r>
            <a:r>
              <a:rPr lang="en-US" dirty="0" err="1" smtClean="0"/>
              <a:t>B+Tree</a:t>
            </a:r>
            <a:r>
              <a:rPr lang="zh-CN" altLang="en-US" dirty="0" smtClean="0"/>
              <a:t>的特性而频繁的分裂调整，十分低效，而使用自增字段作为主键则是一个很好的选择。</a:t>
            </a:r>
          </a:p>
          <a:p>
            <a:endParaRPr lang="zh-CN" altLang="en-US" dirty="0"/>
          </a:p>
        </p:txBody>
      </p:sp>
      <p:sp>
        <p:nvSpPr>
          <p:cNvPr id="4" name="文本框 3"/>
          <p:cNvSpPr txBox="1"/>
          <p:nvPr/>
        </p:nvSpPr>
        <p:spPr>
          <a:xfrm>
            <a:off x="1835696" y="5847060"/>
            <a:ext cx="5472608" cy="461665"/>
          </a:xfrm>
          <a:prstGeom prst="rect">
            <a:avLst/>
          </a:prstGeom>
          <a:solidFill>
            <a:srgbClr val="FFC000"/>
          </a:solidFill>
        </p:spPr>
        <p:txBody>
          <a:bodyPr wrap="square" rtlCol="0">
            <a:spAutoFit/>
          </a:bodyPr>
          <a:lstStyle/>
          <a:p>
            <a:r>
              <a:rPr lang="en-US" altLang="zh-CN" sz="2400" smtClean="0">
                <a:solidFill>
                  <a:srgbClr val="FF0000"/>
                </a:solidFill>
                <a:latin typeface="黑体" panose="02010609060101010101" pitchFamily="49" charset="-122"/>
                <a:ea typeface="黑体" panose="02010609060101010101" pitchFamily="49" charset="-122"/>
              </a:rPr>
              <a:t>INNODB</a:t>
            </a:r>
            <a:r>
              <a:rPr lang="zh-CN" altLang="en-US" sz="2400" smtClean="0">
                <a:solidFill>
                  <a:srgbClr val="FF0000"/>
                </a:solidFill>
                <a:latin typeface="黑体" panose="02010609060101010101" pitchFamily="49" charset="-122"/>
                <a:ea typeface="黑体" panose="02010609060101010101" pitchFamily="49" charset="-122"/>
              </a:rPr>
              <a:t>推荐使用自增主键！！</a:t>
            </a:r>
            <a:endParaRPr lang="zh-CN" altLang="en-US" sz="240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atinLnBrk="1"/>
            <a:r>
              <a:rPr lang="zh-CN" altLang="en-US" dirty="0" smtClean="0"/>
              <a:t>五、</a:t>
            </a:r>
            <a:r>
              <a:rPr lang="en-US" dirty="0" smtClean="0"/>
              <a:t>B-Tree</a:t>
            </a:r>
            <a:r>
              <a:rPr lang="zh-CN" altLang="en-US" dirty="0" smtClean="0"/>
              <a:t>与</a:t>
            </a:r>
            <a:r>
              <a:rPr lang="en-US" dirty="0" smtClean="0"/>
              <a:t>hash</a:t>
            </a:r>
            <a:r>
              <a:rPr lang="zh-CN" altLang="en-US" dirty="0" smtClean="0"/>
              <a:t>索引的适用场景和限制</a:t>
            </a:r>
            <a:endParaRPr lang="zh-CN" altLang="en-US" dirty="0"/>
          </a:p>
        </p:txBody>
      </p:sp>
      <p:sp>
        <p:nvSpPr>
          <p:cNvPr id="3" name="内容占位符 2"/>
          <p:cNvSpPr>
            <a:spLocks noGrp="1"/>
          </p:cNvSpPr>
          <p:nvPr>
            <p:ph idx="1"/>
          </p:nvPr>
        </p:nvSpPr>
        <p:spPr>
          <a:xfrm>
            <a:off x="1159670" y="1556792"/>
            <a:ext cx="3384376" cy="4525963"/>
          </a:xfrm>
          <a:ln w="12700">
            <a:solidFill>
              <a:schemeClr val="tx1"/>
            </a:solidFill>
          </a:ln>
        </p:spPr>
        <p:txBody>
          <a:bodyPr>
            <a:normAutofit fontScale="85000" lnSpcReduction="20000"/>
          </a:bodyPr>
          <a:lstStyle/>
          <a:p>
            <a:r>
              <a:rPr lang="en-US" altLang="zh-CN" dirty="0" err="1" smtClean="0"/>
              <a:t>Mysql</a:t>
            </a:r>
            <a:r>
              <a:rPr lang="zh-CN" altLang="en-US" dirty="0" smtClean="0"/>
              <a:t>中不同的存储引擎对于索引有不同的支持：</a:t>
            </a:r>
            <a:r>
              <a:rPr lang="en-US" dirty="0" err="1" smtClean="0"/>
              <a:t>Innodb</a:t>
            </a:r>
            <a:r>
              <a:rPr lang="zh-CN" altLang="en-US" dirty="0" smtClean="0"/>
              <a:t>和</a:t>
            </a:r>
            <a:r>
              <a:rPr lang="en-US" dirty="0" err="1" smtClean="0"/>
              <a:t>MyISAM</a:t>
            </a:r>
            <a:r>
              <a:rPr lang="zh-CN" altLang="en-US" dirty="0" smtClean="0"/>
              <a:t>默认的索引是</a:t>
            </a:r>
            <a:r>
              <a:rPr lang="en-US" dirty="0" err="1" smtClean="0"/>
              <a:t>B+tree</a:t>
            </a:r>
            <a:r>
              <a:rPr lang="zh-CN" altLang="en-US" dirty="0" smtClean="0"/>
              <a:t>索引；而</a:t>
            </a:r>
            <a:r>
              <a:rPr lang="en-US" dirty="0" smtClean="0"/>
              <a:t>Memory</a:t>
            </a:r>
            <a:r>
              <a:rPr lang="zh-CN" altLang="en-US" dirty="0" smtClean="0"/>
              <a:t>默认的索引是</a:t>
            </a:r>
            <a:r>
              <a:rPr lang="en-US" dirty="0" smtClean="0"/>
              <a:t>Hash</a:t>
            </a:r>
            <a:r>
              <a:rPr lang="zh-CN" altLang="en-US" dirty="0" smtClean="0"/>
              <a:t>索引。</a:t>
            </a:r>
            <a:endParaRPr lang="en-US" altLang="zh-CN" dirty="0" smtClean="0"/>
          </a:p>
          <a:p>
            <a:endParaRPr lang="en-US" altLang="zh-CN" dirty="0"/>
          </a:p>
          <a:p>
            <a:r>
              <a:rPr lang="zh-CN" altLang="en-US" dirty="0" smtClean="0"/>
              <a:t>两种算法检索方式不一样，对查询的作用也不一样。</a:t>
            </a:r>
            <a:r>
              <a:rPr lang="en-US" dirty="0" smtClean="0"/>
              <a:t> </a:t>
            </a:r>
            <a:endParaRPr lang="zh-CN" altLang="en-US" dirty="0"/>
          </a:p>
        </p:txBody>
      </p:sp>
      <p:sp>
        <p:nvSpPr>
          <p:cNvPr id="4" name="文本框 3"/>
          <p:cNvSpPr txBox="1"/>
          <p:nvPr/>
        </p:nvSpPr>
        <p:spPr>
          <a:xfrm>
            <a:off x="5436096" y="1988840"/>
            <a:ext cx="2880320" cy="2031325"/>
          </a:xfrm>
          <a:prstGeom prst="rect">
            <a:avLst/>
          </a:prstGeom>
          <a:solidFill>
            <a:srgbClr val="FFC000"/>
          </a:solidFill>
        </p:spPr>
        <p:txBody>
          <a:bodyPr wrap="square" rtlCol="0">
            <a:spAutoFit/>
          </a:bodyPr>
          <a:lstStyle/>
          <a:p>
            <a:r>
              <a:rPr lang="en-US" altLang="zh-CN" dirty="0" smtClean="0">
                <a:latin typeface="黑体" panose="02010609060101010101" pitchFamily="49" charset="-122"/>
                <a:ea typeface="黑体" panose="02010609060101010101" pitchFamily="49" charset="-122"/>
              </a:rPr>
              <a:t>MySQL</a:t>
            </a:r>
            <a:r>
              <a:rPr lang="zh-CN" altLang="en-US" dirty="0" smtClean="0">
                <a:latin typeface="黑体" panose="02010609060101010101" pitchFamily="49" charset="-122"/>
                <a:ea typeface="黑体" panose="02010609060101010101" pitchFamily="49" charset="-122"/>
              </a:rPr>
              <a:t>的存储引擎：</a:t>
            </a:r>
            <a:endParaRPr lang="en-US" altLang="zh-CN" dirty="0" smtClean="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MYISAM: </a:t>
            </a:r>
            <a:r>
              <a:rPr lang="en-US" altLang="zh-CN" dirty="0" err="1" smtClean="0">
                <a:latin typeface="Times New Roman" panose="02020603050405020304" pitchFamily="18" charset="0"/>
                <a:ea typeface="黑体" panose="02010609060101010101" pitchFamily="49" charset="-122"/>
                <a:cs typeface="Times New Roman" panose="02020603050405020304" pitchFamily="18" charset="0"/>
              </a:rPr>
              <a:t>B+tree</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INNODB</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smtClean="0">
                <a:latin typeface="Times New Roman" panose="02020603050405020304" pitchFamily="18" charset="0"/>
                <a:ea typeface="黑体" panose="02010609060101010101" pitchFamily="49" charset="-122"/>
                <a:cs typeface="Times New Roman" panose="02020603050405020304" pitchFamily="18" charset="0"/>
              </a:rPr>
              <a:t>B+tree</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Memory</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Hash</a:t>
            </a:r>
          </a:p>
          <a:p>
            <a:pPr marL="285750" indent="-285750">
              <a:buFont typeface="Arial" panose="020B0604020202020204" pitchFamily="34" charset="0"/>
              <a:buChar char="•"/>
            </a:pP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Archive</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：不支持</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p>
          <a:p>
            <a:endParaRPr lang="en-US" altLang="zh-CN"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5.1 </a:t>
            </a:r>
            <a:r>
              <a:rPr lang="en-US" altLang="zh-CN" dirty="0" err="1" smtClean="0"/>
              <a:t>B+Tree</a:t>
            </a:r>
            <a:r>
              <a:rPr lang="zh-CN" altLang="en-US" dirty="0" smtClean="0"/>
              <a:t>适用场景</a:t>
            </a:r>
            <a:endParaRPr lang="zh-CN" altLang="en-US" dirty="0"/>
          </a:p>
        </p:txBody>
      </p:sp>
      <p:sp>
        <p:nvSpPr>
          <p:cNvPr id="3" name="内容占位符 2"/>
          <p:cNvSpPr>
            <a:spLocks noGrp="1"/>
          </p:cNvSpPr>
          <p:nvPr>
            <p:ph idx="1"/>
          </p:nvPr>
        </p:nvSpPr>
        <p:spPr/>
        <p:txBody>
          <a:bodyPr/>
          <a:lstStyle/>
          <a:p>
            <a:r>
              <a:rPr lang="en-US" dirty="0" err="1" smtClean="0"/>
              <a:t>B+Tree</a:t>
            </a:r>
            <a:r>
              <a:rPr lang="zh-CN" altLang="en-US" dirty="0" smtClean="0"/>
              <a:t>索引是最常用的</a:t>
            </a:r>
            <a:r>
              <a:rPr lang="en-US" dirty="0" err="1" smtClean="0"/>
              <a:t>mysql</a:t>
            </a:r>
            <a:r>
              <a:rPr lang="zh-CN" altLang="en-US" dirty="0" smtClean="0"/>
              <a:t>数据库索引算法，因为它不仅可以被用在</a:t>
            </a:r>
            <a:r>
              <a:rPr lang="en-US" dirty="0" smtClean="0"/>
              <a:t>=,&gt;,&gt;=,&lt;,&lt;=</a:t>
            </a:r>
            <a:r>
              <a:rPr lang="zh-CN" altLang="en-US" dirty="0" smtClean="0"/>
              <a:t>和</a:t>
            </a:r>
            <a:r>
              <a:rPr lang="en-US" dirty="0" smtClean="0"/>
              <a:t>between</a:t>
            </a:r>
            <a:r>
              <a:rPr lang="zh-CN" altLang="en-US" dirty="0" smtClean="0"/>
              <a:t>这些比较操作符上，而且还可以用于</a:t>
            </a:r>
            <a:r>
              <a:rPr lang="en-US" dirty="0" smtClean="0"/>
              <a:t>like</a:t>
            </a:r>
            <a:r>
              <a:rPr lang="zh-CN" altLang="en-US" dirty="0" smtClean="0"/>
              <a:t>操作符，只要它的查询条件是一个不以通配符开头的常量。</a:t>
            </a:r>
            <a:endParaRPr lang="zh-CN" altLang="en-US" dirty="0"/>
          </a:p>
        </p:txBody>
      </p:sp>
      <p:sp>
        <p:nvSpPr>
          <p:cNvPr id="4" name="矩形 3"/>
          <p:cNvSpPr/>
          <p:nvPr/>
        </p:nvSpPr>
        <p:spPr>
          <a:xfrm>
            <a:off x="1500166" y="4286256"/>
            <a:ext cx="6215106" cy="2031325"/>
          </a:xfrm>
          <a:prstGeom prst="rect">
            <a:avLst/>
          </a:prstGeom>
          <a:ln>
            <a:solidFill>
              <a:schemeClr val="tx1"/>
            </a:solidFill>
          </a:ln>
        </p:spPr>
        <p:txBody>
          <a:bodyPr wrap="square">
            <a:spAutoFit/>
          </a:bodyPr>
          <a:lstStyle/>
          <a:p>
            <a:r>
              <a:rPr lang="zh-CN" altLang="en-US" dirty="0"/>
              <a:t>例如：</a:t>
            </a:r>
            <a:r>
              <a:rPr lang="en-US" dirty="0"/>
              <a:t> </a:t>
            </a:r>
            <a:br>
              <a:rPr lang="en-US" dirty="0"/>
            </a:br>
            <a:r>
              <a:rPr lang="en-US" dirty="0"/>
              <a:t>    select * from user where name like ‘jack%’; </a:t>
            </a:r>
            <a:br>
              <a:rPr lang="en-US" dirty="0"/>
            </a:br>
            <a:r>
              <a:rPr lang="en-US" dirty="0"/>
              <a:t>    select * from user where name like ‘</a:t>
            </a:r>
            <a:r>
              <a:rPr lang="en-US" dirty="0" err="1"/>
              <a:t>jac%k</a:t>
            </a:r>
            <a:r>
              <a:rPr lang="en-US" dirty="0"/>
              <a:t>%’; </a:t>
            </a:r>
            <a:br>
              <a:rPr lang="en-US" dirty="0"/>
            </a:br>
            <a:r>
              <a:rPr lang="en-US" dirty="0"/>
              <a:t>    </a:t>
            </a:r>
            <a:r>
              <a:rPr lang="zh-CN" altLang="en-US" dirty="0"/>
              <a:t>如果一通配符开头，或者没有使用常量，则不会使用索引，例如：</a:t>
            </a:r>
            <a:r>
              <a:rPr lang="en-US" dirty="0"/>
              <a:t> </a:t>
            </a:r>
            <a:br>
              <a:rPr lang="en-US" dirty="0"/>
            </a:br>
            <a:r>
              <a:rPr lang="en-US" dirty="0"/>
              <a:t>    select * from user where name like ‘%jack’; </a:t>
            </a:r>
            <a:br>
              <a:rPr lang="en-US" dirty="0"/>
            </a:br>
            <a:r>
              <a:rPr lang="en-US" dirty="0"/>
              <a:t>    select * from user where name like </a:t>
            </a:r>
            <a:r>
              <a:rPr lang="en-US" dirty="0" err="1"/>
              <a:t>simply_name</a:t>
            </a:r>
            <a:r>
              <a:rPr lang="en-US" dirty="0"/>
              <a:t>; </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 </a:t>
            </a:r>
            <a:r>
              <a:rPr lang="en-US" altLang="zh-CN" dirty="0" err="1" smtClean="0"/>
              <a:t>B+Tree</a:t>
            </a:r>
            <a:r>
              <a:rPr lang="zh-CN" altLang="en-US" dirty="0" smtClean="0"/>
              <a:t>适用场景</a:t>
            </a:r>
            <a:r>
              <a:rPr lang="en-US" altLang="zh-CN" dirty="0" smtClean="0"/>
              <a:t>(</a:t>
            </a:r>
            <a:r>
              <a:rPr lang="zh-CN" altLang="en-US" dirty="0" smtClean="0"/>
              <a:t>续）</a:t>
            </a:r>
            <a:endParaRPr lang="zh-CN" altLang="en-US" dirty="0"/>
          </a:p>
        </p:txBody>
      </p:sp>
      <p:sp>
        <p:nvSpPr>
          <p:cNvPr id="5" name="内容占位符 4"/>
          <p:cNvSpPr>
            <a:spLocks noGrp="1"/>
          </p:cNvSpPr>
          <p:nvPr>
            <p:ph idx="1"/>
          </p:nvPr>
        </p:nvSpPr>
        <p:spPr/>
        <p:txBody>
          <a:bodyPr/>
          <a:lstStyle/>
          <a:p>
            <a:r>
              <a:rPr lang="en-US" altLang="zh-CN"/>
              <a:t>B+Tree</a:t>
            </a:r>
            <a:r>
              <a:rPr lang="zh-CN" altLang="en-US"/>
              <a:t>支持联合索引，也就是在多个列上建立一个索引。</a:t>
            </a:r>
            <a:endParaRPr lang="en-US" altLang="zh-CN"/>
          </a:p>
          <a:p>
            <a:r>
              <a:rPr lang="zh-CN" altLang="en-US"/>
              <a:t>联合索引支持左匹配原则</a:t>
            </a:r>
          </a:p>
        </p:txBody>
      </p:sp>
      <p:sp>
        <p:nvSpPr>
          <p:cNvPr id="7" name="矩形 6"/>
          <p:cNvSpPr/>
          <p:nvPr/>
        </p:nvSpPr>
        <p:spPr>
          <a:xfrm>
            <a:off x="251520" y="3573016"/>
            <a:ext cx="8856984" cy="1477328"/>
          </a:xfrm>
          <a:prstGeom prst="rect">
            <a:avLst/>
          </a:prstGeom>
          <a:solidFill>
            <a:schemeClr val="bg2">
              <a:lumMod val="90000"/>
            </a:schemeClr>
          </a:solidFill>
          <a:ln>
            <a:solidFill>
              <a:schemeClr val="tx1"/>
            </a:solidFill>
          </a:ln>
        </p:spPr>
        <p:txBody>
          <a:bodyPr wrap="square">
            <a:spAutoFit/>
          </a:bodyPr>
          <a:lstStyle/>
          <a:p>
            <a:r>
              <a:rPr lang="zh-CN" altLang="en-US" dirty="0" smtClean="0"/>
              <a:t>例</a:t>
            </a:r>
            <a:r>
              <a:rPr lang="en-US" dirty="0" smtClean="0"/>
              <a:t>create table </a:t>
            </a:r>
            <a:r>
              <a:rPr lang="en-US" smtClean="0"/>
              <a:t>people(</a:t>
            </a:r>
          </a:p>
          <a:p>
            <a:r>
              <a:rPr lang="en-US" smtClean="0"/>
              <a:t>last_name </a:t>
            </a:r>
            <a:r>
              <a:rPr lang="en-US" dirty="0" err="1" smtClean="0"/>
              <a:t>varchar</a:t>
            </a:r>
            <a:r>
              <a:rPr lang="en-US" dirty="0" smtClean="0"/>
              <a:t>(50) not </a:t>
            </a:r>
            <a:r>
              <a:rPr lang="en-US" err="1" smtClean="0"/>
              <a:t>null</a:t>
            </a:r>
            <a:r>
              <a:rPr lang="en-US" smtClean="0"/>
              <a:t>,</a:t>
            </a:r>
          </a:p>
          <a:p>
            <a:r>
              <a:rPr lang="en-US" smtClean="0"/>
              <a:t>first_name </a:t>
            </a:r>
            <a:r>
              <a:rPr lang="en-US" dirty="0" err="1" smtClean="0"/>
              <a:t>varchar</a:t>
            </a:r>
            <a:r>
              <a:rPr lang="en-US" dirty="0" smtClean="0"/>
              <a:t>(50) not </a:t>
            </a:r>
            <a:r>
              <a:rPr lang="en-US" err="1" smtClean="0"/>
              <a:t>null</a:t>
            </a:r>
            <a:r>
              <a:rPr lang="en-US" smtClean="0"/>
              <a:t>,</a:t>
            </a:r>
          </a:p>
          <a:p>
            <a:r>
              <a:rPr lang="en-US" altLang="zh-CN" smtClean="0"/>
              <a:t>age </a:t>
            </a:r>
            <a:r>
              <a:rPr lang="en-US" altLang="zh-CN" dirty="0" err="1" smtClean="0"/>
              <a:t>int</a:t>
            </a:r>
            <a:r>
              <a:rPr lang="en-US" dirty="0" smtClean="0"/>
              <a:t> not </a:t>
            </a:r>
            <a:r>
              <a:rPr lang="en-US" dirty="0" err="1" smtClean="0"/>
              <a:t>null,gender</a:t>
            </a:r>
            <a:r>
              <a:rPr lang="en-US" dirty="0" smtClean="0"/>
              <a:t> </a:t>
            </a:r>
            <a:r>
              <a:rPr lang="en-US" dirty="0" err="1" smtClean="0"/>
              <a:t>enum</a:t>
            </a:r>
            <a:r>
              <a:rPr lang="en-US" dirty="0" smtClean="0"/>
              <a:t>(‘</a:t>
            </a:r>
            <a:r>
              <a:rPr lang="en-US" dirty="0" err="1" smtClean="0"/>
              <a:t>m’,’f</a:t>
            </a:r>
            <a:r>
              <a:rPr lang="en-US" dirty="0" smtClean="0"/>
              <a:t>’) not </a:t>
            </a:r>
            <a:r>
              <a:rPr lang="en-US" err="1" smtClean="0"/>
              <a:t>null</a:t>
            </a:r>
            <a:r>
              <a:rPr lang="en-US" smtClean="0"/>
              <a:t>,</a:t>
            </a:r>
          </a:p>
          <a:p>
            <a:r>
              <a:rPr lang="en-US" smtClean="0">
                <a:solidFill>
                  <a:srgbClr val="7030A0"/>
                </a:solidFill>
              </a:rPr>
              <a:t>index </a:t>
            </a:r>
            <a:r>
              <a:rPr lang="en-US" dirty="0" err="1" smtClean="0">
                <a:solidFill>
                  <a:srgbClr val="7030A0"/>
                </a:solidFill>
              </a:rPr>
              <a:t>ln_fn_a</a:t>
            </a:r>
            <a:r>
              <a:rPr lang="en-US" dirty="0" smtClean="0">
                <a:solidFill>
                  <a:srgbClr val="7030A0"/>
                </a:solidFill>
              </a:rPr>
              <a:t>(</a:t>
            </a:r>
            <a:r>
              <a:rPr lang="en-US" dirty="0" err="1" smtClean="0">
                <a:solidFill>
                  <a:srgbClr val="FF0000"/>
                </a:solidFill>
              </a:rPr>
              <a:t>last_name</a:t>
            </a:r>
            <a:r>
              <a:rPr lang="en-US" dirty="0" err="1" smtClean="0">
                <a:solidFill>
                  <a:srgbClr val="7030A0"/>
                </a:solidFill>
              </a:rPr>
              <a:t>,first_name,age</a:t>
            </a:r>
            <a:r>
              <a:rPr lang="en-US" dirty="0" smtClean="0">
                <a:solidFill>
                  <a:srgbClr val="7030A0"/>
                </a:solidFill>
              </a:rPr>
              <a:t>));</a:t>
            </a:r>
            <a:endParaRPr lang="zh-CN" altLang="en-US" dirty="0">
              <a:solidFill>
                <a:srgbClr val="7030A0"/>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 </a:t>
            </a:r>
            <a:r>
              <a:rPr lang="en-US" altLang="zh-CN" dirty="0" err="1" smtClean="0"/>
              <a:t>B+Tree</a:t>
            </a:r>
            <a:r>
              <a:rPr lang="zh-CN" altLang="en-US" dirty="0" smtClean="0"/>
              <a:t>适用场景</a:t>
            </a:r>
            <a:r>
              <a:rPr lang="en-US" altLang="zh-CN" dirty="0" smtClean="0"/>
              <a:t>(</a:t>
            </a:r>
            <a:r>
              <a:rPr lang="zh-CN" altLang="en-US" dirty="0" smtClean="0"/>
              <a:t>续）</a:t>
            </a:r>
            <a:endParaRPr lang="zh-CN" altLang="en-US" dirty="0"/>
          </a:p>
        </p:txBody>
      </p:sp>
      <p:sp>
        <p:nvSpPr>
          <p:cNvPr id="3" name="内容占位符 2"/>
          <p:cNvSpPr>
            <a:spLocks noGrp="1"/>
          </p:cNvSpPr>
          <p:nvPr>
            <p:ph idx="1"/>
          </p:nvPr>
        </p:nvSpPr>
        <p:spPr/>
        <p:txBody>
          <a:bodyPr/>
          <a:lstStyle/>
          <a:p>
            <a:r>
              <a:rPr lang="zh-CN" altLang="en-US" dirty="0" smtClean="0"/>
              <a:t>因为</a:t>
            </a:r>
            <a:r>
              <a:rPr lang="en-US" altLang="zh-CN" dirty="0" err="1" smtClean="0"/>
              <a:t>B+Tree</a:t>
            </a:r>
            <a:r>
              <a:rPr lang="zh-CN" altLang="en-US" dirty="0" smtClean="0"/>
              <a:t>索引中的结点是有序的，所以除了按值查找之外，索引还可以用于查询中的</a:t>
            </a:r>
            <a:r>
              <a:rPr lang="en-US" altLang="zh-CN" dirty="0" smtClean="0"/>
              <a:t>order by</a:t>
            </a:r>
            <a:r>
              <a:rPr lang="zh-CN" altLang="en-US" dirty="0" smtClean="0"/>
              <a:t>操作</a:t>
            </a:r>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 B-Tree</a:t>
            </a:r>
            <a:r>
              <a:rPr lang="zh-CN" altLang="en-US" dirty="0" smtClean="0"/>
              <a:t>适用场景</a:t>
            </a:r>
            <a:r>
              <a:rPr lang="en-US" altLang="zh-CN" dirty="0" smtClean="0"/>
              <a:t>(</a:t>
            </a:r>
            <a:r>
              <a:rPr lang="zh-CN" altLang="en-US" dirty="0" smtClean="0"/>
              <a:t>续）</a:t>
            </a:r>
            <a:endParaRPr lang="zh-CN" altLang="en-US" dirty="0"/>
          </a:p>
        </p:txBody>
      </p:sp>
      <p:sp>
        <p:nvSpPr>
          <p:cNvPr id="3" name="内容占位符 2"/>
          <p:cNvSpPr>
            <a:spLocks noGrp="1"/>
          </p:cNvSpPr>
          <p:nvPr>
            <p:ph idx="1"/>
          </p:nvPr>
        </p:nvSpPr>
        <p:spPr/>
        <p:txBody>
          <a:bodyPr>
            <a:normAutofit/>
          </a:bodyPr>
          <a:lstStyle/>
          <a:p>
            <a:r>
              <a:rPr lang="zh-CN" altLang="en-US" sz="2600" dirty="0" smtClean="0">
                <a:latin typeface="黑体" panose="02010609060101010101" pitchFamily="49" charset="-122"/>
                <a:ea typeface="黑体" panose="02010609060101010101" pitchFamily="49" charset="-122"/>
              </a:rPr>
              <a:t>下面是关于</a:t>
            </a:r>
            <a:r>
              <a:rPr lang="en-US" altLang="zh-CN" sz="2600" dirty="0" err="1" smtClean="0">
                <a:latin typeface="黑体" panose="02010609060101010101" pitchFamily="49" charset="-122"/>
                <a:ea typeface="黑体" panose="02010609060101010101" pitchFamily="49" charset="-122"/>
              </a:rPr>
              <a:t>Btree</a:t>
            </a:r>
            <a:r>
              <a:rPr lang="zh-CN" altLang="en-US" sz="2600" dirty="0" smtClean="0">
                <a:latin typeface="黑体" panose="02010609060101010101" pitchFamily="49" charset="-122"/>
                <a:ea typeface="黑体" panose="02010609060101010101" pitchFamily="49" charset="-122"/>
              </a:rPr>
              <a:t>索引的限制：</a:t>
            </a:r>
          </a:p>
          <a:p>
            <a:r>
              <a:rPr lang="en-US" altLang="zh-CN" sz="2600" dirty="0" smtClean="0"/>
              <a:t>A</a:t>
            </a:r>
            <a:r>
              <a:rPr lang="zh-CN" altLang="en-US" sz="2600" dirty="0" smtClean="0"/>
              <a:t>：如果不是按照索引的最左列开始查找的，则无法使用索引</a:t>
            </a:r>
            <a:r>
              <a:rPr lang="en-US" altLang="zh-CN" sz="2600" dirty="0" smtClean="0"/>
              <a:t>(</a:t>
            </a:r>
            <a:r>
              <a:rPr lang="zh-CN" altLang="en-US" sz="2600" dirty="0" smtClean="0"/>
              <a:t>注意，这里不是指的</a:t>
            </a:r>
            <a:r>
              <a:rPr lang="en-US" altLang="zh-CN" sz="2600" dirty="0" smtClean="0"/>
              <a:t>where</a:t>
            </a:r>
            <a:r>
              <a:rPr lang="zh-CN" altLang="en-US" sz="2600" dirty="0" smtClean="0"/>
              <a:t>条件的顺序，即</a:t>
            </a:r>
            <a:r>
              <a:rPr lang="en-US" altLang="zh-CN" sz="2600" dirty="0" smtClean="0"/>
              <a:t>where</a:t>
            </a:r>
            <a:r>
              <a:rPr lang="zh-CN" altLang="en-US" sz="2600" dirty="0" smtClean="0"/>
              <a:t>条件中，不管条件顺序，只要</a:t>
            </a:r>
            <a:r>
              <a:rPr lang="en-US" altLang="zh-CN" sz="2600" dirty="0" smtClean="0"/>
              <a:t>where</a:t>
            </a:r>
            <a:r>
              <a:rPr lang="zh-CN" altLang="en-US" sz="2600" dirty="0" smtClean="0"/>
              <a:t>中出现的列在多列索引中能够从最左开始连贯起来就能使用到多列索引</a:t>
            </a:r>
            <a:r>
              <a:rPr lang="en-US" altLang="zh-CN" sz="2600" dirty="0" smtClean="0"/>
              <a:t>)</a:t>
            </a:r>
            <a:endParaRPr lang="zh-CN" altLang="en-US" sz="2600" dirty="0" smtClean="0"/>
          </a:p>
          <a:p>
            <a:r>
              <a:rPr lang="en-US" altLang="zh-CN" sz="2600" dirty="0" smtClean="0"/>
              <a:t>B</a:t>
            </a:r>
            <a:r>
              <a:rPr lang="zh-CN" altLang="en-US" sz="2600" dirty="0" smtClean="0"/>
              <a:t>：不能跳过索引中的列，如：查询条件为姓和出生日期，跳过了名字列，这样，多列索引就只能使用到姓这一列</a:t>
            </a:r>
          </a:p>
          <a:p>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5</a:t>
            </a:r>
            <a:r>
              <a:rPr lang="en-US" b="1" dirty="0" smtClean="0"/>
              <a:t>.2 Hash</a:t>
            </a:r>
            <a:r>
              <a:rPr lang="zh-CN" altLang="en-US" b="1" dirty="0" smtClean="0"/>
              <a:t>索引</a:t>
            </a:r>
            <a:r>
              <a:rPr lang="en-US" dirty="0" smtClean="0"/>
              <a:t> </a:t>
            </a:r>
            <a:endParaRPr lang="zh-CN" altLang="en-US" dirty="0"/>
          </a:p>
        </p:txBody>
      </p:sp>
      <p:sp>
        <p:nvSpPr>
          <p:cNvPr id="3" name="内容占位符 2"/>
          <p:cNvSpPr>
            <a:spLocks noGrp="1"/>
          </p:cNvSpPr>
          <p:nvPr>
            <p:ph idx="1"/>
          </p:nvPr>
        </p:nvSpPr>
        <p:spPr/>
        <p:txBody>
          <a:bodyPr>
            <a:normAutofit fontScale="70000" lnSpcReduction="20000"/>
          </a:bodyPr>
          <a:lstStyle/>
          <a:p>
            <a:pPr marL="514350" indent="-514350">
              <a:buAutoNum type="arabicPeriod"/>
            </a:pPr>
            <a:r>
              <a:rPr lang="en-US" dirty="0" smtClean="0">
                <a:latin typeface="黑体" panose="02010609060101010101" pitchFamily="49" charset="-122"/>
                <a:ea typeface="黑体" panose="02010609060101010101" pitchFamily="49" charset="-122"/>
              </a:rPr>
              <a:t>Hash</a:t>
            </a:r>
            <a:r>
              <a:rPr lang="zh-CN" altLang="en-US" dirty="0" smtClean="0">
                <a:latin typeface="黑体" panose="02010609060101010101" pitchFamily="49" charset="-122"/>
                <a:ea typeface="黑体" panose="02010609060101010101" pitchFamily="49" charset="-122"/>
              </a:rPr>
              <a:t>索引仅仅能满足</a:t>
            </a:r>
            <a:r>
              <a:rPr lang="en-US" dirty="0" smtClean="0">
                <a:latin typeface="黑体" panose="02010609060101010101" pitchFamily="49" charset="-122"/>
                <a:ea typeface="黑体" panose="02010609060101010101" pitchFamily="49" charset="-122"/>
              </a:rPr>
              <a:t>“=”,“IN”,“&lt;=&gt;”</a:t>
            </a:r>
            <a:r>
              <a:rPr lang="zh-CN" altLang="en-US" dirty="0" smtClean="0">
                <a:latin typeface="黑体" panose="02010609060101010101" pitchFamily="49" charset="-122"/>
                <a:ea typeface="黑体" panose="02010609060101010101" pitchFamily="49" charset="-122"/>
              </a:rPr>
              <a:t>查询，不能使用范围查询。</a:t>
            </a:r>
            <a:r>
              <a:rPr lang="en-US" dirty="0" smtClean="0">
                <a:latin typeface="黑体" panose="02010609060101010101" pitchFamily="49" charset="-122"/>
                <a:ea typeface="黑体" panose="02010609060101010101" pitchFamily="49" charset="-122"/>
              </a:rPr>
              <a:t> </a:t>
            </a:r>
          </a:p>
          <a:p>
            <a:pPr marL="514350" indent="-514350">
              <a:buAutoNum type="arabicPeriod"/>
            </a:pPr>
            <a:endParaRPr lang="en-US" dirty="0" smtClean="0">
              <a:latin typeface="黑体" panose="02010609060101010101" pitchFamily="49" charset="-122"/>
              <a:ea typeface="黑体" panose="02010609060101010101" pitchFamily="49" charset="-122"/>
            </a:endParaRPr>
          </a:p>
          <a:p>
            <a:pPr marL="514350" indent="-514350">
              <a:buNone/>
            </a:pPr>
            <a:r>
              <a:rPr lang="en-US" dirty="0" smtClean="0">
                <a:latin typeface="黑体" panose="02010609060101010101" pitchFamily="49" charset="-122"/>
                <a:ea typeface="黑体" panose="02010609060101010101" pitchFamily="49" charset="-122"/>
              </a:rPr>
              <a:t>2. </a:t>
            </a:r>
            <a:r>
              <a:rPr lang="zh-CN" altLang="en-US" dirty="0" smtClean="0">
                <a:latin typeface="黑体" panose="02010609060101010101" pitchFamily="49" charset="-122"/>
                <a:ea typeface="黑体" panose="02010609060101010101" pitchFamily="49" charset="-122"/>
              </a:rPr>
              <a:t>联合索引中，</a:t>
            </a:r>
            <a:r>
              <a:rPr lang="en-US" dirty="0" smtClean="0">
                <a:latin typeface="黑体" panose="02010609060101010101" pitchFamily="49" charset="-122"/>
                <a:ea typeface="黑体" panose="02010609060101010101" pitchFamily="49" charset="-122"/>
              </a:rPr>
              <a:t>Hash</a:t>
            </a:r>
            <a:r>
              <a:rPr lang="zh-CN" altLang="en-US" dirty="0" smtClean="0">
                <a:latin typeface="黑体" panose="02010609060101010101" pitchFamily="49" charset="-122"/>
                <a:ea typeface="黑体" panose="02010609060101010101" pitchFamily="49" charset="-122"/>
              </a:rPr>
              <a:t>索引不能利用部分索引键查询。</a:t>
            </a:r>
            <a:r>
              <a:rPr lang="en-US" dirty="0" smtClean="0"/>
              <a:t> </a:t>
            </a:r>
            <a:br>
              <a:rPr lang="en-US" dirty="0" smtClean="0"/>
            </a:br>
            <a:r>
              <a:rPr lang="zh-CN" altLang="en-US" dirty="0" smtClean="0"/>
              <a:t>对于联合索引中的多个列，</a:t>
            </a:r>
            <a:r>
              <a:rPr lang="en-US" dirty="0" smtClean="0"/>
              <a:t>Hash</a:t>
            </a:r>
            <a:r>
              <a:rPr lang="zh-CN" altLang="en-US" dirty="0" smtClean="0"/>
              <a:t>是要么全部使用，要么全部不使用，并不支持</a:t>
            </a:r>
            <a:r>
              <a:rPr lang="en-US" dirty="0" err="1" smtClean="0"/>
              <a:t>Btree</a:t>
            </a:r>
            <a:r>
              <a:rPr lang="en-US" dirty="0" smtClean="0"/>
              <a:t>+</a:t>
            </a:r>
            <a:r>
              <a:rPr lang="zh-CN" altLang="en-US" dirty="0" smtClean="0"/>
              <a:t>支持的联合索引的最优前缀，也就是联合索引的前面一个或几个索引键进行查询时，</a:t>
            </a:r>
            <a:r>
              <a:rPr lang="en-US" dirty="0" smtClean="0"/>
              <a:t>Hash</a:t>
            </a:r>
            <a:r>
              <a:rPr lang="zh-CN" altLang="en-US" dirty="0" smtClean="0"/>
              <a:t>索引无法被利用。</a:t>
            </a:r>
            <a:r>
              <a:rPr lang="en-US" dirty="0" smtClean="0"/>
              <a:t> </a:t>
            </a:r>
          </a:p>
          <a:p>
            <a:pPr marL="514350" indent="-514350">
              <a:buNone/>
            </a:pPr>
            <a:endParaRPr lang="en-US" dirty="0" smtClean="0"/>
          </a:p>
          <a:p>
            <a:pPr marL="514350" indent="-514350">
              <a:buNone/>
            </a:pPr>
            <a:r>
              <a:rPr lang="en-US" dirty="0" smtClean="0">
                <a:latin typeface="黑体" panose="02010609060101010101" pitchFamily="49" charset="-122"/>
                <a:ea typeface="黑体" panose="02010609060101010101" pitchFamily="49" charset="-122"/>
              </a:rPr>
              <a:t>3. Hash</a:t>
            </a:r>
            <a:r>
              <a:rPr lang="zh-CN" altLang="en-US" dirty="0" smtClean="0">
                <a:latin typeface="黑体" panose="02010609060101010101" pitchFamily="49" charset="-122"/>
                <a:ea typeface="黑体" panose="02010609060101010101" pitchFamily="49" charset="-122"/>
              </a:rPr>
              <a:t>索引无法进行数据的排序操作</a:t>
            </a:r>
            <a:r>
              <a:rPr lang="en-US" dirty="0" smtClean="0">
                <a:latin typeface="黑体" panose="02010609060101010101" pitchFamily="49" charset="-122"/>
                <a:ea typeface="黑体" panose="02010609060101010101" pitchFamily="49" charset="-122"/>
              </a:rPr>
              <a:t> </a:t>
            </a:r>
            <a:r>
              <a:rPr lang="en-US" dirty="0" smtClean="0"/>
              <a:t/>
            </a:r>
            <a:br>
              <a:rPr lang="en-US" dirty="0" smtClean="0"/>
            </a:br>
            <a:r>
              <a:rPr lang="zh-CN" altLang="en-US" dirty="0" smtClean="0"/>
              <a:t>由于</a:t>
            </a:r>
            <a:r>
              <a:rPr lang="en-US" dirty="0" smtClean="0"/>
              <a:t>Hash</a:t>
            </a:r>
            <a:r>
              <a:rPr lang="zh-CN" altLang="en-US" dirty="0" smtClean="0"/>
              <a:t>索引中存放的是经过</a:t>
            </a:r>
            <a:r>
              <a:rPr lang="en-US" dirty="0" smtClean="0"/>
              <a:t>Hash</a:t>
            </a:r>
            <a:r>
              <a:rPr lang="zh-CN" altLang="en-US" dirty="0" smtClean="0"/>
              <a:t>计算之后的</a:t>
            </a:r>
            <a:r>
              <a:rPr lang="en-US" dirty="0" smtClean="0"/>
              <a:t>Hash</a:t>
            </a:r>
            <a:r>
              <a:rPr lang="zh-CN" altLang="en-US" dirty="0" smtClean="0"/>
              <a:t>值，而且</a:t>
            </a:r>
            <a:r>
              <a:rPr lang="en-US" dirty="0" smtClean="0"/>
              <a:t>Hash</a:t>
            </a:r>
            <a:r>
              <a:rPr lang="zh-CN" altLang="en-US" dirty="0" smtClean="0"/>
              <a:t>值的大小关系并不一定和</a:t>
            </a:r>
            <a:r>
              <a:rPr lang="en-US" dirty="0" smtClean="0"/>
              <a:t>Hash</a:t>
            </a:r>
            <a:r>
              <a:rPr lang="zh-CN" altLang="en-US" dirty="0" smtClean="0"/>
              <a:t>运算前的键值完全一样，所以数据库无法利用索引的数据来进行任何排序运算。</a:t>
            </a:r>
            <a:r>
              <a:rPr lang="en-US" dirty="0" smtClean="0"/>
              <a:t> </a:t>
            </a:r>
            <a:br>
              <a:rPr lang="en-US" dirty="0" smtClean="0"/>
            </a:b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5</a:t>
            </a:r>
            <a:r>
              <a:rPr lang="en-US" b="1" dirty="0" smtClean="0"/>
              <a:t>.2 Hash</a:t>
            </a:r>
            <a:r>
              <a:rPr lang="zh-CN" altLang="en-US" b="1" dirty="0" smtClean="0"/>
              <a:t>索引</a:t>
            </a:r>
            <a:r>
              <a:rPr lang="en-US" dirty="0" smtClean="0"/>
              <a:t> </a:t>
            </a:r>
            <a:r>
              <a:rPr lang="zh-CN" altLang="en-US" dirty="0" smtClean="0"/>
              <a:t>（续）</a:t>
            </a:r>
            <a:endParaRPr lang="zh-CN" altLang="en-US" dirty="0"/>
          </a:p>
        </p:txBody>
      </p:sp>
      <p:sp>
        <p:nvSpPr>
          <p:cNvPr id="3" name="内容占位符 2"/>
          <p:cNvSpPr>
            <a:spLocks noGrp="1"/>
          </p:cNvSpPr>
          <p:nvPr>
            <p:ph idx="1"/>
          </p:nvPr>
        </p:nvSpPr>
        <p:spPr/>
        <p:txBody>
          <a:bodyPr>
            <a:normAutofit fontScale="92500" lnSpcReduction="20000"/>
          </a:bodyPr>
          <a:lstStyle/>
          <a:p>
            <a:pPr>
              <a:buNone/>
            </a:pPr>
            <a:r>
              <a:rPr lang="en-US" sz="2600" dirty="0" smtClean="0">
                <a:latin typeface="黑体" panose="02010609060101010101" pitchFamily="49" charset="-122"/>
                <a:ea typeface="黑体" panose="02010609060101010101" pitchFamily="49" charset="-122"/>
              </a:rPr>
              <a:t>4. Hash</a:t>
            </a:r>
            <a:r>
              <a:rPr lang="zh-CN" altLang="en-US" sz="2600" dirty="0" smtClean="0">
                <a:latin typeface="黑体" panose="02010609060101010101" pitchFamily="49" charset="-122"/>
                <a:ea typeface="黑体" panose="02010609060101010101" pitchFamily="49" charset="-122"/>
              </a:rPr>
              <a:t>索引任何时候都不能避免表扫描</a:t>
            </a:r>
            <a:r>
              <a:rPr lang="en-US" sz="2600" dirty="0" smtClean="0">
                <a:latin typeface="黑体" panose="02010609060101010101" pitchFamily="49" charset="-122"/>
                <a:ea typeface="黑体" panose="02010609060101010101" pitchFamily="49" charset="-122"/>
              </a:rPr>
              <a:t> </a:t>
            </a:r>
            <a:r>
              <a:rPr lang="en-US" sz="2600" dirty="0" smtClean="0"/>
              <a:t/>
            </a:r>
            <a:br>
              <a:rPr lang="en-US" sz="2600" dirty="0" smtClean="0"/>
            </a:br>
            <a:r>
              <a:rPr lang="en-US" sz="2600" dirty="0" smtClean="0"/>
              <a:t>Hash</a:t>
            </a:r>
            <a:r>
              <a:rPr lang="zh-CN" altLang="en-US" sz="2600" dirty="0" smtClean="0"/>
              <a:t>索引是将索引键通过</a:t>
            </a:r>
            <a:r>
              <a:rPr lang="en-US" sz="2600" dirty="0" smtClean="0"/>
              <a:t>Hash</a:t>
            </a:r>
            <a:r>
              <a:rPr lang="zh-CN" altLang="en-US" sz="2600" dirty="0" smtClean="0"/>
              <a:t>运算之后，将</a:t>
            </a:r>
            <a:r>
              <a:rPr lang="en-US" sz="2600" dirty="0" smtClean="0"/>
              <a:t>Hash</a:t>
            </a:r>
            <a:r>
              <a:rPr lang="zh-CN" altLang="en-US" sz="2600" dirty="0" smtClean="0"/>
              <a:t>运算结果的</a:t>
            </a:r>
            <a:r>
              <a:rPr lang="en-US" sz="2600" dirty="0" smtClean="0"/>
              <a:t>Hash</a:t>
            </a:r>
            <a:r>
              <a:rPr lang="zh-CN" altLang="en-US" sz="2600" dirty="0" smtClean="0"/>
              <a:t>值和所对应的行指针信息存放于一个</a:t>
            </a:r>
            <a:r>
              <a:rPr lang="en-US" sz="2600" dirty="0" smtClean="0"/>
              <a:t>Hash</a:t>
            </a:r>
            <a:r>
              <a:rPr lang="zh-CN" altLang="en-US" sz="2600" dirty="0" smtClean="0"/>
              <a:t>表中，由于不同索引键存在相同</a:t>
            </a:r>
            <a:r>
              <a:rPr lang="en-US" sz="2600" dirty="0" smtClean="0"/>
              <a:t>Hash</a:t>
            </a:r>
            <a:r>
              <a:rPr lang="zh-CN" altLang="en-US" sz="2600" dirty="0" smtClean="0"/>
              <a:t>值，所以无法从</a:t>
            </a:r>
            <a:r>
              <a:rPr lang="en-US" sz="2600" dirty="0" smtClean="0"/>
              <a:t>Hash</a:t>
            </a:r>
            <a:r>
              <a:rPr lang="zh-CN" altLang="en-US" sz="2600" dirty="0" smtClean="0"/>
              <a:t>索引中直接完成查询，还是要通过访问表中的实际数据进行比较，并得到相应的结果。</a:t>
            </a:r>
            <a:r>
              <a:rPr lang="en-US" sz="2600" dirty="0" smtClean="0"/>
              <a:t> </a:t>
            </a:r>
          </a:p>
          <a:p>
            <a:pPr>
              <a:buNone/>
            </a:pPr>
            <a:endParaRPr lang="en-US" sz="2600" dirty="0" smtClean="0"/>
          </a:p>
          <a:p>
            <a:pPr>
              <a:buNone/>
            </a:pPr>
            <a:r>
              <a:rPr lang="en-US" sz="2600" dirty="0" smtClean="0">
                <a:latin typeface="黑体" panose="02010609060101010101" pitchFamily="49" charset="-122"/>
                <a:ea typeface="黑体" panose="02010609060101010101" pitchFamily="49" charset="-122"/>
              </a:rPr>
              <a:t>5. Hash</a:t>
            </a:r>
            <a:r>
              <a:rPr lang="zh-CN" altLang="en-US" sz="2600" dirty="0" smtClean="0">
                <a:latin typeface="黑体" panose="02010609060101010101" pitchFamily="49" charset="-122"/>
                <a:ea typeface="黑体" panose="02010609060101010101" pitchFamily="49" charset="-122"/>
              </a:rPr>
              <a:t>索引遇到大量</a:t>
            </a:r>
            <a:r>
              <a:rPr lang="en-US" sz="2600" dirty="0" smtClean="0">
                <a:latin typeface="黑体" panose="02010609060101010101" pitchFamily="49" charset="-122"/>
                <a:ea typeface="黑体" panose="02010609060101010101" pitchFamily="49" charset="-122"/>
              </a:rPr>
              <a:t>Hash</a:t>
            </a:r>
            <a:r>
              <a:rPr lang="zh-CN" altLang="en-US" sz="2600" dirty="0" smtClean="0">
                <a:latin typeface="黑体" panose="02010609060101010101" pitchFamily="49" charset="-122"/>
                <a:ea typeface="黑体" panose="02010609060101010101" pitchFamily="49" charset="-122"/>
              </a:rPr>
              <a:t>值相等的情况后性能并不一定会比</a:t>
            </a:r>
            <a:r>
              <a:rPr lang="en-US" sz="2600" dirty="0" err="1" smtClean="0">
                <a:latin typeface="黑体" panose="02010609060101010101" pitchFamily="49" charset="-122"/>
                <a:ea typeface="黑体" panose="02010609060101010101" pitchFamily="49" charset="-122"/>
              </a:rPr>
              <a:t>BTree</a:t>
            </a:r>
            <a:r>
              <a:rPr lang="zh-CN" altLang="en-US" sz="2600" dirty="0" smtClean="0">
                <a:latin typeface="黑体" panose="02010609060101010101" pitchFamily="49" charset="-122"/>
                <a:ea typeface="黑体" panose="02010609060101010101" pitchFamily="49" charset="-122"/>
              </a:rPr>
              <a:t>高</a:t>
            </a:r>
            <a:r>
              <a:rPr lang="en-US" sz="2600" dirty="0" smtClean="0">
                <a:latin typeface="黑体" panose="02010609060101010101" pitchFamily="49" charset="-122"/>
                <a:ea typeface="黑体" panose="02010609060101010101" pitchFamily="49" charset="-122"/>
              </a:rPr>
              <a:t> </a:t>
            </a:r>
            <a:r>
              <a:rPr lang="zh-CN" altLang="en-US" sz="2600" dirty="0" smtClean="0">
                <a:latin typeface="黑体" panose="02010609060101010101" pitchFamily="49" charset="-122"/>
                <a:ea typeface="黑体" panose="02010609060101010101" pitchFamily="49" charset="-122"/>
              </a:rPr>
              <a:t>。</a:t>
            </a:r>
          </a:p>
          <a:p>
            <a:pPr>
              <a:buNone/>
            </a:pPr>
            <a:r>
              <a:rPr lang="zh-CN" altLang="en-US" sz="2600" dirty="0" smtClean="0"/>
              <a:t>      对于选择性比较低的索引键，如果创建</a:t>
            </a:r>
            <a:r>
              <a:rPr lang="en-US" sz="2600" dirty="0" smtClean="0"/>
              <a:t>Hash</a:t>
            </a:r>
            <a:r>
              <a:rPr lang="zh-CN" altLang="en-US" sz="2600" dirty="0" smtClean="0"/>
              <a:t>索引，那么将会存在大量记录指针信息存于同一个</a:t>
            </a:r>
            <a:r>
              <a:rPr lang="en-US" sz="2600" dirty="0" smtClean="0"/>
              <a:t>Hash</a:t>
            </a:r>
            <a:r>
              <a:rPr lang="zh-CN" altLang="en-US" sz="2600" dirty="0" smtClean="0"/>
              <a:t>值相关联。这样要定位某一条记录时就会非常麻烦，会浪费多次表数据访问，而造成整体性能底下。</a:t>
            </a:r>
          </a:p>
          <a:p>
            <a:endParaRPr lang="zh-CN"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六 索引的优缺点</a:t>
            </a:r>
            <a:endParaRPr lang="zh-CN" altLang="en-US" dirty="0"/>
          </a:p>
        </p:txBody>
      </p:sp>
      <p:sp>
        <p:nvSpPr>
          <p:cNvPr id="3" name="内容占位符 2"/>
          <p:cNvSpPr>
            <a:spLocks noGrp="1"/>
          </p:cNvSpPr>
          <p:nvPr>
            <p:ph idx="1"/>
          </p:nvPr>
        </p:nvSpPr>
        <p:spPr/>
        <p:txBody>
          <a:bodyPr/>
          <a:lstStyle/>
          <a:p>
            <a:r>
              <a:rPr lang="zh-CN" altLang="en-US" dirty="0" smtClean="0"/>
              <a:t>索引就是一把双刃剑，索引建立后能加快查询速度，但是会减慢更新数据的速度，并需要额外的空间来存储索引。</a:t>
            </a:r>
            <a:endParaRPr lang="zh-CN" altLang="en-US" dirty="0"/>
          </a:p>
        </p:txBody>
      </p:sp>
    </p:spTree>
    <p:extLst>
      <p:ext uri="{BB962C8B-B14F-4D97-AF65-F5344CB8AC3E}">
        <p14:creationId xmlns:p14="http://schemas.microsoft.com/office/powerpoint/2010/main" val="19873751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6.1  </a:t>
            </a:r>
            <a:r>
              <a:rPr lang="zh-CN" altLang="en-US" dirty="0" smtClean="0"/>
              <a:t>使用</a:t>
            </a:r>
            <a:r>
              <a:rPr lang="zh-CN" altLang="en-US" dirty="0"/>
              <a:t>索引的</a:t>
            </a:r>
            <a:r>
              <a:rPr lang="zh-CN" altLang="en-US" dirty="0" smtClean="0"/>
              <a:t>优点</a:t>
            </a:r>
            <a:r>
              <a:rPr lang="zh-CN" altLang="en-US" dirty="0"/>
              <a:t/>
            </a:r>
            <a:br>
              <a:rPr lang="zh-CN" altLang="en-US" dirty="0"/>
            </a:br>
            <a:endParaRPr lang="zh-CN" altLang="en-US" dirty="0"/>
          </a:p>
        </p:txBody>
      </p:sp>
      <p:sp>
        <p:nvSpPr>
          <p:cNvPr id="3" name="内容占位符 2"/>
          <p:cNvSpPr>
            <a:spLocks noGrp="1"/>
          </p:cNvSpPr>
          <p:nvPr>
            <p:ph idx="1"/>
          </p:nvPr>
        </p:nvSpPr>
        <p:spPr/>
        <p:txBody>
          <a:bodyPr>
            <a:noAutofit/>
          </a:bodyPr>
          <a:lstStyle/>
          <a:p>
            <a:pPr marL="0" indent="0">
              <a:buNone/>
            </a:pPr>
            <a:endParaRPr lang="en-US" altLang="zh-CN" sz="2400" dirty="0" smtClean="0">
              <a:solidFill>
                <a:srgbClr val="FF0000"/>
              </a:solidFill>
            </a:endParaRPr>
          </a:p>
          <a:p>
            <a:r>
              <a:rPr lang="zh-CN" altLang="en-US" sz="2800" dirty="0" smtClean="0"/>
              <a:t>通过</a:t>
            </a:r>
            <a:r>
              <a:rPr lang="zh-CN" altLang="en-US" sz="2800" dirty="0"/>
              <a:t>创建唯一性索引，可以保证数据库表中每一行数据的唯一性</a:t>
            </a:r>
            <a:r>
              <a:rPr lang="zh-CN" altLang="en-US" sz="2800" dirty="0" smtClean="0"/>
              <a:t>。</a:t>
            </a:r>
            <a:endParaRPr lang="zh-CN" altLang="en-US" sz="2800" dirty="0"/>
          </a:p>
          <a:p>
            <a:r>
              <a:rPr lang="zh-CN" altLang="en-US" sz="2800" dirty="0">
                <a:solidFill>
                  <a:srgbClr val="FF0000"/>
                </a:solidFill>
              </a:rPr>
              <a:t>可以大大加快数据的检索速度，这也是创建索引的最主要的原因。 </a:t>
            </a:r>
          </a:p>
          <a:p>
            <a:r>
              <a:rPr lang="zh-CN" altLang="en-US" sz="2800" dirty="0" smtClean="0"/>
              <a:t>在</a:t>
            </a:r>
            <a:r>
              <a:rPr lang="zh-CN" altLang="en-US" sz="2800" dirty="0"/>
              <a:t>使用分组和排序子句进行数据检索时，同样可以显著减少查询中分组和排序的时间</a:t>
            </a:r>
            <a:r>
              <a:rPr lang="zh-CN" altLang="en-US" sz="2800" dirty="0" smtClean="0"/>
              <a:t>。</a:t>
            </a:r>
            <a:endParaRPr lang="zh-CN" altLang="en-US" sz="2800" dirty="0"/>
          </a:p>
          <a:p>
            <a:r>
              <a:rPr lang="zh-CN" altLang="en-US" sz="2800" dirty="0"/>
              <a:t>通过使用索引，可以在查询的过程中，使用优化隐藏器，提高系统的</a:t>
            </a:r>
            <a:r>
              <a:rPr lang="zh-CN" altLang="en-US" sz="2800" dirty="0" smtClean="0"/>
              <a:t>性能</a:t>
            </a:r>
            <a:endParaRPr lang="zh-CN" altLang="en-US" sz="2800" dirty="0"/>
          </a:p>
        </p:txBody>
      </p:sp>
    </p:spTree>
    <p:extLst>
      <p:ext uri="{BB962C8B-B14F-4D97-AF65-F5344CB8AC3E}">
        <p14:creationId xmlns:p14="http://schemas.microsoft.com/office/powerpoint/2010/main" val="267957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6.2</a:t>
            </a:r>
            <a:r>
              <a:rPr lang="zh-CN" altLang="en-US" dirty="0" smtClean="0"/>
              <a:t> 使用索引缺点</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endParaRPr lang="en-US" altLang="zh-CN" dirty="0" smtClean="0">
              <a:solidFill>
                <a:srgbClr val="FF0000"/>
              </a:solidFill>
            </a:endParaRPr>
          </a:p>
          <a:p>
            <a:r>
              <a:rPr lang="zh-CN" altLang="en-US" dirty="0" smtClean="0"/>
              <a:t>创建</a:t>
            </a:r>
            <a:r>
              <a:rPr lang="zh-CN" altLang="en-US" dirty="0"/>
              <a:t>索引和维护索引要耗费时间，这种时间随着数据量的增加而增加。</a:t>
            </a:r>
          </a:p>
          <a:p>
            <a:endParaRPr lang="zh-CN" altLang="en-US" dirty="0"/>
          </a:p>
          <a:p>
            <a:r>
              <a:rPr lang="zh-CN" altLang="en-US" dirty="0"/>
              <a:t>索引需要占物理空间，除了数据表占数据空间之外，每一个索引还要占一定的物理空间。</a:t>
            </a:r>
          </a:p>
          <a:p>
            <a:endParaRPr lang="zh-CN" altLang="en-US" dirty="0"/>
          </a:p>
          <a:p>
            <a:r>
              <a:rPr lang="zh-CN" altLang="en-US" dirty="0"/>
              <a:t>当对表中的数据进行增加、删除和修改的时候，索引也要动态的维护，这样就降低了数据的维护速度。</a:t>
            </a:r>
          </a:p>
          <a:p>
            <a:endParaRPr lang="zh-CN" altLang="en-US" dirty="0"/>
          </a:p>
        </p:txBody>
      </p:sp>
    </p:spTree>
    <p:extLst>
      <p:ext uri="{BB962C8B-B14F-4D97-AF65-F5344CB8AC3E}">
        <p14:creationId xmlns:p14="http://schemas.microsoft.com/office/powerpoint/2010/main" val="398046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 </a:t>
            </a:r>
            <a:r>
              <a:rPr lang="zh-CN" altLang="en-US" dirty="0" smtClean="0"/>
              <a:t>使用索引注意事项</a:t>
            </a:r>
            <a:endParaRPr lang="zh-CN" altLang="en-US" dirty="0"/>
          </a:p>
        </p:txBody>
      </p:sp>
      <p:sp>
        <p:nvSpPr>
          <p:cNvPr id="3" name="内容占位符 2"/>
          <p:cNvSpPr>
            <a:spLocks noGrp="1"/>
          </p:cNvSpPr>
          <p:nvPr>
            <p:ph idx="1"/>
          </p:nvPr>
        </p:nvSpPr>
        <p:spPr/>
        <p:txBody>
          <a:bodyPr/>
          <a:lstStyle/>
          <a:p>
            <a:r>
              <a:rPr lang="zh-CN" altLang="en-US" dirty="0" smtClean="0"/>
              <a:t>索引是针对数据库表中的某些列。因此，在创建索引时要仔细考虑哪些列上可以创建索引，哪些列上不能创建索引。</a:t>
            </a:r>
            <a:endParaRPr lang="zh-CN" altLang="en-US" dirty="0"/>
          </a:p>
        </p:txBody>
      </p:sp>
    </p:spTree>
    <p:extLst>
      <p:ext uri="{BB962C8B-B14F-4D97-AF65-F5344CB8AC3E}">
        <p14:creationId xmlns:p14="http://schemas.microsoft.com/office/powerpoint/2010/main" val="32649291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7.1 </a:t>
            </a:r>
            <a:r>
              <a:rPr lang="zh-CN" altLang="en-US" dirty="0" smtClean="0"/>
              <a:t>合理</a:t>
            </a:r>
            <a:r>
              <a:rPr lang="zh-CN" altLang="en-US" dirty="0"/>
              <a:t>使用索引注意事项</a:t>
            </a:r>
          </a:p>
        </p:txBody>
      </p:sp>
      <p:sp>
        <p:nvSpPr>
          <p:cNvPr id="4" name="矩形 3"/>
          <p:cNvSpPr/>
          <p:nvPr/>
        </p:nvSpPr>
        <p:spPr>
          <a:xfrm>
            <a:off x="481468" y="1722886"/>
            <a:ext cx="8662532" cy="400110"/>
          </a:xfrm>
          <a:prstGeom prst="rect">
            <a:avLst/>
          </a:prstGeom>
        </p:spPr>
        <p:txBody>
          <a:bodyPr wrap="square">
            <a:spAutoFit/>
          </a:bodyPr>
          <a:lstStyle/>
          <a:p>
            <a:pPr marL="457200" indent="-457200">
              <a:buFont typeface="Wingdings" pitchFamily="2" charset="2"/>
              <a:buChar char="u"/>
            </a:pPr>
            <a:r>
              <a:rPr lang="zh-CN" altLang="en-US" sz="2000" dirty="0" smtClean="0">
                <a:solidFill>
                  <a:prstClr val="black"/>
                </a:solidFill>
                <a:latin typeface="+mn-ea"/>
              </a:rPr>
              <a:t>在</a:t>
            </a:r>
            <a:r>
              <a:rPr lang="zh-CN" altLang="en-US" sz="2000" dirty="0">
                <a:solidFill>
                  <a:prstClr val="black"/>
                </a:solidFill>
                <a:latin typeface="+mn-ea"/>
              </a:rPr>
              <a:t>经常需要搜索的列上，可以加快搜索的速度。</a:t>
            </a:r>
            <a:endParaRPr lang="en-US" altLang="zh-CN" sz="2000" dirty="0">
              <a:solidFill>
                <a:prstClr val="black"/>
              </a:solidFill>
              <a:latin typeface="+mn-ea"/>
            </a:endParaRPr>
          </a:p>
        </p:txBody>
      </p:sp>
      <p:sp>
        <p:nvSpPr>
          <p:cNvPr id="5" name="矩形 4"/>
          <p:cNvSpPr/>
          <p:nvPr/>
        </p:nvSpPr>
        <p:spPr>
          <a:xfrm>
            <a:off x="508189" y="4980516"/>
            <a:ext cx="8324085" cy="707886"/>
          </a:xfrm>
          <a:prstGeom prst="rect">
            <a:avLst/>
          </a:prstGeom>
        </p:spPr>
        <p:txBody>
          <a:bodyPr wrap="square">
            <a:spAutoFit/>
          </a:bodyPr>
          <a:lstStyle/>
          <a:p>
            <a:pPr marL="457200" indent="-457200">
              <a:buFont typeface="Wingdings" pitchFamily="2" charset="2"/>
              <a:buChar char="u"/>
            </a:pPr>
            <a:r>
              <a:rPr lang="zh-CN" altLang="en-US" sz="2000" dirty="0">
                <a:solidFill>
                  <a:prstClr val="black"/>
                </a:solidFill>
                <a:latin typeface="+mn-ea"/>
              </a:rPr>
              <a:t>在经常需要排序的列上创建索引，因为索引已经排序，这样查询可以利用索引的排序，加快排序查询时间</a:t>
            </a:r>
            <a:r>
              <a:rPr lang="zh-CN" altLang="en-US" sz="2000" dirty="0" smtClean="0">
                <a:solidFill>
                  <a:prstClr val="black"/>
                </a:solidFill>
                <a:latin typeface="+mn-ea"/>
              </a:rPr>
              <a:t>。</a:t>
            </a:r>
            <a:endParaRPr lang="en-US" altLang="zh-CN" sz="2000" dirty="0">
              <a:solidFill>
                <a:prstClr val="black"/>
              </a:solidFill>
              <a:latin typeface="+mn-ea"/>
            </a:endParaRPr>
          </a:p>
        </p:txBody>
      </p:sp>
      <p:sp>
        <p:nvSpPr>
          <p:cNvPr id="6" name="矩形 5"/>
          <p:cNvSpPr/>
          <p:nvPr/>
        </p:nvSpPr>
        <p:spPr>
          <a:xfrm>
            <a:off x="481469" y="3980384"/>
            <a:ext cx="8324085" cy="400110"/>
          </a:xfrm>
          <a:prstGeom prst="rect">
            <a:avLst/>
          </a:prstGeom>
        </p:spPr>
        <p:txBody>
          <a:bodyPr wrap="square">
            <a:spAutoFit/>
          </a:bodyPr>
          <a:lstStyle/>
          <a:p>
            <a:pPr marL="457200" indent="-457200">
              <a:buFont typeface="Wingdings" pitchFamily="2" charset="2"/>
              <a:buChar char="u"/>
            </a:pPr>
            <a:r>
              <a:rPr lang="zh-CN" altLang="en-US" sz="2000" dirty="0">
                <a:solidFill>
                  <a:prstClr val="black"/>
                </a:solidFill>
                <a:latin typeface="+mn-ea"/>
              </a:rPr>
              <a:t>在经常需要根据范围进行搜索的列上创建索引，因为索引已经</a:t>
            </a:r>
            <a:r>
              <a:rPr lang="zh-CN" altLang="en-US" sz="2000" dirty="0" smtClean="0">
                <a:solidFill>
                  <a:prstClr val="black"/>
                </a:solidFill>
                <a:latin typeface="+mn-ea"/>
              </a:rPr>
              <a:t>排序。</a:t>
            </a:r>
            <a:endParaRPr lang="en-US" altLang="zh-CN" sz="2000" dirty="0">
              <a:solidFill>
                <a:prstClr val="black"/>
              </a:solidFill>
              <a:latin typeface="+mn-ea"/>
            </a:endParaRPr>
          </a:p>
        </p:txBody>
      </p:sp>
      <p:sp>
        <p:nvSpPr>
          <p:cNvPr id="7" name="矩形 6"/>
          <p:cNvSpPr/>
          <p:nvPr/>
        </p:nvSpPr>
        <p:spPr>
          <a:xfrm>
            <a:off x="481469" y="3051690"/>
            <a:ext cx="8324085" cy="707886"/>
          </a:xfrm>
          <a:prstGeom prst="rect">
            <a:avLst/>
          </a:prstGeom>
        </p:spPr>
        <p:txBody>
          <a:bodyPr wrap="square">
            <a:spAutoFit/>
          </a:bodyPr>
          <a:lstStyle/>
          <a:p>
            <a:pPr marL="457200" indent="-457200">
              <a:buFont typeface="Wingdings" pitchFamily="2" charset="2"/>
              <a:buChar char="u"/>
            </a:pPr>
            <a:r>
              <a:rPr lang="zh-CN" altLang="en-US" sz="2000" dirty="0">
                <a:solidFill>
                  <a:prstClr val="black"/>
                </a:solidFill>
                <a:latin typeface="+mn-ea"/>
              </a:rPr>
              <a:t>在经常用在连接的列上，这些列主要是一些外键，可以加快连接的速度</a:t>
            </a:r>
            <a:r>
              <a:rPr lang="zh-CN" altLang="en-US" sz="2000" dirty="0" smtClean="0">
                <a:solidFill>
                  <a:prstClr val="black"/>
                </a:solidFill>
                <a:latin typeface="+mn-ea"/>
              </a:rPr>
              <a:t>。</a:t>
            </a:r>
            <a:endParaRPr lang="en-US" altLang="zh-CN" sz="2000" dirty="0">
              <a:solidFill>
                <a:prstClr val="black"/>
              </a:solidFill>
              <a:latin typeface="+mn-ea"/>
            </a:endParaRPr>
          </a:p>
        </p:txBody>
      </p:sp>
      <p:sp>
        <p:nvSpPr>
          <p:cNvPr id="8" name="矩形 7"/>
          <p:cNvSpPr/>
          <p:nvPr/>
        </p:nvSpPr>
        <p:spPr>
          <a:xfrm>
            <a:off x="481468" y="2388428"/>
            <a:ext cx="8662532" cy="400110"/>
          </a:xfrm>
          <a:prstGeom prst="rect">
            <a:avLst/>
          </a:prstGeom>
        </p:spPr>
        <p:txBody>
          <a:bodyPr wrap="square">
            <a:spAutoFit/>
          </a:bodyPr>
          <a:lstStyle/>
          <a:p>
            <a:pPr marL="457200" indent="-457200">
              <a:buFont typeface="Wingdings" pitchFamily="2" charset="2"/>
              <a:buChar char="u"/>
            </a:pPr>
            <a:r>
              <a:rPr lang="zh-CN" altLang="en-US" sz="2000" dirty="0">
                <a:solidFill>
                  <a:prstClr val="black"/>
                </a:solidFill>
                <a:latin typeface="+mn-ea"/>
              </a:rPr>
              <a:t>在作为主键的列上，强制该列的唯一性和组织表中数据的排列</a:t>
            </a:r>
            <a:r>
              <a:rPr lang="zh-CN" altLang="en-US" sz="2000" dirty="0" smtClean="0">
                <a:solidFill>
                  <a:prstClr val="black"/>
                </a:solidFill>
                <a:latin typeface="+mn-ea"/>
              </a:rPr>
              <a:t>结构</a:t>
            </a:r>
            <a:endParaRPr lang="en-US" altLang="zh-CN" sz="2000" dirty="0">
              <a:solidFill>
                <a:prstClr val="black"/>
              </a:solidFill>
              <a:latin typeface="+mn-ea"/>
            </a:endParaRPr>
          </a:p>
        </p:txBody>
      </p:sp>
      <p:sp>
        <p:nvSpPr>
          <p:cNvPr id="9" name="矩形 8"/>
          <p:cNvSpPr/>
          <p:nvPr/>
        </p:nvSpPr>
        <p:spPr>
          <a:xfrm>
            <a:off x="500034" y="5909210"/>
            <a:ext cx="8324085" cy="400110"/>
          </a:xfrm>
          <a:prstGeom prst="rect">
            <a:avLst/>
          </a:prstGeom>
        </p:spPr>
        <p:txBody>
          <a:bodyPr wrap="square">
            <a:spAutoFit/>
          </a:bodyPr>
          <a:lstStyle/>
          <a:p>
            <a:pPr marL="457200" indent="-457200">
              <a:buFont typeface="Wingdings" pitchFamily="2" charset="2"/>
              <a:buChar char="u"/>
            </a:pPr>
            <a:r>
              <a:rPr lang="zh-CN" altLang="en-US" sz="2000" dirty="0">
                <a:solidFill>
                  <a:prstClr val="black"/>
                </a:solidFill>
                <a:latin typeface="+mn-ea"/>
              </a:rPr>
              <a:t>经常使用在</a:t>
            </a:r>
            <a:r>
              <a:rPr lang="en-US" altLang="zh-CN" sz="2000" dirty="0">
                <a:solidFill>
                  <a:prstClr val="black"/>
                </a:solidFill>
                <a:latin typeface="+mn-ea"/>
              </a:rPr>
              <a:t>WHERE</a:t>
            </a:r>
            <a:r>
              <a:rPr lang="zh-CN" altLang="en-US" sz="2000" dirty="0">
                <a:solidFill>
                  <a:prstClr val="black"/>
                </a:solidFill>
                <a:latin typeface="+mn-ea"/>
              </a:rPr>
              <a:t>子句中的列上创建索引，加快条件的判断速度</a:t>
            </a:r>
            <a:r>
              <a:rPr lang="zh-CN" altLang="en-US" sz="2000" dirty="0" smtClean="0">
                <a:solidFill>
                  <a:prstClr val="black"/>
                </a:solidFill>
                <a:latin typeface="+mn-ea"/>
              </a:rPr>
              <a:t>。</a:t>
            </a:r>
            <a:endParaRPr lang="en-US" altLang="zh-CN" sz="2000" dirty="0">
              <a:solidFill>
                <a:prstClr val="black"/>
              </a:solidFill>
              <a:latin typeface="+mn-ea"/>
            </a:endParaRPr>
          </a:p>
        </p:txBody>
      </p:sp>
    </p:spTree>
    <p:extLst>
      <p:ext uri="{BB962C8B-B14F-4D97-AF65-F5344CB8AC3E}">
        <p14:creationId xmlns:p14="http://schemas.microsoft.com/office/powerpoint/2010/main" val="147649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7.2 </a:t>
            </a:r>
            <a:r>
              <a:rPr lang="zh-CN" altLang="en-US" dirty="0" smtClean="0"/>
              <a:t>不</a:t>
            </a:r>
            <a:r>
              <a:rPr lang="zh-CN" altLang="en-US" dirty="0"/>
              <a:t>合理使用索引注意事项</a:t>
            </a:r>
          </a:p>
        </p:txBody>
      </p:sp>
      <p:sp>
        <p:nvSpPr>
          <p:cNvPr id="4" name="矩形 3"/>
          <p:cNvSpPr/>
          <p:nvPr/>
        </p:nvSpPr>
        <p:spPr>
          <a:xfrm>
            <a:off x="481468" y="1941395"/>
            <a:ext cx="8662532" cy="461665"/>
          </a:xfrm>
          <a:prstGeom prst="rect">
            <a:avLst/>
          </a:prstGeom>
        </p:spPr>
        <p:txBody>
          <a:bodyPr wrap="square">
            <a:spAutoFit/>
          </a:bodyPr>
          <a:lstStyle/>
          <a:p>
            <a:pPr marL="457200" indent="-457200">
              <a:buFont typeface="Wingdings" pitchFamily="2" charset="2"/>
              <a:buChar char="u"/>
            </a:pPr>
            <a:r>
              <a:rPr lang="zh-CN" altLang="en-US" sz="2400" dirty="0" smtClean="0">
                <a:solidFill>
                  <a:prstClr val="black"/>
                </a:solidFill>
                <a:latin typeface="+mn-ea"/>
              </a:rPr>
              <a:t>对于</a:t>
            </a:r>
            <a:r>
              <a:rPr lang="zh-CN" altLang="en-US" sz="2400" dirty="0">
                <a:solidFill>
                  <a:prstClr val="black"/>
                </a:solidFill>
                <a:latin typeface="+mn-ea"/>
              </a:rPr>
              <a:t>那些在查询中很少使用或者参考的列不应该创建</a:t>
            </a:r>
            <a:r>
              <a:rPr lang="zh-CN" altLang="en-US" sz="2400">
                <a:solidFill>
                  <a:prstClr val="black"/>
                </a:solidFill>
                <a:latin typeface="+mn-ea"/>
              </a:rPr>
              <a:t>索</a:t>
            </a:r>
            <a:r>
              <a:rPr lang="zh-CN" altLang="en-US" sz="2400" smtClean="0">
                <a:solidFill>
                  <a:prstClr val="black"/>
                </a:solidFill>
                <a:latin typeface="+mn-ea"/>
              </a:rPr>
              <a:t>引</a:t>
            </a:r>
            <a:endParaRPr lang="en-US" altLang="zh-CN" sz="2400" dirty="0">
              <a:solidFill>
                <a:prstClr val="black"/>
              </a:solidFill>
              <a:latin typeface="+mn-ea"/>
            </a:endParaRPr>
          </a:p>
        </p:txBody>
      </p:sp>
      <p:sp>
        <p:nvSpPr>
          <p:cNvPr id="5" name="矩形 4"/>
          <p:cNvSpPr/>
          <p:nvPr/>
        </p:nvSpPr>
        <p:spPr>
          <a:xfrm>
            <a:off x="481469" y="5847655"/>
            <a:ext cx="8324085" cy="461665"/>
          </a:xfrm>
          <a:prstGeom prst="rect">
            <a:avLst/>
          </a:prstGeom>
        </p:spPr>
        <p:txBody>
          <a:bodyPr wrap="square">
            <a:spAutoFit/>
          </a:bodyPr>
          <a:lstStyle/>
          <a:p>
            <a:pPr marL="457200" indent="-457200">
              <a:buFont typeface="Wingdings" pitchFamily="2" charset="2"/>
              <a:buChar char="u"/>
            </a:pPr>
            <a:r>
              <a:rPr lang="zh-CN" altLang="en-US" sz="2400" dirty="0" smtClean="0">
                <a:solidFill>
                  <a:prstClr val="black"/>
                </a:solidFill>
                <a:latin typeface="+mn-ea"/>
              </a:rPr>
              <a:t>当</a:t>
            </a:r>
            <a:r>
              <a:rPr lang="zh-CN" altLang="en-US" sz="2400" dirty="0">
                <a:solidFill>
                  <a:prstClr val="black"/>
                </a:solidFill>
                <a:latin typeface="+mn-ea"/>
              </a:rPr>
              <a:t>修改性能远远大于检索性能时，不应该创建索引。</a:t>
            </a:r>
            <a:endParaRPr lang="en-US" altLang="zh-CN" sz="2400" dirty="0">
              <a:solidFill>
                <a:prstClr val="black"/>
              </a:solidFill>
              <a:latin typeface="+mn-ea"/>
            </a:endParaRPr>
          </a:p>
        </p:txBody>
      </p:sp>
      <p:sp>
        <p:nvSpPr>
          <p:cNvPr id="6" name="矩形 5"/>
          <p:cNvSpPr/>
          <p:nvPr/>
        </p:nvSpPr>
        <p:spPr>
          <a:xfrm>
            <a:off x="481469" y="4456806"/>
            <a:ext cx="8324085" cy="830997"/>
          </a:xfrm>
          <a:prstGeom prst="rect">
            <a:avLst/>
          </a:prstGeom>
        </p:spPr>
        <p:txBody>
          <a:bodyPr wrap="square">
            <a:spAutoFit/>
          </a:bodyPr>
          <a:lstStyle/>
          <a:p>
            <a:pPr marL="457200" indent="-457200">
              <a:buFont typeface="Wingdings" pitchFamily="2" charset="2"/>
              <a:buChar char="u"/>
            </a:pPr>
            <a:r>
              <a:rPr lang="zh-CN" altLang="en-US" sz="2400" dirty="0" smtClean="0">
                <a:solidFill>
                  <a:prstClr val="black"/>
                </a:solidFill>
                <a:latin typeface="+mn-ea"/>
              </a:rPr>
              <a:t>对于</a:t>
            </a:r>
            <a:r>
              <a:rPr lang="zh-CN" altLang="en-US" sz="2400" dirty="0">
                <a:solidFill>
                  <a:prstClr val="black"/>
                </a:solidFill>
                <a:latin typeface="+mn-ea"/>
              </a:rPr>
              <a:t>那些定义为</a:t>
            </a:r>
            <a:r>
              <a:rPr lang="en-US" altLang="zh-CN" sz="2400" dirty="0">
                <a:solidFill>
                  <a:prstClr val="black"/>
                </a:solidFill>
                <a:latin typeface="+mn-ea"/>
              </a:rPr>
              <a:t>text</a:t>
            </a:r>
            <a:r>
              <a:rPr lang="zh-CN" altLang="en-US" sz="2400" dirty="0">
                <a:solidFill>
                  <a:prstClr val="black"/>
                </a:solidFill>
                <a:latin typeface="+mn-ea"/>
              </a:rPr>
              <a:t>、</a:t>
            </a:r>
            <a:r>
              <a:rPr lang="en-US" altLang="zh-CN" sz="2400" dirty="0">
                <a:solidFill>
                  <a:prstClr val="black"/>
                </a:solidFill>
                <a:latin typeface="+mn-ea"/>
              </a:rPr>
              <a:t>image</a:t>
            </a:r>
            <a:r>
              <a:rPr lang="zh-CN" altLang="en-US" sz="2400" dirty="0">
                <a:solidFill>
                  <a:prstClr val="black"/>
                </a:solidFill>
                <a:latin typeface="+mn-ea"/>
              </a:rPr>
              <a:t>和</a:t>
            </a:r>
            <a:r>
              <a:rPr lang="en-US" altLang="zh-CN" sz="2400" dirty="0">
                <a:solidFill>
                  <a:prstClr val="black"/>
                </a:solidFill>
                <a:latin typeface="+mn-ea"/>
              </a:rPr>
              <a:t>bit</a:t>
            </a:r>
            <a:r>
              <a:rPr lang="zh-CN" altLang="en-US" sz="2400" dirty="0">
                <a:solidFill>
                  <a:prstClr val="black"/>
                </a:solidFill>
                <a:latin typeface="+mn-ea"/>
              </a:rPr>
              <a:t>数据类型的列不应该增加索引。</a:t>
            </a:r>
            <a:endParaRPr lang="en-US" altLang="zh-CN" sz="2400" dirty="0">
              <a:solidFill>
                <a:prstClr val="black"/>
              </a:solidFill>
              <a:latin typeface="+mn-ea"/>
            </a:endParaRPr>
          </a:p>
        </p:txBody>
      </p:sp>
      <p:sp>
        <p:nvSpPr>
          <p:cNvPr id="7" name="矩形 6"/>
          <p:cNvSpPr/>
          <p:nvPr/>
        </p:nvSpPr>
        <p:spPr>
          <a:xfrm>
            <a:off x="481468" y="3171923"/>
            <a:ext cx="8662532" cy="461665"/>
          </a:xfrm>
          <a:prstGeom prst="rect">
            <a:avLst/>
          </a:prstGeom>
        </p:spPr>
        <p:txBody>
          <a:bodyPr wrap="square">
            <a:spAutoFit/>
          </a:bodyPr>
          <a:lstStyle/>
          <a:p>
            <a:pPr marL="457200" indent="-457200">
              <a:buFont typeface="Wingdings" pitchFamily="2" charset="2"/>
              <a:buChar char="u"/>
            </a:pPr>
            <a:r>
              <a:rPr lang="zh-CN" altLang="en-US" sz="2400" dirty="0" smtClean="0">
                <a:solidFill>
                  <a:prstClr val="black"/>
                </a:solidFill>
                <a:latin typeface="+mn-ea"/>
              </a:rPr>
              <a:t>对于</a:t>
            </a:r>
            <a:r>
              <a:rPr lang="zh-CN" altLang="en-US" sz="2400" dirty="0">
                <a:solidFill>
                  <a:prstClr val="black"/>
                </a:solidFill>
                <a:latin typeface="+mn-ea"/>
              </a:rPr>
              <a:t>那些只有很少数据值的列也不应该增加索引用</a:t>
            </a:r>
            <a:endParaRPr lang="en-US" altLang="zh-CN" sz="2400" dirty="0">
              <a:solidFill>
                <a:prstClr val="black"/>
              </a:solidFill>
              <a:latin typeface="+mn-ea"/>
            </a:endParaRPr>
          </a:p>
        </p:txBody>
      </p:sp>
    </p:spTree>
    <p:extLst>
      <p:ext uri="{BB962C8B-B14F-4D97-AF65-F5344CB8AC3E}">
        <p14:creationId xmlns:p14="http://schemas.microsoft.com/office/powerpoint/2010/main" val="380773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思考题</a:t>
            </a:r>
            <a:endParaRPr lang="zh-CN" altLang="en-US" dirty="0"/>
          </a:p>
        </p:txBody>
      </p:sp>
      <p:sp>
        <p:nvSpPr>
          <p:cNvPr id="3" name="内容占位符 2"/>
          <p:cNvSpPr>
            <a:spLocks noGrp="1"/>
          </p:cNvSpPr>
          <p:nvPr>
            <p:ph idx="1"/>
          </p:nvPr>
        </p:nvSpPr>
        <p:spPr/>
        <p:txBody>
          <a:bodyPr/>
          <a:lstStyle/>
          <a:p>
            <a:r>
              <a:rPr lang="en-US" altLang="zh-CN" dirty="0" smtClean="0"/>
              <a:t>1.Mysql</a:t>
            </a:r>
            <a:r>
              <a:rPr lang="zh-CN" altLang="en-US" dirty="0" smtClean="0"/>
              <a:t>中</a:t>
            </a:r>
            <a:r>
              <a:rPr lang="en-US" altLang="zh-CN" dirty="0" smtClean="0"/>
              <a:t>MYISAN</a:t>
            </a:r>
            <a:r>
              <a:rPr lang="zh-CN" altLang="en-US" dirty="0" smtClean="0"/>
              <a:t>和</a:t>
            </a:r>
            <a:r>
              <a:rPr lang="en-US" altLang="zh-CN" dirty="0" smtClean="0"/>
              <a:t>INNODB</a:t>
            </a:r>
            <a:r>
              <a:rPr lang="zh-CN" altLang="en-US" dirty="0" smtClean="0"/>
              <a:t>两种存储引擎在</a:t>
            </a:r>
            <a:r>
              <a:rPr lang="en-US" altLang="zh-CN" dirty="0" err="1" smtClean="0"/>
              <a:t>B+tree</a:t>
            </a:r>
            <a:r>
              <a:rPr lang="zh-CN" altLang="en-US" dirty="0" smtClean="0"/>
              <a:t>索引实现上的区别。</a:t>
            </a:r>
            <a:endParaRPr lang="en-US" altLang="zh-CN" dirty="0" smtClean="0"/>
          </a:p>
          <a:p>
            <a:endParaRPr lang="en-US" altLang="zh-CN" dirty="0" smtClean="0"/>
          </a:p>
          <a:p>
            <a:r>
              <a:rPr lang="en-US" altLang="zh-CN" dirty="0" smtClean="0"/>
              <a:t>2.INNODB</a:t>
            </a:r>
            <a:r>
              <a:rPr lang="zh-CN" altLang="en-US" dirty="0" smtClean="0"/>
              <a:t>存储引擎为什么推荐使用自增字段作为主键？</a:t>
            </a:r>
            <a:endParaRPr lang="en-US" altLang="zh-CN" dirty="0" smtClean="0"/>
          </a:p>
          <a:p>
            <a:endParaRPr lang="en-US" altLang="zh-CN" dirty="0"/>
          </a:p>
          <a:p>
            <a:r>
              <a:rPr lang="zh-CN" altLang="en-US" dirty="0" smtClean="0"/>
              <a:t>为什么</a:t>
            </a:r>
            <a:r>
              <a:rPr lang="en-US" altLang="zh-CN" dirty="0" err="1" smtClean="0"/>
              <a:t>B+tree</a:t>
            </a:r>
            <a:r>
              <a:rPr lang="zh-CN" altLang="en-US" dirty="0" smtClean="0"/>
              <a:t>索引支持范围查询而</a:t>
            </a:r>
            <a:r>
              <a:rPr lang="en-US" altLang="zh-CN" dirty="0" smtClean="0"/>
              <a:t>hash</a:t>
            </a:r>
            <a:r>
              <a:rPr lang="zh-CN" altLang="en-US" dirty="0" smtClean="0"/>
              <a:t>索引不支持？</a:t>
            </a:r>
            <a:endParaRPr lang="en-US" altLang="zh-CN" dirty="0" smtClean="0"/>
          </a:p>
        </p:txBody>
      </p:sp>
    </p:spTree>
    <p:extLst>
      <p:ext uri="{BB962C8B-B14F-4D97-AF65-F5344CB8AC3E}">
        <p14:creationId xmlns:p14="http://schemas.microsoft.com/office/powerpoint/2010/main" val="233363596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3167</TotalTime>
  <Words>4927</Words>
  <Application>Microsoft Office PowerPoint</Application>
  <PresentationFormat>全屏显示(4:3)</PresentationFormat>
  <Paragraphs>260</Paragraphs>
  <Slides>46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46</vt:i4>
      </vt:variant>
    </vt:vector>
  </HeadingPairs>
  <TitlesOfParts>
    <vt:vector size="61" baseType="lpstr">
      <vt:lpstr>Maiandra GD</vt:lpstr>
      <vt:lpstr>等线</vt:lpstr>
      <vt:lpstr>黑体</vt:lpstr>
      <vt:lpstr>华文楷体</vt:lpstr>
      <vt:lpstr>隶书</vt:lpstr>
      <vt:lpstr>宋体</vt:lpstr>
      <vt:lpstr>Arial</vt:lpstr>
      <vt:lpstr>Calibri</vt:lpstr>
      <vt:lpstr>Cambria</vt:lpstr>
      <vt:lpstr>Cambria Math</vt:lpstr>
      <vt:lpstr>Tahoma</vt:lpstr>
      <vt:lpstr>Times New Roman</vt:lpstr>
      <vt:lpstr>Wingdings</vt:lpstr>
      <vt:lpstr>Wingdings 2</vt:lpstr>
      <vt:lpstr>龙腾四海</vt:lpstr>
      <vt:lpstr>数据库原理 </vt:lpstr>
      <vt:lpstr>内容提要</vt:lpstr>
      <vt:lpstr>一、准备知识</vt:lpstr>
      <vt:lpstr>1.1 B-Tree数据结构（续）</vt:lpstr>
      <vt:lpstr>举例</vt:lpstr>
      <vt:lpstr>1.2 磁盘存取原理——主存存取原理</vt:lpstr>
      <vt:lpstr>1.2 磁盘存取原理——主存存取原理(续)</vt:lpstr>
      <vt:lpstr>磁盘存取原理——主存存取原理(续)</vt:lpstr>
      <vt:lpstr>1.2 磁盘存取原理——外存存取原理</vt:lpstr>
      <vt:lpstr>1.2 磁盘存取原理——外存取原理</vt:lpstr>
      <vt:lpstr>1.2 磁盘存取原理——外存取原理（续）</vt:lpstr>
      <vt:lpstr>1.2 磁盘存取原理——局部性原理与磁盘预读</vt:lpstr>
      <vt:lpstr>1.2 磁盘存取原理——局部性原理与磁盘预读（续）</vt:lpstr>
      <vt:lpstr>二、索引的本质</vt:lpstr>
      <vt:lpstr>2. 1 B-Tree索引的前身 二叉树索引</vt:lpstr>
      <vt:lpstr>2.2 hash索引</vt:lpstr>
      <vt:lpstr>PowerPoint 演示文稿</vt:lpstr>
      <vt:lpstr>三、索引B-Tree和B+Tree</vt:lpstr>
      <vt:lpstr>B-TREE的一个结点</vt:lpstr>
      <vt:lpstr>3.1索引B-Tree</vt:lpstr>
      <vt:lpstr>3.1索引B-Tree（续）</vt:lpstr>
      <vt:lpstr>3.1索引B-Tree（续）</vt:lpstr>
      <vt:lpstr>3.2 索引B+Tree（续）</vt:lpstr>
      <vt:lpstr>3.2 索引B+Tree（续）</vt:lpstr>
      <vt:lpstr>四 、MySQL索引实现</vt:lpstr>
      <vt:lpstr>4.1 MyISAM索引实现</vt:lpstr>
      <vt:lpstr>4.1 MyISAM索引实现（续）</vt:lpstr>
      <vt:lpstr>4.2 InnoDB索引实现</vt:lpstr>
      <vt:lpstr>4.2 InnoDB索引实现（续）</vt:lpstr>
      <vt:lpstr>4.2 InnoDB索引实现</vt:lpstr>
      <vt:lpstr>PowerPoint 演示文稿</vt:lpstr>
      <vt:lpstr>4.2 InnoDB索引实现（续）</vt:lpstr>
      <vt:lpstr>五、B-Tree与hash索引的适用场景和限制</vt:lpstr>
      <vt:lpstr>5.1 B+Tree适用场景</vt:lpstr>
      <vt:lpstr>5.1 B+Tree适用场景(续）</vt:lpstr>
      <vt:lpstr>5.1 B+Tree适用场景(续）</vt:lpstr>
      <vt:lpstr>5.1 B-Tree适用场景(续）</vt:lpstr>
      <vt:lpstr>5.2 Hash索引 </vt:lpstr>
      <vt:lpstr>5.2 Hash索引 （续）</vt:lpstr>
      <vt:lpstr>六 索引的优缺点</vt:lpstr>
      <vt:lpstr>6.1  使用索引的优点 </vt:lpstr>
      <vt:lpstr>6.2 使用索引缺点</vt:lpstr>
      <vt:lpstr>7 使用索引注意事项</vt:lpstr>
      <vt:lpstr>7.1 合理使用索引注意事项</vt:lpstr>
      <vt:lpstr>7.2 不合理使用索引注意事项</vt:lpstr>
      <vt:lpstr>思考题</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数据库概论 </dc:title>
  <dc:creator>微软用户</dc:creator>
  <cp:lastModifiedBy>Administrator</cp:lastModifiedBy>
  <cp:revision>54</cp:revision>
  <dcterms:created xsi:type="dcterms:W3CDTF">2018-11-12T01:59:35Z</dcterms:created>
  <dcterms:modified xsi:type="dcterms:W3CDTF">2025-11-11T12:36:09Z</dcterms:modified>
</cp:coreProperties>
</file>