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67" r:id="rId2"/>
    <p:sldId id="263" r:id="rId3"/>
    <p:sldId id="268" r:id="rId4"/>
    <p:sldId id="272" r:id="rId5"/>
    <p:sldId id="270" r:id="rId6"/>
    <p:sldId id="273" r:id="rId7"/>
    <p:sldId id="269" r:id="rId8"/>
    <p:sldId id="271" r:id="rId9"/>
    <p:sldId id="276" r:id="rId10"/>
    <p:sldId id="277" r:id="rId11"/>
    <p:sldId id="265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2827D66-8778-4CD9-9D6A-D500FB8F7C98}">
          <p14:sldIdLst>
            <p14:sldId id="267"/>
          </p14:sldIdLst>
        </p14:section>
        <p14:section name="无标题节" id="{C557E950-CA7A-4314-BCED-C9EE3902EB10}">
          <p14:sldIdLst>
            <p14:sldId id="263"/>
            <p14:sldId id="268"/>
            <p14:sldId id="272"/>
            <p14:sldId id="270"/>
            <p14:sldId id="273"/>
            <p14:sldId id="269"/>
            <p14:sldId id="271"/>
            <p14:sldId id="276"/>
            <p14:sldId id="277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75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43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DE20C-4A84-426D-A0F7-6A6526302B28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7E95B-B140-4DBF-9944-3F6D1226D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40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87E95B-B140-4DBF-9944-3F6D1226D4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70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A92EBD6-1CA2-4BD7-B49B-0E57A78DC502}" type="datetimeFigureOut">
              <a:rPr lang="zh-CN" altLang="en-US" smtClean="0"/>
              <a:pPr/>
              <a:t>2025/6/21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A3240B3-1E37-42BD-9E2A-A164E98BEC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/>
          <a:lstStyle/>
          <a:p>
            <a:r>
              <a:rPr lang="en-US" altLang="zh-CN" smtClean="0"/>
              <a:t>PHP</a:t>
            </a:r>
            <a:r>
              <a:rPr lang="zh-CN" altLang="en-US" smtClean="0"/>
              <a:t>基础语法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0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文档结构：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zh-CN" altLang="en-US" dirty="0" smtClean="0"/>
              <a:t>    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扩展名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php</a:t>
            </a:r>
          </a:p>
          <a:p>
            <a:pPr marL="109728" indent="0">
              <a:buNone/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zh-CN" altLang="en-US" sz="28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</a:t>
            </a:r>
            <a:r>
              <a:rPr lang="zh-CN" altLang="en-US" sz="28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smtClean="0">
                <a:latin typeface="楷体" panose="02010609060101010101" pitchFamily="49" charset="-122"/>
                <a:ea typeface="楷体" panose="02010609060101010101" pitchFamily="49" charset="-122"/>
              </a:rPr>
              <a:t>文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件名尽量不要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使用中文，也不要包含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特殊字符。</a:t>
            </a: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标记：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标准风格</a:t>
            </a:r>
            <a:r>
              <a:rPr lang="en-US" altLang="zh-CN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&lt;?</a:t>
            </a:r>
            <a:r>
              <a:rPr lang="en-US" altLang="zh-CN" sz="26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php</a:t>
            </a:r>
            <a:r>
              <a:rPr lang="en-US" altLang="zh-CN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段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en-US" altLang="zh-CN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?&gt;</a:t>
            </a:r>
          </a:p>
          <a:p>
            <a:pPr marL="109728" indent="0">
              <a:buNone/>
            </a:pP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6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zh-CN" altLang="en-US" sz="26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</a:t>
            </a:r>
            <a:r>
              <a:rPr lang="zh-CN" altLang="en-US" sz="26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60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60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文档中只有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PHP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代码，结束标记要省略</a:t>
            </a:r>
            <a:r>
              <a:rPr lang="zh-CN" altLang="en-US" sz="2600" smtClean="0">
                <a:latin typeface="楷体" panose="02010609060101010101" pitchFamily="49" charset="-122"/>
                <a:ea typeface="楷体" panose="02010609060101010101" pitchFamily="49" charset="-122"/>
              </a:rPr>
              <a:t>掉。</a:t>
            </a:r>
            <a:endParaRPr lang="en-US" altLang="zh-CN" sz="260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60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600" smtClean="0">
                <a:latin typeface="楷体" panose="02010609060101010101" pitchFamily="49" charset="-122"/>
                <a:ea typeface="楷体" panose="02010609060101010101" pitchFamily="49" charset="-122"/>
              </a:rPr>
              <a:t>   2</a:t>
            </a:r>
            <a:r>
              <a:rPr lang="en-US" altLang="zh-CN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文档中不只有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PHP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代码，一定要保证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PHP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的开始和结束标记成对出现，可以出现任意位置，任意多次都</a:t>
            </a:r>
            <a:r>
              <a:rPr lang="zh-CN" altLang="en-US" sz="2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可以。</a:t>
            </a:r>
            <a:endParaRPr lang="zh-CN" altLang="en-US" sz="2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PHP</a:t>
            </a:r>
            <a:r>
              <a:rPr lang="zh-CN" altLang="en-US" dirty="0" smtClean="0"/>
              <a:t>基础</a:t>
            </a:r>
            <a:r>
              <a:rPr lang="zh-CN" altLang="en-US" smtClean="0"/>
              <a:t>语法（</a:t>
            </a:r>
            <a:r>
              <a:rPr lang="en-US" altLang="zh-CN" smtClean="0"/>
              <a:t>1</a:t>
            </a:r>
            <a:r>
              <a:rPr lang="zh-CN" altLang="en-US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中的变量</a:t>
            </a:r>
          </a:p>
          <a:p>
            <a:pPr marL="109728" indent="0">
              <a:buNone/>
            </a:pPr>
            <a:r>
              <a:rPr lang="zh-CN" altLang="en-US" sz="2500" dirty="0" smtClean="0"/>
              <a:t>    </a:t>
            </a:r>
            <a:r>
              <a:rPr lang="zh-CN" altLang="en-US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声明变量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：通过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美元</a:t>
            </a:r>
            <a:r>
              <a:rPr lang="en-US" altLang="zh-CN" sz="25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$</a:t>
            </a:r>
            <a:r>
              <a:rPr lang="zh-CN" altLang="en-US" sz="25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变量名称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来表示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变量。</a:t>
            </a:r>
            <a:endParaRPr lang="en-US" altLang="zh-CN" sz="25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50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50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5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5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zh-CN" altLang="en-US" sz="25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意：</a:t>
            </a:r>
            <a:endParaRPr lang="en-US" altLang="zh-CN" sz="25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名称以字母或者下划线开始，后面跟上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下划线，不能包含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特殊字符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marL="109728" indent="0"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名称最好含义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明确。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3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名称严格区分大小写，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$a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$A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这是两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个变量。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4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变量名称重复，后面的变量会覆盖之前变量的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5 PHP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是弱类型语言，变量可以不声明直接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用。</a:t>
            </a:r>
            <a:endParaRPr lang="en-US" altLang="zh-CN" sz="240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728" indent="0">
              <a:buNone/>
            </a:pP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使用变量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：直接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书写变量的名称</a:t>
            </a:r>
            <a:r>
              <a:rPr lang="zh-CN" altLang="en-US" sz="250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zh-CN" altLang="en-US" sz="2500" smtClean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en-US" altLang="zh-CN" sz="250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$</a:t>
            </a:r>
            <a:r>
              <a:rPr lang="zh-CN" altLang="en-US" sz="25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zh-CN" altLang="en-US" sz="2500" dirty="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名称</a:t>
            </a:r>
            <a:endParaRPr lang="zh-CN" altLang="en-US" sz="25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63880"/>
            <a:ext cx="8229600" cy="1143000"/>
          </a:xfrm>
        </p:spPr>
        <p:txBody>
          <a:bodyPr/>
          <a:lstStyle/>
          <a:p>
            <a:r>
              <a:rPr lang="en-US" altLang="zh-CN" dirty="0"/>
              <a:t>PHP</a:t>
            </a:r>
            <a:r>
              <a:rPr lang="zh-CN" altLang="en-US" dirty="0"/>
              <a:t>基础</a:t>
            </a:r>
            <a:r>
              <a:rPr lang="zh-CN" altLang="en-US" smtClean="0"/>
              <a:t>语法（</a:t>
            </a:r>
            <a:r>
              <a:rPr lang="en-US" altLang="zh-CN" smtClean="0"/>
              <a:t>2</a:t>
            </a:r>
            <a:r>
              <a:rPr lang="zh-CN" altLang="en-US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053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变量类型：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en-US" altLang="zh-CN" sz="2800" smtClean="0">
                <a:latin typeface="宋体" panose="02010600030101010101" pitchFamily="2" charset="-122"/>
                <a:ea typeface="宋体" panose="02010600030101010101" pitchFamily="2" charset="-122"/>
              </a:rPr>
              <a:t>String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（字符串）</a:t>
            </a:r>
          </a:p>
          <a:p>
            <a:pPr marL="109728" indent="0"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Integer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（整型）</a:t>
            </a:r>
          </a:p>
          <a:p>
            <a:pPr marL="109728" indent="0"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（浮点型）</a:t>
            </a:r>
          </a:p>
          <a:p>
            <a:pPr marL="109728" indent="0"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Boolean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（布尔型）</a:t>
            </a:r>
          </a:p>
          <a:p>
            <a:pPr marL="109728" indent="0">
              <a:buNone/>
            </a:pP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Array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（数组）</a:t>
            </a:r>
          </a:p>
          <a:p>
            <a:pPr marL="109728" indent="0"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Object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（对象）</a:t>
            </a:r>
          </a:p>
          <a:p>
            <a:pPr marL="109728" indent="0"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NULL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（空值）</a:t>
            </a:r>
          </a:p>
          <a:p>
            <a:pPr marL="109728" indent="0"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Resource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（资源类型）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63880"/>
            <a:ext cx="8229600" cy="1143000"/>
          </a:xfrm>
        </p:spPr>
        <p:txBody>
          <a:bodyPr/>
          <a:lstStyle/>
          <a:p>
            <a:r>
              <a:rPr lang="en-US" altLang="zh-CN" dirty="0"/>
              <a:t>PHP</a:t>
            </a:r>
            <a:r>
              <a:rPr lang="zh-CN" altLang="en-US" dirty="0"/>
              <a:t>基础</a:t>
            </a:r>
            <a:r>
              <a:rPr lang="zh-CN" altLang="en-US" smtClean="0"/>
              <a:t>语法（</a:t>
            </a:r>
            <a:r>
              <a:rPr lang="en-US" altLang="zh-CN" smtClean="0"/>
              <a:t>3</a:t>
            </a:r>
            <a:r>
              <a:rPr lang="zh-CN" altLang="en-US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144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sz="3100">
                <a:latin typeface="微软雅黑" panose="020B0503020204020204" pitchFamily="34" charset="-122"/>
                <a:ea typeface="微软雅黑" panose="020B0503020204020204" pitchFamily="34" charset="-122"/>
              </a:rPr>
              <a:t>常</a:t>
            </a:r>
            <a:r>
              <a:rPr lang="zh-CN" altLang="en-US" sz="31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用输出函数</a:t>
            </a:r>
            <a:r>
              <a:rPr lang="zh-CN" altLang="en-US" sz="31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31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en-US" altLang="zh-CN" sz="290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9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echo</a:t>
            </a:r>
          </a:p>
          <a:p>
            <a:pPr marL="109728" indent="0">
              <a:buNone/>
            </a:pPr>
            <a:r>
              <a:rPr lang="en-US" altLang="zh-CN" sz="2900" smtClean="0">
                <a:latin typeface="宋体" panose="02010600030101010101" pitchFamily="2" charset="-122"/>
                <a:ea typeface="宋体" panose="02010600030101010101" pitchFamily="2" charset="-122"/>
              </a:rPr>
              <a:t>     --</a:t>
            </a:r>
            <a:r>
              <a:rPr lang="zh-CN" altLang="en-US" sz="2900" smtClean="0">
                <a:latin typeface="宋体" panose="02010600030101010101" pitchFamily="2" charset="-122"/>
                <a:ea typeface="宋体" panose="02010600030101010101" pitchFamily="2" charset="-122"/>
              </a:rPr>
              <a:t>输出一个或者多个字符串</a:t>
            </a:r>
            <a:endParaRPr lang="en-US" altLang="zh-CN" sz="290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endParaRPr lang="zh-CN" altLang="en-US" sz="29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zh-CN" altLang="en-US" sz="29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90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en-US" altLang="zh-CN" sz="290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90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9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var_dump</a:t>
            </a:r>
            <a:r>
              <a:rPr lang="zh-CN" altLang="en-US" sz="29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（），</a:t>
            </a:r>
            <a:r>
              <a:rPr lang="en-US" altLang="zh-CN" sz="29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var_dump</a:t>
            </a:r>
            <a:r>
              <a:rPr lang="en-US" altLang="zh-CN" sz="29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($var,....)</a:t>
            </a:r>
          </a:p>
          <a:p>
            <a:pPr marL="109728" indent="0">
              <a:buNone/>
            </a:pPr>
            <a:endParaRPr lang="en-US" altLang="zh-CN" sz="29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altLang="zh-CN" sz="29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900" smtClean="0">
                <a:latin typeface="宋体" panose="02010600030101010101" pitchFamily="2" charset="-122"/>
                <a:ea typeface="宋体" panose="02010600030101010101" pitchFamily="2" charset="-122"/>
              </a:rPr>
              <a:t>    --</a:t>
            </a:r>
            <a:r>
              <a:rPr lang="zh-CN" altLang="en-US" sz="29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打印</a:t>
            </a:r>
            <a:r>
              <a:rPr lang="zh-CN" altLang="en-US" sz="2900" dirty="0">
                <a:latin typeface="宋体" panose="02010600030101010101" pitchFamily="2" charset="-122"/>
                <a:ea typeface="宋体" panose="02010600030101010101" pitchFamily="2" charset="-122"/>
              </a:rPr>
              <a:t>变量的详细信息</a:t>
            </a:r>
            <a:r>
              <a:rPr lang="en-US" altLang="zh-CN" sz="29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900" dirty="0">
                <a:latin typeface="宋体" panose="02010600030101010101" pitchFamily="2" charset="-122"/>
                <a:ea typeface="宋体" panose="02010600030101010101" pitchFamily="2" charset="-122"/>
              </a:rPr>
              <a:t>可以一次打印一个或者多个变量的详细信息</a:t>
            </a:r>
          </a:p>
          <a:p>
            <a:pPr marL="109728" indent="0">
              <a:buNone/>
            </a:pPr>
            <a:r>
              <a:rPr lang="en-US" altLang="zh-CN" sz="290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</a:p>
          <a:p>
            <a:pPr marL="109728" indent="0">
              <a:buNone/>
            </a:pPr>
            <a:r>
              <a:rPr lang="en-US" altLang="zh-CN" sz="29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90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altLang="zh-CN" sz="290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US" altLang="zh-CN" sz="29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print_r</a:t>
            </a:r>
            <a:r>
              <a:rPr lang="en-US" altLang="zh-CN" sz="29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($</a:t>
            </a:r>
            <a:r>
              <a:rPr lang="en-US" altLang="zh-CN" sz="29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array)</a:t>
            </a:r>
          </a:p>
          <a:p>
            <a:pPr marL="109728" indent="0">
              <a:buNone/>
            </a:pPr>
            <a:endParaRPr lang="en-US" altLang="zh-CN" sz="2900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altLang="zh-CN" sz="29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900" smtClean="0">
                <a:latin typeface="宋体" panose="02010600030101010101" pitchFamily="2" charset="-122"/>
                <a:ea typeface="宋体" panose="02010600030101010101" pitchFamily="2" charset="-122"/>
              </a:rPr>
              <a:t>    --</a:t>
            </a:r>
            <a:r>
              <a:rPr lang="zh-CN" altLang="en-US" sz="29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打印数组</a:t>
            </a:r>
            <a:endParaRPr lang="en-US" altLang="zh-CN" sz="29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464646"/>
                </a:solidFill>
              </a:rPr>
              <a:t>PHP</a:t>
            </a:r>
            <a:r>
              <a:rPr lang="zh-CN" altLang="en-US" dirty="0">
                <a:solidFill>
                  <a:srgbClr val="464646"/>
                </a:solidFill>
              </a:rPr>
              <a:t>基础语</a:t>
            </a:r>
            <a:r>
              <a:rPr lang="zh-CN" altLang="en-US">
                <a:solidFill>
                  <a:srgbClr val="464646"/>
                </a:solidFill>
              </a:rPr>
              <a:t>法</a:t>
            </a:r>
            <a:r>
              <a:rPr lang="zh-CN" altLang="en-US" smtClean="0">
                <a:solidFill>
                  <a:srgbClr val="464646"/>
                </a:solidFill>
              </a:rPr>
              <a:t>（</a:t>
            </a:r>
            <a:r>
              <a:rPr lang="en-US" altLang="zh-CN" smtClean="0">
                <a:solidFill>
                  <a:srgbClr val="464646"/>
                </a:solidFill>
              </a:rPr>
              <a:t>4</a:t>
            </a:r>
            <a:r>
              <a:rPr lang="zh-CN" altLang="en-US" smtClean="0">
                <a:solidFill>
                  <a:srgbClr val="464646"/>
                </a:solidFill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58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的常量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常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量值被定义后，在脚本的其他任何地方都不能被改变。</a:t>
            </a:r>
          </a:p>
          <a:p>
            <a:pPr marL="109728" indent="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PHP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</a:t>
            </a:r>
            <a:r>
              <a:rPr lang="zh-CN" altLang="en-US" sz="20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量：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常量是一个简单值的标识符。该值在脚本中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不能改变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109728" indent="0">
              <a:buNone/>
            </a:pP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个常量由英文字母、下划线、和数字组成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但数字不能作为首字母出现。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常量名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不需要加 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 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修饰符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109728" indent="0">
              <a:buNone/>
            </a:pPr>
            <a:r>
              <a:rPr lang="zh-CN" altLang="en-US" sz="200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 常量在整个脚本中都可以使用。</a:t>
            </a:r>
          </a:p>
          <a:p>
            <a:pPr marL="109728" indent="0"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设置 </a:t>
            </a: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PHP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</a:t>
            </a:r>
            <a:r>
              <a:rPr lang="zh-CN" altLang="en-US" sz="2000" b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量：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设置常量，使用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define()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函</a:t>
            </a: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数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63880"/>
            <a:ext cx="8229600" cy="1143000"/>
          </a:xfrm>
        </p:spPr>
        <p:txBody>
          <a:bodyPr/>
          <a:lstStyle/>
          <a:p>
            <a:r>
              <a:rPr lang="en-US" altLang="zh-CN" dirty="0"/>
              <a:t>PHP</a:t>
            </a:r>
            <a:r>
              <a:rPr lang="zh-CN" altLang="en-US" dirty="0"/>
              <a:t>基础</a:t>
            </a:r>
            <a:r>
              <a:rPr lang="zh-CN" altLang="en-US" smtClean="0"/>
              <a:t>语法（</a:t>
            </a:r>
            <a:r>
              <a:rPr lang="en-US" altLang="zh-CN" smtClean="0"/>
              <a:t>5</a:t>
            </a:r>
            <a:r>
              <a:rPr lang="zh-CN" altLang="en-US" smtClean="0"/>
              <a:t>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5530975"/>
            <a:ext cx="4572638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2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sz="3800">
                <a:latin typeface="微软雅黑" panose="020B0503020204020204" pitchFamily="34" charset="-122"/>
                <a:ea typeface="微软雅黑" panose="020B0503020204020204" pitchFamily="34" charset="-122"/>
              </a:rPr>
              <a:t>PHP </a:t>
            </a:r>
            <a:r>
              <a:rPr lang="zh-CN" altLang="en-US" sz="3800">
                <a:latin typeface="微软雅黑" panose="020B0503020204020204" pitchFamily="34" charset="-122"/>
                <a:ea typeface="微软雅黑" panose="020B0503020204020204" pitchFamily="34" charset="-122"/>
              </a:rPr>
              <a:t>超级全局变</a:t>
            </a:r>
            <a:r>
              <a:rPr lang="zh-CN" altLang="en-US" sz="3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endParaRPr lang="en-US" altLang="zh-CN" sz="3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PHP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中预定义了几个超级全局变量（</a:t>
            </a: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superglobals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） ，这意味着它们在一个脚本的全部作用域中都可用。 你不需要特别说明，就可以在函数及类中使用</a:t>
            </a:r>
            <a:r>
              <a:rPr lang="zh-CN" altLang="en-US" sz="360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60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 latinLnBrk="1">
              <a:buNone/>
            </a:pP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PHP 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超级全局变量列表</a:t>
            </a: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109728" indent="0" latinLnBrk="1">
              <a:buNone/>
            </a:pPr>
            <a:r>
              <a:rPr lang="en-US" altLang="zh-CN" sz="3600" smtClean="0">
                <a:latin typeface="宋体" panose="02010600030101010101" pitchFamily="2" charset="-122"/>
                <a:ea typeface="宋体" panose="02010600030101010101" pitchFamily="2" charset="-122"/>
              </a:rPr>
              <a:t>$_GLOBALS</a:t>
            </a:r>
            <a:endParaRPr lang="en-US" altLang="zh-CN" sz="3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$_SERVER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$_REQUEST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$_POST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$_GET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$_FILES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$_ENV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$_COOKIE</a:t>
            </a:r>
          </a:p>
          <a:p>
            <a:pPr marL="109728" indent="0" latinLnBrk="1"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$_SESSION</a:t>
            </a:r>
          </a:p>
          <a:p>
            <a:pPr marL="109728" indent="0">
              <a:buNone/>
            </a:pPr>
            <a:r>
              <a:rPr lang="zh-CN" altLang="en-US"/>
              <a:t/>
            </a:r>
            <a:br>
              <a:rPr lang="zh-CN" altLang="en-US"/>
            </a:b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464646"/>
                </a:solidFill>
              </a:rPr>
              <a:t>PHP</a:t>
            </a:r>
            <a:r>
              <a:rPr lang="zh-CN" altLang="en-US" dirty="0">
                <a:solidFill>
                  <a:srgbClr val="464646"/>
                </a:solidFill>
              </a:rPr>
              <a:t>基础</a:t>
            </a:r>
            <a:r>
              <a:rPr lang="zh-CN" altLang="en-US" dirty="0" smtClean="0">
                <a:solidFill>
                  <a:srgbClr val="464646"/>
                </a:solidFill>
              </a:rPr>
              <a:t>语</a:t>
            </a:r>
            <a:r>
              <a:rPr lang="zh-CN" altLang="en-US" smtClean="0">
                <a:solidFill>
                  <a:srgbClr val="464646"/>
                </a:solidFill>
              </a:rPr>
              <a:t>法（</a:t>
            </a:r>
            <a:r>
              <a:rPr lang="en-US" altLang="zh-CN" smtClean="0">
                <a:solidFill>
                  <a:srgbClr val="464646"/>
                </a:solidFill>
              </a:rPr>
              <a:t>6</a:t>
            </a:r>
            <a:r>
              <a:rPr lang="zh-CN" altLang="en-US" smtClean="0">
                <a:solidFill>
                  <a:srgbClr val="464646"/>
                </a:solidFill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890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PHP</a:t>
            </a:r>
            <a:r>
              <a:rPr lang="zh-CN" altLang="en-US" smtClean="0"/>
              <a:t>的语句结构</a:t>
            </a:r>
            <a:endParaRPr lang="en-US" altLang="zh-CN" smtClean="0"/>
          </a:p>
          <a:p>
            <a:pPr marL="109728" indent="0">
              <a:buNone/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1 While,do 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while</a:t>
            </a:r>
          </a:p>
          <a:p>
            <a:pPr marL="109728" indent="0">
              <a:buNone/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2 For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3 If 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</a:p>
          <a:p>
            <a:pPr marL="109728" indent="0">
              <a:buNone/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4 Switch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464646"/>
                </a:solidFill>
              </a:rPr>
              <a:t>PHP</a:t>
            </a:r>
            <a:r>
              <a:rPr lang="zh-CN" altLang="en-US">
                <a:solidFill>
                  <a:srgbClr val="464646"/>
                </a:solidFill>
              </a:rPr>
              <a:t>基础语法（</a:t>
            </a:r>
            <a:r>
              <a:rPr lang="en-US" altLang="zh-CN">
                <a:solidFill>
                  <a:srgbClr val="464646"/>
                </a:solidFill>
              </a:rPr>
              <a:t>6</a:t>
            </a:r>
            <a:r>
              <a:rPr lang="zh-CN" altLang="en-US">
                <a:solidFill>
                  <a:srgbClr val="464646"/>
                </a:solidFill>
              </a:rPr>
              <a:t>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66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PHP</a:t>
            </a:r>
            <a:r>
              <a:rPr lang="zh-CN" altLang="en-US" smtClean="0"/>
              <a:t>的数组</a:t>
            </a:r>
            <a:endParaRPr lang="en-US" altLang="zh-CN" smtClean="0"/>
          </a:p>
          <a:p>
            <a:pPr marL="109728" indent="0">
              <a:buNone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）索引数组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：键名是数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字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）关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联数组：键名是字符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）索引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关联二维数组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常用于存放数据表中的数据）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9728" indent="0">
              <a:buNone/>
            </a:pP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464646"/>
                </a:solidFill>
              </a:rPr>
              <a:t>PHP</a:t>
            </a:r>
            <a:r>
              <a:rPr lang="zh-CN" altLang="en-US">
                <a:solidFill>
                  <a:srgbClr val="464646"/>
                </a:solidFill>
              </a:rPr>
              <a:t>基础语法</a:t>
            </a:r>
            <a:r>
              <a:rPr lang="zh-CN" altLang="en-US" smtClean="0">
                <a:solidFill>
                  <a:srgbClr val="464646"/>
                </a:solidFill>
              </a:rPr>
              <a:t>（</a:t>
            </a:r>
            <a:r>
              <a:rPr lang="en-US" altLang="zh-CN" smtClean="0">
                <a:solidFill>
                  <a:srgbClr val="464646"/>
                </a:solidFill>
              </a:rPr>
              <a:t>7</a:t>
            </a:r>
            <a:r>
              <a:rPr lang="zh-CN" altLang="en-US" smtClean="0">
                <a:solidFill>
                  <a:srgbClr val="464646"/>
                </a:solidFill>
              </a:rPr>
              <a:t>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操纵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的三种方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式：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MySQL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：非永久连接，性能比较低，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PHP5.5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以后弃用</a:t>
            </a:r>
          </a:p>
          <a:p>
            <a:pPr marL="109728" indent="0">
              <a:buNone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MySQLi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：永久连接，减轻服务器压力，只支持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MySQL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，支持面向对象和面向过程。</a:t>
            </a:r>
          </a:p>
          <a:p>
            <a:pPr marL="109728" indent="0">
              <a:buNone/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PDO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：能实现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MySQLi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的常用功能，支持大部分数据库，只支持面向对象。</a:t>
            </a:r>
          </a:p>
          <a:p>
            <a:pPr marL="109728" indent="0">
              <a:buNone/>
            </a:pP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464646"/>
                </a:solidFill>
              </a:rPr>
              <a:t>PHP</a:t>
            </a:r>
            <a:r>
              <a:rPr lang="zh-CN" altLang="en-US">
                <a:solidFill>
                  <a:srgbClr val="464646"/>
                </a:solidFill>
              </a:rPr>
              <a:t>基础语法</a:t>
            </a:r>
            <a:r>
              <a:rPr lang="zh-CN" altLang="en-US" smtClean="0">
                <a:solidFill>
                  <a:srgbClr val="464646"/>
                </a:solidFill>
              </a:rPr>
              <a:t>（</a:t>
            </a:r>
            <a:r>
              <a:rPr lang="en-US" altLang="zh-CN" smtClean="0">
                <a:solidFill>
                  <a:srgbClr val="464646"/>
                </a:solidFill>
              </a:rPr>
              <a:t>8</a:t>
            </a:r>
            <a:r>
              <a:rPr lang="zh-CN" altLang="en-US" smtClean="0">
                <a:solidFill>
                  <a:srgbClr val="464646"/>
                </a:solidFill>
              </a:rPr>
              <a:t>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59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900850"/>
              </p:ext>
            </p:extLst>
          </p:nvPr>
        </p:nvGraphicFramePr>
        <p:xfrm>
          <a:off x="275003" y="1556792"/>
          <a:ext cx="8593994" cy="3741037"/>
        </p:xfrm>
        <a:graphic>
          <a:graphicData uri="http://schemas.openxmlformats.org/drawingml/2006/table">
            <a:tbl>
              <a:tblPr/>
              <a:tblGrid>
                <a:gridCol w="2418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1845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1.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建立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连接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dirty="0" err="1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Mysqli_connect</a:t>
                      </a:r>
                      <a:r>
                        <a:rPr lang="en-US" sz="2000" b="0" kern="100" dirty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92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2.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判断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连接是否成功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dirty="0" err="1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mysqli_connect_error</a:t>
                      </a:r>
                      <a:r>
                        <a:rPr lang="en-US" sz="2000" b="0" kern="100" dirty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dirty="0" err="1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Mysqli_connect_errno</a:t>
                      </a:r>
                      <a:r>
                        <a:rPr lang="en-US" sz="2000" b="0" kern="100" dirty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96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3.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选择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数据库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mysqli_select_db()</a:t>
                      </a:r>
                      <a:endParaRPr lang="zh-CN" sz="2000" b="0" kern="10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92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4.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设置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字符集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mysqli_set_charset()</a:t>
                      </a:r>
                      <a:endParaRPr lang="zh-CN" sz="2000" b="0" kern="10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96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5.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书写</a:t>
                      </a:r>
                      <a:r>
                        <a:rPr lang="en-US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SQL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语句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96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6.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执行</a:t>
                      </a:r>
                      <a:r>
                        <a:rPr lang="en-US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SQL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语句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dirty="0" err="1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mysqli_query</a:t>
                      </a:r>
                      <a:r>
                        <a:rPr lang="en-US" altLang="zh-CN" sz="2000" b="0" kern="100" dirty="0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92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7.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解析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结果集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mysqli_fetch_array</a:t>
                      </a:r>
                      <a:r>
                        <a:rPr lang="en-US" altLang="zh-CN" sz="2000" b="0" kern="100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Mysqli_fetch_assoc()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err="1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Mysqli_fetch_</a:t>
                      </a:r>
                      <a:r>
                        <a:rPr lang="en-US" altLang="zh-CN" sz="2000" b="0" kern="100" err="1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row</a:t>
                      </a:r>
                      <a:r>
                        <a:rPr lang="en-US" sz="2000" b="0" kern="100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96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8.</a:t>
                      </a:r>
                      <a:r>
                        <a:rPr lang="zh-CN" sz="20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关闭</a:t>
                      </a:r>
                      <a:r>
                        <a:rPr lang="zh-CN" sz="2000" b="1" kern="1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/>
                        </a:rPr>
                        <a:t>连接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0" kern="100" dirty="0" err="1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mysqli_close</a:t>
                      </a:r>
                      <a:r>
                        <a:rPr lang="en-US" altLang="zh-CN" sz="2000" b="0" kern="100" dirty="0" smtClean="0">
                          <a:latin typeface="Times New Roman" panose="02020603050405020304" pitchFamily="18" charset="0"/>
                          <a:ea typeface="宋体"/>
                          <a:cs typeface="Times New Roman" panose="02020603050405020304" pitchFamily="18" charset="0"/>
                        </a:rPr>
                        <a:t>()</a:t>
                      </a:r>
                      <a:endParaRPr lang="zh-CN" sz="2000" b="0" kern="100" dirty="0"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Mysqli</a:t>
            </a:r>
            <a:r>
              <a:rPr lang="zh-CN" altLang="en-US" dirty="0" smtClean="0"/>
              <a:t>连接数据库八步法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2632</TotalTime>
  <Words>944</Words>
  <Application>Microsoft Office PowerPoint</Application>
  <PresentationFormat>全屏显示(4:3)</PresentationFormat>
  <Paragraphs>112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等线</vt:lpstr>
      <vt:lpstr>黑体</vt:lpstr>
      <vt:lpstr>楷体</vt:lpstr>
      <vt:lpstr>宋体</vt:lpstr>
      <vt:lpstr>微软雅黑</vt:lpstr>
      <vt:lpstr>Calibri</vt:lpstr>
      <vt:lpstr>Lucida Sans Unicode</vt:lpstr>
      <vt:lpstr>Times New Roman</vt:lpstr>
      <vt:lpstr>Verdana</vt:lpstr>
      <vt:lpstr>Wingdings 2</vt:lpstr>
      <vt:lpstr>Wingdings 3</vt:lpstr>
      <vt:lpstr>聚合</vt:lpstr>
      <vt:lpstr>PHP基础语法</vt:lpstr>
      <vt:lpstr>PHP基础语法（1）</vt:lpstr>
      <vt:lpstr>PHP基础语法（2）</vt:lpstr>
      <vt:lpstr>PHP基础语法（3）</vt:lpstr>
      <vt:lpstr>PHP基础语法（4）</vt:lpstr>
      <vt:lpstr>PHP基础语法（5）</vt:lpstr>
      <vt:lpstr>PHP基础语法（6）</vt:lpstr>
      <vt:lpstr>PHP基础语法（6）</vt:lpstr>
      <vt:lpstr>PHP基础语法（7）</vt:lpstr>
      <vt:lpstr>PHP基础语法（8）</vt:lpstr>
      <vt:lpstr>Mysqli连接数据库八步法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Administrator</cp:lastModifiedBy>
  <cp:revision>34</cp:revision>
  <dcterms:created xsi:type="dcterms:W3CDTF">2018-09-29T09:03:10Z</dcterms:created>
  <dcterms:modified xsi:type="dcterms:W3CDTF">2025-06-21T08:12:00Z</dcterms:modified>
</cp:coreProperties>
</file>