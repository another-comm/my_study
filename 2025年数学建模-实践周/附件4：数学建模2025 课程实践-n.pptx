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notesMasterIdLst>
    <p:notesMasterId r:id="rId12"/>
  </p:notesMasterIdLst>
  <p:handoutMasterIdLst>
    <p:handoutMasterId r:id="rId13"/>
  </p:handoutMasterIdLst>
  <p:sldIdLst>
    <p:sldId id="488" r:id="rId2"/>
    <p:sldId id="489" r:id="rId3"/>
    <p:sldId id="388" r:id="rId4"/>
    <p:sldId id="391" r:id="rId5"/>
    <p:sldId id="490" r:id="rId6"/>
    <p:sldId id="491" r:id="rId7"/>
    <p:sldId id="492" r:id="rId8"/>
    <p:sldId id="395" r:id="rId9"/>
    <p:sldId id="474" r:id="rId10"/>
    <p:sldId id="273" r:id="rId11"/>
  </p:sldIdLst>
  <p:sldSz cx="9144000" cy="5143500" type="screen16x9"/>
  <p:notesSz cx="6858000" cy="9144000"/>
  <p:custDataLst>
    <p:tags r:id="rId14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621">
          <p15:clr>
            <a:srgbClr val="A4A3A4"/>
          </p15:clr>
        </p15:guide>
        <p15:guide id="4" orient="horz" pos="680">
          <p15:clr>
            <a:srgbClr val="A4A3A4"/>
          </p15:clr>
        </p15:guide>
        <p15:guide id="5" orient="horz" pos="2927">
          <p15:clr>
            <a:srgbClr val="A4A3A4"/>
          </p15:clr>
        </p15:guide>
        <p15:guide id="6" pos="2875">
          <p15:clr>
            <a:srgbClr val="A4A3A4"/>
          </p15:clr>
        </p15:guide>
        <p15:guide id="7" pos="373">
          <p15:clr>
            <a:srgbClr val="A4A3A4"/>
          </p15:clr>
        </p15:guide>
        <p15:guide id="8" pos="5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39700"/>
    <a:srgbClr val="909090"/>
    <a:srgbClr val="454545"/>
    <a:srgbClr val="FF8607"/>
    <a:srgbClr val="282828"/>
    <a:srgbClr val="071F65"/>
    <a:srgbClr val="006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7" autoAdjust="0"/>
    <p:restoredTop sz="95494" autoAdjust="0"/>
  </p:normalViewPr>
  <p:slideViewPr>
    <p:cSldViewPr snapToGrid="0" snapToObjects="1">
      <p:cViewPr varScale="1">
        <p:scale>
          <a:sx n="106" d="100"/>
          <a:sy n="106" d="100"/>
        </p:scale>
        <p:origin x="590" y="72"/>
      </p:cViewPr>
      <p:guideLst>
        <p:guide orient="horz" pos="2160"/>
        <p:guide pos="3840"/>
        <p:guide orient="horz" pos="1621"/>
        <p:guide orient="horz" pos="680"/>
        <p:guide orient="horz" pos="2927"/>
        <p:guide pos="2875"/>
        <p:guide pos="373"/>
        <p:guide pos="5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4" d="100"/>
          <a:sy n="64" d="100"/>
        </p:scale>
        <p:origin x="3192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  <a:t>2025/7/6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619650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  <a:t>2025/7/6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0028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mtClean="0"/>
              <a:t> 版权声明：</a:t>
            </a:r>
            <a:r>
              <a:rPr lang="en-US" altLang="zh-CN" smtClean="0"/>
              <a:t>300</a:t>
            </a:r>
            <a:r>
              <a:rPr lang="zh-CN" altLang="en-US" smtClean="0"/>
              <a:t>套精品模板商业授权，请联系</a:t>
            </a:r>
            <a:r>
              <a:rPr lang="en-US" altLang="zh-CN" smtClean="0"/>
              <a:t>【</a:t>
            </a:r>
            <a:r>
              <a:rPr lang="zh-CN" altLang="en-US" smtClean="0"/>
              <a:t>锐旗设计</a:t>
            </a:r>
            <a:r>
              <a:rPr lang="en-US" altLang="zh-CN" smtClean="0"/>
              <a:t>】:https://9ppt.taobao.com</a:t>
            </a:r>
            <a:r>
              <a:rPr lang="zh-CN" altLang="en-US" smtClean="0"/>
              <a:t>，专业</a:t>
            </a:r>
            <a:r>
              <a:rPr lang="en-US" altLang="zh-CN" smtClean="0"/>
              <a:t>PPT</a:t>
            </a:r>
            <a:r>
              <a:rPr lang="zh-CN" altLang="en-US" smtClean="0"/>
              <a:t>老师为你解决所有</a:t>
            </a:r>
            <a:r>
              <a:rPr lang="en-US" altLang="zh-CN" smtClean="0"/>
              <a:t>PPT</a:t>
            </a:r>
            <a:r>
              <a:rPr lang="zh-CN" altLang="en-US" smtClean="0"/>
              <a:t>问题！</a:t>
            </a:r>
          </a:p>
        </p:txBody>
      </p:sp>
      <p:sp>
        <p:nvSpPr>
          <p:cNvPr id="2048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D7B4C3-8441-40A9-A3E8-89E343A01782}" type="slidenum">
              <a:rPr lang="zh-CN" altLang="en-US" smtClean="0"/>
              <a:pPr/>
              <a:t>1</a:t>
            </a:fld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80752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950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950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950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950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2463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339205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802762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6787259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614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/>
          <p:nvPr userDrawn="1"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prstClr val="white"/>
              </a:solidFill>
            </a:endParaRPr>
          </a:p>
        </p:txBody>
      </p:sp>
      <p:grpSp>
        <p:nvGrpSpPr>
          <p:cNvPr id="3" name="组合 7"/>
          <p:cNvGrpSpPr>
            <a:grpSpLocks/>
          </p:cNvGrpSpPr>
          <p:nvPr userDrawn="1"/>
        </p:nvGrpSpPr>
        <p:grpSpPr bwMode="auto">
          <a:xfrm>
            <a:off x="1370013" y="106363"/>
            <a:ext cx="1330325" cy="474662"/>
            <a:chOff x="1399441" y="1145221"/>
            <a:chExt cx="1329556" cy="474509"/>
          </a:xfrm>
        </p:grpSpPr>
        <p:sp>
          <p:nvSpPr>
            <p:cNvPr id="4" name="圆角矩形 8"/>
            <p:cNvSpPr/>
            <p:nvPr/>
          </p:nvSpPr>
          <p:spPr>
            <a:xfrm>
              <a:off x="1399441" y="1145221"/>
              <a:ext cx="1329556" cy="384051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>
                <a:solidFill>
                  <a:prstClr val="white"/>
                </a:solidFill>
              </a:endParaRPr>
            </a:p>
          </p:txBody>
        </p:sp>
        <p:sp>
          <p:nvSpPr>
            <p:cNvPr id="5" name="TextBox 15"/>
            <p:cNvSpPr txBox="1">
              <a:spLocks noChangeArrowheads="1"/>
            </p:cNvSpPr>
            <p:nvPr/>
          </p:nvSpPr>
          <p:spPr bwMode="auto">
            <a:xfrm>
              <a:off x="1691372" y="1281702"/>
              <a:ext cx="184044" cy="338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6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" name="图片 19"/>
          <p:cNvPicPr>
            <a:picLocks noChangeAspect="1"/>
          </p:cNvPicPr>
          <p:nvPr userDrawn="1"/>
        </p:nvPicPr>
        <p:blipFill>
          <a:blip r:embed="rId2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3" y="3175"/>
            <a:ext cx="14478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414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07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  <p:sldLayoutId id="2147483724" r:id="rId3"/>
    <p:sldLayoutId id="2147483738" r:id="rId4"/>
    <p:sldLayoutId id="2147483739" r:id="rId5"/>
  </p:sldLayoutIdLst>
  <p:transition spd="slow" advClick="0" advTm="0">
    <p:wipe/>
  </p:transition>
  <p:timing>
    <p:tnLst>
      <p:par>
        <p:cTn id="1" dur="indefinite" restart="never" nodeType="tmRoot"/>
      </p:par>
    </p:tnLst>
  </p:timing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891" indent="-267891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891" indent="-267891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office6\wpsassist\cache\53b25ec32ade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638" y="0"/>
            <a:ext cx="1152525" cy="148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矩形 16"/>
          <p:cNvSpPr>
            <a:spLocks noChangeArrowheads="1"/>
          </p:cNvSpPr>
          <p:nvPr/>
        </p:nvSpPr>
        <p:spPr bwMode="auto">
          <a:xfrm>
            <a:off x="0" y="1487488"/>
            <a:ext cx="9144000" cy="1225731"/>
          </a:xfrm>
          <a:prstGeom prst="rect">
            <a:avLst/>
          </a:prstGeom>
          <a:blipFill dpi="0" rotWithShape="0">
            <a:blip r:embed="rId4"/>
            <a:srcRect/>
            <a:stretch>
              <a:fillRect b="-225792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170" tIns="46990" rIns="90170" bIns="46990" anchor="ctr"/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9462" name="文本框 17"/>
          <p:cNvSpPr>
            <a:spLocks noChangeArrowheads="1"/>
          </p:cNvSpPr>
          <p:nvPr/>
        </p:nvSpPr>
        <p:spPr bwMode="auto">
          <a:xfrm>
            <a:off x="1282700" y="1503363"/>
            <a:ext cx="70231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2025</a:t>
            </a:r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年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数学建模课程设计</a:t>
            </a:r>
          </a:p>
        </p:txBody>
      </p:sp>
      <p:pic>
        <p:nvPicPr>
          <p:cNvPr id="19463" name="图片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6606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3873805" y="3893447"/>
            <a:ext cx="11079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张景祥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3025015" y="3037642"/>
            <a:ext cx="28055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江南大学 理学院</a:t>
            </a:r>
            <a:endParaRPr lang="zh-CN" altLang="en-US" sz="28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037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文本框 38"/>
          <p:cNvSpPr txBox="1">
            <a:spLocks noChangeArrowheads="1"/>
          </p:cNvSpPr>
          <p:nvPr/>
        </p:nvSpPr>
        <p:spPr bwMode="auto">
          <a:xfrm>
            <a:off x="1254125" y="2330450"/>
            <a:ext cx="2051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400" b="1">
              <a:solidFill>
                <a:srgbClr val="A6A6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98" name="文本框 11"/>
          <p:cNvSpPr txBox="1">
            <a:spLocks noChangeArrowheads="1"/>
          </p:cNvSpPr>
          <p:nvPr/>
        </p:nvSpPr>
        <p:spPr bwMode="auto">
          <a:xfrm>
            <a:off x="1601788" y="1876425"/>
            <a:ext cx="9032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4144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048599" name="文本框 18"/>
          <p:cNvSpPr txBox="1"/>
          <p:nvPr/>
        </p:nvSpPr>
        <p:spPr>
          <a:xfrm>
            <a:off x="3652838" y="1624013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随机分组</a:t>
            </a:r>
            <a:endParaRPr lang="zh-CN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30" name="文本框 16"/>
          <p:cNvSpPr txBox="1">
            <a:spLocks noChangeArrowheads="1"/>
          </p:cNvSpPr>
          <p:nvPr/>
        </p:nvSpPr>
        <p:spPr bwMode="auto">
          <a:xfrm>
            <a:off x="3303584" y="1536700"/>
            <a:ext cx="3672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rgbClr val="41445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lang="zh-CN" altLang="en-US" sz="2800">
              <a:solidFill>
                <a:srgbClr val="414455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528" name="文本框 20"/>
          <p:cNvSpPr txBox="1">
            <a:spLocks noChangeArrowheads="1"/>
          </p:cNvSpPr>
          <p:nvPr/>
        </p:nvSpPr>
        <p:spPr bwMode="auto">
          <a:xfrm>
            <a:off x="3327396" y="3244850"/>
            <a:ext cx="366269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rgbClr val="41445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lang="zh-CN" altLang="en-US" sz="2800">
              <a:solidFill>
                <a:srgbClr val="414455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603" name="文本框 24"/>
          <p:cNvSpPr txBox="1"/>
          <p:nvPr/>
        </p:nvSpPr>
        <p:spPr>
          <a:xfrm>
            <a:off x="3652838" y="2195513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</a:t>
            </a:r>
            <a:endParaRPr lang="zh-CN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26" name="文本框 23"/>
          <p:cNvSpPr txBox="1">
            <a:spLocks noChangeArrowheads="1"/>
          </p:cNvSpPr>
          <p:nvPr/>
        </p:nvSpPr>
        <p:spPr bwMode="auto">
          <a:xfrm>
            <a:off x="3320765" y="2116138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rgbClr val="41445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2800">
              <a:solidFill>
                <a:srgbClr val="414455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8605" name="文本框 30"/>
          <p:cNvSpPr txBox="1"/>
          <p:nvPr/>
        </p:nvSpPr>
        <p:spPr>
          <a:xfrm>
            <a:off x="3652838" y="2792413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考核标准</a:t>
            </a:r>
            <a:endParaRPr lang="zh-CN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24" name="文本框 29"/>
          <p:cNvSpPr txBox="1">
            <a:spLocks noChangeArrowheads="1"/>
          </p:cNvSpPr>
          <p:nvPr/>
        </p:nvSpPr>
        <p:spPr bwMode="auto">
          <a:xfrm>
            <a:off x="3320774" y="2689225"/>
            <a:ext cx="3642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rgbClr val="414455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endParaRPr lang="zh-CN" altLang="en-US" sz="2800">
              <a:solidFill>
                <a:srgbClr val="414455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145736" name="直接连接符 27"/>
          <p:cNvCxnSpPr/>
          <p:nvPr/>
        </p:nvCxnSpPr>
        <p:spPr>
          <a:xfrm rot="5400000">
            <a:off x="2174082" y="2580481"/>
            <a:ext cx="2209800" cy="158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7" name="矩形 6"/>
          <p:cNvSpPr>
            <a:spLocks noChangeArrowheads="1"/>
          </p:cNvSpPr>
          <p:nvPr/>
        </p:nvSpPr>
        <p:spPr bwMode="auto">
          <a:xfrm>
            <a:off x="0" y="0"/>
            <a:ext cx="9144000" cy="600075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1350">
              <a:solidFill>
                <a:srgbClr val="FFFFFF"/>
              </a:solidFill>
              <a:latin typeface="Nexa Light"/>
              <a:ea typeface="微软雅黑"/>
            </a:endParaRPr>
          </a:p>
        </p:txBody>
      </p:sp>
      <p:grpSp>
        <p:nvGrpSpPr>
          <p:cNvPr id="21518" name="组合 7"/>
          <p:cNvGrpSpPr>
            <a:grpSpLocks/>
          </p:cNvGrpSpPr>
          <p:nvPr/>
        </p:nvGrpSpPr>
        <p:grpSpPr bwMode="auto">
          <a:xfrm>
            <a:off x="1370013" y="106363"/>
            <a:ext cx="1330325" cy="474662"/>
            <a:chOff x="0" y="0"/>
            <a:chExt cx="1329556" cy="474509"/>
          </a:xfrm>
        </p:grpSpPr>
        <p:sp>
          <p:nvSpPr>
            <p:cNvPr id="21522" name="圆角矩形 8"/>
            <p:cNvSpPr>
              <a:spLocks noChangeArrowheads="1"/>
            </p:cNvSpPr>
            <p:nvPr/>
          </p:nvSpPr>
          <p:spPr bwMode="auto">
            <a:xfrm>
              <a:off x="0" y="0"/>
              <a:ext cx="1329556" cy="384051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 defTabSz="685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685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685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685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685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sz="1600">
                <a:solidFill>
                  <a:srgbClr val="FFFFFF"/>
                </a:solidFill>
                <a:latin typeface="Nexa Light"/>
                <a:ea typeface="微软雅黑" panose="020B0503020204020204" pitchFamily="34" charset="-122"/>
              </a:endParaRPr>
            </a:p>
          </p:txBody>
        </p:sp>
        <p:sp>
          <p:nvSpPr>
            <p:cNvPr id="21523" name="TextBox 15"/>
            <p:cNvSpPr>
              <a:spLocks noChangeArrowheads="1"/>
            </p:cNvSpPr>
            <p:nvPr/>
          </p:nvSpPr>
          <p:spPr bwMode="auto">
            <a:xfrm>
              <a:off x="291773" y="135955"/>
              <a:ext cx="184731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685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685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685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685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6858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21519" name="组合 26"/>
          <p:cNvGrpSpPr>
            <a:grpSpLocks/>
          </p:cNvGrpSpPr>
          <p:nvPr/>
        </p:nvGrpSpPr>
        <p:grpSpPr bwMode="auto">
          <a:xfrm>
            <a:off x="0" y="3175"/>
            <a:ext cx="2635250" cy="612775"/>
            <a:chOff x="0" y="3175"/>
            <a:chExt cx="2635141" cy="612775"/>
          </a:xfrm>
        </p:grpSpPr>
        <p:pic>
          <p:nvPicPr>
            <p:cNvPr id="21520" name="图片 19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175"/>
              <a:ext cx="612775" cy="612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TextBox 28"/>
            <p:cNvSpPr txBox="1"/>
            <p:nvPr/>
          </p:nvSpPr>
          <p:spPr>
            <a:xfrm>
              <a:off x="569889" y="47625"/>
              <a:ext cx="2065252" cy="52387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/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pc="-110" dirty="0">
                  <a:solidFill>
                    <a:prstClr val="white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   </a:t>
              </a:r>
              <a:r>
                <a:rPr lang="zh-CN" altLang="en-US" i="1" spc="-110" dirty="0">
                  <a:solidFill>
                    <a:prstClr val="white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江南大学</a:t>
              </a:r>
              <a:endParaRPr lang="en-US" altLang="zh-CN" i="1" spc="-110" dirty="0">
                <a:solidFill>
                  <a:prstClr val="white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  <a:p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900" i="1" dirty="0">
                  <a:solidFill>
                    <a:prstClr val="white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JIANGNAN UNIVERSITY</a:t>
              </a:r>
              <a:endParaRPr lang="zh-CN" altLang="en-US" sz="900" i="1" dirty="0">
                <a:solidFill>
                  <a:prstClr val="white"/>
                </a:solidFill>
                <a:latin typeface="Segoe UI" panose="020B0502040204020203" pitchFamily="34" charset="0"/>
                <a:ea typeface="DotumChe" panose="020B0609000101010101" pitchFamily="49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8" name="文本框 30"/>
          <p:cNvSpPr txBox="1"/>
          <p:nvPr/>
        </p:nvSpPr>
        <p:spPr>
          <a:xfrm>
            <a:off x="3652838" y="3339453"/>
            <a:ext cx="1005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提交要求</a:t>
            </a:r>
            <a:endParaRPr lang="zh-CN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947066"/>
      </p:ext>
    </p:extLst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46"/>
          <p:cNvSpPr>
            <a:spLocks noChangeArrowheads="1"/>
          </p:cNvSpPr>
          <p:nvPr/>
        </p:nvSpPr>
        <p:spPr bwMode="auto">
          <a:xfrm>
            <a:off x="429174" y="106618"/>
            <a:ext cx="2350026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1.</a:t>
            </a: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随机分组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6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1800">
              <a:solidFill>
                <a:srgbClr val="FFFFFF"/>
              </a:solidFill>
              <a:sym typeface="微软雅黑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118637" y="582018"/>
            <a:ext cx="5763985" cy="369332"/>
            <a:chOff x="3002037" y="1451254"/>
            <a:chExt cx="7067433" cy="391029"/>
          </a:xfrm>
          <a:solidFill>
            <a:schemeClr val="accent2">
              <a:lumMod val="75000"/>
            </a:schemeClr>
          </a:solidFill>
        </p:grpSpPr>
        <p:sp>
          <p:nvSpPr>
            <p:cNvPr id="14" name="矩形 13"/>
            <p:cNvSpPr/>
            <p:nvPr/>
          </p:nvSpPr>
          <p:spPr bwMode="auto">
            <a:xfrm>
              <a:off x="3002037" y="1465798"/>
              <a:ext cx="7067433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33223" y="1451254"/>
              <a:ext cx="5688633" cy="391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 smtClean="0">
                  <a:solidFill>
                    <a:srgbClr val="F8F8F8"/>
                  </a:solidFill>
                  <a:latin typeface="微软雅黑" pitchFamily="34" charset="-122"/>
                  <a:ea typeface="微软雅黑" pitchFamily="34" charset="-122"/>
                </a:rPr>
                <a:t>信计</a:t>
              </a:r>
              <a:r>
                <a:rPr lang="en-US" altLang="zh-CN" sz="1800" b="1" dirty="0" smtClean="0">
                  <a:solidFill>
                    <a:srgbClr val="F8F8F8"/>
                  </a:solidFill>
                  <a:latin typeface="微软雅黑" pitchFamily="34" charset="-122"/>
                  <a:ea typeface="微软雅黑" pitchFamily="34" charset="-122"/>
                </a:rPr>
                <a:t>2301</a:t>
              </a:r>
              <a:endParaRPr lang="zh-CN" altLang="en-US" sz="1800" b="1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3" name="等腰三角形 2"/>
          <p:cNvSpPr/>
          <p:nvPr/>
        </p:nvSpPr>
        <p:spPr bwMode="auto">
          <a:xfrm rot="4635479">
            <a:off x="548861" y="1876754"/>
            <a:ext cx="992271" cy="1148109"/>
          </a:xfrm>
          <a:custGeom>
            <a:avLst/>
            <a:gdLst/>
            <a:ahLst/>
            <a:cxnLst/>
            <a:rect l="l" t="t" r="r" b="b"/>
            <a:pathLst>
              <a:path w="1152128" h="1333073">
                <a:moveTo>
                  <a:pt x="576064" y="0"/>
                </a:moveTo>
                <a:lnTo>
                  <a:pt x="687529" y="192182"/>
                </a:lnTo>
                <a:cubicBezTo>
                  <a:pt x="952381" y="243689"/>
                  <a:pt x="1152128" y="477023"/>
                  <a:pt x="1152128" y="757009"/>
                </a:cubicBezTo>
                <a:cubicBezTo>
                  <a:pt x="1152128" y="1075160"/>
                  <a:pt x="894215" y="1333073"/>
                  <a:pt x="576064" y="1333073"/>
                </a:cubicBezTo>
                <a:cubicBezTo>
                  <a:pt x="257913" y="1333073"/>
                  <a:pt x="0" y="1075160"/>
                  <a:pt x="0" y="757009"/>
                </a:cubicBezTo>
                <a:cubicBezTo>
                  <a:pt x="0" y="477023"/>
                  <a:pt x="199747" y="243689"/>
                  <a:pt x="464599" y="1921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wrap="none" lIns="68580" tIns="34290" rIns="68580" bIns="34290" anchor="ctr"/>
          <a:lstStyle/>
          <a:p>
            <a:pPr algn="ctr"/>
            <a:endParaRPr lang="zh-CN" altLang="en-US" sz="1100" kern="0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395" y="2266179"/>
            <a:ext cx="643835" cy="369258"/>
          </a:xfrm>
          <a:prstGeom prst="rect">
            <a:avLst/>
          </a:prstGeom>
          <a:noFill/>
          <a:ln>
            <a:noFill/>
          </a:ln>
        </p:spPr>
        <p:txBody>
          <a:bodyPr wrap="none" lIns="68580" tIns="34290" rIns="68580" bIns="34290" anchor="ctr"/>
          <a:lstStyle>
            <a:defPPr>
              <a:defRPr lang="zh-CN"/>
            </a:defPPr>
            <a:lvl1pPr algn="ctr">
              <a:defRPr sz="2000" ker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b="1" dirty="0" smtClean="0"/>
              <a:t>分组</a:t>
            </a:r>
            <a:endParaRPr lang="en-US" altLang="zh-CN" b="1" dirty="0" smtClean="0"/>
          </a:p>
          <a:p>
            <a:r>
              <a:rPr lang="zh-CN" altLang="en-US" b="1" dirty="0" smtClean="0"/>
              <a:t>名单</a:t>
            </a:r>
            <a:endParaRPr lang="zh-CN" altLang="en-US" b="1" dirty="0"/>
          </a:p>
        </p:txBody>
      </p:sp>
      <p:grpSp>
        <p:nvGrpSpPr>
          <p:cNvPr id="27" name="组合 26"/>
          <p:cNvGrpSpPr/>
          <p:nvPr/>
        </p:nvGrpSpPr>
        <p:grpSpPr>
          <a:xfrm>
            <a:off x="2118637" y="2081478"/>
            <a:ext cx="5763985" cy="369332"/>
            <a:chOff x="3002037" y="1451254"/>
            <a:chExt cx="7067433" cy="391029"/>
          </a:xfrm>
          <a:solidFill>
            <a:schemeClr val="accent2">
              <a:lumMod val="75000"/>
            </a:schemeClr>
          </a:solidFill>
        </p:grpSpPr>
        <p:sp>
          <p:nvSpPr>
            <p:cNvPr id="28" name="矩形 27"/>
            <p:cNvSpPr/>
            <p:nvPr/>
          </p:nvSpPr>
          <p:spPr bwMode="auto">
            <a:xfrm>
              <a:off x="3002037" y="1465798"/>
              <a:ext cx="7067433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TextBox 16"/>
            <p:cNvSpPr txBox="1"/>
            <p:nvPr/>
          </p:nvSpPr>
          <p:spPr>
            <a:xfrm>
              <a:off x="3033223" y="1451254"/>
              <a:ext cx="5688633" cy="391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 smtClean="0">
                  <a:solidFill>
                    <a:srgbClr val="F8F8F8"/>
                  </a:solidFill>
                  <a:latin typeface="微软雅黑" pitchFamily="34" charset="-122"/>
                  <a:ea typeface="微软雅黑" pitchFamily="34" charset="-122"/>
                </a:rPr>
                <a:t>信计</a:t>
              </a:r>
              <a:r>
                <a:rPr lang="en-US" altLang="zh-CN" sz="1800" b="1" dirty="0" smtClean="0">
                  <a:solidFill>
                    <a:srgbClr val="F8F8F8"/>
                  </a:solidFill>
                  <a:latin typeface="微软雅黑" pitchFamily="34" charset="-122"/>
                  <a:ea typeface="微软雅黑" pitchFamily="34" charset="-122"/>
                </a:rPr>
                <a:t>2302</a:t>
              </a:r>
              <a:endParaRPr lang="zh-CN" altLang="en-US" sz="1800" b="1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093203" y="3660745"/>
            <a:ext cx="5763985" cy="369332"/>
            <a:chOff x="3002037" y="1451254"/>
            <a:chExt cx="7067433" cy="391029"/>
          </a:xfrm>
          <a:solidFill>
            <a:schemeClr val="accent2">
              <a:lumMod val="75000"/>
            </a:schemeClr>
          </a:solidFill>
        </p:grpSpPr>
        <p:sp>
          <p:nvSpPr>
            <p:cNvPr id="31" name="矩形 30"/>
            <p:cNvSpPr/>
            <p:nvPr/>
          </p:nvSpPr>
          <p:spPr bwMode="auto">
            <a:xfrm>
              <a:off x="3002037" y="1465798"/>
              <a:ext cx="7067433" cy="36933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 b="1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2" name="TextBox 16"/>
            <p:cNvSpPr txBox="1"/>
            <p:nvPr/>
          </p:nvSpPr>
          <p:spPr>
            <a:xfrm>
              <a:off x="3033223" y="1451254"/>
              <a:ext cx="5688633" cy="391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 dirty="0" smtClean="0">
                  <a:solidFill>
                    <a:srgbClr val="F8F8F8"/>
                  </a:solidFill>
                  <a:latin typeface="微软雅黑" pitchFamily="34" charset="-122"/>
                  <a:ea typeface="微软雅黑" pitchFamily="34" charset="-122"/>
                </a:rPr>
                <a:t>信计</a:t>
              </a:r>
              <a:r>
                <a:rPr lang="en-US" altLang="zh-CN" sz="1800" b="1" dirty="0" smtClean="0">
                  <a:solidFill>
                    <a:srgbClr val="F8F8F8"/>
                  </a:solidFill>
                  <a:latin typeface="微软雅黑" pitchFamily="34" charset="-122"/>
                  <a:ea typeface="微软雅黑" pitchFamily="34" charset="-122"/>
                </a:rPr>
                <a:t>2303</a:t>
              </a:r>
              <a:endParaRPr lang="zh-CN" altLang="en-US" sz="1800" b="1" dirty="0">
                <a:solidFill>
                  <a:srgbClr val="F8F8F8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071" y="972068"/>
            <a:ext cx="6294329" cy="10294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3203" y="2537722"/>
            <a:ext cx="6409997" cy="9370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3203" y="4043814"/>
            <a:ext cx="6345197" cy="9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374385"/>
      </p:ext>
    </p:extLst>
  </p:cSld>
  <p:clrMapOvr>
    <a:masterClrMapping/>
  </p:clrMapOvr>
  <p:transition spd="slow" advClick="0" advTm="0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5"/>
          <p:cNvSpPr/>
          <p:nvPr/>
        </p:nvSpPr>
        <p:spPr>
          <a:xfrm>
            <a:off x="1224675" y="1905675"/>
            <a:ext cx="1159453" cy="1159453"/>
          </a:xfrm>
          <a:custGeom>
            <a:avLst/>
            <a:gdLst>
              <a:gd name="connsiteX0" fmla="*/ 0 w 1439167"/>
              <a:gd name="connsiteY0" fmla="*/ 719584 h 1439167"/>
              <a:gd name="connsiteX1" fmla="*/ 719584 w 1439167"/>
              <a:gd name="connsiteY1" fmla="*/ 0 h 1439167"/>
              <a:gd name="connsiteX2" fmla="*/ 1439168 w 1439167"/>
              <a:gd name="connsiteY2" fmla="*/ 719584 h 1439167"/>
              <a:gd name="connsiteX3" fmla="*/ 719584 w 1439167"/>
              <a:gd name="connsiteY3" fmla="*/ 1439168 h 1439167"/>
              <a:gd name="connsiteX4" fmla="*/ 0 w 1439167"/>
              <a:gd name="connsiteY4" fmla="*/ 719584 h 1439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9167" h="1439167">
                <a:moveTo>
                  <a:pt x="0" y="719584"/>
                </a:moveTo>
                <a:cubicBezTo>
                  <a:pt x="0" y="322169"/>
                  <a:pt x="322169" y="0"/>
                  <a:pt x="719584" y="0"/>
                </a:cubicBezTo>
                <a:cubicBezTo>
                  <a:pt x="1116999" y="0"/>
                  <a:pt x="1439168" y="322169"/>
                  <a:pt x="1439168" y="719584"/>
                </a:cubicBezTo>
                <a:cubicBezTo>
                  <a:pt x="1439168" y="1116999"/>
                  <a:pt x="1116999" y="1439168"/>
                  <a:pt x="719584" y="1439168"/>
                </a:cubicBezTo>
                <a:cubicBezTo>
                  <a:pt x="322169" y="1439168"/>
                  <a:pt x="0" y="1116999"/>
                  <a:pt x="0" y="7195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r>
              <a:rPr lang="zh-CN" altLang="en-US" sz="18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研究</a:t>
            </a:r>
            <a:endParaRPr lang="en-US" altLang="zh-CN" sz="18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/>
            <a:r>
              <a:rPr lang="zh-CN" altLang="en-US" sz="18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内容</a:t>
            </a:r>
            <a:endParaRPr lang="zh-CN" altLang="en-US" sz="18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68822" y="849822"/>
            <a:ext cx="3271157" cy="3271157"/>
            <a:chOff x="3526104" y="876860"/>
            <a:chExt cx="5124410" cy="5124410"/>
          </a:xfrm>
        </p:grpSpPr>
        <p:sp>
          <p:nvSpPr>
            <p:cNvPr id="8" name="空心弧 7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10800000"/>
                <a:gd name="adj2" fmla="val 162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空心弧 8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5400000"/>
                <a:gd name="adj2" fmla="val 108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空心弧 9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0"/>
                <a:gd name="adj2" fmla="val 540000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空心弧 10"/>
            <p:cNvSpPr/>
            <p:nvPr/>
          </p:nvSpPr>
          <p:spPr>
            <a:xfrm>
              <a:off x="4116050" y="1466806"/>
              <a:ext cx="3944518" cy="3944518"/>
            </a:xfrm>
            <a:prstGeom prst="blockArc">
              <a:avLst>
                <a:gd name="adj1" fmla="val 16200000"/>
                <a:gd name="adj2" fmla="val 0"/>
                <a:gd name="adj3" fmla="val 4642"/>
              </a:avLst>
            </a:prstGeom>
            <a:solidFill>
              <a:srgbClr val="7F7F7F"/>
            </a:solidFill>
            <a:ln>
              <a:solidFill>
                <a:schemeClr val="accent2"/>
              </a:solidFill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grpSp>
          <p:nvGrpSpPr>
            <p:cNvPr id="12" name="组合 11"/>
            <p:cNvGrpSpPr/>
            <p:nvPr/>
          </p:nvGrpSpPr>
          <p:grpSpPr>
            <a:xfrm>
              <a:off x="5452593" y="4729836"/>
              <a:ext cx="1271434" cy="1271434"/>
              <a:chOff x="5147792" y="4934845"/>
              <a:chExt cx="1007417" cy="1007417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147792" y="4934845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8" name="Group 4"/>
              <p:cNvGrpSpPr>
                <a:grpSpLocks noChangeAspect="1"/>
              </p:cNvGrpSpPr>
              <p:nvPr/>
            </p:nvGrpSpPr>
            <p:grpSpPr bwMode="auto">
              <a:xfrm>
                <a:off x="5418313" y="5176357"/>
                <a:ext cx="466374" cy="524392"/>
                <a:chOff x="3313" y="3205"/>
                <a:chExt cx="418" cy="470"/>
              </a:xfrm>
              <a:solidFill>
                <a:schemeClr val="bg1"/>
              </a:solidFill>
            </p:grpSpPr>
            <p:sp>
              <p:nvSpPr>
                <p:cNvPr id="39" name="Freeform 5"/>
                <p:cNvSpPr>
                  <a:spLocks/>
                </p:cNvSpPr>
                <p:nvPr/>
              </p:nvSpPr>
              <p:spPr bwMode="auto">
                <a:xfrm>
                  <a:off x="3392" y="3507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3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3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0" name="Freeform 6"/>
                <p:cNvSpPr>
                  <a:spLocks/>
                </p:cNvSpPr>
                <p:nvPr/>
              </p:nvSpPr>
              <p:spPr bwMode="auto">
                <a:xfrm>
                  <a:off x="3392" y="3442"/>
                  <a:ext cx="206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7"/>
                <p:cNvSpPr>
                  <a:spLocks/>
                </p:cNvSpPr>
                <p:nvPr/>
              </p:nvSpPr>
              <p:spPr bwMode="auto">
                <a:xfrm>
                  <a:off x="3392" y="3375"/>
                  <a:ext cx="206" cy="14"/>
                </a:xfrm>
                <a:custGeom>
                  <a:avLst/>
                  <a:gdLst>
                    <a:gd name="T0" fmla="*/ 84 w 86"/>
                    <a:gd name="T1" fmla="*/ 0 h 6"/>
                    <a:gd name="T2" fmla="*/ 3 w 86"/>
                    <a:gd name="T3" fmla="*/ 0 h 6"/>
                    <a:gd name="T4" fmla="*/ 0 w 86"/>
                    <a:gd name="T5" fmla="*/ 3 h 6"/>
                    <a:gd name="T6" fmla="*/ 3 w 86"/>
                    <a:gd name="T7" fmla="*/ 6 h 6"/>
                    <a:gd name="T8" fmla="*/ 84 w 86"/>
                    <a:gd name="T9" fmla="*/ 6 h 6"/>
                    <a:gd name="T10" fmla="*/ 86 w 86"/>
                    <a:gd name="T11" fmla="*/ 3 h 6"/>
                    <a:gd name="T12" fmla="*/ 84 w 86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6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4" y="6"/>
                        <a:pt x="84" y="6"/>
                        <a:pt x="84" y="6"/>
                      </a:cubicBezTo>
                      <a:cubicBezTo>
                        <a:pt x="85" y="6"/>
                        <a:pt x="86" y="5"/>
                        <a:pt x="86" y="3"/>
                      </a:cubicBezTo>
                      <a:cubicBezTo>
                        <a:pt x="86" y="2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Freeform 8"/>
                <p:cNvSpPr>
                  <a:spLocks noEditPoints="1"/>
                </p:cNvSpPr>
                <p:nvPr/>
              </p:nvSpPr>
              <p:spPr bwMode="auto">
                <a:xfrm>
                  <a:off x="3313" y="3205"/>
                  <a:ext cx="418" cy="470"/>
                </a:xfrm>
                <a:custGeom>
                  <a:avLst/>
                  <a:gdLst>
                    <a:gd name="T0" fmla="*/ 174 w 174"/>
                    <a:gd name="T1" fmla="*/ 25 h 196"/>
                    <a:gd name="T2" fmla="*/ 149 w 174"/>
                    <a:gd name="T3" fmla="*/ 0 h 196"/>
                    <a:gd name="T4" fmla="*/ 25 w 174"/>
                    <a:gd name="T5" fmla="*/ 0 h 196"/>
                    <a:gd name="T6" fmla="*/ 25 w 174"/>
                    <a:gd name="T7" fmla="*/ 0 h 196"/>
                    <a:gd name="T8" fmla="*/ 25 w 174"/>
                    <a:gd name="T9" fmla="*/ 0 h 196"/>
                    <a:gd name="T10" fmla="*/ 0 w 174"/>
                    <a:gd name="T11" fmla="*/ 25 h 196"/>
                    <a:gd name="T12" fmla="*/ 0 w 174"/>
                    <a:gd name="T13" fmla="*/ 169 h 196"/>
                    <a:gd name="T14" fmla="*/ 2 w 174"/>
                    <a:gd name="T15" fmla="*/ 174 h 196"/>
                    <a:gd name="T16" fmla="*/ 22 w 174"/>
                    <a:gd name="T17" fmla="*/ 193 h 196"/>
                    <a:gd name="T18" fmla="*/ 31 w 174"/>
                    <a:gd name="T19" fmla="*/ 193 h 196"/>
                    <a:gd name="T20" fmla="*/ 52 w 174"/>
                    <a:gd name="T21" fmla="*/ 173 h 196"/>
                    <a:gd name="T22" fmla="*/ 73 w 174"/>
                    <a:gd name="T23" fmla="*/ 194 h 196"/>
                    <a:gd name="T24" fmla="*/ 82 w 174"/>
                    <a:gd name="T25" fmla="*/ 194 h 196"/>
                    <a:gd name="T26" fmla="*/ 104 w 174"/>
                    <a:gd name="T27" fmla="*/ 173 h 196"/>
                    <a:gd name="T28" fmla="*/ 125 w 174"/>
                    <a:gd name="T29" fmla="*/ 194 h 196"/>
                    <a:gd name="T30" fmla="*/ 130 w 174"/>
                    <a:gd name="T31" fmla="*/ 196 h 196"/>
                    <a:gd name="T32" fmla="*/ 134 w 174"/>
                    <a:gd name="T33" fmla="*/ 194 h 196"/>
                    <a:gd name="T34" fmla="*/ 153 w 174"/>
                    <a:gd name="T35" fmla="*/ 175 h 196"/>
                    <a:gd name="T36" fmla="*/ 155 w 174"/>
                    <a:gd name="T37" fmla="*/ 170 h 196"/>
                    <a:gd name="T38" fmla="*/ 155 w 174"/>
                    <a:gd name="T39" fmla="*/ 49 h 196"/>
                    <a:gd name="T40" fmla="*/ 174 w 174"/>
                    <a:gd name="T41" fmla="*/ 25 h 196"/>
                    <a:gd name="T42" fmla="*/ 130 w 174"/>
                    <a:gd name="T43" fmla="*/ 180 h 196"/>
                    <a:gd name="T44" fmla="*/ 108 w 174"/>
                    <a:gd name="T45" fmla="*/ 159 h 196"/>
                    <a:gd name="T46" fmla="*/ 99 w 174"/>
                    <a:gd name="T47" fmla="*/ 159 h 196"/>
                    <a:gd name="T48" fmla="*/ 78 w 174"/>
                    <a:gd name="T49" fmla="*/ 180 h 196"/>
                    <a:gd name="T50" fmla="*/ 57 w 174"/>
                    <a:gd name="T51" fmla="*/ 159 h 196"/>
                    <a:gd name="T52" fmla="*/ 47 w 174"/>
                    <a:gd name="T53" fmla="*/ 159 h 196"/>
                    <a:gd name="T54" fmla="*/ 27 w 174"/>
                    <a:gd name="T55" fmla="*/ 179 h 196"/>
                    <a:gd name="T56" fmla="*/ 13 w 174"/>
                    <a:gd name="T57" fmla="*/ 166 h 196"/>
                    <a:gd name="T58" fmla="*/ 13 w 174"/>
                    <a:gd name="T59" fmla="*/ 25 h 196"/>
                    <a:gd name="T60" fmla="*/ 25 w 174"/>
                    <a:gd name="T61" fmla="*/ 14 h 196"/>
                    <a:gd name="T62" fmla="*/ 25 w 174"/>
                    <a:gd name="T63" fmla="*/ 14 h 196"/>
                    <a:gd name="T64" fmla="*/ 25 w 174"/>
                    <a:gd name="T65" fmla="*/ 14 h 196"/>
                    <a:gd name="T66" fmla="*/ 25 w 174"/>
                    <a:gd name="T67" fmla="*/ 14 h 196"/>
                    <a:gd name="T68" fmla="*/ 37 w 174"/>
                    <a:gd name="T69" fmla="*/ 25 h 196"/>
                    <a:gd name="T70" fmla="*/ 25 w 174"/>
                    <a:gd name="T71" fmla="*/ 36 h 196"/>
                    <a:gd name="T72" fmla="*/ 18 w 174"/>
                    <a:gd name="T73" fmla="*/ 43 h 196"/>
                    <a:gd name="T74" fmla="*/ 25 w 174"/>
                    <a:gd name="T75" fmla="*/ 50 h 196"/>
                    <a:gd name="T76" fmla="*/ 142 w 174"/>
                    <a:gd name="T77" fmla="*/ 50 h 196"/>
                    <a:gd name="T78" fmla="*/ 142 w 174"/>
                    <a:gd name="T79" fmla="*/ 168 h 196"/>
                    <a:gd name="T80" fmla="*/ 130 w 174"/>
                    <a:gd name="T81" fmla="*/ 180 h 196"/>
                    <a:gd name="T82" fmla="*/ 149 w 174"/>
                    <a:gd name="T83" fmla="*/ 36 h 196"/>
                    <a:gd name="T84" fmla="*/ 47 w 174"/>
                    <a:gd name="T85" fmla="*/ 36 h 196"/>
                    <a:gd name="T86" fmla="*/ 50 w 174"/>
                    <a:gd name="T87" fmla="*/ 25 h 196"/>
                    <a:gd name="T88" fmla="*/ 47 w 174"/>
                    <a:gd name="T89" fmla="*/ 14 h 196"/>
                    <a:gd name="T90" fmla="*/ 149 w 174"/>
                    <a:gd name="T91" fmla="*/ 14 h 196"/>
                    <a:gd name="T92" fmla="*/ 161 w 174"/>
                    <a:gd name="T93" fmla="*/ 25 h 196"/>
                    <a:gd name="T94" fmla="*/ 149 w 174"/>
                    <a:gd name="T95" fmla="*/ 36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74" h="196">
                      <a:moveTo>
                        <a:pt x="174" y="25"/>
                      </a:moveTo>
                      <a:cubicBezTo>
                        <a:pt x="174" y="11"/>
                        <a:pt x="163" y="0"/>
                        <a:pt x="149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1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5" y="196"/>
                        <a:pt x="29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6" y="196"/>
                        <a:pt x="80" y="196"/>
                        <a:pt x="82" y="194"/>
                      </a:cubicBezTo>
                      <a:cubicBezTo>
                        <a:pt x="104" y="173"/>
                        <a:pt x="104" y="173"/>
                        <a:pt x="104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30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5" y="174"/>
                        <a:pt x="155" y="172"/>
                        <a:pt x="155" y="170"/>
                      </a:cubicBezTo>
                      <a:cubicBezTo>
                        <a:pt x="155" y="49"/>
                        <a:pt x="155" y="49"/>
                        <a:pt x="155" y="49"/>
                      </a:cubicBezTo>
                      <a:cubicBezTo>
                        <a:pt x="166" y="46"/>
                        <a:pt x="174" y="36"/>
                        <a:pt x="174" y="25"/>
                      </a:cubicBezTo>
                      <a:close/>
                      <a:moveTo>
                        <a:pt x="130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6" y="157"/>
                        <a:pt x="102" y="157"/>
                        <a:pt x="99" y="159"/>
                      </a:cubicBezTo>
                      <a:cubicBezTo>
                        <a:pt x="78" y="180"/>
                        <a:pt x="78" y="180"/>
                        <a:pt x="78" y="180"/>
                      </a:cubicBezTo>
                      <a:cubicBezTo>
                        <a:pt x="57" y="159"/>
                        <a:pt x="57" y="159"/>
                        <a:pt x="57" y="159"/>
                      </a:cubicBezTo>
                      <a:cubicBezTo>
                        <a:pt x="54" y="157"/>
                        <a:pt x="50" y="157"/>
                        <a:pt x="47" y="159"/>
                      </a:cubicBezTo>
                      <a:cubicBezTo>
                        <a:pt x="27" y="179"/>
                        <a:pt x="27" y="179"/>
                        <a:pt x="27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25"/>
                        <a:pt x="13" y="25"/>
                        <a:pt x="13" y="25"/>
                      </a:cubicBezTo>
                      <a:cubicBezTo>
                        <a:pt x="13" y="19"/>
                        <a:pt x="18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32" y="14"/>
                        <a:pt x="37" y="19"/>
                        <a:pt x="37" y="25"/>
                      </a:cubicBezTo>
                      <a:cubicBezTo>
                        <a:pt x="37" y="31"/>
                        <a:pt x="32" y="36"/>
                        <a:pt x="25" y="36"/>
                      </a:cubicBezTo>
                      <a:cubicBezTo>
                        <a:pt x="21" y="36"/>
                        <a:pt x="18" y="39"/>
                        <a:pt x="18" y="43"/>
                      </a:cubicBezTo>
                      <a:cubicBezTo>
                        <a:pt x="18" y="47"/>
                        <a:pt x="21" y="50"/>
                        <a:pt x="25" y="50"/>
                      </a:cubicBezTo>
                      <a:cubicBezTo>
                        <a:pt x="142" y="50"/>
                        <a:pt x="142" y="50"/>
                        <a:pt x="142" y="50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30" y="180"/>
                      </a:lnTo>
                      <a:close/>
                      <a:moveTo>
                        <a:pt x="149" y="36"/>
                      </a:moveTo>
                      <a:cubicBezTo>
                        <a:pt x="47" y="36"/>
                        <a:pt x="47" y="36"/>
                        <a:pt x="47" y="36"/>
                      </a:cubicBezTo>
                      <a:cubicBezTo>
                        <a:pt x="49" y="33"/>
                        <a:pt x="50" y="29"/>
                        <a:pt x="50" y="25"/>
                      </a:cubicBezTo>
                      <a:cubicBezTo>
                        <a:pt x="50" y="21"/>
                        <a:pt x="49" y="17"/>
                        <a:pt x="47" y="14"/>
                      </a:cubicBezTo>
                      <a:cubicBezTo>
                        <a:pt x="149" y="14"/>
                        <a:pt x="149" y="14"/>
                        <a:pt x="149" y="14"/>
                      </a:cubicBezTo>
                      <a:cubicBezTo>
                        <a:pt x="155" y="14"/>
                        <a:pt x="161" y="19"/>
                        <a:pt x="161" y="25"/>
                      </a:cubicBezTo>
                      <a:cubicBezTo>
                        <a:pt x="161" y="31"/>
                        <a:pt x="155" y="36"/>
                        <a:pt x="149" y="3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3" name="组合 12"/>
            <p:cNvGrpSpPr/>
            <p:nvPr/>
          </p:nvGrpSpPr>
          <p:grpSpPr>
            <a:xfrm>
              <a:off x="3526104" y="2803349"/>
              <a:ext cx="1271434" cy="1271434"/>
              <a:chOff x="3621344" y="3408398"/>
              <a:chExt cx="1007417" cy="1007417"/>
            </a:xfrm>
          </p:grpSpPr>
          <p:sp>
            <p:nvSpPr>
              <p:cNvPr id="30" name="任意多边形 29"/>
              <p:cNvSpPr/>
              <p:nvPr/>
            </p:nvSpPr>
            <p:spPr>
              <a:xfrm>
                <a:off x="3621344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1" name="Group 11"/>
              <p:cNvGrpSpPr>
                <a:grpSpLocks noChangeAspect="1"/>
              </p:cNvGrpSpPr>
              <p:nvPr/>
            </p:nvGrpSpPr>
            <p:grpSpPr bwMode="auto">
              <a:xfrm>
                <a:off x="3916411" y="3654075"/>
                <a:ext cx="417282" cy="524392"/>
                <a:chOff x="2398" y="2256"/>
                <a:chExt cx="374" cy="470"/>
              </a:xfrm>
              <a:solidFill>
                <a:schemeClr val="bg1"/>
              </a:solidFill>
            </p:grpSpPr>
            <p:sp>
              <p:nvSpPr>
                <p:cNvPr id="32" name="Freeform 12"/>
                <p:cNvSpPr>
                  <a:spLocks/>
                </p:cNvSpPr>
                <p:nvPr/>
              </p:nvSpPr>
              <p:spPr bwMode="auto">
                <a:xfrm>
                  <a:off x="2478" y="2558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" name="Freeform 13"/>
                <p:cNvSpPr>
                  <a:spLocks/>
                </p:cNvSpPr>
                <p:nvPr/>
              </p:nvSpPr>
              <p:spPr bwMode="auto">
                <a:xfrm>
                  <a:off x="2478" y="2505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" name="Freeform 14"/>
                <p:cNvSpPr>
                  <a:spLocks/>
                </p:cNvSpPr>
                <p:nvPr/>
              </p:nvSpPr>
              <p:spPr bwMode="auto">
                <a:xfrm>
                  <a:off x="2478" y="2452"/>
                  <a:ext cx="207" cy="12"/>
                </a:xfrm>
                <a:custGeom>
                  <a:avLst/>
                  <a:gdLst>
                    <a:gd name="T0" fmla="*/ 83 w 86"/>
                    <a:gd name="T1" fmla="*/ 0 h 5"/>
                    <a:gd name="T2" fmla="*/ 2 w 86"/>
                    <a:gd name="T3" fmla="*/ 0 h 5"/>
                    <a:gd name="T4" fmla="*/ 0 w 86"/>
                    <a:gd name="T5" fmla="*/ 3 h 5"/>
                    <a:gd name="T6" fmla="*/ 2 w 86"/>
                    <a:gd name="T7" fmla="*/ 5 h 5"/>
                    <a:gd name="T8" fmla="*/ 83 w 86"/>
                    <a:gd name="T9" fmla="*/ 5 h 5"/>
                    <a:gd name="T10" fmla="*/ 86 w 86"/>
                    <a:gd name="T11" fmla="*/ 3 h 5"/>
                    <a:gd name="T12" fmla="*/ 83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3" y="0"/>
                      </a:move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2" y="5"/>
                      </a:cubicBezTo>
                      <a:cubicBezTo>
                        <a:pt x="83" y="5"/>
                        <a:pt x="83" y="5"/>
                        <a:pt x="83" y="5"/>
                      </a:cubicBezTo>
                      <a:cubicBezTo>
                        <a:pt x="85" y="5"/>
                        <a:pt x="86" y="4"/>
                        <a:pt x="86" y="3"/>
                      </a:cubicBezTo>
                      <a:cubicBezTo>
                        <a:pt x="86" y="1"/>
                        <a:pt x="85" y="0"/>
                        <a:pt x="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5" name="Freeform 15"/>
                <p:cNvSpPr>
                  <a:spLocks/>
                </p:cNvSpPr>
                <p:nvPr/>
              </p:nvSpPr>
              <p:spPr bwMode="auto">
                <a:xfrm>
                  <a:off x="2478" y="2402"/>
                  <a:ext cx="101" cy="12"/>
                </a:xfrm>
                <a:custGeom>
                  <a:avLst/>
                  <a:gdLst>
                    <a:gd name="T0" fmla="*/ 2 w 42"/>
                    <a:gd name="T1" fmla="*/ 5 h 5"/>
                    <a:gd name="T2" fmla="*/ 39 w 42"/>
                    <a:gd name="T3" fmla="*/ 5 h 5"/>
                    <a:gd name="T4" fmla="*/ 42 w 42"/>
                    <a:gd name="T5" fmla="*/ 2 h 5"/>
                    <a:gd name="T6" fmla="*/ 39 w 42"/>
                    <a:gd name="T7" fmla="*/ 0 h 5"/>
                    <a:gd name="T8" fmla="*/ 2 w 42"/>
                    <a:gd name="T9" fmla="*/ 0 h 5"/>
                    <a:gd name="T10" fmla="*/ 0 w 42"/>
                    <a:gd name="T11" fmla="*/ 2 h 5"/>
                    <a:gd name="T12" fmla="*/ 2 w 42"/>
                    <a:gd name="T13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2" h="5">
                      <a:moveTo>
                        <a:pt x="2" y="5"/>
                      </a:moveTo>
                      <a:cubicBezTo>
                        <a:pt x="39" y="5"/>
                        <a:pt x="39" y="5"/>
                        <a:pt x="39" y="5"/>
                      </a:cubicBezTo>
                      <a:cubicBezTo>
                        <a:pt x="41" y="5"/>
                        <a:pt x="42" y="4"/>
                        <a:pt x="42" y="2"/>
                      </a:cubicBezTo>
                      <a:cubicBezTo>
                        <a:pt x="42" y="1"/>
                        <a:pt x="41" y="0"/>
                        <a:pt x="39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2" y="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" name="Freeform 16"/>
                <p:cNvSpPr>
                  <a:spLocks noEditPoints="1"/>
                </p:cNvSpPr>
                <p:nvPr/>
              </p:nvSpPr>
              <p:spPr bwMode="auto">
                <a:xfrm>
                  <a:off x="2398" y="2256"/>
                  <a:ext cx="374" cy="470"/>
                </a:xfrm>
                <a:custGeom>
                  <a:avLst/>
                  <a:gdLst>
                    <a:gd name="T0" fmla="*/ 153 w 155"/>
                    <a:gd name="T1" fmla="*/ 31 h 196"/>
                    <a:gd name="T2" fmla="*/ 125 w 155"/>
                    <a:gd name="T3" fmla="*/ 2 h 196"/>
                    <a:gd name="T4" fmla="*/ 120 w 155"/>
                    <a:gd name="T5" fmla="*/ 0 h 196"/>
                    <a:gd name="T6" fmla="*/ 6 w 155"/>
                    <a:gd name="T7" fmla="*/ 0 h 196"/>
                    <a:gd name="T8" fmla="*/ 0 w 155"/>
                    <a:gd name="T9" fmla="*/ 7 h 196"/>
                    <a:gd name="T10" fmla="*/ 0 w 155"/>
                    <a:gd name="T11" fmla="*/ 169 h 196"/>
                    <a:gd name="T12" fmla="*/ 2 w 155"/>
                    <a:gd name="T13" fmla="*/ 174 h 196"/>
                    <a:gd name="T14" fmla="*/ 22 w 155"/>
                    <a:gd name="T15" fmla="*/ 193 h 196"/>
                    <a:gd name="T16" fmla="*/ 31 w 155"/>
                    <a:gd name="T17" fmla="*/ 193 h 196"/>
                    <a:gd name="T18" fmla="*/ 52 w 155"/>
                    <a:gd name="T19" fmla="*/ 173 h 196"/>
                    <a:gd name="T20" fmla="*/ 73 w 155"/>
                    <a:gd name="T21" fmla="*/ 194 h 196"/>
                    <a:gd name="T22" fmla="*/ 82 w 155"/>
                    <a:gd name="T23" fmla="*/ 194 h 196"/>
                    <a:gd name="T24" fmla="*/ 103 w 155"/>
                    <a:gd name="T25" fmla="*/ 173 h 196"/>
                    <a:gd name="T26" fmla="*/ 125 w 155"/>
                    <a:gd name="T27" fmla="*/ 194 h 196"/>
                    <a:gd name="T28" fmla="*/ 129 w 155"/>
                    <a:gd name="T29" fmla="*/ 196 h 196"/>
                    <a:gd name="T30" fmla="*/ 134 w 155"/>
                    <a:gd name="T31" fmla="*/ 194 h 196"/>
                    <a:gd name="T32" fmla="*/ 153 w 155"/>
                    <a:gd name="T33" fmla="*/ 175 h 196"/>
                    <a:gd name="T34" fmla="*/ 155 w 155"/>
                    <a:gd name="T35" fmla="*/ 170 h 196"/>
                    <a:gd name="T36" fmla="*/ 155 w 155"/>
                    <a:gd name="T37" fmla="*/ 35 h 196"/>
                    <a:gd name="T38" fmla="*/ 153 w 155"/>
                    <a:gd name="T39" fmla="*/ 31 h 196"/>
                    <a:gd name="T40" fmla="*/ 129 w 155"/>
                    <a:gd name="T41" fmla="*/ 180 h 196"/>
                    <a:gd name="T42" fmla="*/ 108 w 155"/>
                    <a:gd name="T43" fmla="*/ 159 h 196"/>
                    <a:gd name="T44" fmla="*/ 99 w 155"/>
                    <a:gd name="T45" fmla="*/ 159 h 196"/>
                    <a:gd name="T46" fmla="*/ 77 w 155"/>
                    <a:gd name="T47" fmla="*/ 180 h 196"/>
                    <a:gd name="T48" fmla="*/ 56 w 155"/>
                    <a:gd name="T49" fmla="*/ 159 h 196"/>
                    <a:gd name="T50" fmla="*/ 52 w 155"/>
                    <a:gd name="T51" fmla="*/ 157 h 196"/>
                    <a:gd name="T52" fmla="*/ 47 w 155"/>
                    <a:gd name="T53" fmla="*/ 159 h 196"/>
                    <a:gd name="T54" fmla="*/ 26 w 155"/>
                    <a:gd name="T55" fmla="*/ 179 h 196"/>
                    <a:gd name="T56" fmla="*/ 13 w 155"/>
                    <a:gd name="T57" fmla="*/ 166 h 196"/>
                    <a:gd name="T58" fmla="*/ 13 w 155"/>
                    <a:gd name="T59" fmla="*/ 14 h 196"/>
                    <a:gd name="T60" fmla="*/ 116 w 155"/>
                    <a:gd name="T61" fmla="*/ 14 h 196"/>
                    <a:gd name="T62" fmla="*/ 116 w 155"/>
                    <a:gd name="T63" fmla="*/ 35 h 196"/>
                    <a:gd name="T64" fmla="*/ 120 w 155"/>
                    <a:gd name="T65" fmla="*/ 39 h 196"/>
                    <a:gd name="T66" fmla="*/ 142 w 155"/>
                    <a:gd name="T67" fmla="*/ 39 h 196"/>
                    <a:gd name="T68" fmla="*/ 142 w 155"/>
                    <a:gd name="T69" fmla="*/ 168 h 196"/>
                    <a:gd name="T70" fmla="*/ 129 w 155"/>
                    <a:gd name="T71" fmla="*/ 180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55" h="196">
                      <a:moveTo>
                        <a:pt x="153" y="31"/>
                      </a:moveTo>
                      <a:cubicBezTo>
                        <a:pt x="125" y="2"/>
                        <a:pt x="125" y="2"/>
                        <a:pt x="125" y="2"/>
                      </a:cubicBezTo>
                      <a:cubicBezTo>
                        <a:pt x="123" y="1"/>
                        <a:pt x="122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71"/>
                        <a:pt x="0" y="172"/>
                        <a:pt x="2" y="174"/>
                      </a:cubicBezTo>
                      <a:cubicBezTo>
                        <a:pt x="22" y="193"/>
                        <a:pt x="22" y="193"/>
                        <a:pt x="22" y="193"/>
                      </a:cubicBezTo>
                      <a:cubicBezTo>
                        <a:pt x="24" y="196"/>
                        <a:pt x="28" y="196"/>
                        <a:pt x="31" y="193"/>
                      </a:cubicBezTo>
                      <a:cubicBezTo>
                        <a:pt x="52" y="173"/>
                        <a:pt x="52" y="173"/>
                        <a:pt x="52" y="173"/>
                      </a:cubicBezTo>
                      <a:cubicBezTo>
                        <a:pt x="73" y="194"/>
                        <a:pt x="73" y="194"/>
                        <a:pt x="73" y="194"/>
                      </a:cubicBezTo>
                      <a:cubicBezTo>
                        <a:pt x="75" y="196"/>
                        <a:pt x="80" y="196"/>
                        <a:pt x="82" y="194"/>
                      </a:cubicBezTo>
                      <a:cubicBezTo>
                        <a:pt x="103" y="173"/>
                        <a:pt x="103" y="173"/>
                        <a:pt x="103" y="173"/>
                      </a:cubicBezTo>
                      <a:cubicBezTo>
                        <a:pt x="125" y="194"/>
                        <a:pt x="125" y="194"/>
                        <a:pt x="125" y="194"/>
                      </a:cubicBezTo>
                      <a:cubicBezTo>
                        <a:pt x="126" y="195"/>
                        <a:pt x="128" y="196"/>
                        <a:pt x="129" y="196"/>
                      </a:cubicBezTo>
                      <a:cubicBezTo>
                        <a:pt x="131" y="196"/>
                        <a:pt x="133" y="195"/>
                        <a:pt x="134" y="194"/>
                      </a:cubicBezTo>
                      <a:cubicBezTo>
                        <a:pt x="153" y="175"/>
                        <a:pt x="153" y="175"/>
                        <a:pt x="153" y="175"/>
                      </a:cubicBezTo>
                      <a:cubicBezTo>
                        <a:pt x="154" y="174"/>
                        <a:pt x="155" y="172"/>
                        <a:pt x="155" y="17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5" y="32"/>
                        <a:pt x="153" y="31"/>
                      </a:cubicBezTo>
                      <a:close/>
                      <a:moveTo>
                        <a:pt x="129" y="180"/>
                      </a:moveTo>
                      <a:cubicBezTo>
                        <a:pt x="108" y="159"/>
                        <a:pt x="108" y="159"/>
                        <a:pt x="108" y="159"/>
                      </a:cubicBezTo>
                      <a:cubicBezTo>
                        <a:pt x="105" y="157"/>
                        <a:pt x="101" y="157"/>
                        <a:pt x="99" y="159"/>
                      </a:cubicBezTo>
                      <a:cubicBezTo>
                        <a:pt x="77" y="180"/>
                        <a:pt x="77" y="180"/>
                        <a:pt x="77" y="180"/>
                      </a:cubicBezTo>
                      <a:cubicBezTo>
                        <a:pt x="56" y="159"/>
                        <a:pt x="56" y="159"/>
                        <a:pt x="56" y="159"/>
                      </a:cubicBezTo>
                      <a:cubicBezTo>
                        <a:pt x="55" y="158"/>
                        <a:pt x="53" y="157"/>
                        <a:pt x="52" y="157"/>
                      </a:cubicBezTo>
                      <a:cubicBezTo>
                        <a:pt x="50" y="157"/>
                        <a:pt x="48" y="158"/>
                        <a:pt x="47" y="159"/>
                      </a:cubicBezTo>
                      <a:cubicBezTo>
                        <a:pt x="26" y="179"/>
                        <a:pt x="26" y="179"/>
                        <a:pt x="26" y="179"/>
                      </a:cubicBezTo>
                      <a:cubicBezTo>
                        <a:pt x="13" y="166"/>
                        <a:pt x="13" y="166"/>
                        <a:pt x="13" y="166"/>
                      </a:cubicBez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68"/>
                        <a:pt x="142" y="168"/>
                        <a:pt x="142" y="168"/>
                      </a:cubicBezTo>
                      <a:lnTo>
                        <a:pt x="129" y="18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4" name="组合 13"/>
            <p:cNvGrpSpPr/>
            <p:nvPr/>
          </p:nvGrpSpPr>
          <p:grpSpPr>
            <a:xfrm>
              <a:off x="5452593" y="876860"/>
              <a:ext cx="1271434" cy="1271434"/>
              <a:chOff x="5147792" y="1881950"/>
              <a:chExt cx="1007417" cy="1007417"/>
            </a:xfrm>
          </p:grpSpPr>
          <p:sp>
            <p:nvSpPr>
              <p:cNvPr id="22" name="任意多边形 21"/>
              <p:cNvSpPr/>
              <p:nvPr/>
            </p:nvSpPr>
            <p:spPr>
              <a:xfrm>
                <a:off x="5147792" y="1881950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23" name="Group 19"/>
              <p:cNvGrpSpPr>
                <a:grpSpLocks noChangeAspect="1"/>
              </p:cNvGrpSpPr>
              <p:nvPr/>
            </p:nvGrpSpPr>
            <p:grpSpPr bwMode="auto">
              <a:xfrm>
                <a:off x="5388004" y="2104695"/>
                <a:ext cx="532201" cy="524391"/>
                <a:chOff x="3869" y="1065"/>
                <a:chExt cx="477" cy="470"/>
              </a:xfrm>
              <a:solidFill>
                <a:schemeClr val="bg1"/>
              </a:solidFill>
            </p:grpSpPr>
            <p:sp>
              <p:nvSpPr>
                <p:cNvPr id="24" name="Freeform 20"/>
                <p:cNvSpPr>
                  <a:spLocks/>
                </p:cNvSpPr>
                <p:nvPr/>
              </p:nvSpPr>
              <p:spPr bwMode="auto">
                <a:xfrm>
                  <a:off x="3936" y="1411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2"/>
                        <a:pt x="0" y="3"/>
                      </a:cubicBezTo>
                      <a:cubicBezTo>
                        <a:pt x="0" y="5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5"/>
                        <a:pt x="88" y="3"/>
                      </a:cubicBezTo>
                      <a:cubicBezTo>
                        <a:pt x="88" y="2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5" name="Freeform 21"/>
                <p:cNvSpPr>
                  <a:spLocks/>
                </p:cNvSpPr>
                <p:nvPr/>
              </p:nvSpPr>
              <p:spPr bwMode="auto">
                <a:xfrm>
                  <a:off x="3936" y="1358"/>
                  <a:ext cx="211" cy="12"/>
                </a:xfrm>
                <a:custGeom>
                  <a:avLst/>
                  <a:gdLst>
                    <a:gd name="T0" fmla="*/ 86 w 88"/>
                    <a:gd name="T1" fmla="*/ 0 h 5"/>
                    <a:gd name="T2" fmla="*/ 3 w 88"/>
                    <a:gd name="T3" fmla="*/ 0 h 5"/>
                    <a:gd name="T4" fmla="*/ 0 w 88"/>
                    <a:gd name="T5" fmla="*/ 3 h 5"/>
                    <a:gd name="T6" fmla="*/ 3 w 88"/>
                    <a:gd name="T7" fmla="*/ 5 h 5"/>
                    <a:gd name="T8" fmla="*/ 86 w 88"/>
                    <a:gd name="T9" fmla="*/ 5 h 5"/>
                    <a:gd name="T10" fmla="*/ 88 w 88"/>
                    <a:gd name="T11" fmla="*/ 3 h 5"/>
                    <a:gd name="T12" fmla="*/ 86 w 88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5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6" y="5"/>
                        <a:pt x="86" y="5"/>
                        <a:pt x="86" y="5"/>
                      </a:cubicBezTo>
                      <a:cubicBezTo>
                        <a:pt x="87" y="5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6" name="Freeform 22"/>
                <p:cNvSpPr>
                  <a:spLocks/>
                </p:cNvSpPr>
                <p:nvPr/>
              </p:nvSpPr>
              <p:spPr bwMode="auto">
                <a:xfrm>
                  <a:off x="3936" y="1303"/>
                  <a:ext cx="211" cy="14"/>
                </a:xfrm>
                <a:custGeom>
                  <a:avLst/>
                  <a:gdLst>
                    <a:gd name="T0" fmla="*/ 86 w 88"/>
                    <a:gd name="T1" fmla="*/ 0 h 6"/>
                    <a:gd name="T2" fmla="*/ 3 w 88"/>
                    <a:gd name="T3" fmla="*/ 0 h 6"/>
                    <a:gd name="T4" fmla="*/ 0 w 88"/>
                    <a:gd name="T5" fmla="*/ 3 h 6"/>
                    <a:gd name="T6" fmla="*/ 3 w 88"/>
                    <a:gd name="T7" fmla="*/ 6 h 6"/>
                    <a:gd name="T8" fmla="*/ 86 w 88"/>
                    <a:gd name="T9" fmla="*/ 6 h 6"/>
                    <a:gd name="T10" fmla="*/ 88 w 88"/>
                    <a:gd name="T11" fmla="*/ 3 h 6"/>
                    <a:gd name="T12" fmla="*/ 86 w 88"/>
                    <a:gd name="T13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8" h="6">
                      <a:moveTo>
                        <a:pt x="86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ubicBezTo>
                        <a:pt x="86" y="6"/>
                        <a:pt x="86" y="6"/>
                        <a:pt x="86" y="6"/>
                      </a:cubicBezTo>
                      <a:cubicBezTo>
                        <a:pt x="87" y="6"/>
                        <a:pt x="88" y="4"/>
                        <a:pt x="88" y="3"/>
                      </a:cubicBezTo>
                      <a:cubicBezTo>
                        <a:pt x="88" y="1"/>
                        <a:pt x="87" y="0"/>
                        <a:pt x="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7" name="Freeform 23"/>
                <p:cNvSpPr>
                  <a:spLocks/>
                </p:cNvSpPr>
                <p:nvPr/>
              </p:nvSpPr>
              <p:spPr bwMode="auto">
                <a:xfrm>
                  <a:off x="3936" y="1250"/>
                  <a:ext cx="103" cy="14"/>
                </a:xfrm>
                <a:custGeom>
                  <a:avLst/>
                  <a:gdLst>
                    <a:gd name="T0" fmla="*/ 3 w 43"/>
                    <a:gd name="T1" fmla="*/ 6 h 6"/>
                    <a:gd name="T2" fmla="*/ 41 w 43"/>
                    <a:gd name="T3" fmla="*/ 6 h 6"/>
                    <a:gd name="T4" fmla="*/ 43 w 43"/>
                    <a:gd name="T5" fmla="*/ 3 h 6"/>
                    <a:gd name="T6" fmla="*/ 41 w 43"/>
                    <a:gd name="T7" fmla="*/ 0 h 6"/>
                    <a:gd name="T8" fmla="*/ 3 w 43"/>
                    <a:gd name="T9" fmla="*/ 0 h 6"/>
                    <a:gd name="T10" fmla="*/ 0 w 43"/>
                    <a:gd name="T11" fmla="*/ 3 h 6"/>
                    <a:gd name="T12" fmla="*/ 3 w 43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3" h="6">
                      <a:moveTo>
                        <a:pt x="3" y="6"/>
                      </a:moveTo>
                      <a:cubicBezTo>
                        <a:pt x="41" y="6"/>
                        <a:pt x="41" y="6"/>
                        <a:pt x="41" y="6"/>
                      </a:cubicBezTo>
                      <a:cubicBezTo>
                        <a:pt x="42" y="6"/>
                        <a:pt x="43" y="4"/>
                        <a:pt x="43" y="3"/>
                      </a:cubicBezTo>
                      <a:cubicBezTo>
                        <a:pt x="43" y="1"/>
                        <a:pt x="42" y="0"/>
                        <a:pt x="41" y="0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3"/>
                      </a:cubicBezTo>
                      <a:cubicBezTo>
                        <a:pt x="0" y="4"/>
                        <a:pt x="1" y="6"/>
                        <a:pt x="3" y="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8" name="Freeform 24"/>
                <p:cNvSpPr>
                  <a:spLocks noEditPoints="1"/>
                </p:cNvSpPr>
                <p:nvPr/>
              </p:nvSpPr>
              <p:spPr bwMode="auto">
                <a:xfrm>
                  <a:off x="3869" y="1065"/>
                  <a:ext cx="345" cy="470"/>
                </a:xfrm>
                <a:custGeom>
                  <a:avLst/>
                  <a:gdLst>
                    <a:gd name="T0" fmla="*/ 116 w 144"/>
                    <a:gd name="T1" fmla="*/ 2 h 196"/>
                    <a:gd name="T2" fmla="*/ 111 w 144"/>
                    <a:gd name="T3" fmla="*/ 0 h 196"/>
                    <a:gd name="T4" fmla="*/ 7 w 144"/>
                    <a:gd name="T5" fmla="*/ 0 h 196"/>
                    <a:gd name="T6" fmla="*/ 0 w 144"/>
                    <a:gd name="T7" fmla="*/ 7 h 196"/>
                    <a:gd name="T8" fmla="*/ 0 w 144"/>
                    <a:gd name="T9" fmla="*/ 189 h 196"/>
                    <a:gd name="T10" fmla="*/ 7 w 144"/>
                    <a:gd name="T11" fmla="*/ 196 h 196"/>
                    <a:gd name="T12" fmla="*/ 138 w 144"/>
                    <a:gd name="T13" fmla="*/ 196 h 196"/>
                    <a:gd name="T14" fmla="*/ 144 w 144"/>
                    <a:gd name="T15" fmla="*/ 189 h 196"/>
                    <a:gd name="T16" fmla="*/ 144 w 144"/>
                    <a:gd name="T17" fmla="*/ 33 h 196"/>
                    <a:gd name="T18" fmla="*/ 142 w 144"/>
                    <a:gd name="T19" fmla="*/ 28 h 196"/>
                    <a:gd name="T20" fmla="*/ 116 w 144"/>
                    <a:gd name="T21" fmla="*/ 2 h 196"/>
                    <a:gd name="T22" fmla="*/ 13 w 144"/>
                    <a:gd name="T23" fmla="*/ 182 h 196"/>
                    <a:gd name="T24" fmla="*/ 13 w 144"/>
                    <a:gd name="T25" fmla="*/ 13 h 196"/>
                    <a:gd name="T26" fmla="*/ 104 w 144"/>
                    <a:gd name="T27" fmla="*/ 13 h 196"/>
                    <a:gd name="T28" fmla="*/ 104 w 144"/>
                    <a:gd name="T29" fmla="*/ 36 h 196"/>
                    <a:gd name="T30" fmla="*/ 108 w 144"/>
                    <a:gd name="T31" fmla="*/ 40 h 196"/>
                    <a:gd name="T32" fmla="*/ 131 w 144"/>
                    <a:gd name="T33" fmla="*/ 40 h 196"/>
                    <a:gd name="T34" fmla="*/ 131 w 144"/>
                    <a:gd name="T35" fmla="*/ 182 h 196"/>
                    <a:gd name="T36" fmla="*/ 13 w 144"/>
                    <a:gd name="T37" fmla="*/ 182 h 1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44" h="196">
                      <a:moveTo>
                        <a:pt x="116" y="2"/>
                      </a:moveTo>
                      <a:cubicBezTo>
                        <a:pt x="115" y="1"/>
                        <a:pt x="113" y="0"/>
                        <a:pt x="111" y="0"/>
                      </a:cubicBez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89"/>
                        <a:pt x="0" y="189"/>
                        <a:pt x="0" y="189"/>
                      </a:cubicBezTo>
                      <a:cubicBezTo>
                        <a:pt x="0" y="193"/>
                        <a:pt x="3" y="196"/>
                        <a:pt x="7" y="196"/>
                      </a:cubicBezTo>
                      <a:cubicBezTo>
                        <a:pt x="138" y="196"/>
                        <a:pt x="138" y="196"/>
                        <a:pt x="138" y="196"/>
                      </a:cubicBezTo>
                      <a:cubicBezTo>
                        <a:pt x="141" y="196"/>
                        <a:pt x="144" y="193"/>
                        <a:pt x="144" y="189"/>
                      </a:cubicBezTo>
                      <a:cubicBezTo>
                        <a:pt x="144" y="33"/>
                        <a:pt x="144" y="33"/>
                        <a:pt x="144" y="33"/>
                      </a:cubicBezTo>
                      <a:cubicBezTo>
                        <a:pt x="144" y="31"/>
                        <a:pt x="144" y="29"/>
                        <a:pt x="142" y="28"/>
                      </a:cubicBezTo>
                      <a:lnTo>
                        <a:pt x="116" y="2"/>
                      </a:lnTo>
                      <a:close/>
                      <a:moveTo>
                        <a:pt x="13" y="182"/>
                      </a:moveTo>
                      <a:cubicBezTo>
                        <a:pt x="13" y="13"/>
                        <a:pt x="13" y="13"/>
                        <a:pt x="13" y="13"/>
                      </a:cubicBezTo>
                      <a:cubicBezTo>
                        <a:pt x="104" y="13"/>
                        <a:pt x="104" y="13"/>
                        <a:pt x="104" y="13"/>
                      </a:cubicBezTo>
                      <a:cubicBezTo>
                        <a:pt x="104" y="36"/>
                        <a:pt x="104" y="36"/>
                        <a:pt x="104" y="36"/>
                      </a:cubicBezTo>
                      <a:cubicBezTo>
                        <a:pt x="104" y="38"/>
                        <a:pt x="106" y="40"/>
                        <a:pt x="108" y="40"/>
                      </a:cubicBezTo>
                      <a:cubicBezTo>
                        <a:pt x="131" y="40"/>
                        <a:pt x="131" y="40"/>
                        <a:pt x="131" y="40"/>
                      </a:cubicBezTo>
                      <a:cubicBezTo>
                        <a:pt x="131" y="182"/>
                        <a:pt x="131" y="182"/>
                        <a:pt x="131" y="182"/>
                      </a:cubicBezTo>
                      <a:lnTo>
                        <a:pt x="13" y="182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Freeform 25"/>
                <p:cNvSpPr>
                  <a:spLocks noEditPoints="1"/>
                </p:cNvSpPr>
                <p:nvPr/>
              </p:nvSpPr>
              <p:spPr bwMode="auto">
                <a:xfrm>
                  <a:off x="4252" y="1087"/>
                  <a:ext cx="94" cy="444"/>
                </a:xfrm>
                <a:custGeom>
                  <a:avLst/>
                  <a:gdLst>
                    <a:gd name="T0" fmla="*/ 35 w 39"/>
                    <a:gd name="T1" fmla="*/ 0 h 185"/>
                    <a:gd name="T2" fmla="*/ 4 w 39"/>
                    <a:gd name="T3" fmla="*/ 0 h 185"/>
                    <a:gd name="T4" fmla="*/ 0 w 39"/>
                    <a:gd name="T5" fmla="*/ 4 h 185"/>
                    <a:gd name="T6" fmla="*/ 0 w 39"/>
                    <a:gd name="T7" fmla="*/ 144 h 185"/>
                    <a:gd name="T8" fmla="*/ 0 w 39"/>
                    <a:gd name="T9" fmla="*/ 146 h 185"/>
                    <a:gd name="T10" fmla="*/ 16 w 39"/>
                    <a:gd name="T11" fmla="*/ 182 h 185"/>
                    <a:gd name="T12" fmla="*/ 20 w 39"/>
                    <a:gd name="T13" fmla="*/ 185 h 185"/>
                    <a:gd name="T14" fmla="*/ 23 w 39"/>
                    <a:gd name="T15" fmla="*/ 182 h 185"/>
                    <a:gd name="T16" fmla="*/ 39 w 39"/>
                    <a:gd name="T17" fmla="*/ 146 h 185"/>
                    <a:gd name="T18" fmla="*/ 39 w 39"/>
                    <a:gd name="T19" fmla="*/ 144 h 185"/>
                    <a:gd name="T20" fmla="*/ 39 w 39"/>
                    <a:gd name="T21" fmla="*/ 4 h 185"/>
                    <a:gd name="T22" fmla="*/ 35 w 39"/>
                    <a:gd name="T23" fmla="*/ 0 h 185"/>
                    <a:gd name="T24" fmla="*/ 31 w 39"/>
                    <a:gd name="T25" fmla="*/ 143 h 185"/>
                    <a:gd name="T26" fmla="*/ 25 w 39"/>
                    <a:gd name="T27" fmla="*/ 157 h 185"/>
                    <a:gd name="T28" fmla="*/ 14 w 39"/>
                    <a:gd name="T29" fmla="*/ 157 h 185"/>
                    <a:gd name="T30" fmla="*/ 8 w 39"/>
                    <a:gd name="T31" fmla="*/ 143 h 185"/>
                    <a:gd name="T32" fmla="*/ 8 w 39"/>
                    <a:gd name="T33" fmla="*/ 8 h 185"/>
                    <a:gd name="T34" fmla="*/ 18 w 39"/>
                    <a:gd name="T35" fmla="*/ 8 h 185"/>
                    <a:gd name="T36" fmla="*/ 18 w 39"/>
                    <a:gd name="T37" fmla="*/ 8 h 185"/>
                    <a:gd name="T38" fmla="*/ 18 w 39"/>
                    <a:gd name="T39" fmla="*/ 137 h 185"/>
                    <a:gd name="T40" fmla="*/ 21 w 39"/>
                    <a:gd name="T41" fmla="*/ 139 h 185"/>
                    <a:gd name="T42" fmla="*/ 24 w 39"/>
                    <a:gd name="T43" fmla="*/ 137 h 185"/>
                    <a:gd name="T44" fmla="*/ 24 w 39"/>
                    <a:gd name="T45" fmla="*/ 8 h 185"/>
                    <a:gd name="T46" fmla="*/ 24 w 39"/>
                    <a:gd name="T47" fmla="*/ 8 h 185"/>
                    <a:gd name="T48" fmla="*/ 31 w 39"/>
                    <a:gd name="T49" fmla="*/ 8 h 185"/>
                    <a:gd name="T50" fmla="*/ 31 w 39"/>
                    <a:gd name="T51" fmla="*/ 143 h 1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9" h="185">
                      <a:moveTo>
                        <a:pt x="35" y="0"/>
                      </a:moveTo>
                      <a:cubicBezTo>
                        <a:pt x="4" y="0"/>
                        <a:pt x="4" y="0"/>
                        <a:pt x="4" y="0"/>
                      </a:cubicBezTo>
                      <a:cubicBezTo>
                        <a:pt x="2" y="0"/>
                        <a:pt x="0" y="1"/>
                        <a:pt x="0" y="4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0" y="145"/>
                        <a:pt x="0" y="145"/>
                        <a:pt x="0" y="146"/>
                      </a:cubicBezTo>
                      <a:cubicBezTo>
                        <a:pt x="16" y="182"/>
                        <a:pt x="16" y="182"/>
                        <a:pt x="16" y="182"/>
                      </a:cubicBezTo>
                      <a:cubicBezTo>
                        <a:pt x="17" y="184"/>
                        <a:pt x="18" y="185"/>
                        <a:pt x="20" y="185"/>
                      </a:cubicBezTo>
                      <a:cubicBezTo>
                        <a:pt x="21" y="185"/>
                        <a:pt x="23" y="184"/>
                        <a:pt x="23" y="182"/>
                      </a:cubicBezTo>
                      <a:cubicBezTo>
                        <a:pt x="39" y="146"/>
                        <a:pt x="39" y="146"/>
                        <a:pt x="39" y="146"/>
                      </a:cubicBezTo>
                      <a:cubicBezTo>
                        <a:pt x="39" y="145"/>
                        <a:pt x="39" y="145"/>
                        <a:pt x="39" y="144"/>
                      </a:cubicBezTo>
                      <a:cubicBezTo>
                        <a:pt x="39" y="4"/>
                        <a:pt x="39" y="4"/>
                        <a:pt x="39" y="4"/>
                      </a:cubicBezTo>
                      <a:cubicBezTo>
                        <a:pt x="39" y="1"/>
                        <a:pt x="37" y="0"/>
                        <a:pt x="35" y="0"/>
                      </a:cubicBezTo>
                      <a:close/>
                      <a:moveTo>
                        <a:pt x="31" y="143"/>
                      </a:moveTo>
                      <a:cubicBezTo>
                        <a:pt x="25" y="157"/>
                        <a:pt x="25" y="157"/>
                        <a:pt x="25" y="157"/>
                      </a:cubicBezTo>
                      <a:cubicBezTo>
                        <a:pt x="14" y="157"/>
                        <a:pt x="14" y="157"/>
                        <a:pt x="14" y="157"/>
                      </a:cubicBezTo>
                      <a:cubicBezTo>
                        <a:pt x="8" y="143"/>
                        <a:pt x="8" y="143"/>
                        <a:pt x="8" y="143"/>
                      </a:cubicBezTo>
                      <a:cubicBezTo>
                        <a:pt x="8" y="8"/>
                        <a:pt x="8" y="8"/>
                        <a:pt x="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8"/>
                        <a:pt x="18" y="8"/>
                        <a:pt x="18" y="8"/>
                      </a:cubicBezTo>
                      <a:cubicBezTo>
                        <a:pt x="18" y="137"/>
                        <a:pt x="18" y="137"/>
                        <a:pt x="18" y="137"/>
                      </a:cubicBezTo>
                      <a:cubicBezTo>
                        <a:pt x="18" y="138"/>
                        <a:pt x="19" y="139"/>
                        <a:pt x="21" y="139"/>
                      </a:cubicBezTo>
                      <a:cubicBezTo>
                        <a:pt x="22" y="139"/>
                        <a:pt x="24" y="138"/>
                        <a:pt x="24" y="137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24" y="8"/>
                        <a:pt x="24" y="8"/>
                        <a:pt x="24" y="8"/>
                      </a:cubicBezTo>
                      <a:cubicBezTo>
                        <a:pt x="31" y="8"/>
                        <a:pt x="31" y="8"/>
                        <a:pt x="31" y="8"/>
                      </a:cubicBezTo>
                      <a:lnTo>
                        <a:pt x="31" y="14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" name="组合 14"/>
            <p:cNvGrpSpPr/>
            <p:nvPr/>
          </p:nvGrpSpPr>
          <p:grpSpPr>
            <a:xfrm>
              <a:off x="7379080" y="2803349"/>
              <a:ext cx="1271434" cy="1271434"/>
              <a:chOff x="6674239" y="3408398"/>
              <a:chExt cx="1007417" cy="1007417"/>
            </a:xfrm>
          </p:grpSpPr>
          <p:sp>
            <p:nvSpPr>
              <p:cNvPr id="16" name="任意多边形 15"/>
              <p:cNvSpPr/>
              <p:nvPr/>
            </p:nvSpPr>
            <p:spPr>
              <a:xfrm>
                <a:off x="6674239" y="3408398"/>
                <a:ext cx="1007417" cy="1007417"/>
              </a:xfrm>
              <a:custGeom>
                <a:avLst/>
                <a:gdLst>
                  <a:gd name="connsiteX0" fmla="*/ 0 w 1007417"/>
                  <a:gd name="connsiteY0" fmla="*/ 503709 h 1007417"/>
                  <a:gd name="connsiteX1" fmla="*/ 503709 w 1007417"/>
                  <a:gd name="connsiteY1" fmla="*/ 0 h 1007417"/>
                  <a:gd name="connsiteX2" fmla="*/ 1007418 w 1007417"/>
                  <a:gd name="connsiteY2" fmla="*/ 503709 h 1007417"/>
                  <a:gd name="connsiteX3" fmla="*/ 503709 w 1007417"/>
                  <a:gd name="connsiteY3" fmla="*/ 1007418 h 1007417"/>
                  <a:gd name="connsiteX4" fmla="*/ 0 w 1007417"/>
                  <a:gd name="connsiteY4" fmla="*/ 503709 h 1007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7417" h="1007417">
                    <a:moveTo>
                      <a:pt x="0" y="503709"/>
                    </a:moveTo>
                    <a:cubicBezTo>
                      <a:pt x="0" y="225518"/>
                      <a:pt x="225518" y="0"/>
                      <a:pt x="503709" y="0"/>
                    </a:cubicBezTo>
                    <a:cubicBezTo>
                      <a:pt x="781900" y="0"/>
                      <a:pt x="1007418" y="225518"/>
                      <a:pt x="1007418" y="503709"/>
                    </a:cubicBezTo>
                    <a:cubicBezTo>
                      <a:pt x="1007418" y="781900"/>
                      <a:pt x="781900" y="1007418"/>
                      <a:pt x="503709" y="1007418"/>
                    </a:cubicBezTo>
                    <a:cubicBezTo>
                      <a:pt x="225518" y="1007418"/>
                      <a:pt x="0" y="781900"/>
                      <a:pt x="0" y="50370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7" name="Group 28"/>
              <p:cNvGrpSpPr>
                <a:grpSpLocks noChangeAspect="1"/>
              </p:cNvGrpSpPr>
              <p:nvPr/>
            </p:nvGrpSpPr>
            <p:grpSpPr bwMode="auto">
              <a:xfrm>
                <a:off x="6969306" y="3649352"/>
                <a:ext cx="417282" cy="525508"/>
                <a:chOff x="4401" y="2266"/>
                <a:chExt cx="374" cy="471"/>
              </a:xfrm>
              <a:solidFill>
                <a:schemeClr val="bg1"/>
              </a:solidFill>
            </p:grpSpPr>
            <p:sp>
              <p:nvSpPr>
                <p:cNvPr id="18" name="Freeform 29"/>
                <p:cNvSpPr>
                  <a:spLocks/>
                </p:cNvSpPr>
                <p:nvPr/>
              </p:nvSpPr>
              <p:spPr bwMode="auto">
                <a:xfrm>
                  <a:off x="4538" y="2390"/>
                  <a:ext cx="85" cy="108"/>
                </a:xfrm>
                <a:custGeom>
                  <a:avLst/>
                  <a:gdLst>
                    <a:gd name="T0" fmla="*/ 0 w 35"/>
                    <a:gd name="T1" fmla="*/ 26 h 45"/>
                    <a:gd name="T2" fmla="*/ 3 w 35"/>
                    <a:gd name="T3" fmla="*/ 29 h 45"/>
                    <a:gd name="T4" fmla="*/ 3 w 35"/>
                    <a:gd name="T5" fmla="*/ 29 h 45"/>
                    <a:gd name="T6" fmla="*/ 17 w 35"/>
                    <a:gd name="T7" fmla="*/ 45 h 45"/>
                    <a:gd name="T8" fmla="*/ 32 w 35"/>
                    <a:gd name="T9" fmla="*/ 29 h 45"/>
                    <a:gd name="T10" fmla="*/ 32 w 35"/>
                    <a:gd name="T11" fmla="*/ 29 h 45"/>
                    <a:gd name="T12" fmla="*/ 35 w 35"/>
                    <a:gd name="T13" fmla="*/ 26 h 45"/>
                    <a:gd name="T14" fmla="*/ 33 w 35"/>
                    <a:gd name="T15" fmla="*/ 23 h 45"/>
                    <a:gd name="T16" fmla="*/ 34 w 35"/>
                    <a:gd name="T17" fmla="*/ 17 h 45"/>
                    <a:gd name="T18" fmla="*/ 17 w 35"/>
                    <a:gd name="T19" fmla="*/ 0 h 45"/>
                    <a:gd name="T20" fmla="*/ 1 w 35"/>
                    <a:gd name="T21" fmla="*/ 17 h 45"/>
                    <a:gd name="T22" fmla="*/ 2 w 35"/>
                    <a:gd name="T23" fmla="*/ 23 h 45"/>
                    <a:gd name="T24" fmla="*/ 0 w 35"/>
                    <a:gd name="T25" fmla="*/ 26 h 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35" h="45">
                      <a:moveTo>
                        <a:pt x="0" y="26"/>
                      </a:moveTo>
                      <a:cubicBezTo>
                        <a:pt x="0" y="28"/>
                        <a:pt x="1" y="29"/>
                        <a:pt x="3" y="29"/>
                      </a:cubicBezTo>
                      <a:cubicBezTo>
                        <a:pt x="3" y="29"/>
                        <a:pt x="3" y="29"/>
                        <a:pt x="3" y="29"/>
                      </a:cubicBezTo>
                      <a:cubicBezTo>
                        <a:pt x="3" y="37"/>
                        <a:pt x="10" y="45"/>
                        <a:pt x="17" y="45"/>
                      </a:cubicBezTo>
                      <a:cubicBezTo>
                        <a:pt x="25" y="45"/>
                        <a:pt x="31" y="37"/>
                        <a:pt x="32" y="29"/>
                      </a:cubicBezTo>
                      <a:cubicBezTo>
                        <a:pt x="32" y="29"/>
                        <a:pt x="32" y="29"/>
                        <a:pt x="32" y="29"/>
                      </a:cubicBezTo>
                      <a:cubicBezTo>
                        <a:pt x="33" y="29"/>
                        <a:pt x="35" y="28"/>
                        <a:pt x="35" y="26"/>
                      </a:cubicBezTo>
                      <a:cubicBezTo>
                        <a:pt x="35" y="25"/>
                        <a:pt x="34" y="24"/>
                        <a:pt x="33" y="23"/>
                      </a:cubicBezTo>
                      <a:cubicBezTo>
                        <a:pt x="34" y="21"/>
                        <a:pt x="34" y="19"/>
                        <a:pt x="34" y="17"/>
                      </a:cubicBezTo>
                      <a:cubicBezTo>
                        <a:pt x="34" y="8"/>
                        <a:pt x="26" y="0"/>
                        <a:pt x="17" y="0"/>
                      </a:cubicBezTo>
                      <a:cubicBezTo>
                        <a:pt x="8" y="0"/>
                        <a:pt x="1" y="8"/>
                        <a:pt x="1" y="17"/>
                      </a:cubicBezTo>
                      <a:cubicBezTo>
                        <a:pt x="1" y="19"/>
                        <a:pt x="1" y="21"/>
                        <a:pt x="2" y="23"/>
                      </a:cubicBezTo>
                      <a:cubicBezTo>
                        <a:pt x="1" y="24"/>
                        <a:pt x="0" y="25"/>
                        <a:pt x="0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Freeform 30"/>
                <p:cNvSpPr>
                  <a:spLocks/>
                </p:cNvSpPr>
                <p:nvPr/>
              </p:nvSpPr>
              <p:spPr bwMode="auto">
                <a:xfrm>
                  <a:off x="4490" y="2512"/>
                  <a:ext cx="178" cy="53"/>
                </a:xfrm>
                <a:custGeom>
                  <a:avLst/>
                  <a:gdLst>
                    <a:gd name="T0" fmla="*/ 2 w 74"/>
                    <a:gd name="T1" fmla="*/ 22 h 22"/>
                    <a:gd name="T2" fmla="*/ 73 w 74"/>
                    <a:gd name="T3" fmla="*/ 22 h 22"/>
                    <a:gd name="T4" fmla="*/ 74 w 74"/>
                    <a:gd name="T5" fmla="*/ 21 h 22"/>
                    <a:gd name="T6" fmla="*/ 74 w 74"/>
                    <a:gd name="T7" fmla="*/ 15 h 22"/>
                    <a:gd name="T8" fmla="*/ 74 w 74"/>
                    <a:gd name="T9" fmla="*/ 14 h 22"/>
                    <a:gd name="T10" fmla="*/ 50 w 74"/>
                    <a:gd name="T11" fmla="*/ 0 h 22"/>
                    <a:gd name="T12" fmla="*/ 49 w 74"/>
                    <a:gd name="T13" fmla="*/ 0 h 22"/>
                    <a:gd name="T14" fmla="*/ 48 w 74"/>
                    <a:gd name="T15" fmla="*/ 0 h 22"/>
                    <a:gd name="T16" fmla="*/ 47 w 74"/>
                    <a:gd name="T17" fmla="*/ 0 h 22"/>
                    <a:gd name="T18" fmla="*/ 37 w 74"/>
                    <a:gd name="T19" fmla="*/ 3 h 22"/>
                    <a:gd name="T20" fmla="*/ 27 w 74"/>
                    <a:gd name="T21" fmla="*/ 0 h 22"/>
                    <a:gd name="T22" fmla="*/ 26 w 74"/>
                    <a:gd name="T23" fmla="*/ 0 h 22"/>
                    <a:gd name="T24" fmla="*/ 26 w 74"/>
                    <a:gd name="T25" fmla="*/ 0 h 22"/>
                    <a:gd name="T26" fmla="*/ 25 w 74"/>
                    <a:gd name="T27" fmla="*/ 0 h 22"/>
                    <a:gd name="T28" fmla="*/ 1 w 74"/>
                    <a:gd name="T29" fmla="*/ 14 h 22"/>
                    <a:gd name="T30" fmla="*/ 0 w 74"/>
                    <a:gd name="T31" fmla="*/ 15 h 22"/>
                    <a:gd name="T32" fmla="*/ 0 w 74"/>
                    <a:gd name="T33" fmla="*/ 21 h 22"/>
                    <a:gd name="T34" fmla="*/ 2 w 74"/>
                    <a:gd name="T35" fmla="*/ 22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4" h="22">
                      <a:moveTo>
                        <a:pt x="2" y="22"/>
                      </a:moveTo>
                      <a:cubicBezTo>
                        <a:pt x="73" y="22"/>
                        <a:pt x="73" y="22"/>
                        <a:pt x="73" y="22"/>
                      </a:cubicBezTo>
                      <a:cubicBezTo>
                        <a:pt x="73" y="22"/>
                        <a:pt x="74" y="21"/>
                        <a:pt x="74" y="21"/>
                      </a:cubicBezTo>
                      <a:cubicBezTo>
                        <a:pt x="74" y="15"/>
                        <a:pt x="74" y="15"/>
                        <a:pt x="74" y="15"/>
                      </a:cubicBezTo>
                      <a:cubicBezTo>
                        <a:pt x="74" y="15"/>
                        <a:pt x="74" y="14"/>
                        <a:pt x="74" y="14"/>
                      </a:cubicBezTo>
                      <a:cubicBezTo>
                        <a:pt x="67" y="7"/>
                        <a:pt x="59" y="3"/>
                        <a:pt x="50" y="0"/>
                      </a:cubicBezTo>
                      <a:cubicBezTo>
                        <a:pt x="49" y="0"/>
                        <a:pt x="49" y="0"/>
                        <a:pt x="49" y="0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8" y="0"/>
                        <a:pt x="48" y="0"/>
                        <a:pt x="47" y="0"/>
                      </a:cubicBezTo>
                      <a:cubicBezTo>
                        <a:pt x="45" y="2"/>
                        <a:pt x="41" y="3"/>
                        <a:pt x="37" y="3"/>
                      </a:cubicBezTo>
                      <a:cubicBezTo>
                        <a:pt x="34" y="3"/>
                        <a:pt x="30" y="2"/>
                        <a:pt x="27" y="0"/>
                      </a:cubicBezTo>
                      <a:cubicBezTo>
                        <a:pt x="27" y="0"/>
                        <a:pt x="27" y="0"/>
                        <a:pt x="26" y="0"/>
                      </a:cubicBezTo>
                      <a:cubicBezTo>
                        <a:pt x="26" y="0"/>
                        <a:pt x="26" y="0"/>
                        <a:pt x="26" y="0"/>
                      </a:cubicBezTo>
                      <a:cubicBezTo>
                        <a:pt x="26" y="0"/>
                        <a:pt x="26" y="0"/>
                        <a:pt x="25" y="0"/>
                      </a:cubicBezTo>
                      <a:cubicBezTo>
                        <a:pt x="16" y="2"/>
                        <a:pt x="8" y="7"/>
                        <a:pt x="1" y="14"/>
                      </a:cubicBezTo>
                      <a:cubicBezTo>
                        <a:pt x="1" y="14"/>
                        <a:pt x="0" y="15"/>
                        <a:pt x="0" y="15"/>
                      </a:cubicBezTo>
                      <a:cubicBezTo>
                        <a:pt x="0" y="21"/>
                        <a:pt x="0" y="21"/>
                        <a:pt x="0" y="21"/>
                      </a:cubicBezTo>
                      <a:cubicBezTo>
                        <a:pt x="0" y="21"/>
                        <a:pt x="1" y="22"/>
                        <a:pt x="2" y="2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" name="Freeform 31"/>
                <p:cNvSpPr>
                  <a:spLocks/>
                </p:cNvSpPr>
                <p:nvPr/>
              </p:nvSpPr>
              <p:spPr bwMode="auto">
                <a:xfrm>
                  <a:off x="4476" y="2613"/>
                  <a:ext cx="207" cy="12"/>
                </a:xfrm>
                <a:custGeom>
                  <a:avLst/>
                  <a:gdLst>
                    <a:gd name="T0" fmla="*/ 84 w 86"/>
                    <a:gd name="T1" fmla="*/ 0 h 5"/>
                    <a:gd name="T2" fmla="*/ 3 w 86"/>
                    <a:gd name="T3" fmla="*/ 0 h 5"/>
                    <a:gd name="T4" fmla="*/ 0 w 86"/>
                    <a:gd name="T5" fmla="*/ 2 h 5"/>
                    <a:gd name="T6" fmla="*/ 3 w 86"/>
                    <a:gd name="T7" fmla="*/ 5 h 5"/>
                    <a:gd name="T8" fmla="*/ 84 w 86"/>
                    <a:gd name="T9" fmla="*/ 5 h 5"/>
                    <a:gd name="T10" fmla="*/ 86 w 86"/>
                    <a:gd name="T11" fmla="*/ 2 h 5"/>
                    <a:gd name="T12" fmla="*/ 84 w 86"/>
                    <a:gd name="T13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86" h="5">
                      <a:moveTo>
                        <a:pt x="84" y="0"/>
                      </a:move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" y="0"/>
                        <a:pt x="0" y="1"/>
                        <a:pt x="0" y="2"/>
                      </a:cubicBezTo>
                      <a:cubicBezTo>
                        <a:pt x="0" y="4"/>
                        <a:pt x="1" y="5"/>
                        <a:pt x="3" y="5"/>
                      </a:cubicBezTo>
                      <a:cubicBezTo>
                        <a:pt x="84" y="5"/>
                        <a:pt x="84" y="5"/>
                        <a:pt x="84" y="5"/>
                      </a:cubicBezTo>
                      <a:cubicBezTo>
                        <a:pt x="85" y="5"/>
                        <a:pt x="86" y="4"/>
                        <a:pt x="86" y="2"/>
                      </a:cubicBezTo>
                      <a:cubicBezTo>
                        <a:pt x="86" y="1"/>
                        <a:pt x="85" y="0"/>
                        <a:pt x="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" name="Freeform 32"/>
                <p:cNvSpPr>
                  <a:spLocks noEditPoints="1"/>
                </p:cNvSpPr>
                <p:nvPr/>
              </p:nvSpPr>
              <p:spPr bwMode="auto">
                <a:xfrm>
                  <a:off x="4401" y="2266"/>
                  <a:ext cx="374" cy="471"/>
                </a:xfrm>
                <a:custGeom>
                  <a:avLst/>
                  <a:gdLst>
                    <a:gd name="T0" fmla="*/ 153 w 155"/>
                    <a:gd name="T1" fmla="*/ 31 h 197"/>
                    <a:gd name="T2" fmla="*/ 124 w 155"/>
                    <a:gd name="T3" fmla="*/ 2 h 197"/>
                    <a:gd name="T4" fmla="*/ 120 w 155"/>
                    <a:gd name="T5" fmla="*/ 0 h 197"/>
                    <a:gd name="T6" fmla="*/ 6 w 155"/>
                    <a:gd name="T7" fmla="*/ 0 h 197"/>
                    <a:gd name="T8" fmla="*/ 0 w 155"/>
                    <a:gd name="T9" fmla="*/ 7 h 197"/>
                    <a:gd name="T10" fmla="*/ 0 w 155"/>
                    <a:gd name="T11" fmla="*/ 190 h 197"/>
                    <a:gd name="T12" fmla="*/ 6 w 155"/>
                    <a:gd name="T13" fmla="*/ 197 h 197"/>
                    <a:gd name="T14" fmla="*/ 148 w 155"/>
                    <a:gd name="T15" fmla="*/ 197 h 197"/>
                    <a:gd name="T16" fmla="*/ 155 w 155"/>
                    <a:gd name="T17" fmla="*/ 190 h 197"/>
                    <a:gd name="T18" fmla="*/ 155 w 155"/>
                    <a:gd name="T19" fmla="*/ 35 h 197"/>
                    <a:gd name="T20" fmla="*/ 153 w 155"/>
                    <a:gd name="T21" fmla="*/ 31 h 197"/>
                    <a:gd name="T22" fmla="*/ 13 w 155"/>
                    <a:gd name="T23" fmla="*/ 183 h 197"/>
                    <a:gd name="T24" fmla="*/ 13 w 155"/>
                    <a:gd name="T25" fmla="*/ 14 h 197"/>
                    <a:gd name="T26" fmla="*/ 116 w 155"/>
                    <a:gd name="T27" fmla="*/ 14 h 197"/>
                    <a:gd name="T28" fmla="*/ 116 w 155"/>
                    <a:gd name="T29" fmla="*/ 35 h 197"/>
                    <a:gd name="T30" fmla="*/ 120 w 155"/>
                    <a:gd name="T31" fmla="*/ 39 h 197"/>
                    <a:gd name="T32" fmla="*/ 142 w 155"/>
                    <a:gd name="T33" fmla="*/ 39 h 197"/>
                    <a:gd name="T34" fmla="*/ 142 w 155"/>
                    <a:gd name="T35" fmla="*/ 183 h 197"/>
                    <a:gd name="T36" fmla="*/ 13 w 155"/>
                    <a:gd name="T37" fmla="*/ 183 h 1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55" h="197">
                      <a:moveTo>
                        <a:pt x="153" y="31"/>
                      </a:moveTo>
                      <a:cubicBezTo>
                        <a:pt x="124" y="2"/>
                        <a:pt x="124" y="2"/>
                        <a:pt x="124" y="2"/>
                      </a:cubicBezTo>
                      <a:cubicBezTo>
                        <a:pt x="123" y="1"/>
                        <a:pt x="121" y="0"/>
                        <a:pt x="120" y="0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3" y="0"/>
                        <a:pt x="0" y="3"/>
                        <a:pt x="0" y="7"/>
                      </a:cubicBezTo>
                      <a:cubicBezTo>
                        <a:pt x="0" y="190"/>
                        <a:pt x="0" y="190"/>
                        <a:pt x="0" y="190"/>
                      </a:cubicBezTo>
                      <a:cubicBezTo>
                        <a:pt x="0" y="194"/>
                        <a:pt x="3" y="197"/>
                        <a:pt x="6" y="197"/>
                      </a:cubicBezTo>
                      <a:cubicBezTo>
                        <a:pt x="148" y="197"/>
                        <a:pt x="148" y="197"/>
                        <a:pt x="148" y="197"/>
                      </a:cubicBezTo>
                      <a:cubicBezTo>
                        <a:pt x="152" y="197"/>
                        <a:pt x="155" y="194"/>
                        <a:pt x="155" y="190"/>
                      </a:cubicBezTo>
                      <a:cubicBezTo>
                        <a:pt x="155" y="35"/>
                        <a:pt x="155" y="35"/>
                        <a:pt x="155" y="35"/>
                      </a:cubicBezTo>
                      <a:cubicBezTo>
                        <a:pt x="155" y="34"/>
                        <a:pt x="154" y="32"/>
                        <a:pt x="153" y="31"/>
                      </a:cubicBezTo>
                      <a:close/>
                      <a:moveTo>
                        <a:pt x="13" y="183"/>
                      </a:moveTo>
                      <a:cubicBezTo>
                        <a:pt x="13" y="14"/>
                        <a:pt x="13" y="14"/>
                        <a:pt x="13" y="14"/>
                      </a:cubicBezTo>
                      <a:cubicBezTo>
                        <a:pt x="116" y="14"/>
                        <a:pt x="116" y="14"/>
                        <a:pt x="116" y="14"/>
                      </a:cubicBezTo>
                      <a:cubicBezTo>
                        <a:pt x="116" y="35"/>
                        <a:pt x="116" y="35"/>
                        <a:pt x="116" y="35"/>
                      </a:cubicBezTo>
                      <a:cubicBezTo>
                        <a:pt x="116" y="38"/>
                        <a:pt x="118" y="39"/>
                        <a:pt x="120" y="39"/>
                      </a:cubicBezTo>
                      <a:cubicBezTo>
                        <a:pt x="142" y="39"/>
                        <a:pt x="142" y="39"/>
                        <a:pt x="142" y="39"/>
                      </a:cubicBezTo>
                      <a:cubicBezTo>
                        <a:pt x="142" y="183"/>
                        <a:pt x="142" y="183"/>
                        <a:pt x="142" y="183"/>
                      </a:cubicBezTo>
                      <a:lnTo>
                        <a:pt x="13" y="183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" name="圆角矩形 1"/>
          <p:cNvSpPr/>
          <p:nvPr/>
        </p:nvSpPr>
        <p:spPr>
          <a:xfrm>
            <a:off x="3553540" y="849822"/>
            <a:ext cx="5144059" cy="3801378"/>
          </a:xfrm>
          <a:prstGeom prst="roundRect">
            <a:avLst>
              <a:gd name="adj" fmla="val 5616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476188" y="177842"/>
            <a:ext cx="1672249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2.</a:t>
            </a: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研究内容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48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1800">
              <a:solidFill>
                <a:srgbClr val="FFFFFF"/>
              </a:solidFill>
              <a:sym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l="2859" r="13420"/>
          <a:stretch/>
        </p:blipFill>
        <p:spPr>
          <a:xfrm>
            <a:off x="3609716" y="1121349"/>
            <a:ext cx="5002903" cy="315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067168"/>
      </p:ext>
    </p:extLst>
  </p:cSld>
  <p:clrMapOvr>
    <a:masterClrMapping/>
  </p:clrMapOvr>
  <p:transition spd="slow" advClick="0" advTm="0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2114550" y="971550"/>
            <a:ext cx="685800" cy="800100"/>
          </a:xfrm>
          <a:prstGeom prst="rect">
            <a:avLst/>
          </a:prstGeom>
          <a:gradFill rotWithShape="0">
            <a:gsLst>
              <a:gs pos="0">
                <a:srgbClr val="FF99CC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00" b="1"/>
              <a:t>模型</a:t>
            </a:r>
          </a:p>
          <a:p>
            <a:pPr algn="ctr" eaLnBrk="1" hangingPunct="1"/>
            <a:r>
              <a:rPr lang="zh-CN" altLang="en-US" sz="2100" b="1"/>
              <a:t>求解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3143250" y="1143000"/>
            <a:ext cx="4171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/>
              <a:t>各种数学方法、软件和计算机技术</a:t>
            </a:r>
            <a:r>
              <a:rPr lang="en-US" altLang="zh-CN" sz="2100" b="1"/>
              <a:t>.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3143250" y="2000250"/>
            <a:ext cx="411480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100" b="1"/>
              <a:t>如结果的误差分析、统计分析、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100" b="1"/>
              <a:t>模型对数据的稳定性分析</a:t>
            </a:r>
            <a:r>
              <a:rPr lang="en-US" altLang="zh-CN" sz="2100" b="1"/>
              <a:t>.</a:t>
            </a:r>
          </a:p>
        </p:txBody>
      </p:sp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2114550" y="2000250"/>
            <a:ext cx="685800" cy="800100"/>
          </a:xfrm>
          <a:prstGeom prst="rect">
            <a:avLst/>
          </a:prstGeom>
          <a:gradFill rotWithShape="0">
            <a:gsLst>
              <a:gs pos="0">
                <a:srgbClr val="FF99CC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00" b="1"/>
              <a:t>模型</a:t>
            </a:r>
          </a:p>
          <a:p>
            <a:pPr algn="ctr" eaLnBrk="1" hangingPunct="1"/>
            <a:r>
              <a:rPr lang="zh-CN" altLang="en-US" sz="2100" b="1"/>
              <a:t>分析</a:t>
            </a:r>
          </a:p>
        </p:txBody>
      </p:sp>
      <p:sp>
        <p:nvSpPr>
          <p:cNvPr id="25609" name="Rectangle 9"/>
          <p:cNvSpPr>
            <a:spLocks noChangeArrowheads="1"/>
          </p:cNvSpPr>
          <p:nvPr/>
        </p:nvSpPr>
        <p:spPr bwMode="auto">
          <a:xfrm>
            <a:off x="2114550" y="3086100"/>
            <a:ext cx="685800" cy="800100"/>
          </a:xfrm>
          <a:prstGeom prst="rect">
            <a:avLst/>
          </a:prstGeom>
          <a:gradFill rotWithShape="0">
            <a:gsLst>
              <a:gs pos="0">
                <a:srgbClr val="FF99CC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00" b="1"/>
              <a:t>模型</a:t>
            </a:r>
          </a:p>
          <a:p>
            <a:pPr algn="ctr" eaLnBrk="1" hangingPunct="1"/>
            <a:r>
              <a:rPr lang="zh-CN" altLang="en-US" sz="2100" b="1"/>
              <a:t>检验</a:t>
            </a:r>
          </a:p>
        </p:txBody>
      </p:sp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3200400" y="3086100"/>
            <a:ext cx="5130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100" b="1" dirty="0"/>
              <a:t>与实际现象、数据比较，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100" b="1" dirty="0"/>
              <a:t>检验模型的合理性、适用性</a:t>
            </a:r>
            <a:r>
              <a:rPr lang="en-US" altLang="zh-CN" sz="2100" b="1" dirty="0"/>
              <a:t>.</a:t>
            </a:r>
          </a:p>
        </p:txBody>
      </p:sp>
      <p:sp>
        <p:nvSpPr>
          <p:cNvPr id="25611" name="Rectangle 11"/>
          <p:cNvSpPr>
            <a:spLocks noChangeArrowheads="1"/>
          </p:cNvSpPr>
          <p:nvPr/>
        </p:nvSpPr>
        <p:spPr bwMode="auto">
          <a:xfrm>
            <a:off x="2114550" y="4114800"/>
            <a:ext cx="1485900" cy="457200"/>
          </a:xfrm>
          <a:prstGeom prst="rect">
            <a:avLst/>
          </a:prstGeom>
          <a:gradFill rotWithShape="0">
            <a:gsLst>
              <a:gs pos="0">
                <a:srgbClr val="FF99CC"/>
              </a:gs>
              <a:gs pos="100000">
                <a:srgbClr val="FFFF99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100" b="1"/>
              <a:t>模型应用</a:t>
            </a:r>
          </a:p>
        </p:txBody>
      </p:sp>
      <p:sp>
        <p:nvSpPr>
          <p:cNvPr id="2" name="Rectangle 14"/>
          <p:cNvSpPr>
            <a:spLocks noChangeArrowheads="1"/>
          </p:cNvSpPr>
          <p:nvPr/>
        </p:nvSpPr>
        <p:spPr bwMode="auto">
          <a:xfrm>
            <a:off x="3358800" y="314325"/>
            <a:ext cx="3481388" cy="5143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数学建模的一般步骤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476188" y="177842"/>
            <a:ext cx="169308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defTabSz="685800">
              <a:spcBef>
                <a:spcPts val="0"/>
              </a:spcBef>
              <a:buNone/>
              <a:defRPr/>
            </a:pPr>
            <a:r>
              <a:rPr lang="en-US" altLang="zh-CN" sz="24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3.</a:t>
            </a:r>
            <a:r>
              <a:rPr lang="zh-CN" altLang="en-US" sz="24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考核</a:t>
            </a:r>
            <a:r>
              <a:rPr lang="zh-CN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标准</a:t>
            </a:r>
          </a:p>
        </p:txBody>
      </p:sp>
      <p:sp>
        <p:nvSpPr>
          <p:cNvPr id="11" name="等腰三角形 10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1800">
              <a:solidFill>
                <a:srgbClr val="FFFFFF"/>
              </a:solidFill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2153430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026"/>
          <p:cNvSpPr txBox="1">
            <a:spLocks noChangeArrowheads="1"/>
          </p:cNvSpPr>
          <p:nvPr/>
        </p:nvSpPr>
        <p:spPr bwMode="auto">
          <a:xfrm>
            <a:off x="3251260" y="247831"/>
            <a:ext cx="2971800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>
                <a:ea typeface="楷体_GB2312" pitchFamily="49" charset="-122"/>
              </a:rPr>
              <a:t>数学建模的全过程</a:t>
            </a:r>
          </a:p>
        </p:txBody>
      </p:sp>
      <p:sp>
        <p:nvSpPr>
          <p:cNvPr id="43011" name="Rectangle 1027"/>
          <p:cNvSpPr>
            <a:spLocks noChangeArrowheads="1"/>
          </p:cNvSpPr>
          <p:nvPr/>
        </p:nvSpPr>
        <p:spPr bwMode="auto">
          <a:xfrm>
            <a:off x="2343150" y="925116"/>
            <a:ext cx="1657350" cy="5715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/>
              <a:t>现实对象的信息</a:t>
            </a:r>
          </a:p>
        </p:txBody>
      </p:sp>
      <p:sp>
        <p:nvSpPr>
          <p:cNvPr id="43012" name="Rectangle 1028"/>
          <p:cNvSpPr>
            <a:spLocks noChangeArrowheads="1"/>
          </p:cNvSpPr>
          <p:nvPr/>
        </p:nvSpPr>
        <p:spPr bwMode="auto">
          <a:xfrm>
            <a:off x="5372100" y="925116"/>
            <a:ext cx="1657350" cy="5715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/>
              <a:t>数学模型</a:t>
            </a:r>
          </a:p>
        </p:txBody>
      </p:sp>
      <p:sp>
        <p:nvSpPr>
          <p:cNvPr id="43013" name="Rectangle 1029"/>
          <p:cNvSpPr>
            <a:spLocks noChangeArrowheads="1"/>
          </p:cNvSpPr>
          <p:nvPr/>
        </p:nvSpPr>
        <p:spPr bwMode="auto">
          <a:xfrm>
            <a:off x="2343150" y="2000250"/>
            <a:ext cx="1657350" cy="571500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/>
              <a:t>现实对象的解答</a:t>
            </a:r>
          </a:p>
        </p:txBody>
      </p:sp>
      <p:sp>
        <p:nvSpPr>
          <p:cNvPr id="43014" name="Rectangle 1030"/>
          <p:cNvSpPr>
            <a:spLocks noChangeArrowheads="1"/>
          </p:cNvSpPr>
          <p:nvPr/>
        </p:nvSpPr>
        <p:spPr bwMode="auto">
          <a:xfrm>
            <a:off x="5314950" y="2000250"/>
            <a:ext cx="1657350" cy="5715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 b="1"/>
              <a:t>数学模型的解答</a:t>
            </a:r>
          </a:p>
        </p:txBody>
      </p:sp>
      <p:grpSp>
        <p:nvGrpSpPr>
          <p:cNvPr id="2" name="Group 1031"/>
          <p:cNvGrpSpPr>
            <a:grpSpLocks/>
          </p:cNvGrpSpPr>
          <p:nvPr/>
        </p:nvGrpSpPr>
        <p:grpSpPr bwMode="auto">
          <a:xfrm>
            <a:off x="4000500" y="867967"/>
            <a:ext cx="1371600" cy="369094"/>
            <a:chOff x="2400" y="576"/>
            <a:chExt cx="1152" cy="310"/>
          </a:xfrm>
        </p:grpSpPr>
        <p:sp>
          <p:nvSpPr>
            <p:cNvPr id="26660" name="Line 1032"/>
            <p:cNvSpPr>
              <a:spLocks noChangeShapeType="1"/>
            </p:cNvSpPr>
            <p:nvPr/>
          </p:nvSpPr>
          <p:spPr bwMode="auto">
            <a:xfrm>
              <a:off x="2400" y="864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26661" name="Text Box 1033"/>
            <p:cNvSpPr txBox="1">
              <a:spLocks noChangeArrowheads="1"/>
            </p:cNvSpPr>
            <p:nvPr/>
          </p:nvSpPr>
          <p:spPr bwMode="auto">
            <a:xfrm>
              <a:off x="2688" y="576"/>
              <a:ext cx="720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ea typeface="楷体_GB2312" pitchFamily="49" charset="-122"/>
                </a:rPr>
                <a:t>表述</a:t>
              </a:r>
            </a:p>
          </p:txBody>
        </p:sp>
      </p:grpSp>
      <p:grpSp>
        <p:nvGrpSpPr>
          <p:cNvPr id="3" name="Group 1034"/>
          <p:cNvGrpSpPr>
            <a:grpSpLocks/>
          </p:cNvGrpSpPr>
          <p:nvPr/>
        </p:nvGrpSpPr>
        <p:grpSpPr bwMode="auto">
          <a:xfrm>
            <a:off x="5429250" y="1485900"/>
            <a:ext cx="742950" cy="514350"/>
            <a:chOff x="3600" y="1104"/>
            <a:chExt cx="624" cy="576"/>
          </a:xfrm>
        </p:grpSpPr>
        <p:sp>
          <p:nvSpPr>
            <p:cNvPr id="26658" name="Line 1035"/>
            <p:cNvSpPr>
              <a:spLocks noChangeShapeType="1"/>
            </p:cNvSpPr>
            <p:nvPr/>
          </p:nvSpPr>
          <p:spPr bwMode="auto">
            <a:xfrm>
              <a:off x="4224" y="110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26659" name="Text Box 1036"/>
            <p:cNvSpPr txBox="1">
              <a:spLocks noChangeArrowheads="1"/>
            </p:cNvSpPr>
            <p:nvPr/>
          </p:nvSpPr>
          <p:spPr bwMode="auto">
            <a:xfrm>
              <a:off x="3600" y="1248"/>
              <a:ext cx="624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ea typeface="楷体_GB2312" pitchFamily="49" charset="-122"/>
                </a:rPr>
                <a:t>求解</a:t>
              </a:r>
            </a:p>
          </p:txBody>
        </p:sp>
      </p:grpSp>
      <p:grpSp>
        <p:nvGrpSpPr>
          <p:cNvPr id="4" name="Group 1037"/>
          <p:cNvGrpSpPr>
            <a:grpSpLocks/>
          </p:cNvGrpSpPr>
          <p:nvPr/>
        </p:nvGrpSpPr>
        <p:grpSpPr bwMode="auto">
          <a:xfrm>
            <a:off x="4000500" y="2286001"/>
            <a:ext cx="1314450" cy="369094"/>
            <a:chOff x="2400" y="1920"/>
            <a:chExt cx="1104" cy="310"/>
          </a:xfrm>
        </p:grpSpPr>
        <p:sp>
          <p:nvSpPr>
            <p:cNvPr id="26656" name="Line 1038"/>
            <p:cNvSpPr>
              <a:spLocks noChangeShapeType="1"/>
            </p:cNvSpPr>
            <p:nvPr/>
          </p:nvSpPr>
          <p:spPr bwMode="auto">
            <a:xfrm flipH="1">
              <a:off x="2400" y="19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26657" name="Text Box 1039"/>
            <p:cNvSpPr txBox="1">
              <a:spLocks noChangeArrowheads="1"/>
            </p:cNvSpPr>
            <p:nvPr/>
          </p:nvSpPr>
          <p:spPr bwMode="auto">
            <a:xfrm>
              <a:off x="2736" y="1920"/>
              <a:ext cx="67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ea typeface="楷体_GB2312" pitchFamily="49" charset="-122"/>
                </a:rPr>
                <a:t>解释</a:t>
              </a:r>
            </a:p>
          </p:txBody>
        </p:sp>
      </p:grpSp>
      <p:grpSp>
        <p:nvGrpSpPr>
          <p:cNvPr id="5" name="Group 1040"/>
          <p:cNvGrpSpPr>
            <a:grpSpLocks/>
          </p:cNvGrpSpPr>
          <p:nvPr/>
        </p:nvGrpSpPr>
        <p:grpSpPr bwMode="auto">
          <a:xfrm>
            <a:off x="2571750" y="1485900"/>
            <a:ext cx="742950" cy="514350"/>
            <a:chOff x="1200" y="1104"/>
            <a:chExt cx="528" cy="576"/>
          </a:xfrm>
        </p:grpSpPr>
        <p:sp>
          <p:nvSpPr>
            <p:cNvPr id="26654" name="Line 1041"/>
            <p:cNvSpPr>
              <a:spLocks noChangeShapeType="1"/>
            </p:cNvSpPr>
            <p:nvPr/>
          </p:nvSpPr>
          <p:spPr bwMode="auto">
            <a:xfrm flipV="1">
              <a:off x="1680" y="110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050"/>
            </a:p>
          </p:txBody>
        </p:sp>
        <p:sp>
          <p:nvSpPr>
            <p:cNvPr id="26655" name="Text Box 1042"/>
            <p:cNvSpPr txBox="1">
              <a:spLocks noChangeArrowheads="1"/>
            </p:cNvSpPr>
            <p:nvPr/>
          </p:nvSpPr>
          <p:spPr bwMode="auto">
            <a:xfrm>
              <a:off x="1200" y="1248"/>
              <a:ext cx="528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1800" b="1">
                  <a:ea typeface="楷体_GB2312" pitchFamily="49" charset="-122"/>
                </a:rPr>
                <a:t>验证</a:t>
              </a:r>
            </a:p>
          </p:txBody>
        </p:sp>
      </p:grpSp>
      <p:sp>
        <p:nvSpPr>
          <p:cNvPr id="43027" name="Text Box 1043"/>
          <p:cNvSpPr txBox="1">
            <a:spLocks noChangeArrowheads="1"/>
          </p:cNvSpPr>
          <p:nvPr/>
        </p:nvSpPr>
        <p:spPr bwMode="auto">
          <a:xfrm>
            <a:off x="4229100" y="1210866"/>
            <a:ext cx="9715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1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sz="21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归纳</a:t>
            </a:r>
            <a:r>
              <a:rPr lang="en-US" altLang="zh-CN" sz="21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</p:txBody>
      </p:sp>
      <p:sp>
        <p:nvSpPr>
          <p:cNvPr id="43028" name="Text Box 1044"/>
          <p:cNvSpPr txBox="1">
            <a:spLocks noChangeArrowheads="1"/>
          </p:cNvSpPr>
          <p:nvPr/>
        </p:nvSpPr>
        <p:spPr bwMode="auto">
          <a:xfrm>
            <a:off x="6115050" y="1532335"/>
            <a:ext cx="9715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1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lang="zh-CN" altLang="en-US" sz="21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演绎</a:t>
            </a:r>
            <a:r>
              <a:rPr lang="en-US" altLang="zh-CN" sz="2100">
                <a:solidFill>
                  <a:srgbClr val="FF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</p:txBody>
      </p:sp>
      <p:sp>
        <p:nvSpPr>
          <p:cNvPr id="43029" name="Text Box 1045"/>
          <p:cNvSpPr txBox="1">
            <a:spLocks noChangeArrowheads="1"/>
          </p:cNvSpPr>
          <p:nvPr/>
        </p:nvSpPr>
        <p:spPr bwMode="auto">
          <a:xfrm>
            <a:off x="1223963" y="2800350"/>
            <a:ext cx="800100" cy="369332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 dirty="0">
                <a:solidFill>
                  <a:schemeClr val="bg1"/>
                </a:solidFill>
                <a:ea typeface="楷体_GB2312" pitchFamily="49" charset="-122"/>
              </a:rPr>
              <a:t>表述</a:t>
            </a:r>
          </a:p>
        </p:txBody>
      </p:sp>
      <p:sp>
        <p:nvSpPr>
          <p:cNvPr id="43030" name="Text Box 1046"/>
          <p:cNvSpPr txBox="1">
            <a:spLocks noChangeArrowheads="1"/>
          </p:cNvSpPr>
          <p:nvPr/>
        </p:nvSpPr>
        <p:spPr bwMode="auto">
          <a:xfrm>
            <a:off x="1223963" y="3200400"/>
            <a:ext cx="800100" cy="36933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ea typeface="楷体_GB2312" pitchFamily="49" charset="-122"/>
              </a:rPr>
              <a:t>求解</a:t>
            </a:r>
          </a:p>
        </p:txBody>
      </p:sp>
      <p:sp>
        <p:nvSpPr>
          <p:cNvPr id="43031" name="Text Box 1047"/>
          <p:cNvSpPr txBox="1">
            <a:spLocks noChangeArrowheads="1"/>
          </p:cNvSpPr>
          <p:nvPr/>
        </p:nvSpPr>
        <p:spPr bwMode="auto">
          <a:xfrm>
            <a:off x="1223963" y="3611166"/>
            <a:ext cx="800100" cy="369332"/>
          </a:xfrm>
          <a:prstGeom prst="rect">
            <a:avLst/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ea typeface="楷体_GB2312" pitchFamily="49" charset="-122"/>
              </a:rPr>
              <a:t>解释</a:t>
            </a:r>
          </a:p>
        </p:txBody>
      </p:sp>
      <p:sp>
        <p:nvSpPr>
          <p:cNvPr id="43032" name="Text Box 1048"/>
          <p:cNvSpPr txBox="1">
            <a:spLocks noChangeArrowheads="1"/>
          </p:cNvSpPr>
          <p:nvPr/>
        </p:nvSpPr>
        <p:spPr bwMode="auto">
          <a:xfrm>
            <a:off x="1223963" y="4057650"/>
            <a:ext cx="800100" cy="36933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ea typeface="楷体_GB2312" pitchFamily="49" charset="-122"/>
              </a:rPr>
              <a:t>验证</a:t>
            </a:r>
          </a:p>
        </p:txBody>
      </p:sp>
      <p:sp>
        <p:nvSpPr>
          <p:cNvPr id="43033" name="Text Box 1049"/>
          <p:cNvSpPr txBox="1">
            <a:spLocks noChangeArrowheads="1"/>
          </p:cNvSpPr>
          <p:nvPr/>
        </p:nvSpPr>
        <p:spPr bwMode="auto">
          <a:xfrm>
            <a:off x="1980010" y="2800350"/>
            <a:ext cx="615672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/>
              <a:t>根据建模目的和信息将实际问题“翻译”成数学问题</a:t>
            </a:r>
            <a:r>
              <a:rPr lang="en-US" altLang="zh-CN" sz="1800" b="1"/>
              <a:t>.</a:t>
            </a:r>
          </a:p>
        </p:txBody>
      </p:sp>
      <p:sp>
        <p:nvSpPr>
          <p:cNvPr id="43034" name="Text Box 1050"/>
          <p:cNvSpPr txBox="1">
            <a:spLocks noChangeArrowheads="1"/>
          </p:cNvSpPr>
          <p:nvPr/>
        </p:nvSpPr>
        <p:spPr bwMode="auto">
          <a:xfrm>
            <a:off x="1980010" y="3200400"/>
            <a:ext cx="5200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/>
              <a:t>选择适当的数学方法求得数学模型的解答</a:t>
            </a:r>
            <a:r>
              <a:rPr lang="en-US" altLang="zh-CN" sz="1800" b="1"/>
              <a:t>.</a:t>
            </a:r>
          </a:p>
        </p:txBody>
      </p:sp>
      <p:sp>
        <p:nvSpPr>
          <p:cNvPr id="43035" name="Text Box 1051"/>
          <p:cNvSpPr txBox="1">
            <a:spLocks noChangeArrowheads="1"/>
          </p:cNvSpPr>
          <p:nvPr/>
        </p:nvSpPr>
        <p:spPr bwMode="auto">
          <a:xfrm>
            <a:off x="1980010" y="3611166"/>
            <a:ext cx="5143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/>
              <a:t>将数学语言表述的解答“翻译”回实际对象</a:t>
            </a:r>
            <a:r>
              <a:rPr lang="en-US" altLang="zh-CN" sz="1800" b="1"/>
              <a:t>.</a:t>
            </a:r>
          </a:p>
        </p:txBody>
      </p:sp>
      <p:sp>
        <p:nvSpPr>
          <p:cNvPr id="43036" name="Text Box 1052"/>
          <p:cNvSpPr txBox="1">
            <a:spLocks noChangeArrowheads="1"/>
          </p:cNvSpPr>
          <p:nvPr/>
        </p:nvSpPr>
        <p:spPr bwMode="auto">
          <a:xfrm>
            <a:off x="1980010" y="4057650"/>
            <a:ext cx="50863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/>
              <a:t>用现实对象的信息检验得到的解答</a:t>
            </a:r>
            <a:r>
              <a:rPr lang="en-US" altLang="zh-CN" sz="1800" b="1"/>
              <a:t>.</a:t>
            </a:r>
          </a:p>
        </p:txBody>
      </p:sp>
      <p:sp>
        <p:nvSpPr>
          <p:cNvPr id="43037" name="Text Box 1053"/>
          <p:cNvSpPr txBox="1">
            <a:spLocks noChangeArrowheads="1"/>
          </p:cNvSpPr>
          <p:nvPr/>
        </p:nvSpPr>
        <p:spPr bwMode="auto">
          <a:xfrm>
            <a:off x="2498400" y="4462463"/>
            <a:ext cx="112705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3300"/>
                </a:solidFill>
                <a:ea typeface="隶书" panose="02010509060101010101" pitchFamily="49" charset="-122"/>
              </a:rPr>
              <a:t>实践</a:t>
            </a:r>
          </a:p>
        </p:txBody>
      </p:sp>
      <p:sp>
        <p:nvSpPr>
          <p:cNvPr id="43038" name="Text Box 1054"/>
          <p:cNvSpPr txBox="1">
            <a:spLocks noChangeArrowheads="1"/>
          </p:cNvSpPr>
          <p:nvPr/>
        </p:nvSpPr>
        <p:spPr bwMode="auto">
          <a:xfrm>
            <a:off x="1600200" y="1028700"/>
            <a:ext cx="400050" cy="1200329"/>
          </a:xfrm>
          <a:prstGeom prst="rect">
            <a:avLst/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ea typeface="楷体_GB2312" pitchFamily="49" charset="-122"/>
              </a:rPr>
              <a:t>现实世界</a:t>
            </a:r>
          </a:p>
        </p:txBody>
      </p:sp>
      <p:sp>
        <p:nvSpPr>
          <p:cNvPr id="43039" name="Text Box 1055"/>
          <p:cNvSpPr txBox="1">
            <a:spLocks noChangeArrowheads="1"/>
          </p:cNvSpPr>
          <p:nvPr/>
        </p:nvSpPr>
        <p:spPr bwMode="auto">
          <a:xfrm>
            <a:off x="7315200" y="1028700"/>
            <a:ext cx="457200" cy="1200329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800" b="1">
                <a:ea typeface="楷体_GB2312" pitchFamily="49" charset="-122"/>
              </a:rPr>
              <a:t>数学世界</a:t>
            </a:r>
          </a:p>
        </p:txBody>
      </p:sp>
      <p:grpSp>
        <p:nvGrpSpPr>
          <p:cNvPr id="6" name="Group 1056"/>
          <p:cNvGrpSpPr>
            <a:grpSpLocks/>
          </p:cNvGrpSpPr>
          <p:nvPr/>
        </p:nvGrpSpPr>
        <p:grpSpPr bwMode="auto">
          <a:xfrm>
            <a:off x="3417094" y="4462464"/>
            <a:ext cx="1407013" cy="461963"/>
            <a:chOff x="1536" y="3936"/>
            <a:chExt cx="1038" cy="388"/>
          </a:xfrm>
        </p:grpSpPr>
        <p:sp>
          <p:nvSpPr>
            <p:cNvPr id="26652" name="Text Box 1057"/>
            <p:cNvSpPr txBox="1">
              <a:spLocks noChangeArrowheads="1"/>
            </p:cNvSpPr>
            <p:nvPr/>
          </p:nvSpPr>
          <p:spPr bwMode="auto">
            <a:xfrm>
              <a:off x="1776" y="3936"/>
              <a:ext cx="79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FF3300"/>
                  </a:solidFill>
                  <a:ea typeface="隶书" panose="02010509060101010101" pitchFamily="49" charset="-122"/>
                </a:rPr>
                <a:t>理论</a:t>
              </a:r>
            </a:p>
          </p:txBody>
        </p:sp>
        <p:sp>
          <p:nvSpPr>
            <p:cNvPr id="26653" name="AutoShape 1058"/>
            <p:cNvSpPr>
              <a:spLocks noChangeArrowheads="1"/>
            </p:cNvSpPr>
            <p:nvPr/>
          </p:nvSpPr>
          <p:spPr bwMode="auto">
            <a:xfrm>
              <a:off x="1536" y="4032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</p:grpSp>
      <p:grpSp>
        <p:nvGrpSpPr>
          <p:cNvPr id="7" name="Group 1059"/>
          <p:cNvGrpSpPr>
            <a:grpSpLocks/>
          </p:cNvGrpSpPr>
          <p:nvPr/>
        </p:nvGrpSpPr>
        <p:grpSpPr bwMode="auto">
          <a:xfrm>
            <a:off x="4551760" y="4457704"/>
            <a:ext cx="1671300" cy="831057"/>
            <a:chOff x="2400" y="3936"/>
            <a:chExt cx="912" cy="698"/>
          </a:xfrm>
        </p:grpSpPr>
        <p:sp>
          <p:nvSpPr>
            <p:cNvPr id="26650" name="Text Box 1060"/>
            <p:cNvSpPr txBox="1">
              <a:spLocks noChangeArrowheads="1"/>
            </p:cNvSpPr>
            <p:nvPr/>
          </p:nvSpPr>
          <p:spPr bwMode="auto">
            <a:xfrm>
              <a:off x="2736" y="3936"/>
              <a:ext cx="576" cy="6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FF3300"/>
                  </a:solidFill>
                  <a:ea typeface="隶书" panose="02010509060101010101" pitchFamily="49" charset="-122"/>
                </a:rPr>
                <a:t>实践</a:t>
              </a:r>
            </a:p>
          </p:txBody>
        </p:sp>
        <p:sp>
          <p:nvSpPr>
            <p:cNvPr id="26651" name="AutoShape 1061"/>
            <p:cNvSpPr>
              <a:spLocks noChangeArrowheads="1"/>
            </p:cNvSpPr>
            <p:nvPr/>
          </p:nvSpPr>
          <p:spPr bwMode="auto">
            <a:xfrm>
              <a:off x="2400" y="4032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800"/>
            </a:p>
          </p:txBody>
        </p:sp>
      </p:grp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476188" y="177842"/>
            <a:ext cx="169308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defTabSz="685800">
              <a:spcBef>
                <a:spcPts val="0"/>
              </a:spcBef>
              <a:buNone/>
              <a:defRPr/>
            </a:pPr>
            <a:r>
              <a:rPr lang="en-US" altLang="zh-CN" sz="24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3.</a:t>
            </a:r>
            <a:r>
              <a:rPr lang="zh-CN" altLang="en-US" sz="24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考核</a:t>
            </a:r>
            <a:r>
              <a:rPr lang="zh-CN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标准</a:t>
            </a:r>
          </a:p>
        </p:txBody>
      </p:sp>
      <p:sp>
        <p:nvSpPr>
          <p:cNvPr id="39" name="等腰三角形 38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1800">
              <a:solidFill>
                <a:srgbClr val="FFFFFF"/>
              </a:solidFill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815443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1322732" y="1240078"/>
            <a:ext cx="289374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>
                <a:solidFill>
                  <a:srgbClr val="000000"/>
                </a:solidFill>
              </a:rPr>
              <a:t>模型的</a:t>
            </a:r>
            <a:r>
              <a:rPr lang="zh-CN" altLang="en-US" sz="2100" b="1">
                <a:solidFill>
                  <a:srgbClr val="FF0000"/>
                </a:solidFill>
              </a:rPr>
              <a:t>逼真性</a:t>
            </a:r>
            <a:r>
              <a:rPr lang="zh-CN" altLang="en-US" sz="2100" b="1">
                <a:solidFill>
                  <a:srgbClr val="000000"/>
                </a:solidFill>
              </a:rPr>
              <a:t>和</a:t>
            </a:r>
            <a:r>
              <a:rPr lang="zh-CN" altLang="en-US" sz="2100" b="1">
                <a:solidFill>
                  <a:srgbClr val="FF0000"/>
                </a:solidFill>
              </a:rPr>
              <a:t>可行性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1585878" y="1731397"/>
            <a:ext cx="23674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 dirty="0">
                <a:solidFill>
                  <a:srgbClr val="000000"/>
                </a:solidFill>
              </a:rPr>
              <a:t>模型的</a:t>
            </a:r>
            <a:r>
              <a:rPr lang="zh-CN" altLang="en-US" sz="2100" b="1" dirty="0">
                <a:solidFill>
                  <a:srgbClr val="FF0000"/>
                </a:solidFill>
              </a:rPr>
              <a:t>渐进性</a:t>
            </a:r>
          </a:p>
        </p:txBody>
      </p:sp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585878" y="2220164"/>
            <a:ext cx="203616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 dirty="0">
                <a:solidFill>
                  <a:srgbClr val="000000"/>
                </a:solidFill>
              </a:rPr>
              <a:t>模型的</a:t>
            </a:r>
            <a:r>
              <a:rPr lang="zh-CN" altLang="en-US" sz="2100" b="1" dirty="0">
                <a:solidFill>
                  <a:srgbClr val="FF0000"/>
                </a:solidFill>
              </a:rPr>
              <a:t>强健性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1541021" y="2693695"/>
            <a:ext cx="208101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 dirty="0">
                <a:solidFill>
                  <a:srgbClr val="000000"/>
                </a:solidFill>
              </a:rPr>
              <a:t>模型的</a:t>
            </a:r>
            <a:r>
              <a:rPr lang="zh-CN" altLang="en-US" sz="2100" b="1" dirty="0">
                <a:solidFill>
                  <a:srgbClr val="FF0000"/>
                </a:solidFill>
              </a:rPr>
              <a:t>可转移性</a:t>
            </a:r>
          </a:p>
        </p:txBody>
      </p:sp>
      <p:sp>
        <p:nvSpPr>
          <p:cNvPr id="44039" name="Text Box 7"/>
          <p:cNvSpPr txBox="1">
            <a:spLocks noChangeArrowheads="1"/>
          </p:cNvSpPr>
          <p:nvPr/>
        </p:nvSpPr>
        <p:spPr bwMode="auto">
          <a:xfrm>
            <a:off x="5134429" y="1259816"/>
            <a:ext cx="208101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 dirty="0">
                <a:solidFill>
                  <a:srgbClr val="000000"/>
                </a:solidFill>
              </a:rPr>
              <a:t>模型的</a:t>
            </a:r>
            <a:r>
              <a:rPr lang="zh-CN" altLang="en-US" sz="2100" b="1" dirty="0">
                <a:solidFill>
                  <a:srgbClr val="FF0000"/>
                </a:solidFill>
              </a:rPr>
              <a:t>非预制性</a:t>
            </a:r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5134429" y="1731397"/>
            <a:ext cx="181011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 dirty="0">
                <a:solidFill>
                  <a:srgbClr val="000000"/>
                </a:solidFill>
              </a:rPr>
              <a:t>模型的</a:t>
            </a:r>
            <a:r>
              <a:rPr lang="zh-CN" altLang="en-US" sz="2100" b="1" dirty="0">
                <a:solidFill>
                  <a:srgbClr val="FF0000"/>
                </a:solidFill>
              </a:rPr>
              <a:t>条理性</a:t>
            </a:r>
          </a:p>
        </p:txBody>
      </p:sp>
      <p:sp>
        <p:nvSpPr>
          <p:cNvPr id="44041" name="Text Box 9"/>
          <p:cNvSpPr txBox="1">
            <a:spLocks noChangeArrowheads="1"/>
          </p:cNvSpPr>
          <p:nvPr/>
        </p:nvSpPr>
        <p:spPr bwMode="auto">
          <a:xfrm>
            <a:off x="5153479" y="2176853"/>
            <a:ext cx="181011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 dirty="0">
                <a:solidFill>
                  <a:srgbClr val="000000"/>
                </a:solidFill>
              </a:rPr>
              <a:t>模型的</a:t>
            </a:r>
            <a:r>
              <a:rPr lang="zh-CN" altLang="en-US" sz="2100" b="1" dirty="0">
                <a:solidFill>
                  <a:srgbClr val="FF0000"/>
                </a:solidFill>
              </a:rPr>
              <a:t>技艺性</a:t>
            </a:r>
          </a:p>
        </p:txBody>
      </p:sp>
      <p:sp>
        <p:nvSpPr>
          <p:cNvPr id="44042" name="Text Box 10"/>
          <p:cNvSpPr txBox="1">
            <a:spLocks noChangeArrowheads="1"/>
          </p:cNvSpPr>
          <p:nvPr/>
        </p:nvSpPr>
        <p:spPr bwMode="auto">
          <a:xfrm>
            <a:off x="5153479" y="2622310"/>
            <a:ext cx="181011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 dirty="0">
                <a:solidFill>
                  <a:srgbClr val="000000"/>
                </a:solidFill>
              </a:rPr>
              <a:t>模型</a:t>
            </a:r>
            <a:r>
              <a:rPr lang="zh-CN" altLang="en-US" sz="2100" b="1" dirty="0" smtClean="0">
                <a:solidFill>
                  <a:srgbClr val="000000"/>
                </a:solidFill>
              </a:rPr>
              <a:t>的</a:t>
            </a:r>
            <a:r>
              <a:rPr lang="zh-CN" altLang="en-US" sz="2100" b="1" dirty="0" smtClean="0">
                <a:solidFill>
                  <a:srgbClr val="FF0000"/>
                </a:solidFill>
              </a:rPr>
              <a:t>合理性</a:t>
            </a:r>
            <a:endParaRPr lang="zh-CN" altLang="en-US" sz="2100" b="1" dirty="0">
              <a:solidFill>
                <a:srgbClr val="FF0000"/>
              </a:solidFill>
            </a:endParaRPr>
          </a:p>
        </p:txBody>
      </p:sp>
      <p:sp>
        <p:nvSpPr>
          <p:cNvPr id="44045" name="Text Box 13"/>
          <p:cNvSpPr txBox="1">
            <a:spLocks noChangeArrowheads="1"/>
          </p:cNvSpPr>
          <p:nvPr/>
        </p:nvSpPr>
        <p:spPr bwMode="auto">
          <a:xfrm>
            <a:off x="3262712" y="283163"/>
            <a:ext cx="1713290" cy="83099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000000"/>
                </a:solidFill>
                <a:ea typeface="楷体_GB2312" pitchFamily="49" charset="-122"/>
              </a:rPr>
              <a:t> </a:t>
            </a:r>
            <a:r>
              <a:rPr lang="zh-CN" altLang="en-US" b="1" dirty="0" smtClean="0">
                <a:solidFill>
                  <a:srgbClr val="000000"/>
                </a:solidFill>
                <a:ea typeface="楷体_GB2312" pitchFamily="49" charset="-122"/>
              </a:rPr>
              <a:t>重点考察</a:t>
            </a:r>
            <a:r>
              <a:rPr lang="zh-CN" altLang="en-US" b="1" dirty="0" smtClean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数学模型 </a:t>
            </a:r>
            <a:endParaRPr lang="zh-CN" altLang="en-US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476188" y="177842"/>
            <a:ext cx="169308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defTabSz="685800">
              <a:spcBef>
                <a:spcPts val="0"/>
              </a:spcBef>
              <a:buNone/>
              <a:defRPr/>
            </a:pPr>
            <a:r>
              <a:rPr lang="en-US" altLang="zh-CN" sz="24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3.</a:t>
            </a:r>
            <a:r>
              <a:rPr lang="zh-CN" altLang="en-US" sz="2400" b="1" dirty="0" smtClean="0">
                <a:solidFill>
                  <a:prstClr val="black">
                    <a:lumMod val="75000"/>
                    <a:lumOff val="25000"/>
                  </a:prstClr>
                </a:solidFill>
              </a:rPr>
              <a:t>考核</a:t>
            </a:r>
            <a:r>
              <a:rPr lang="zh-CN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</a:rPr>
              <a:t>标准</a:t>
            </a:r>
          </a:p>
        </p:txBody>
      </p:sp>
      <p:sp>
        <p:nvSpPr>
          <p:cNvPr id="14" name="等腰三角形 13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1800">
              <a:solidFill>
                <a:srgbClr val="FFFFFF"/>
              </a:solidFill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199345"/>
      </p:ext>
    </p:extLst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27"/>
          <p:cNvSpPr txBox="1"/>
          <p:nvPr/>
        </p:nvSpPr>
        <p:spPr>
          <a:xfrm>
            <a:off x="1210656" y="1131659"/>
            <a:ext cx="6672278" cy="78944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indent="540000">
              <a:lnSpc>
                <a:spcPct val="130000"/>
              </a:lnSpc>
            </a:pP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每个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组按要求完成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论文，论文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应包括：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）摘要（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300—500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字，不超过一页）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;2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）问题重述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;3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）模型假设及符号说明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;4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）问题分析及模型（可设计多个模型）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; 5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）求解方法、结果及其分析和检验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;6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）模型的优缺点及改进方向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;7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）参考文献；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）作为附录附上必要的计算机程序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894812" y="817693"/>
            <a:ext cx="1447306" cy="318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论文提交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5"/>
          <p:cNvSpPr txBox="1"/>
          <p:nvPr/>
        </p:nvSpPr>
        <p:spPr>
          <a:xfrm>
            <a:off x="1210656" y="2389031"/>
            <a:ext cx="6672278" cy="102951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电子稿：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月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日（周五）中午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12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zh-CN" alt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前（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PDF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版）发送至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25357894@qq.com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40000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论文命名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：邮件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主题写上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: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班级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+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姓名，以及队员名字，如“信计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2301+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（张民，李立，王进，赵明）”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。电子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稿的文件名也这样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命名，与</a:t>
            </a: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程序和参考文献一起压缩发邮件</a:t>
            </a:r>
            <a:r>
              <a:rPr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纸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质稿：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A4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单面打印，左侧装订。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月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日（周五）中午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12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00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前交到理学院</a:t>
            </a:r>
            <a:r>
              <a:rPr lang="en-US" altLang="zh-C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108</a:t>
            </a:r>
            <a:r>
              <a:rPr lang="zh-CN" alt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894812" y="2075065"/>
            <a:ext cx="1447306" cy="318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提交时间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24"/>
          <p:cNvSpPr txBox="1"/>
          <p:nvPr/>
        </p:nvSpPr>
        <p:spPr>
          <a:xfrm>
            <a:off x="1210656" y="3886469"/>
            <a:ext cx="6672278" cy="78944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1"/>
            </a:solidFill>
          </a:ln>
        </p:spPr>
        <p:txBody>
          <a:bodyPr wrap="square" lIns="68580" tIns="34290" rIns="68580" bIns="34290" rtlCol="0">
            <a:spAutoFit/>
          </a:bodyPr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zh-CN" sz="1200" b="1" dirty="0" smtClean="0"/>
              <a:t>需要</a:t>
            </a:r>
            <a:r>
              <a:rPr lang="zh-CN" altLang="zh-CN" sz="1200" b="1" dirty="0"/>
              <a:t>同步提交下载查阅的</a:t>
            </a:r>
            <a:r>
              <a:rPr lang="en-US" altLang="zh-CN" sz="1200" b="1" dirty="0"/>
              <a:t>PDF </a:t>
            </a:r>
            <a:r>
              <a:rPr lang="zh-CN" altLang="zh-CN" sz="1200" b="1" dirty="0"/>
              <a:t>文献（电子版），至少</a:t>
            </a:r>
            <a:r>
              <a:rPr lang="en-US" altLang="zh-CN" sz="1200" b="1" dirty="0"/>
              <a:t>5</a:t>
            </a:r>
            <a:r>
              <a:rPr lang="zh-CN" altLang="zh-CN" sz="1200" b="1" dirty="0"/>
              <a:t>篇（含中英文）。作为附件与论文（</a:t>
            </a:r>
            <a:r>
              <a:rPr lang="en-US" altLang="zh-CN" sz="1200" b="1" dirty="0"/>
              <a:t>PDF</a:t>
            </a:r>
            <a:r>
              <a:rPr lang="zh-CN" altLang="zh-CN" sz="1200" b="1" dirty="0"/>
              <a:t>）一起提交指定邮箱</a:t>
            </a:r>
            <a:r>
              <a:rPr lang="zh-CN" altLang="zh-CN" sz="1200" b="1" dirty="0" smtClean="0"/>
              <a:t>。</a:t>
            </a:r>
            <a:endParaRPr lang="en-US" altLang="zh-CN" sz="1200" b="1" dirty="0" smtClean="0"/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200" b="1" dirty="0" smtClean="0"/>
              <a:t>必要程序（</a:t>
            </a:r>
            <a:r>
              <a:rPr lang="en-US" altLang="zh-CN" sz="1200" b="1" dirty="0" err="1" smtClean="0"/>
              <a:t>matlab</a:t>
            </a:r>
            <a:r>
              <a:rPr lang="zh-CN" altLang="en-US" sz="1200" b="1" dirty="0" smtClean="0"/>
              <a:t>或者</a:t>
            </a:r>
            <a:r>
              <a:rPr lang="en-US" altLang="zh-CN" sz="1200" b="1" dirty="0" smtClean="0"/>
              <a:t>Python</a:t>
            </a:r>
            <a:r>
              <a:rPr lang="zh-CN" altLang="en-US" sz="1200" b="1" dirty="0" smtClean="0"/>
              <a:t>）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894812" y="3564967"/>
            <a:ext cx="1447306" cy="318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附件要求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46"/>
          <p:cNvSpPr>
            <a:spLocks noChangeArrowheads="1"/>
          </p:cNvSpPr>
          <p:nvPr/>
        </p:nvSpPr>
        <p:spPr bwMode="auto">
          <a:xfrm>
            <a:off x="476188" y="177842"/>
            <a:ext cx="1672249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en-US" altLang="zh-CN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4.</a:t>
            </a: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提交要求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3" name="等腰三角形 4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1800">
              <a:solidFill>
                <a:srgbClr val="FFFFFF"/>
              </a:solidFill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9265729"/>
      </p:ext>
    </p:extLst>
  </p:cSld>
  <p:clrMapOvr>
    <a:masterClrMapping/>
  </p:clrMapOvr>
  <p:transition spd="slow" advClick="0" advTm="0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476188" y="177842"/>
            <a:ext cx="1415768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数据来源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1800">
              <a:solidFill>
                <a:srgbClr val="FFFFFF"/>
              </a:solidFill>
              <a:sym typeface="微软雅黑" pitchFamily="34" charset="-122"/>
            </a:endParaRPr>
          </a:p>
        </p:txBody>
      </p:sp>
      <p:sp>
        <p:nvSpPr>
          <p:cNvPr id="21" name="Freeform 5"/>
          <p:cNvSpPr>
            <a:spLocks/>
          </p:cNvSpPr>
          <p:nvPr/>
        </p:nvSpPr>
        <p:spPr bwMode="auto">
          <a:xfrm>
            <a:off x="1115910" y="1573426"/>
            <a:ext cx="1679368" cy="1514136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501251" y="1899607"/>
            <a:ext cx="908686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20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 algn="ctr"/>
            <a:r>
              <a:rPr lang="zh-CN" altLang="en-US" sz="2800" b="1" dirty="0" smtClean="0"/>
              <a:t>数据来源</a:t>
            </a:r>
            <a:endParaRPr lang="zh-CN" altLang="en-US" sz="2800" b="1" dirty="0"/>
          </a:p>
        </p:txBody>
      </p:sp>
      <p:sp>
        <p:nvSpPr>
          <p:cNvPr id="23" name="圆角矩形 22"/>
          <p:cNvSpPr/>
          <p:nvPr/>
        </p:nvSpPr>
        <p:spPr>
          <a:xfrm>
            <a:off x="3518580" y="1002896"/>
            <a:ext cx="4119012" cy="4516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2872964" y="1206985"/>
            <a:ext cx="547516" cy="2247018"/>
          </a:xfrm>
          <a:custGeom>
            <a:avLst/>
            <a:gdLst>
              <a:gd name="T0" fmla="*/ 1999 w 3544"/>
              <a:gd name="T1" fmla="*/ 9150 h 14563"/>
              <a:gd name="T2" fmla="*/ 1999 w 3544"/>
              <a:gd name="T3" fmla="*/ 12306 h 14563"/>
              <a:gd name="T4" fmla="*/ 2353 w 3544"/>
              <a:gd name="T5" fmla="*/ 13628 h 14563"/>
              <a:gd name="T6" fmla="*/ 3544 w 3544"/>
              <a:gd name="T7" fmla="*/ 14112 h 14563"/>
              <a:gd name="T8" fmla="*/ 3544 w 3544"/>
              <a:gd name="T9" fmla="*/ 14563 h 14563"/>
              <a:gd name="T10" fmla="*/ 1933 w 3544"/>
              <a:gd name="T11" fmla="*/ 14016 h 14563"/>
              <a:gd name="T12" fmla="*/ 1419 w 3544"/>
              <a:gd name="T13" fmla="*/ 12050 h 14563"/>
              <a:gd name="T14" fmla="*/ 1419 w 3544"/>
              <a:gd name="T15" fmla="*/ 9279 h 14563"/>
              <a:gd name="T16" fmla="*/ 1160 w 3544"/>
              <a:gd name="T17" fmla="*/ 8022 h 14563"/>
              <a:gd name="T18" fmla="*/ 0 w 3544"/>
              <a:gd name="T19" fmla="*/ 7475 h 14563"/>
              <a:gd name="T20" fmla="*/ 0 w 3544"/>
              <a:gd name="T21" fmla="*/ 7088 h 14563"/>
              <a:gd name="T22" fmla="*/ 1127 w 3544"/>
              <a:gd name="T23" fmla="*/ 6571 h 14563"/>
              <a:gd name="T24" fmla="*/ 1419 w 3544"/>
              <a:gd name="T25" fmla="*/ 5284 h 14563"/>
              <a:gd name="T26" fmla="*/ 1419 w 3544"/>
              <a:gd name="T27" fmla="*/ 2513 h 14563"/>
              <a:gd name="T28" fmla="*/ 1933 w 3544"/>
              <a:gd name="T29" fmla="*/ 547 h 14563"/>
              <a:gd name="T30" fmla="*/ 3544 w 3544"/>
              <a:gd name="T31" fmla="*/ 0 h 14563"/>
              <a:gd name="T32" fmla="*/ 3544 w 3544"/>
              <a:gd name="T33" fmla="*/ 451 h 14563"/>
              <a:gd name="T34" fmla="*/ 2353 w 3544"/>
              <a:gd name="T35" fmla="*/ 902 h 14563"/>
              <a:gd name="T36" fmla="*/ 1999 w 3544"/>
              <a:gd name="T37" fmla="*/ 2254 h 14563"/>
              <a:gd name="T38" fmla="*/ 1999 w 3544"/>
              <a:gd name="T39" fmla="*/ 5413 h 14563"/>
              <a:gd name="T40" fmla="*/ 580 w 3544"/>
              <a:gd name="T41" fmla="*/ 7275 h 14563"/>
              <a:gd name="T42" fmla="*/ 580 w 3544"/>
              <a:gd name="T43" fmla="*/ 7304 h 14563"/>
              <a:gd name="T44" fmla="*/ 1999 w 3544"/>
              <a:gd name="T45" fmla="*/ 9150 h 145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3518580" y="1737290"/>
            <a:ext cx="4119012" cy="4516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3518580" y="2471684"/>
            <a:ext cx="4119012" cy="4516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518580" y="3206077"/>
            <a:ext cx="4119012" cy="4516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37092" y="1150960"/>
            <a:ext cx="3456384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400" b="1" dirty="0" smtClean="0">
                <a:solidFill>
                  <a:schemeClr val="bg1"/>
                </a:solidFill>
              </a:rPr>
              <a:t>国家统计局，省市统计局，行业协会数据库</a:t>
            </a:r>
            <a:endParaRPr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37092" y="1879776"/>
            <a:ext cx="3456384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400" b="1" dirty="0" smtClean="0">
                <a:solidFill>
                  <a:schemeClr val="bg1"/>
                </a:solidFill>
              </a:rPr>
              <a:t>主流媒体、刊物、报纸、网站等</a:t>
            </a:r>
            <a:endParaRPr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37092" y="2614170"/>
            <a:ext cx="3456384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400" b="1" dirty="0">
                <a:solidFill>
                  <a:schemeClr val="bg1"/>
                </a:solidFill>
              </a:rPr>
              <a:t>开放</a:t>
            </a:r>
            <a:r>
              <a:rPr lang="zh-CN" altLang="en-US" sz="1400" b="1" dirty="0" smtClean="0">
                <a:solidFill>
                  <a:schemeClr val="bg1"/>
                </a:solidFill>
              </a:rPr>
              <a:t>数据库（</a:t>
            </a:r>
            <a:r>
              <a:rPr lang="en-US" altLang="zh-CN" sz="1400" b="1" dirty="0" smtClean="0">
                <a:solidFill>
                  <a:schemeClr val="bg1"/>
                </a:solidFill>
              </a:rPr>
              <a:t>UCI</a:t>
            </a:r>
            <a:r>
              <a:rPr lang="zh-CN" altLang="en-US" sz="1400" b="1" dirty="0" smtClean="0">
                <a:solidFill>
                  <a:schemeClr val="bg1"/>
                </a:solidFill>
              </a:rPr>
              <a:t>），注册数据库</a:t>
            </a:r>
            <a:endParaRPr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37092" y="3348563"/>
            <a:ext cx="3456384" cy="1667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400" b="1" dirty="0" smtClean="0">
                <a:solidFill>
                  <a:schemeClr val="bg1"/>
                </a:solidFill>
              </a:rPr>
              <a:t>知名学者的研究结论等</a:t>
            </a:r>
            <a:endParaRPr lang="en-US" altLang="zh-CN" sz="1400" b="1" dirty="0">
              <a:solidFill>
                <a:schemeClr val="bg1"/>
              </a:solidFill>
            </a:endParaRPr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1891956" y="3957994"/>
            <a:ext cx="6415539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1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数据准确获取，并科学清洗是一种重要的实践能力！</a:t>
            </a:r>
            <a:endParaRPr lang="zh-CN" altLang="en-US" sz="2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5940047"/>
      </p:ext>
    </p:extLst>
  </p:cSld>
  <p:clrMapOvr>
    <a:masterClrMapping/>
  </p:clrMapOvr>
  <p:transition spd="slow" advClick="0" advTm="0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598832" y="1200844"/>
            <a:ext cx="7838852" cy="210057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zh-CN" altLang="en-US" sz="1100" dirty="0" smtClean="0"/>
              <a:t>杨</a:t>
            </a:r>
            <a:r>
              <a:rPr lang="zh-CN" altLang="en-US" sz="1100" dirty="0"/>
              <a:t>震</a:t>
            </a:r>
            <a:r>
              <a:rPr lang="en-US" altLang="zh-CN" sz="1100" dirty="0"/>
              <a:t>, </a:t>
            </a:r>
            <a:r>
              <a:rPr lang="zh-CN" altLang="en-US" sz="1100" dirty="0"/>
              <a:t>王红军</a:t>
            </a:r>
            <a:r>
              <a:rPr lang="en-US" altLang="zh-CN" sz="1100" dirty="0"/>
              <a:t>. </a:t>
            </a:r>
            <a:r>
              <a:rPr lang="zh-CN" altLang="en-US" sz="1100" dirty="0"/>
              <a:t>基于加权</a:t>
            </a:r>
            <a:r>
              <a:rPr lang="en-US" altLang="zh-CN" sz="1100" dirty="0"/>
              <a:t>K</a:t>
            </a:r>
            <a:r>
              <a:rPr lang="zh-CN" altLang="en-US" sz="1100" dirty="0"/>
              <a:t>近邻的改进密度峰值聚类算法</a:t>
            </a:r>
            <a:r>
              <a:rPr lang="en-US" altLang="zh-CN" sz="1100" dirty="0"/>
              <a:t>[J]. </a:t>
            </a:r>
            <a:r>
              <a:rPr lang="zh-CN" altLang="en-US" sz="1100" dirty="0"/>
              <a:t>计算机应用研究</a:t>
            </a:r>
            <a:r>
              <a:rPr lang="en-US" altLang="zh-CN" sz="1100" dirty="0"/>
              <a:t>, 2020, 37(3): 667-671. (Yang Zhen, Wang </a:t>
            </a:r>
            <a:r>
              <a:rPr lang="en-US" altLang="zh-CN" sz="1100" dirty="0" err="1"/>
              <a:t>Hongjun</a:t>
            </a:r>
            <a:r>
              <a:rPr lang="en-US" altLang="zh-CN" sz="1100" dirty="0"/>
              <a:t>. Improved density peak clustering algorithm based on weighted K-nearest neighbor[J]. Application Research of Computers, 2020, 37(3): 667-671.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zh-CN" altLang="en-US" sz="1100" dirty="0" smtClean="0"/>
              <a:t>陈</a:t>
            </a:r>
            <a:r>
              <a:rPr lang="zh-CN" altLang="en-US" sz="1100" dirty="0"/>
              <a:t>蔚昌</a:t>
            </a:r>
            <a:r>
              <a:rPr lang="en-US" altLang="zh-CN" sz="1100" dirty="0"/>
              <a:t>, </a:t>
            </a:r>
            <a:r>
              <a:rPr lang="zh-CN" altLang="en-US" sz="1100" dirty="0"/>
              <a:t>赵嘉</a:t>
            </a:r>
            <a:r>
              <a:rPr lang="en-US" altLang="zh-CN" sz="1100" dirty="0"/>
              <a:t>, </a:t>
            </a:r>
            <a:r>
              <a:rPr lang="zh-CN" altLang="en-US" sz="1100" dirty="0"/>
              <a:t>肖人彬</a:t>
            </a:r>
            <a:r>
              <a:rPr lang="en-US" altLang="zh-CN" sz="1100" dirty="0"/>
              <a:t>, </a:t>
            </a:r>
            <a:r>
              <a:rPr lang="zh-CN" altLang="en-US" sz="1100" dirty="0"/>
              <a:t>等</a:t>
            </a:r>
            <a:r>
              <a:rPr lang="en-US" altLang="zh-CN" sz="1100" dirty="0"/>
              <a:t>. </a:t>
            </a:r>
            <a:r>
              <a:rPr lang="zh-CN" altLang="en-US" sz="1100" dirty="0"/>
              <a:t>面向密度分布不均数据的近邻优化密度峰值聚类算法</a:t>
            </a:r>
            <a:r>
              <a:rPr lang="en-US" altLang="zh-CN" sz="1100" dirty="0"/>
              <a:t>[J]. </a:t>
            </a:r>
            <a:r>
              <a:rPr lang="zh-CN" altLang="en-US" sz="1100" dirty="0"/>
              <a:t>控制与决策</a:t>
            </a:r>
            <a:r>
              <a:rPr lang="en-US" altLang="zh-CN" sz="1100" dirty="0"/>
              <a:t>, 2022. (Chen </a:t>
            </a:r>
            <a:r>
              <a:rPr lang="en-US" altLang="zh-CN" sz="1100" dirty="0" err="1"/>
              <a:t>Weichang</a:t>
            </a:r>
            <a:r>
              <a:rPr lang="en-US" altLang="zh-CN" sz="1100" dirty="0"/>
              <a:t>, Zhao </a:t>
            </a:r>
            <a:r>
              <a:rPr lang="en-US" altLang="zh-CN" sz="1100" dirty="0" err="1"/>
              <a:t>Jia</a:t>
            </a:r>
            <a:r>
              <a:rPr lang="en-US" altLang="zh-CN" sz="1100" dirty="0"/>
              <a:t>, Xiao </a:t>
            </a:r>
            <a:r>
              <a:rPr lang="en-US" altLang="zh-CN" sz="1100" dirty="0" err="1"/>
              <a:t>Renbin</a:t>
            </a:r>
            <a:r>
              <a:rPr lang="en-US" altLang="zh-CN" sz="1100" dirty="0"/>
              <a:t>, et al. Density peaks clustering algorithm with nearest neighbor optimization for data with uneven density distribution[J]. Control and Decision, 2022.)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altLang="zh-CN" sz="1100" dirty="0" smtClean="0"/>
              <a:t>Qin </a:t>
            </a:r>
            <a:r>
              <a:rPr lang="en-US" altLang="zh-CN" sz="1100" dirty="0" err="1"/>
              <a:t>Xiaowei</a:t>
            </a:r>
            <a:r>
              <a:rPr lang="en-US" altLang="zh-CN" sz="1100" dirty="0"/>
              <a:t>, Han </a:t>
            </a:r>
            <a:r>
              <a:rPr lang="en-US" altLang="zh-CN" sz="1100" dirty="0" err="1"/>
              <a:t>Xiaoxia</a:t>
            </a:r>
            <a:r>
              <a:rPr lang="en-US" altLang="zh-CN" sz="1100" dirty="0"/>
              <a:t>, Chu </a:t>
            </a:r>
            <a:r>
              <a:rPr lang="en-US" altLang="zh-CN" sz="1100" dirty="0" err="1"/>
              <a:t>Junwen</a:t>
            </a:r>
            <a:r>
              <a:rPr lang="en-US" altLang="zh-CN" sz="1100" dirty="0"/>
              <a:t>, et al. Density peaks clustering based on </a:t>
            </a:r>
            <a:r>
              <a:rPr lang="en-US" altLang="zh-CN" sz="1100" dirty="0" err="1"/>
              <a:t>Jaccard</a:t>
            </a:r>
            <a:r>
              <a:rPr lang="en-US" altLang="zh-CN" sz="1100" dirty="0"/>
              <a:t> similarity and label propagation[J]. Cognitive Computation, 2021, 13(6): 1609-1626.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altLang="zh-CN" sz="1100" dirty="0" smtClean="0"/>
              <a:t>Q. He, J. Shao, J. Pu, M. Zhou, S. Xiang and W. Su, FRFCM clustering segmentation method for medical MR image feature diagnosis, Journal of Intelligent &amp; Fuzzy Systems, 2021, 40(2), 2871-2879.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altLang="zh-CN" sz="1100" dirty="0" smtClean="0"/>
              <a:t>M</a:t>
            </a:r>
            <a:r>
              <a:rPr lang="en-US" altLang="zh-CN" sz="1100" dirty="0"/>
              <a:t>. </a:t>
            </a:r>
            <a:r>
              <a:rPr lang="en-US" altLang="zh-CN" sz="1100" dirty="0" err="1"/>
              <a:t>Diwakar</a:t>
            </a:r>
            <a:r>
              <a:rPr lang="en-US" altLang="zh-CN" sz="1100" dirty="0"/>
              <a:t> and M. Kumar, A review on CT image noise </a:t>
            </a:r>
            <a:r>
              <a:rPr lang="en-US" altLang="zh-CN" sz="1100" dirty="0" smtClean="0"/>
              <a:t>and its </a:t>
            </a:r>
            <a:r>
              <a:rPr lang="en-US" altLang="zh-CN" sz="1100" dirty="0" err="1"/>
              <a:t>denoising</a:t>
            </a:r>
            <a:r>
              <a:rPr lang="en-US" altLang="zh-CN" sz="1100" dirty="0"/>
              <a:t>, Biomedical Signal Processing and Control,</a:t>
            </a:r>
          </a:p>
          <a:p>
            <a:pPr algn="just"/>
            <a:r>
              <a:rPr lang="en-US" altLang="zh-CN" sz="1100" dirty="0" smtClean="0"/>
              <a:t>      2018</a:t>
            </a:r>
            <a:r>
              <a:rPr lang="en-US" altLang="zh-CN" sz="1100" dirty="0"/>
              <a:t>, 42, </a:t>
            </a:r>
            <a:r>
              <a:rPr lang="en-US" altLang="zh-CN" sz="1100" dirty="0" smtClean="0"/>
              <a:t>73–88.</a:t>
            </a:r>
            <a:endParaRPr lang="zh-CN" altLang="zh-CN" sz="11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76188" y="177842"/>
            <a:ext cx="3570204" cy="46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附录：参考</a:t>
            </a:r>
            <a:r>
              <a:rPr lang="zh-CN" altLang="en-US" sz="2400" b="1" dirty="0" smtClean="0">
                <a:solidFill>
                  <a:schemeClr val="accent1"/>
                </a:solidFill>
              </a:rPr>
              <a:t>文献（举例）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charset="0"/>
              <a:buNone/>
            </a:pPr>
            <a:endParaRPr lang="zh-CN" altLang="zh-CN" sz="1800">
              <a:solidFill>
                <a:srgbClr val="FFFFFF"/>
              </a:solidFill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9954276"/>
      </p:ext>
    </p:extLst>
  </p:cSld>
  <p:clrMapOvr>
    <a:masterClrMapping/>
  </p:clrMapOvr>
  <p:transition spd="slow" advClick="0" advTm="0">
    <p:pull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7631</TotalTime>
  <Words>792</Words>
  <Application>Microsoft Office PowerPoint</Application>
  <PresentationFormat>全屏显示(16:9)</PresentationFormat>
  <Paragraphs>104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DotumChe</vt:lpstr>
      <vt:lpstr>Nexa Light</vt:lpstr>
      <vt:lpstr>华文行楷</vt:lpstr>
      <vt:lpstr>楷体_GB2312</vt:lpstr>
      <vt:lpstr>隶书</vt:lpstr>
      <vt:lpstr>宋体</vt:lpstr>
      <vt:lpstr>微软雅黑</vt:lpstr>
      <vt:lpstr>幼圆</vt:lpstr>
      <vt:lpstr>Arial</vt:lpstr>
      <vt:lpstr>Arial Black</vt:lpstr>
      <vt:lpstr>Calibri</vt:lpstr>
      <vt:lpstr>Segoe UI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号百公司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>锐旗设计;https://9ppt.taobao.com</dc:creator>
  <cp:keywords>锐旗设计；https://9ppt.taobao.com</cp:keywords>
  <cp:lastModifiedBy>zhangjx</cp:lastModifiedBy>
  <cp:revision>465</cp:revision>
  <dcterms:created xsi:type="dcterms:W3CDTF">2014-06-03T07:56:23Z</dcterms:created>
  <dcterms:modified xsi:type="dcterms:W3CDTF">2025-07-06T08:22:13Z</dcterms:modified>
  <cp:category>锐旗设计；https://9ppt.taobao.com</cp:category>
</cp:coreProperties>
</file>