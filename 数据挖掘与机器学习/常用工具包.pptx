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6" r:id="rId3"/>
    <p:sldId id="291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7" r:id="rId14"/>
    <p:sldId id="288" r:id="rId15"/>
    <p:sldId id="289" r:id="rId16"/>
    <p:sldId id="29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hyperlink" Target="file:///D:/Code/dm_python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hyperlink" Target="file:///D:/Code/dm_python" TargetMode="Externa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picture 4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164707" y="2255901"/>
            <a:ext cx="5333999" cy="2793492"/>
          </a:xfrm>
          <a:prstGeom prst="rect">
            <a:avLst/>
          </a:prstGeom>
        </p:spPr>
      </p:pic>
      <p:pic>
        <p:nvPicPr>
          <p:cNvPr id="430" name="picture 4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8495" y="2269617"/>
            <a:ext cx="5189220" cy="2763012"/>
          </a:xfrm>
          <a:prstGeom prst="rect">
            <a:avLst/>
          </a:prstGeom>
        </p:spPr>
      </p:pic>
      <p:sp>
        <p:nvSpPr>
          <p:cNvPr id="432" name="textbox 432"/>
          <p:cNvSpPr/>
          <p:nvPr/>
        </p:nvSpPr>
        <p:spPr>
          <a:xfrm>
            <a:off x="971910" y="1410132"/>
            <a:ext cx="10845800" cy="1191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r>
              <a:rPr sz="3200" kern="0" spc="-9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Anaconda中集成有丰富的开发工</a:t>
            </a:r>
            <a:r>
              <a:rPr sz="3200" kern="0" spc="-1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具，</a:t>
            </a:r>
            <a:r>
              <a:rPr sz="32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包括集成开发环境</a:t>
            </a: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Spyder</a:t>
            </a:r>
            <a:r>
              <a:rPr sz="32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，交互式开发环境</a:t>
            </a: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Jupyter</a:t>
            </a:r>
            <a:r>
              <a:rPr sz="32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。</a:t>
            </a:r>
            <a:endParaRPr sz="32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sp>
        <p:nvSpPr>
          <p:cNvPr id="438" name="textbox 438"/>
          <p:cNvSpPr/>
          <p:nvPr/>
        </p:nvSpPr>
        <p:spPr>
          <a:xfrm>
            <a:off x="2579370" y="372745"/>
            <a:ext cx="6867525" cy="56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+mj-lt"/>
              <a:ea typeface="Arial" panose="020B0604020202020204"/>
              <a:cs typeface="+mj-lt"/>
            </a:endParaRPr>
          </a:p>
          <a:p>
            <a:pPr marL="12700" algn="l" rtl="0" eaLnBrk="0">
              <a:lnSpc>
                <a:spcPct val="91000"/>
              </a:lnSpc>
            </a:pPr>
            <a:r>
              <a:rPr lang="zh-CN" sz="39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使用</a:t>
            </a:r>
            <a:r>
              <a:rPr sz="39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  <a:sym typeface="+mn-ea"/>
              </a:rPr>
              <a:t>Jupyter</a:t>
            </a:r>
            <a:endParaRPr sz="3900" dirty="0">
              <a:latin typeface="+mj-lt"/>
              <a:ea typeface="PingFang TC"/>
              <a:cs typeface="+mj-lt"/>
            </a:endParaRPr>
          </a:p>
        </p:txBody>
      </p:sp>
      <p:pic>
        <p:nvPicPr>
          <p:cNvPr id="446" name="picture 4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18766" y="1059180"/>
            <a:ext cx="9282557" cy="7467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58495" y="5372735"/>
            <a:ext cx="10943590" cy="1690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algn="l" rtl="0" eaLnBrk="0">
              <a:lnSpc>
                <a:spcPct val="92000"/>
              </a:lnSpc>
              <a:tabLst>
                <a:tab pos="264795" algn="l"/>
              </a:tabLst>
            </a:pP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  <a:sym typeface="+mn-ea"/>
              </a:rPr>
              <a:t>进入任意一个文件夹</a:t>
            </a:r>
            <a:r>
              <a:rPr lang="zh-CN" sz="2700" b="1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；</a:t>
            </a:r>
            <a:r>
              <a:rPr sz="2700" b="1" kern="0" spc="3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  <a:sym typeface="+mn-ea"/>
              </a:rPr>
              <a:t>在地址栏中输入：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  <a:sym typeface="+mn-ea"/>
              </a:rPr>
              <a:t> </a:t>
            </a:r>
            <a:r>
              <a:rPr sz="2700" b="1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  <a:sym typeface="+mn-ea"/>
              </a:rPr>
              <a:t>jupyter</a:t>
            </a:r>
            <a:r>
              <a:rPr sz="2700" kern="0" spc="3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  <a:sym typeface="+mn-ea"/>
              </a:rPr>
              <a:t> </a:t>
            </a:r>
            <a:r>
              <a:rPr sz="2700" b="1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  <a:sym typeface="+mn-ea"/>
              </a:rPr>
              <a:t>notebook</a:t>
            </a:r>
            <a:r>
              <a:rPr lang="zh-CN" sz="2700" b="1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，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  <a:sym typeface="+mn-ea"/>
              </a:rPr>
              <a:t>回车</a:t>
            </a:r>
            <a:r>
              <a:rPr lang="zh-CN" sz="27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，</a:t>
            </a:r>
            <a:r>
              <a:rPr sz="2700" b="1" kern="0" spc="28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  <a:sym typeface="+mn-ea"/>
              </a:rPr>
              <a:t>即可进入</a:t>
            </a:r>
            <a:r>
              <a:rPr sz="2700" b="1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  <a:sym typeface="+mn-ea"/>
              </a:rPr>
              <a:t>jupyter</a:t>
            </a:r>
            <a:r>
              <a:rPr sz="2700" b="1" kern="0" spc="28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  <a:sym typeface="+mn-ea"/>
              </a:rPr>
              <a:t>环境</a:t>
            </a:r>
            <a:r>
              <a:rPr lang="zh-CN" sz="2700" b="1" kern="0" spc="28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。</a:t>
            </a:r>
            <a:endParaRPr sz="10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algn="l" rtl="0" eaLnBrk="0">
              <a:lnSpc>
                <a:spcPct val="113000"/>
              </a:lnSpc>
            </a:pPr>
            <a:endParaRPr lang="zh-CN" altLang="en-US" sz="2700" b="1" u="sng" kern="0" spc="160" dirty="0">
              <a:solidFill>
                <a:srgbClr val="0563C1">
                  <a:alpha val="100000"/>
                </a:srgbClr>
              </a:solidFill>
              <a:latin typeface="Arial" panose="020B0604020202020204" pitchFamily="34" charset="0"/>
              <a:ea typeface="PingFang SC"/>
              <a:cs typeface="Arial" panose="020B0604020202020204" pitchFamily="34" charset="0"/>
              <a:sym typeface="+mn-ea"/>
              <a:hlinkClick r:id="rId4">
                <a:extLst>
                  <a:ext uri="{DAF060AB-1E55-43B9-8AAB-6FB025537F2F}">
                    <wpsdc:hlinkClr xmlns:wpsdc="http://www.wps.cn/officeDocument/2017/drawingmlCustomData" val="0563C1"/>
                    <wpsdc:folHlinkClr xmlns:wpsdc="http://www.wps.cn/officeDocument/2017/drawingmlCustomData" val="0563C1"/>
                    <wpsdc:hlinkUnderline xmlns:wpsdc="http://www.wps.cn/officeDocument/2017/drawingmlCustomData" val="0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textbox 770"/>
          <p:cNvSpPr/>
          <p:nvPr/>
        </p:nvSpPr>
        <p:spPr>
          <a:xfrm>
            <a:off x="946785" y="1490980"/>
            <a:ext cx="9054465" cy="2977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2000"/>
              </a:lnSpc>
              <a:tabLst>
                <a:tab pos="26479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	</a:t>
            </a:r>
            <a:r>
              <a:rPr sz="2700" kern="0" spc="5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进入任意一个文件夹</a:t>
            </a:r>
            <a:endParaRPr sz="2700" dirty="0">
              <a:latin typeface="Arial" panose="020B0604020202020204" pitchFamily="34" charset="0"/>
              <a:ea typeface="PingFang SC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2000"/>
              </a:lnSpc>
              <a:spcBef>
                <a:spcPts val="1055"/>
              </a:spcBef>
              <a:tabLst>
                <a:tab pos="26479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	</a:t>
            </a:r>
            <a:r>
              <a:rPr sz="2700" kern="0" spc="5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</a:t>
            </a:r>
            <a:r>
              <a:rPr sz="2700" b="1" kern="0" spc="3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在地址栏中输入：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jupyter</a:t>
            </a:r>
            <a:r>
              <a:rPr sz="2700" kern="0" spc="3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notebook</a:t>
            </a:r>
            <a:endParaRPr sz="2700" dirty="0">
              <a:latin typeface="Arial" panose="020B0604020202020204" pitchFamily="34" charset="0"/>
              <a:ea typeface="PingFang SC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2000"/>
              </a:lnSpc>
              <a:spcBef>
                <a:spcPts val="1050"/>
              </a:spcBef>
              <a:tabLst>
                <a:tab pos="26479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	</a:t>
            </a:r>
            <a:r>
              <a:rPr sz="2700" kern="0" spc="64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回车</a:t>
            </a:r>
            <a:endParaRPr sz="2700" dirty="0">
              <a:latin typeface="Arial" panose="020B0604020202020204" pitchFamily="34" charset="0"/>
              <a:ea typeface="PingFang SC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2000"/>
              </a:lnSpc>
              <a:spcBef>
                <a:spcPts val="1050"/>
              </a:spcBef>
              <a:tabLst>
                <a:tab pos="26479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	</a:t>
            </a:r>
            <a:r>
              <a:rPr sz="2700" kern="0" spc="6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</a:t>
            </a:r>
            <a:r>
              <a:rPr sz="2700" b="1" kern="0" spc="28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即可进入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jupyter</a:t>
            </a:r>
            <a:r>
              <a:rPr sz="2700" b="1" kern="0" spc="28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环境</a:t>
            </a:r>
            <a:endParaRPr sz="2700" dirty="0">
              <a:latin typeface="Arial" panose="020B0604020202020204" pitchFamily="34" charset="0"/>
              <a:ea typeface="PingFang SC"/>
              <a:cs typeface="Arial" panose="020B0604020202020204" pitchFamily="34" charset="0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algn="l" rtl="0" eaLnBrk="0">
              <a:lnSpc>
                <a:spcPct val="113000"/>
              </a:lnSpc>
            </a:pPr>
            <a:endParaRPr sz="6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  <a:tabLst>
                <a:tab pos="264795" algn="l"/>
              </a:tabLst>
            </a:pPr>
            <a:r>
              <a:rPr sz="2700" kern="0" spc="0" dirty="0">
                <a:solidFill>
                  <a:srgbClr val="0563C1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  <a:hlinkClick r:id="rId1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2700" kern="0" spc="480" dirty="0">
                <a:solidFill>
                  <a:srgbClr val="0563C1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  <a:hlinkClick r:id="rId1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700" u="sng" kern="0" spc="-660" dirty="0">
                <a:solidFill>
                  <a:srgbClr val="0563C1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  <a:hlinkClick r:id="rId1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700" b="1" u="sng" kern="0" spc="170" dirty="0">
                <a:solidFill>
                  <a:srgbClr val="0563C1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  <a:hlinkClick r:id="rId1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Hello</a:t>
            </a:r>
            <a:r>
              <a:rPr sz="2700" u="sng" kern="0" spc="170" dirty="0">
                <a:solidFill>
                  <a:srgbClr val="0563C1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  <a:hlinkClick r:id="rId1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700" b="1" u="sng" kern="0" spc="170" dirty="0">
                <a:solidFill>
                  <a:srgbClr val="0563C1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  <a:hlinkClick r:id="rId1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Pyt</a:t>
            </a:r>
            <a:r>
              <a:rPr sz="2700" b="1" u="sng" kern="0" spc="160" dirty="0">
                <a:solidFill>
                  <a:srgbClr val="0563C1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  <a:hlinkClick r:id="rId1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hon</a:t>
            </a:r>
            <a:endParaRPr sz="2700" dirty="0">
              <a:latin typeface="Arial" panose="020B0604020202020204" pitchFamily="34" charset="0"/>
              <a:ea typeface="PingFang SC"/>
              <a:cs typeface="Arial" panose="020B0604020202020204" pitchFamily="34" charset="0"/>
            </a:endParaRPr>
          </a:p>
        </p:txBody>
      </p:sp>
      <p:pic>
        <p:nvPicPr>
          <p:cNvPr id="772" name="picture 7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9467" y="4092541"/>
            <a:ext cx="252115" cy="260637"/>
          </a:xfrm>
          <a:prstGeom prst="rect">
            <a:avLst/>
          </a:prstGeom>
        </p:spPr>
      </p:pic>
      <p:pic>
        <p:nvPicPr>
          <p:cNvPr id="774" name="picture 7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59493" y="3067808"/>
            <a:ext cx="252331" cy="260861"/>
          </a:xfrm>
          <a:prstGeom prst="rect">
            <a:avLst/>
          </a:prstGeom>
        </p:spPr>
      </p:pic>
      <p:pic>
        <p:nvPicPr>
          <p:cNvPr id="776" name="picture 7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59467" y="2555968"/>
            <a:ext cx="252115" cy="260637"/>
          </a:xfrm>
          <a:prstGeom prst="rect">
            <a:avLst/>
          </a:prstGeom>
        </p:spPr>
      </p:pic>
      <p:pic>
        <p:nvPicPr>
          <p:cNvPr id="778" name="picture 7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59467" y="2043904"/>
            <a:ext cx="252115" cy="260637"/>
          </a:xfrm>
          <a:prstGeom prst="rect">
            <a:avLst/>
          </a:prstGeom>
        </p:spPr>
      </p:pic>
      <p:pic>
        <p:nvPicPr>
          <p:cNvPr id="780" name="picture 7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9467" y="1531586"/>
            <a:ext cx="252115" cy="260637"/>
          </a:xfrm>
          <a:prstGeom prst="rect">
            <a:avLst/>
          </a:prstGeom>
        </p:spPr>
      </p:pic>
      <p:sp>
        <p:nvSpPr>
          <p:cNvPr id="790" name="textbox 790"/>
          <p:cNvSpPr/>
          <p:nvPr/>
        </p:nvSpPr>
        <p:spPr>
          <a:xfrm>
            <a:off x="946957" y="435774"/>
            <a:ext cx="2103120" cy="56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algn="r" rtl="0" eaLnBrk="0">
              <a:lnSpc>
                <a:spcPct val="96000"/>
              </a:lnSpc>
            </a:pPr>
            <a:r>
              <a:rPr sz="3700" kern="0" spc="-170" dirty="0">
                <a:solidFill>
                  <a:srgbClr val="1353A2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Python！</a:t>
            </a:r>
            <a:endParaRPr sz="37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sp>
        <p:nvSpPr>
          <p:cNvPr id="796" name="path 796"/>
          <p:cNvSpPr/>
          <p:nvPr/>
        </p:nvSpPr>
        <p:spPr>
          <a:xfrm>
            <a:off x="2318766" y="1085088"/>
            <a:ext cx="9282557" cy="38100"/>
          </a:xfrm>
          <a:custGeom>
            <a:avLst/>
            <a:gdLst/>
            <a:ahLst/>
            <a:cxnLst/>
            <a:rect l="0" t="0" r="0" b="0"/>
            <a:pathLst>
              <a:path w="14618" h="60">
                <a:moveTo>
                  <a:pt x="0" y="30"/>
                </a:moveTo>
                <a:lnTo>
                  <a:pt x="14618" y="30"/>
                </a:lnTo>
              </a:path>
            </a:pathLst>
          </a:custGeom>
          <a:noFill/>
          <a:ln w="38100" cap="flat">
            <a:solidFill>
              <a:srgbClr val="1369B2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98" name="picture 7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334886" y="1121664"/>
            <a:ext cx="101231" cy="746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box 448"/>
          <p:cNvSpPr/>
          <p:nvPr/>
        </p:nvSpPr>
        <p:spPr>
          <a:xfrm>
            <a:off x="2251565" y="1491189"/>
            <a:ext cx="6897369" cy="3903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13335" algn="l" rtl="0" eaLnBrk="0">
              <a:lnSpc>
                <a:spcPct val="92000"/>
              </a:lnSpc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Python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进行数据挖掘的常用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工具包主要有：</a:t>
            </a:r>
            <a:endParaRPr sz="2700" dirty="0">
              <a:latin typeface="Arial" panose="020B0604020202020204" pitchFamily="34" charset="0"/>
              <a:ea typeface="PingFang SC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2000"/>
              </a:lnSpc>
              <a:spcBef>
                <a:spcPts val="1055"/>
              </a:spcBef>
              <a:tabLst>
                <a:tab pos="264795" algn="l"/>
              </a:tabLst>
            </a:pPr>
            <a:r>
              <a:rPr sz="2700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	</a:t>
            </a:r>
            <a:r>
              <a:rPr sz="2700" kern="0" spc="73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</a:t>
            </a:r>
            <a:r>
              <a:rPr sz="2700" b="1" kern="0" spc="24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NumPy</a:t>
            </a:r>
            <a:endParaRPr sz="2700" dirty="0">
              <a:latin typeface="Arial" panose="020B0604020202020204" pitchFamily="34" charset="0"/>
              <a:ea typeface="PingFang SC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76000"/>
              </a:lnSpc>
              <a:spcBef>
                <a:spcPts val="1080"/>
              </a:spcBef>
              <a:tabLst>
                <a:tab pos="264795" algn="l"/>
              </a:tabLst>
            </a:pPr>
            <a:r>
              <a:rPr sz="2700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	</a:t>
            </a:r>
            <a:r>
              <a:rPr sz="2700" kern="0" spc="73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Pandas</a:t>
            </a:r>
            <a:endParaRPr sz="2700" dirty="0">
              <a:latin typeface="Arial" panose="020B0604020202020204" pitchFamily="34" charset="0"/>
              <a:ea typeface="PingFang SC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2000"/>
              </a:lnSpc>
              <a:spcBef>
                <a:spcPts val="1540"/>
              </a:spcBef>
              <a:tabLst>
                <a:tab pos="264795" algn="l"/>
              </a:tabLst>
            </a:pPr>
            <a:r>
              <a:rPr sz="2700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	</a:t>
            </a:r>
            <a:r>
              <a:rPr sz="2700" kern="0" spc="68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</a:t>
            </a:r>
            <a:r>
              <a:rPr sz="2700" b="1" kern="0" spc="19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matplotli</a:t>
            </a:r>
            <a:r>
              <a:rPr sz="2700" b="1" kern="0" spc="18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b</a:t>
            </a:r>
            <a:endParaRPr sz="2700" dirty="0">
              <a:latin typeface="Arial" panose="020B0604020202020204" pitchFamily="34" charset="0"/>
              <a:ea typeface="PingFang SC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2000"/>
              </a:lnSpc>
              <a:spcBef>
                <a:spcPts val="1055"/>
              </a:spcBef>
              <a:tabLst>
                <a:tab pos="264795" algn="l"/>
              </a:tabLst>
            </a:pPr>
            <a:r>
              <a:rPr sz="2700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	</a:t>
            </a:r>
            <a:r>
              <a:rPr sz="2700" kern="0" spc="69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</a:t>
            </a:r>
            <a:r>
              <a:rPr sz="2700" b="1" kern="0" spc="13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statsmodels</a:t>
            </a:r>
            <a:endParaRPr sz="2700" dirty="0">
              <a:latin typeface="Arial" panose="020B0604020202020204" pitchFamily="34" charset="0"/>
              <a:ea typeface="PingFang SC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2000"/>
              </a:lnSpc>
              <a:spcBef>
                <a:spcPts val="1050"/>
              </a:spcBef>
              <a:tabLst>
                <a:tab pos="264795" algn="l"/>
              </a:tabLst>
            </a:pPr>
            <a:r>
              <a:rPr sz="2700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	</a:t>
            </a:r>
            <a:r>
              <a:rPr sz="2700" kern="0" spc="64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</a:t>
            </a:r>
            <a:r>
              <a:rPr sz="2700" b="1" kern="0" spc="4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SciPy</a:t>
            </a:r>
            <a:endParaRPr sz="2700" dirty="0">
              <a:latin typeface="Arial" panose="020B0604020202020204" pitchFamily="34" charset="0"/>
              <a:ea typeface="PingFang SC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2000"/>
              </a:lnSpc>
              <a:spcBef>
                <a:spcPts val="1055"/>
              </a:spcBef>
              <a:tabLst>
                <a:tab pos="264795" algn="l"/>
              </a:tabLst>
            </a:pPr>
            <a:r>
              <a:rPr sz="2700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	</a:t>
            </a:r>
            <a:r>
              <a:rPr sz="2700" kern="0" spc="64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</a:t>
            </a:r>
            <a:r>
              <a:rPr sz="2700" b="1" kern="0" spc="6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scikit-learn</a:t>
            </a:r>
            <a:endParaRPr sz="2700" dirty="0">
              <a:latin typeface="Arial" panose="020B0604020202020204" pitchFamily="34" charset="0"/>
              <a:ea typeface="PingFang SC"/>
              <a:cs typeface="Arial" panose="020B0604020202020204" pitchFamily="34" charset="0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12700" algn="l" rtl="0" eaLnBrk="0">
              <a:lnSpc>
                <a:spcPts val="2085"/>
              </a:lnSpc>
              <a:tabLst>
                <a:tab pos="264795" algn="l"/>
              </a:tabLst>
            </a:pPr>
            <a:r>
              <a:rPr sz="2700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	</a:t>
            </a:r>
            <a:r>
              <a:rPr sz="2700" kern="0" spc="68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</a:t>
            </a:r>
            <a:r>
              <a:rPr sz="2700" b="1" kern="0" spc="-8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……</a:t>
            </a:r>
            <a:endParaRPr sz="2700" dirty="0">
              <a:latin typeface="Arial" panose="020B0604020202020204" pitchFamily="34" charset="0"/>
              <a:ea typeface="PingFang SC"/>
              <a:cs typeface="Arial" panose="020B0604020202020204" pitchFamily="34" charset="0"/>
            </a:endParaRPr>
          </a:p>
        </p:txBody>
      </p:sp>
      <p:pic>
        <p:nvPicPr>
          <p:cNvPr id="450" name="picture 4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264265" y="5116923"/>
            <a:ext cx="252115" cy="260637"/>
          </a:xfrm>
          <a:prstGeom prst="rect">
            <a:avLst/>
          </a:prstGeom>
        </p:spPr>
      </p:pic>
      <p:pic>
        <p:nvPicPr>
          <p:cNvPr id="452" name="picture 4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264265" y="4604859"/>
            <a:ext cx="252115" cy="260637"/>
          </a:xfrm>
          <a:prstGeom prst="rect">
            <a:avLst/>
          </a:prstGeom>
        </p:spPr>
      </p:pic>
      <p:pic>
        <p:nvPicPr>
          <p:cNvPr id="454" name="picture 4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64265" y="4092541"/>
            <a:ext cx="252115" cy="260637"/>
          </a:xfrm>
          <a:prstGeom prst="rect">
            <a:avLst/>
          </a:prstGeom>
        </p:spPr>
      </p:pic>
      <p:pic>
        <p:nvPicPr>
          <p:cNvPr id="456" name="picture 4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64265" y="3580477"/>
            <a:ext cx="252115" cy="260637"/>
          </a:xfrm>
          <a:prstGeom prst="rect">
            <a:avLst/>
          </a:prstGeom>
        </p:spPr>
      </p:pic>
      <p:pic>
        <p:nvPicPr>
          <p:cNvPr id="458" name="picture 4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64291" y="3067808"/>
            <a:ext cx="252331" cy="260861"/>
          </a:xfrm>
          <a:prstGeom prst="rect">
            <a:avLst/>
          </a:prstGeom>
        </p:spPr>
      </p:pic>
      <p:pic>
        <p:nvPicPr>
          <p:cNvPr id="460" name="picture 4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264265" y="2555968"/>
            <a:ext cx="252115" cy="260637"/>
          </a:xfrm>
          <a:prstGeom prst="rect">
            <a:avLst/>
          </a:prstGeom>
        </p:spPr>
      </p:pic>
      <p:pic>
        <p:nvPicPr>
          <p:cNvPr id="462" name="picture 4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264265" y="2043904"/>
            <a:ext cx="252115" cy="260637"/>
          </a:xfrm>
          <a:prstGeom prst="rect">
            <a:avLst/>
          </a:prstGeom>
        </p:spPr>
      </p:pic>
      <p:sp>
        <p:nvSpPr>
          <p:cNvPr id="468" name="textbox 468"/>
          <p:cNvSpPr/>
          <p:nvPr/>
        </p:nvSpPr>
        <p:spPr>
          <a:xfrm>
            <a:off x="2578352" y="435774"/>
            <a:ext cx="4589145" cy="56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900" kern="0" spc="90" dirty="0">
                <a:solidFill>
                  <a:srgbClr val="1353A2">
                    <a:alpha val="100000"/>
                  </a:srgbClr>
                </a:solidFill>
                <a:latin typeface="PingFang TC"/>
                <a:ea typeface="PingFang TC"/>
                <a:cs typeface="PingFang TC"/>
              </a:rPr>
              <a:t>数据挖掘常用工具包</a:t>
            </a:r>
            <a:endParaRPr sz="3900" dirty="0">
              <a:latin typeface="PingFang TC"/>
              <a:ea typeface="PingFang TC"/>
              <a:cs typeface="PingFang TC"/>
            </a:endParaRPr>
          </a:p>
        </p:txBody>
      </p:sp>
      <p:sp>
        <p:nvSpPr>
          <p:cNvPr id="476" name="path 476"/>
          <p:cNvSpPr/>
          <p:nvPr/>
        </p:nvSpPr>
        <p:spPr>
          <a:xfrm>
            <a:off x="2318766" y="1085088"/>
            <a:ext cx="9282557" cy="38100"/>
          </a:xfrm>
          <a:custGeom>
            <a:avLst/>
            <a:gdLst/>
            <a:ahLst/>
            <a:cxnLst/>
            <a:rect l="0" t="0" r="0" b="0"/>
            <a:pathLst>
              <a:path w="14618" h="60">
                <a:moveTo>
                  <a:pt x="0" y="30"/>
                </a:moveTo>
                <a:lnTo>
                  <a:pt x="14618" y="30"/>
                </a:lnTo>
              </a:path>
            </a:pathLst>
          </a:custGeom>
          <a:noFill/>
          <a:ln w="38100" cap="flat">
            <a:solidFill>
              <a:srgbClr val="1369B2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textbox 478"/>
          <p:cNvSpPr/>
          <p:nvPr/>
        </p:nvSpPr>
        <p:spPr>
          <a:xfrm>
            <a:off x="919780" y="1491189"/>
            <a:ext cx="10744835" cy="29648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40640" algn="l" rtl="0" eaLnBrk="0">
              <a:lnSpc>
                <a:spcPct val="92000"/>
              </a:lnSpc>
            </a:pP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NumPy</a:t>
            </a:r>
            <a:r>
              <a:rPr sz="2700" kern="0" spc="2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(全称为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Numerical</a:t>
            </a:r>
            <a:r>
              <a:rPr sz="2700" kern="0" spc="2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Python</a:t>
            </a:r>
            <a:r>
              <a:rPr sz="2700" kern="0" spc="2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)是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Python</a:t>
            </a:r>
            <a:r>
              <a:rPr sz="2700" kern="0" spc="2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中科学计算的基</a:t>
            </a:r>
            <a:r>
              <a:rPr sz="2700" kern="0" spc="2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本包。</a:t>
            </a:r>
            <a:endParaRPr sz="27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29210" indent="14605" algn="l" rtl="0" eaLnBrk="0">
              <a:lnSpc>
                <a:spcPct val="130000"/>
              </a:lnSpc>
              <a:spcBef>
                <a:spcPts val="10"/>
              </a:spcBef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Python</a:t>
            </a:r>
            <a:r>
              <a:rPr sz="2700" kern="0" spc="2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数据分析的绝大多数内容基于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NumPy</a:t>
            </a:r>
            <a:r>
              <a:rPr sz="2700" kern="0" spc="2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和在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NumPy</a:t>
            </a:r>
            <a:r>
              <a:rPr sz="2700" kern="0" spc="2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之上</a:t>
            </a:r>
            <a:r>
              <a:rPr sz="2700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构建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的库。其提供众多功能。</a:t>
            </a:r>
            <a:endParaRPr sz="27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31750" algn="l" rtl="0" eaLnBrk="0">
              <a:lnSpc>
                <a:spcPct val="92000"/>
              </a:lnSpc>
              <a:spcBef>
                <a:spcPts val="820"/>
              </a:spcBef>
            </a:pPr>
            <a:r>
              <a:rPr sz="2700" kern="0" spc="17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除了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NumPy</a:t>
            </a:r>
            <a:r>
              <a:rPr sz="2700" kern="0" spc="17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在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Python</a:t>
            </a:r>
            <a:r>
              <a:rPr sz="2700" kern="0" spc="17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中添加的快速数组处理功能之外，它在数据</a:t>
            </a:r>
            <a:endParaRPr sz="27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12700" algn="l" rtl="0" eaLnBrk="0">
              <a:lnSpc>
                <a:spcPts val="4030"/>
              </a:lnSpc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分析方面的主要目的之一是作为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数据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在算法之间传递的主要容器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。</a:t>
            </a:r>
            <a:endParaRPr sz="27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sp>
        <p:nvSpPr>
          <p:cNvPr id="488" name="textbox 488"/>
          <p:cNvSpPr/>
          <p:nvPr/>
        </p:nvSpPr>
        <p:spPr>
          <a:xfrm>
            <a:off x="2623820" y="435610"/>
            <a:ext cx="2691765" cy="56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900" kern="0" spc="160" dirty="0">
                <a:solidFill>
                  <a:srgbClr val="1353A2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NumPy</a:t>
            </a:r>
            <a:endParaRPr sz="39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sp>
        <p:nvSpPr>
          <p:cNvPr id="492" name="path 492"/>
          <p:cNvSpPr/>
          <p:nvPr/>
        </p:nvSpPr>
        <p:spPr>
          <a:xfrm>
            <a:off x="2318766" y="1085088"/>
            <a:ext cx="9282557" cy="38100"/>
          </a:xfrm>
          <a:custGeom>
            <a:avLst/>
            <a:gdLst/>
            <a:ahLst/>
            <a:cxnLst/>
            <a:rect l="0" t="0" r="0" b="0"/>
            <a:pathLst>
              <a:path w="14618" h="60">
                <a:moveTo>
                  <a:pt x="0" y="30"/>
                </a:moveTo>
                <a:lnTo>
                  <a:pt x="14618" y="30"/>
                </a:lnTo>
              </a:path>
            </a:pathLst>
          </a:custGeom>
          <a:noFill/>
          <a:ln w="38100" cap="flat">
            <a:solidFill>
              <a:srgbClr val="1369B2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94" name="picture 4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107114" y="1121664"/>
            <a:ext cx="113886" cy="746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textbox 496"/>
          <p:cNvSpPr/>
          <p:nvPr/>
        </p:nvSpPr>
        <p:spPr>
          <a:xfrm>
            <a:off x="922976" y="1491189"/>
            <a:ext cx="10459720" cy="4547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37465" algn="l" rtl="0" eaLnBrk="0">
              <a:lnSpc>
                <a:spcPct val="92000"/>
              </a:lnSpc>
            </a:pP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Pandas</a:t>
            </a:r>
            <a:r>
              <a:rPr sz="27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提供丰富的数据结构和功能，旨在使</a:t>
            </a: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结构化数据快速、简</a:t>
            </a:r>
            <a:endParaRPr sz="27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12700" indent="635" algn="l" rtl="0" eaLnBrk="0">
              <a:lnSpc>
                <a:spcPct val="130000"/>
              </a:lnSpc>
              <a:spcBef>
                <a:spcPts val="10"/>
              </a:spcBef>
            </a:pP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单、富有表现力。它是使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Python</a:t>
            </a: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成为一个强大</a:t>
            </a:r>
            <a:r>
              <a:rPr sz="27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且高效的数据分析环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境的关键因素之一。</a:t>
            </a:r>
            <a:r>
              <a:rPr sz="2700" kern="0" spc="28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Pandas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基于两种数据类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型： Series与</a:t>
            </a:r>
            <a:endParaRPr sz="27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41275" algn="l" rtl="0" eaLnBrk="0">
              <a:lnSpc>
                <a:spcPct val="75000"/>
              </a:lnSpc>
              <a:spcBef>
                <a:spcPts val="855"/>
              </a:spcBef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DataFrame</a:t>
            </a:r>
            <a:r>
              <a:rPr sz="2700" kern="0" spc="5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。</a:t>
            </a:r>
            <a:endParaRPr sz="27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466725" indent="-430530" algn="l" rtl="0" eaLnBrk="0">
              <a:lnSpc>
                <a:spcPct val="117000"/>
              </a:lnSpc>
              <a:spcBef>
                <a:spcPts val="1480"/>
              </a:spcBef>
              <a:tabLst>
                <a:tab pos="288290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700" kern="0" spc="6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Series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是一个一维的数据类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型，其中每一个元素都有一个标签。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Series</a:t>
            </a:r>
            <a:r>
              <a:rPr sz="2700" kern="0" spc="1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类似于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Numpy</a:t>
            </a:r>
            <a:r>
              <a:rPr sz="2700" kern="0" spc="1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中元素带标签的数组。其中，标签可以</a:t>
            </a:r>
            <a:r>
              <a:rPr sz="27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是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数字或者字符串。</a:t>
            </a:r>
            <a:endParaRPr sz="27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466090" indent="-429895" algn="l" rtl="0" eaLnBrk="0">
              <a:lnSpc>
                <a:spcPct val="114000"/>
              </a:lnSpc>
              <a:spcBef>
                <a:spcPts val="675"/>
              </a:spcBef>
              <a:tabLst>
                <a:tab pos="288290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700" kern="0" spc="7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DataFrame</a:t>
            </a: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是一个二维的表结构。</a:t>
            </a:r>
            <a:r>
              <a:rPr sz="2700" kern="0" spc="29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Pandas</a:t>
            </a: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的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DataFrame</a:t>
            </a: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可以存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储许多种不同的数据类型，并且每一个坐标轴都有自己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的标签。</a:t>
            </a:r>
            <a:endParaRPr sz="27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pic>
        <p:nvPicPr>
          <p:cNvPr id="498" name="picture 4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59467" y="5116923"/>
            <a:ext cx="252115" cy="260637"/>
          </a:xfrm>
          <a:prstGeom prst="rect">
            <a:avLst/>
          </a:prstGeom>
        </p:spPr>
      </p:pic>
      <p:pic>
        <p:nvPicPr>
          <p:cNvPr id="500" name="picture 5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9467" y="3580477"/>
            <a:ext cx="252115" cy="260637"/>
          </a:xfrm>
          <a:prstGeom prst="rect">
            <a:avLst/>
          </a:prstGeom>
        </p:spPr>
      </p:pic>
      <p:pic>
        <p:nvPicPr>
          <p:cNvPr id="510" name="picture 5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213592" y="6022847"/>
            <a:ext cx="861059" cy="835151"/>
          </a:xfrm>
          <a:prstGeom prst="rect">
            <a:avLst/>
          </a:prstGeom>
        </p:spPr>
      </p:pic>
      <p:sp>
        <p:nvSpPr>
          <p:cNvPr id="512" name="textbox 512"/>
          <p:cNvSpPr/>
          <p:nvPr/>
        </p:nvSpPr>
        <p:spPr>
          <a:xfrm>
            <a:off x="2623546" y="442376"/>
            <a:ext cx="1701165" cy="476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algn="r" rtl="0" eaLnBrk="0">
              <a:lnSpc>
                <a:spcPct val="76000"/>
              </a:lnSpc>
            </a:pPr>
            <a:r>
              <a:rPr sz="3900" kern="0" spc="-30" dirty="0">
                <a:solidFill>
                  <a:srgbClr val="1353A2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Pandas</a:t>
            </a:r>
            <a:endParaRPr sz="39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sp>
        <p:nvSpPr>
          <p:cNvPr id="514" name="path 514"/>
          <p:cNvSpPr/>
          <p:nvPr/>
        </p:nvSpPr>
        <p:spPr>
          <a:xfrm>
            <a:off x="2318766" y="1085088"/>
            <a:ext cx="9282557" cy="38100"/>
          </a:xfrm>
          <a:custGeom>
            <a:avLst/>
            <a:gdLst/>
            <a:ahLst/>
            <a:cxnLst/>
            <a:rect l="0" t="0" r="0" b="0"/>
            <a:pathLst>
              <a:path w="14618" h="60">
                <a:moveTo>
                  <a:pt x="0" y="30"/>
                </a:moveTo>
                <a:lnTo>
                  <a:pt x="14618" y="30"/>
                </a:lnTo>
              </a:path>
            </a:pathLst>
          </a:custGeom>
          <a:noFill/>
          <a:ln w="38100" cap="flat">
            <a:solidFill>
              <a:srgbClr val="1369B2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picture 5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887468" y="2101595"/>
            <a:ext cx="6790945" cy="3561588"/>
          </a:xfrm>
          <a:prstGeom prst="rect">
            <a:avLst/>
          </a:prstGeom>
        </p:spPr>
      </p:pic>
      <p:pic>
        <p:nvPicPr>
          <p:cNvPr id="518" name="picture 5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1916" y="2101595"/>
            <a:ext cx="3683507" cy="2627376"/>
          </a:xfrm>
          <a:prstGeom prst="rect">
            <a:avLst/>
          </a:prstGeom>
        </p:spPr>
      </p:pic>
      <p:sp>
        <p:nvSpPr>
          <p:cNvPr id="528" name="textbox 528"/>
          <p:cNvSpPr/>
          <p:nvPr/>
        </p:nvSpPr>
        <p:spPr>
          <a:xfrm>
            <a:off x="5233035" y="1450340"/>
            <a:ext cx="3107055" cy="404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12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Pandas.frame</a:t>
            </a:r>
            <a:endParaRPr sz="2700" dirty="0">
              <a:latin typeface="Arial" panose="020B0604020202020204" pitchFamily="34" charset="0"/>
              <a:ea typeface="PingFang SC"/>
              <a:cs typeface="Arial" panose="020B0604020202020204" pitchFamily="34" charset="0"/>
            </a:endParaRPr>
          </a:p>
        </p:txBody>
      </p:sp>
      <p:sp>
        <p:nvSpPr>
          <p:cNvPr id="532" name="textbox 532"/>
          <p:cNvSpPr/>
          <p:nvPr/>
        </p:nvSpPr>
        <p:spPr>
          <a:xfrm>
            <a:off x="1740535" y="1444625"/>
            <a:ext cx="2933065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76000"/>
              </a:lnSpc>
            </a:pP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Pandas.Series</a:t>
            </a:r>
            <a:endParaRPr sz="2700" dirty="0">
              <a:latin typeface="Arial" panose="020B0604020202020204" pitchFamily="34" charset="0"/>
              <a:ea typeface="PingFang SC"/>
              <a:cs typeface="Arial" panose="020B0604020202020204" pitchFamily="34" charset="0"/>
            </a:endParaRPr>
          </a:p>
        </p:txBody>
      </p:sp>
      <p:sp>
        <p:nvSpPr>
          <p:cNvPr id="534" name="textbox 534"/>
          <p:cNvSpPr/>
          <p:nvPr/>
        </p:nvSpPr>
        <p:spPr>
          <a:xfrm>
            <a:off x="2623546" y="442376"/>
            <a:ext cx="1701165" cy="476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algn="r" rtl="0" eaLnBrk="0">
              <a:lnSpc>
                <a:spcPct val="76000"/>
              </a:lnSpc>
            </a:pPr>
            <a:r>
              <a:rPr sz="3900" kern="0" spc="-30" dirty="0">
                <a:solidFill>
                  <a:srgbClr val="1353A2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Pandas</a:t>
            </a:r>
            <a:endParaRPr sz="39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sp>
        <p:nvSpPr>
          <p:cNvPr id="536" name="path 536"/>
          <p:cNvSpPr/>
          <p:nvPr/>
        </p:nvSpPr>
        <p:spPr>
          <a:xfrm>
            <a:off x="2318766" y="1085088"/>
            <a:ext cx="9282557" cy="38100"/>
          </a:xfrm>
          <a:custGeom>
            <a:avLst/>
            <a:gdLst/>
            <a:ahLst/>
            <a:cxnLst/>
            <a:rect l="0" t="0" r="0" b="0"/>
            <a:pathLst>
              <a:path w="14618" h="60">
                <a:moveTo>
                  <a:pt x="0" y="30"/>
                </a:moveTo>
                <a:lnTo>
                  <a:pt x="14618" y="30"/>
                </a:lnTo>
              </a:path>
            </a:pathLst>
          </a:custGeom>
          <a:noFill/>
          <a:ln w="38100" cap="flat">
            <a:solidFill>
              <a:srgbClr val="1369B2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textbox 538"/>
          <p:cNvSpPr/>
          <p:nvPr/>
        </p:nvSpPr>
        <p:spPr>
          <a:xfrm>
            <a:off x="920490" y="1491189"/>
            <a:ext cx="10483850" cy="30118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34290" algn="l" rtl="0" eaLnBrk="0">
              <a:lnSpc>
                <a:spcPct val="92000"/>
              </a:lnSpc>
            </a:pP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matplotlib</a:t>
            </a:r>
            <a:r>
              <a:rPr sz="2700" kern="0" spc="18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是最流行的用于生成绘图和其他2D</a:t>
            </a:r>
            <a:r>
              <a:rPr sz="2700" kern="0" spc="17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和3D数据可视化的</a:t>
            </a:r>
            <a:endParaRPr sz="27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13970" indent="29210" algn="l" rtl="0" eaLnBrk="0">
              <a:lnSpc>
                <a:spcPct val="130000"/>
              </a:lnSpc>
              <a:spcBef>
                <a:spcPts val="10"/>
              </a:spcBef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Python</a:t>
            </a:r>
            <a:r>
              <a:rPr sz="2700" kern="0" spc="1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库。它最初是由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John</a:t>
            </a:r>
            <a:r>
              <a:rPr sz="2700" kern="0" spc="1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d</a:t>
            </a:r>
            <a:r>
              <a:rPr sz="2700" kern="0" spc="1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.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Hunter</a:t>
            </a:r>
            <a:r>
              <a:rPr sz="2700" kern="0" spc="1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(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JDH</a:t>
            </a:r>
            <a:r>
              <a:rPr sz="2700" kern="0" spc="1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)创建的，现</a:t>
            </a:r>
            <a:r>
              <a:rPr sz="27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在由一个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大型开发团队维护。它非常适合于创建用于发布和展示的图形。</a:t>
            </a:r>
            <a:endParaRPr sz="27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12700" indent="643890" algn="l" rtl="0" eaLnBrk="0">
              <a:lnSpc>
                <a:spcPct val="123000"/>
              </a:lnSpc>
              <a:spcBef>
                <a:spcPts val="145"/>
              </a:spcBef>
            </a:pP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它与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IPython</a:t>
            </a: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集成得很好，从而为绘图和探测数据提供了一个舒</a:t>
            </a:r>
            <a:r>
              <a:rPr sz="27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适的交互式环境。这些图也具有互动性；可以在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plot</a:t>
            </a: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窗口中使用工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具栏来放大图的一部分。</a:t>
            </a:r>
            <a:endParaRPr sz="27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sp>
        <p:nvSpPr>
          <p:cNvPr id="548" name="textbox 548"/>
          <p:cNvSpPr/>
          <p:nvPr/>
        </p:nvSpPr>
        <p:spPr>
          <a:xfrm>
            <a:off x="2616944" y="435774"/>
            <a:ext cx="2494915" cy="56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900" kern="0" spc="140" dirty="0">
                <a:solidFill>
                  <a:srgbClr val="1353A2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matplotlib</a:t>
            </a:r>
            <a:endParaRPr sz="39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sp>
        <p:nvSpPr>
          <p:cNvPr id="552" name="path 552"/>
          <p:cNvSpPr/>
          <p:nvPr/>
        </p:nvSpPr>
        <p:spPr>
          <a:xfrm>
            <a:off x="2318766" y="1085088"/>
            <a:ext cx="9282557" cy="38100"/>
          </a:xfrm>
          <a:custGeom>
            <a:avLst/>
            <a:gdLst/>
            <a:ahLst/>
            <a:cxnLst/>
            <a:rect l="0" t="0" r="0" b="0"/>
            <a:pathLst>
              <a:path w="14618" h="60">
                <a:moveTo>
                  <a:pt x="0" y="30"/>
                </a:moveTo>
                <a:lnTo>
                  <a:pt x="14618" y="30"/>
                </a:lnTo>
              </a:path>
            </a:pathLst>
          </a:custGeom>
          <a:noFill/>
          <a:ln w="38100" cap="flat">
            <a:solidFill>
              <a:srgbClr val="1369B2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54" name="picture 5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575646" y="1134109"/>
            <a:ext cx="50615" cy="622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picture 5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106424" y="1362456"/>
            <a:ext cx="9745980" cy="4305300"/>
          </a:xfrm>
          <a:prstGeom prst="rect">
            <a:avLst/>
          </a:prstGeom>
        </p:spPr>
      </p:pic>
      <p:sp>
        <p:nvSpPr>
          <p:cNvPr id="566" name="textbox 566"/>
          <p:cNvSpPr/>
          <p:nvPr/>
        </p:nvSpPr>
        <p:spPr>
          <a:xfrm>
            <a:off x="2616944" y="435774"/>
            <a:ext cx="2494915" cy="56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900" kern="0" spc="140" dirty="0">
                <a:solidFill>
                  <a:srgbClr val="1353A2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matplotlib</a:t>
            </a:r>
            <a:endParaRPr sz="39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sp>
        <p:nvSpPr>
          <p:cNvPr id="570" name="path 570"/>
          <p:cNvSpPr/>
          <p:nvPr/>
        </p:nvSpPr>
        <p:spPr>
          <a:xfrm>
            <a:off x="2318766" y="1085088"/>
            <a:ext cx="9282557" cy="38100"/>
          </a:xfrm>
          <a:custGeom>
            <a:avLst/>
            <a:gdLst/>
            <a:ahLst/>
            <a:cxnLst/>
            <a:rect l="0" t="0" r="0" b="0"/>
            <a:pathLst>
              <a:path w="14618" h="60">
                <a:moveTo>
                  <a:pt x="0" y="30"/>
                </a:moveTo>
                <a:lnTo>
                  <a:pt x="14618" y="30"/>
                </a:lnTo>
              </a:path>
            </a:pathLst>
          </a:custGeom>
          <a:noFill/>
          <a:ln w="38100" cap="flat">
            <a:solidFill>
              <a:srgbClr val="1369B2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72" name="picture 5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575646" y="1134109"/>
            <a:ext cx="50615" cy="622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picture 5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59080" y="1839468"/>
            <a:ext cx="11682985" cy="3578352"/>
          </a:xfrm>
          <a:prstGeom prst="rect">
            <a:avLst/>
          </a:prstGeom>
        </p:spPr>
      </p:pic>
      <p:sp>
        <p:nvSpPr>
          <p:cNvPr id="584" name="textbox 584"/>
          <p:cNvSpPr/>
          <p:nvPr/>
        </p:nvSpPr>
        <p:spPr>
          <a:xfrm>
            <a:off x="2616944" y="435774"/>
            <a:ext cx="2494915" cy="56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900" kern="0" spc="140" dirty="0">
                <a:solidFill>
                  <a:srgbClr val="1353A2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matplotlib</a:t>
            </a:r>
            <a:endParaRPr sz="39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sp>
        <p:nvSpPr>
          <p:cNvPr id="588" name="path 588"/>
          <p:cNvSpPr/>
          <p:nvPr/>
        </p:nvSpPr>
        <p:spPr>
          <a:xfrm>
            <a:off x="2318766" y="1085088"/>
            <a:ext cx="9282557" cy="38100"/>
          </a:xfrm>
          <a:custGeom>
            <a:avLst/>
            <a:gdLst/>
            <a:ahLst/>
            <a:cxnLst/>
            <a:rect l="0" t="0" r="0" b="0"/>
            <a:pathLst>
              <a:path w="14618" h="60">
                <a:moveTo>
                  <a:pt x="0" y="30"/>
                </a:moveTo>
                <a:lnTo>
                  <a:pt x="14618" y="30"/>
                </a:lnTo>
              </a:path>
            </a:pathLst>
          </a:custGeom>
          <a:noFill/>
          <a:ln w="38100" cap="flat">
            <a:solidFill>
              <a:srgbClr val="1369B2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90" name="picture 5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575646" y="1134109"/>
            <a:ext cx="50615" cy="622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picture 5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668779" y="1249679"/>
            <a:ext cx="3983736" cy="5257800"/>
          </a:xfrm>
          <a:prstGeom prst="rect">
            <a:avLst/>
          </a:prstGeom>
        </p:spPr>
      </p:pic>
      <p:pic>
        <p:nvPicPr>
          <p:cNvPr id="594" name="picture 5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48627" y="1280159"/>
            <a:ext cx="3945636" cy="4969764"/>
          </a:xfrm>
          <a:prstGeom prst="rect">
            <a:avLst/>
          </a:prstGeom>
        </p:spPr>
      </p:pic>
      <p:sp>
        <p:nvSpPr>
          <p:cNvPr id="604" name="textbox 604"/>
          <p:cNvSpPr/>
          <p:nvPr/>
        </p:nvSpPr>
        <p:spPr>
          <a:xfrm>
            <a:off x="2616944" y="435774"/>
            <a:ext cx="2494915" cy="56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900" kern="0" spc="140" dirty="0">
                <a:solidFill>
                  <a:srgbClr val="1353A2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matplotlib</a:t>
            </a:r>
            <a:endParaRPr sz="39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sp>
        <p:nvSpPr>
          <p:cNvPr id="608" name="path 608"/>
          <p:cNvSpPr/>
          <p:nvPr/>
        </p:nvSpPr>
        <p:spPr>
          <a:xfrm>
            <a:off x="2318766" y="1085088"/>
            <a:ext cx="9282557" cy="38100"/>
          </a:xfrm>
          <a:custGeom>
            <a:avLst/>
            <a:gdLst/>
            <a:ahLst/>
            <a:cxnLst/>
            <a:rect l="0" t="0" r="0" b="0"/>
            <a:pathLst>
              <a:path w="14618" h="60">
                <a:moveTo>
                  <a:pt x="0" y="30"/>
                </a:moveTo>
                <a:lnTo>
                  <a:pt x="14618" y="30"/>
                </a:lnTo>
              </a:path>
            </a:pathLst>
          </a:custGeom>
          <a:noFill/>
          <a:ln w="38100" cap="flat">
            <a:solidFill>
              <a:srgbClr val="1369B2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10" name="picture 6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575646" y="1134109"/>
            <a:ext cx="50615" cy="622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picture 6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135124" y="1299972"/>
            <a:ext cx="3749040" cy="5128260"/>
          </a:xfrm>
          <a:prstGeom prst="rect">
            <a:avLst/>
          </a:prstGeom>
        </p:spPr>
      </p:pic>
      <p:pic>
        <p:nvPicPr>
          <p:cNvPr id="614" name="picture 6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80860" y="1365504"/>
            <a:ext cx="3765803" cy="5079492"/>
          </a:xfrm>
          <a:prstGeom prst="rect">
            <a:avLst/>
          </a:prstGeom>
        </p:spPr>
      </p:pic>
      <p:sp>
        <p:nvSpPr>
          <p:cNvPr id="624" name="textbox 624"/>
          <p:cNvSpPr/>
          <p:nvPr/>
        </p:nvSpPr>
        <p:spPr>
          <a:xfrm>
            <a:off x="2616944" y="435774"/>
            <a:ext cx="2494915" cy="56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900" kern="0" spc="140" dirty="0">
                <a:solidFill>
                  <a:srgbClr val="1353A2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matplotlib</a:t>
            </a:r>
            <a:endParaRPr sz="39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sp>
        <p:nvSpPr>
          <p:cNvPr id="628" name="path 628"/>
          <p:cNvSpPr/>
          <p:nvPr/>
        </p:nvSpPr>
        <p:spPr>
          <a:xfrm>
            <a:off x="2318766" y="1085088"/>
            <a:ext cx="9282557" cy="38100"/>
          </a:xfrm>
          <a:custGeom>
            <a:avLst/>
            <a:gdLst/>
            <a:ahLst/>
            <a:cxnLst/>
            <a:rect l="0" t="0" r="0" b="0"/>
            <a:pathLst>
              <a:path w="14618" h="60">
                <a:moveTo>
                  <a:pt x="0" y="30"/>
                </a:moveTo>
                <a:lnTo>
                  <a:pt x="14618" y="30"/>
                </a:lnTo>
              </a:path>
            </a:pathLst>
          </a:custGeom>
          <a:noFill/>
          <a:ln w="38100" cap="flat">
            <a:solidFill>
              <a:srgbClr val="1369B2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30" name="picture 6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575646" y="1134109"/>
            <a:ext cx="50615" cy="622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textbox 656"/>
          <p:cNvSpPr/>
          <p:nvPr/>
        </p:nvSpPr>
        <p:spPr>
          <a:xfrm>
            <a:off x="924041" y="1491189"/>
            <a:ext cx="10156825" cy="4585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22860" algn="l" rtl="0" eaLnBrk="0">
              <a:lnSpc>
                <a:spcPct val="92000"/>
              </a:lnSpc>
            </a:pP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Statsmodels</a:t>
            </a:r>
            <a:r>
              <a:rPr sz="2700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是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Python</a:t>
            </a:r>
            <a:r>
              <a:rPr sz="2700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的统计建模和计量经济学工具包，包括一</a:t>
            </a:r>
            <a:endParaRPr sz="27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12700" algn="l" rtl="0" eaLnBrk="0">
              <a:lnSpc>
                <a:spcPts val="4035"/>
              </a:lnSpc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些描述统计、统计模型估计和推断。主要功能包括：</a:t>
            </a:r>
            <a:endParaRPr sz="27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26670" algn="l" rtl="0" eaLnBrk="0">
              <a:lnSpc>
                <a:spcPct val="89000"/>
              </a:lnSpc>
              <a:spcBef>
                <a:spcPts val="830"/>
              </a:spcBef>
              <a:tabLst>
                <a:tab pos="20764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Liner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regression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models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：线性回归模型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26670" algn="l" rtl="0" eaLnBrk="0">
              <a:lnSpc>
                <a:spcPct val="89000"/>
              </a:lnSpc>
              <a:spcBef>
                <a:spcPts val="745"/>
              </a:spcBef>
              <a:tabLst>
                <a:tab pos="20764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Gneralized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linear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models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：</a:t>
            </a:r>
            <a:r>
              <a:rPr sz="2000" kern="0" spc="-1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一般线型模型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26670" algn="l" rtl="0" eaLnBrk="0">
              <a:lnSpc>
                <a:spcPct val="89000"/>
              </a:lnSpc>
              <a:spcBef>
                <a:spcPts val="745"/>
              </a:spcBef>
              <a:tabLst>
                <a:tab pos="20764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Robust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linear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models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：鲁棒线性模型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26670" algn="l" rtl="0" eaLnBrk="0">
              <a:lnSpc>
                <a:spcPct val="89000"/>
              </a:lnSpc>
              <a:spcBef>
                <a:spcPts val="745"/>
              </a:spcBef>
              <a:tabLst>
                <a:tab pos="20764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Discrete choice models：离散选择模型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26670" algn="l" rtl="0" eaLnBrk="0">
              <a:lnSpc>
                <a:spcPct val="89000"/>
              </a:lnSpc>
              <a:spcBef>
                <a:spcPts val="745"/>
              </a:spcBef>
              <a:tabLst>
                <a:tab pos="20764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ANOVA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：方差分析模型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26670" algn="l" rtl="0" eaLnBrk="0">
              <a:lnSpc>
                <a:spcPct val="89000"/>
              </a:lnSpc>
              <a:spcBef>
                <a:spcPts val="745"/>
              </a:spcBef>
              <a:tabLst>
                <a:tab pos="20764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Time series anal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ysis：时间序列分析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26670" algn="l" rtl="0" eaLnBrk="0">
              <a:lnSpc>
                <a:spcPct val="89000"/>
              </a:lnSpc>
              <a:spcBef>
                <a:spcPts val="745"/>
              </a:spcBef>
              <a:tabLst>
                <a:tab pos="20764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0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Nonparametric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estimators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：非参检验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26670" algn="l" rtl="0" eaLnBrk="0">
              <a:lnSpc>
                <a:spcPct val="89000"/>
              </a:lnSpc>
              <a:spcBef>
                <a:spcPts val="745"/>
              </a:spcBef>
              <a:tabLst>
                <a:tab pos="20764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a wide range of s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tatistical tests：各种统计检验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26670" algn="l" rtl="0" eaLnBrk="0">
              <a:lnSpc>
                <a:spcPct val="89000"/>
              </a:lnSpc>
              <a:spcBef>
                <a:spcPts val="745"/>
              </a:spcBef>
              <a:tabLst>
                <a:tab pos="20764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 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以各种方式输出表格： text， latex， html；读取各种格式的数据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algn="l" rtl="0" eaLnBrk="0">
              <a:lnSpc>
                <a:spcPct val="103000"/>
              </a:lnSpc>
            </a:pPr>
            <a:endParaRPr sz="6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26670" algn="l" rtl="0" eaLnBrk="0">
              <a:lnSpc>
                <a:spcPct val="89000"/>
              </a:lnSpc>
              <a:spcBef>
                <a:spcPts val="5"/>
              </a:spcBef>
              <a:tabLst>
                <a:tab pos="20764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绘图功能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pic>
        <p:nvPicPr>
          <p:cNvPr id="658" name="picture 6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51044" y="5812346"/>
            <a:ext cx="180917" cy="187032"/>
          </a:xfrm>
          <a:prstGeom prst="rect">
            <a:avLst/>
          </a:prstGeom>
        </p:spPr>
      </p:pic>
      <p:pic>
        <p:nvPicPr>
          <p:cNvPr id="660" name="picture 6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1018" y="5446809"/>
            <a:ext cx="180700" cy="186808"/>
          </a:xfrm>
          <a:prstGeom prst="rect">
            <a:avLst/>
          </a:prstGeom>
        </p:spPr>
      </p:pic>
      <p:pic>
        <p:nvPicPr>
          <p:cNvPr id="662" name="picture 6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1018" y="5081024"/>
            <a:ext cx="180700" cy="186808"/>
          </a:xfrm>
          <a:prstGeom prst="rect">
            <a:avLst/>
          </a:prstGeom>
        </p:spPr>
      </p:pic>
      <p:pic>
        <p:nvPicPr>
          <p:cNvPr id="664" name="picture 6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51018" y="4715264"/>
            <a:ext cx="180700" cy="186808"/>
          </a:xfrm>
          <a:prstGeom prst="rect">
            <a:avLst/>
          </a:prstGeom>
        </p:spPr>
      </p:pic>
      <p:pic>
        <p:nvPicPr>
          <p:cNvPr id="666" name="picture 6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1018" y="4349250"/>
            <a:ext cx="180700" cy="186808"/>
          </a:xfrm>
          <a:prstGeom prst="rect">
            <a:avLst/>
          </a:prstGeom>
        </p:spPr>
      </p:pic>
      <p:pic>
        <p:nvPicPr>
          <p:cNvPr id="668" name="picture 6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51018" y="3983490"/>
            <a:ext cx="180700" cy="186808"/>
          </a:xfrm>
          <a:prstGeom prst="rect">
            <a:avLst/>
          </a:prstGeom>
        </p:spPr>
      </p:pic>
      <p:pic>
        <p:nvPicPr>
          <p:cNvPr id="670" name="picture 6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1018" y="3617730"/>
            <a:ext cx="180700" cy="186808"/>
          </a:xfrm>
          <a:prstGeom prst="rect">
            <a:avLst/>
          </a:prstGeom>
        </p:spPr>
      </p:pic>
      <p:pic>
        <p:nvPicPr>
          <p:cNvPr id="672" name="picture 6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51044" y="3251365"/>
            <a:ext cx="180917" cy="187032"/>
          </a:xfrm>
          <a:prstGeom prst="rect">
            <a:avLst/>
          </a:prstGeom>
        </p:spPr>
      </p:pic>
      <p:pic>
        <p:nvPicPr>
          <p:cNvPr id="674" name="picture 6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51018" y="2885829"/>
            <a:ext cx="180700" cy="186808"/>
          </a:xfrm>
          <a:prstGeom prst="rect">
            <a:avLst/>
          </a:prstGeom>
        </p:spPr>
      </p:pic>
      <p:pic>
        <p:nvPicPr>
          <p:cNvPr id="676" name="picture 6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1018" y="2520069"/>
            <a:ext cx="180700" cy="186808"/>
          </a:xfrm>
          <a:prstGeom prst="rect">
            <a:avLst/>
          </a:prstGeom>
        </p:spPr>
      </p:pic>
      <p:sp>
        <p:nvSpPr>
          <p:cNvPr id="686" name="textbox 686"/>
          <p:cNvSpPr/>
          <p:nvPr/>
        </p:nvSpPr>
        <p:spPr>
          <a:xfrm>
            <a:off x="2601711" y="435774"/>
            <a:ext cx="2907665" cy="56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900" kern="0" spc="70" dirty="0">
                <a:solidFill>
                  <a:srgbClr val="1353A2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statsmodels</a:t>
            </a:r>
            <a:endParaRPr sz="39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sp>
        <p:nvSpPr>
          <p:cNvPr id="690" name="path 690"/>
          <p:cNvSpPr/>
          <p:nvPr/>
        </p:nvSpPr>
        <p:spPr>
          <a:xfrm>
            <a:off x="2318766" y="1085088"/>
            <a:ext cx="9282557" cy="38100"/>
          </a:xfrm>
          <a:custGeom>
            <a:avLst/>
            <a:gdLst/>
            <a:ahLst/>
            <a:cxnLst/>
            <a:rect l="0" t="0" r="0" b="0"/>
            <a:pathLst>
              <a:path w="14618" h="60">
                <a:moveTo>
                  <a:pt x="0" y="30"/>
                </a:moveTo>
                <a:lnTo>
                  <a:pt x="14618" y="30"/>
                </a:lnTo>
              </a:path>
            </a:pathLst>
          </a:custGeom>
          <a:noFill/>
          <a:ln w="38100" cap="flat">
            <a:solidFill>
              <a:srgbClr val="1369B2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textbox 692"/>
          <p:cNvSpPr/>
          <p:nvPr/>
        </p:nvSpPr>
        <p:spPr>
          <a:xfrm>
            <a:off x="920490" y="1491189"/>
            <a:ext cx="10496550" cy="4653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26670" algn="l" rtl="0" eaLnBrk="0">
              <a:lnSpc>
                <a:spcPct val="92000"/>
              </a:lnSpc>
            </a:pP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SciPy</a:t>
            </a:r>
            <a:r>
              <a:rPr sz="2700" kern="0" spc="15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</a:t>
            </a:r>
            <a:r>
              <a:rPr sz="27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是基于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Numpy</a:t>
            </a:r>
            <a:r>
              <a:rPr sz="27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构建在科学计算中处理多个不同标准问题域的</a:t>
            </a:r>
            <a:endParaRPr sz="27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12700" algn="l" rtl="0" eaLnBrk="0">
              <a:lnSpc>
                <a:spcPts val="4035"/>
              </a:lnSpc>
            </a:pP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包的集合。主要包括以下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模块包括：</a:t>
            </a:r>
            <a:endParaRPr sz="27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30480" algn="l" rtl="0" eaLnBrk="0">
              <a:lnSpc>
                <a:spcPct val="89000"/>
              </a:lnSpc>
              <a:spcBef>
                <a:spcPts val="830"/>
              </a:spcBef>
              <a:tabLst>
                <a:tab pos="21082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000" kern="0" spc="5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scipy.integrate: 数值积分和微分方程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求解器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30480" algn="l" rtl="0" eaLnBrk="0">
              <a:lnSpc>
                <a:spcPct val="89000"/>
              </a:lnSpc>
              <a:spcBef>
                <a:spcPts val="745"/>
              </a:spcBef>
              <a:tabLst>
                <a:tab pos="21082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000" kern="0" spc="64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scipy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.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linalg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: 拓展了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numpy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.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linalg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中的线性代数和矩阵分解功能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30480" algn="l" rtl="0" eaLnBrk="0">
              <a:lnSpc>
                <a:spcPct val="89000"/>
              </a:lnSpc>
              <a:spcBef>
                <a:spcPts val="745"/>
              </a:spcBef>
              <a:tabLst>
                <a:tab pos="21145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000" kern="0" spc="5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scipy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.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optimize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:函数优化器(最小化器)和根查找算法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30480" algn="l" rtl="0" eaLnBrk="0">
              <a:lnSpc>
                <a:spcPct val="89000"/>
              </a:lnSpc>
              <a:spcBef>
                <a:spcPts val="745"/>
              </a:spcBef>
              <a:tabLst>
                <a:tab pos="21082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000" kern="0" spc="5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scipy.signal: 信号处理工具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30480" algn="l" rtl="0" eaLnBrk="0">
              <a:lnSpc>
                <a:spcPct val="89000"/>
              </a:lnSpc>
              <a:spcBef>
                <a:spcPts val="745"/>
              </a:spcBef>
              <a:tabLst>
                <a:tab pos="21082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000" kern="0" spc="5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scipy.spar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se: 系数矩阵和线性系统求解器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30480" algn="l" rtl="0" eaLnBrk="0">
              <a:lnSpc>
                <a:spcPct val="89000"/>
              </a:lnSpc>
              <a:spcBef>
                <a:spcPts val="745"/>
              </a:spcBef>
              <a:tabLst>
                <a:tab pos="21082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000" kern="0" spc="5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scipy.special: 对于SPECFUN的封装，</a:t>
            </a:r>
            <a:r>
              <a:rPr sz="2000" kern="0" spc="5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S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PECFUN库实现了许多常见的数学函数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354965" indent="-324485" algn="l" rtl="0" eaLnBrk="0">
              <a:lnSpc>
                <a:spcPct val="110000"/>
              </a:lnSpc>
              <a:spcBef>
                <a:spcPts val="755"/>
              </a:spcBef>
              <a:tabLst>
                <a:tab pos="21082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000" kern="0" spc="5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scipy.stats: 标准连续和离散概率分布(密度函数，采样器，连续分布函数)，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各种统计检验，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和更多的描述性统计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30480" algn="l" rtl="0" eaLnBrk="0">
              <a:lnSpc>
                <a:spcPct val="89000"/>
              </a:lnSpc>
              <a:spcBef>
                <a:spcPts val="470"/>
              </a:spcBef>
              <a:tabLst>
                <a:tab pos="21082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	</a:t>
            </a:r>
            <a:r>
              <a:rPr sz="2000" kern="0" spc="57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scipy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.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weave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: 使用内联c++代码来加速数组计算的工具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89000"/>
              </a:lnSpc>
              <a:spcBef>
                <a:spcPts val="0"/>
              </a:spcBef>
            </a:pPr>
            <a:r>
              <a:rPr sz="2400" kern="0" spc="-2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通过结合使用NumPy和SciPy能够实现绝大部分matlab及其工具包的功能。</a:t>
            </a:r>
            <a:endParaRPr sz="24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pic>
        <p:nvPicPr>
          <p:cNvPr id="694" name="picture 6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51018" y="5446809"/>
            <a:ext cx="180700" cy="186808"/>
          </a:xfrm>
          <a:prstGeom prst="rect">
            <a:avLst/>
          </a:prstGeom>
        </p:spPr>
      </p:pic>
      <p:pic>
        <p:nvPicPr>
          <p:cNvPr id="696" name="picture 6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1018" y="4715264"/>
            <a:ext cx="180700" cy="186808"/>
          </a:xfrm>
          <a:prstGeom prst="rect">
            <a:avLst/>
          </a:prstGeom>
        </p:spPr>
      </p:pic>
      <p:pic>
        <p:nvPicPr>
          <p:cNvPr id="698" name="picture 6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51018" y="4349250"/>
            <a:ext cx="180700" cy="186808"/>
          </a:xfrm>
          <a:prstGeom prst="rect">
            <a:avLst/>
          </a:prstGeom>
        </p:spPr>
      </p:pic>
      <p:pic>
        <p:nvPicPr>
          <p:cNvPr id="700" name="picture 7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1018" y="3983490"/>
            <a:ext cx="180700" cy="186808"/>
          </a:xfrm>
          <a:prstGeom prst="rect">
            <a:avLst/>
          </a:prstGeom>
        </p:spPr>
      </p:pic>
      <p:pic>
        <p:nvPicPr>
          <p:cNvPr id="702" name="picture 7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51018" y="3617730"/>
            <a:ext cx="180700" cy="186808"/>
          </a:xfrm>
          <a:prstGeom prst="rect">
            <a:avLst/>
          </a:prstGeom>
        </p:spPr>
      </p:pic>
      <p:pic>
        <p:nvPicPr>
          <p:cNvPr id="704" name="picture 7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51044" y="3251365"/>
            <a:ext cx="180917" cy="187032"/>
          </a:xfrm>
          <a:prstGeom prst="rect">
            <a:avLst/>
          </a:prstGeom>
        </p:spPr>
      </p:pic>
      <p:pic>
        <p:nvPicPr>
          <p:cNvPr id="706" name="picture 7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51018" y="2885829"/>
            <a:ext cx="180700" cy="186808"/>
          </a:xfrm>
          <a:prstGeom prst="rect">
            <a:avLst/>
          </a:prstGeom>
        </p:spPr>
      </p:pic>
      <p:pic>
        <p:nvPicPr>
          <p:cNvPr id="708" name="picture 7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51018" y="2520069"/>
            <a:ext cx="180700" cy="186808"/>
          </a:xfrm>
          <a:prstGeom prst="rect">
            <a:avLst/>
          </a:prstGeom>
        </p:spPr>
      </p:pic>
      <p:sp>
        <p:nvSpPr>
          <p:cNvPr id="720" name="textbox 720"/>
          <p:cNvSpPr/>
          <p:nvPr/>
        </p:nvSpPr>
        <p:spPr>
          <a:xfrm>
            <a:off x="2605773" y="435774"/>
            <a:ext cx="1255395" cy="56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900" kern="0" spc="-80" dirty="0">
                <a:solidFill>
                  <a:srgbClr val="1353A2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SciPy</a:t>
            </a:r>
            <a:endParaRPr sz="39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sp>
        <p:nvSpPr>
          <p:cNvPr id="722" name="path 722"/>
          <p:cNvSpPr/>
          <p:nvPr/>
        </p:nvSpPr>
        <p:spPr>
          <a:xfrm>
            <a:off x="2318766" y="1085088"/>
            <a:ext cx="9282557" cy="38100"/>
          </a:xfrm>
          <a:custGeom>
            <a:avLst/>
            <a:gdLst/>
            <a:ahLst/>
            <a:cxnLst/>
            <a:rect l="0" t="0" r="0" b="0"/>
            <a:pathLst>
              <a:path w="14618" h="60">
                <a:moveTo>
                  <a:pt x="0" y="30"/>
                </a:moveTo>
                <a:lnTo>
                  <a:pt x="14618" y="30"/>
                </a:lnTo>
              </a:path>
            </a:pathLst>
          </a:custGeom>
          <a:noFill/>
          <a:ln w="38100" cap="flat">
            <a:solidFill>
              <a:srgbClr val="1369B2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24" name="picture 7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588300" y="1121664"/>
            <a:ext cx="113886" cy="746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textbox 726"/>
          <p:cNvSpPr/>
          <p:nvPr/>
        </p:nvSpPr>
        <p:spPr>
          <a:xfrm>
            <a:off x="937535" y="1491189"/>
            <a:ext cx="10748010" cy="3488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algn="r" rtl="0" eaLnBrk="0">
              <a:lnSpc>
                <a:spcPct val="92000"/>
              </a:lnSpc>
            </a:pP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scikit</a:t>
            </a:r>
            <a:r>
              <a:rPr sz="2700" b="1" kern="0" spc="13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-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learn</a:t>
            </a: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是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Python</a:t>
            </a: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的一个开源机器</a:t>
            </a:r>
            <a:r>
              <a:rPr sz="27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学习模块，它建立在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NumPy</a:t>
            </a:r>
            <a:r>
              <a:rPr sz="27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，</a:t>
            </a:r>
            <a:endParaRPr sz="27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13970" algn="l" rtl="0" eaLnBrk="0">
              <a:lnSpc>
                <a:spcPts val="4035"/>
              </a:lnSpc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SciPy</a:t>
            </a:r>
            <a:r>
              <a:rPr sz="27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和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matplotlib</a:t>
            </a:r>
            <a:r>
              <a:rPr sz="27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模块之上，实现了大量的机器学习算法。包括：</a:t>
            </a:r>
            <a:endParaRPr sz="27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461645" indent="-448310" algn="l" rtl="0" eaLnBrk="0">
              <a:lnSpc>
                <a:spcPct val="114000"/>
              </a:lnSpc>
              <a:spcBef>
                <a:spcPts val="830"/>
              </a:spcBef>
              <a:tabLst>
                <a:tab pos="1936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	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 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Classification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：分类 -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SVM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,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nearest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neighbors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,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random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forest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,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logistic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regression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,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   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etc.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13335" algn="l" rtl="0" eaLnBrk="0">
              <a:lnSpc>
                <a:spcPct val="89000"/>
              </a:lnSpc>
              <a:spcBef>
                <a:spcPts val="295"/>
              </a:spcBef>
              <a:tabLst>
                <a:tab pos="19431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	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Regression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：回归</a:t>
            </a:r>
            <a:r>
              <a:rPr sz="2000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- Lasso, ridge regression,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etc.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13335" algn="l" rtl="0" eaLnBrk="0">
              <a:lnSpc>
                <a:spcPct val="85000"/>
              </a:lnSpc>
              <a:spcBef>
                <a:spcPts val="740"/>
              </a:spcBef>
              <a:tabLst>
                <a:tab pos="1936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	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 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Clustering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：聚类 -</a:t>
            </a:r>
            <a:r>
              <a:rPr sz="2000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100" i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k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-means, spectral clustering, etc.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13335" algn="l" rtl="0" eaLnBrk="0">
              <a:lnSpc>
                <a:spcPct val="89000"/>
              </a:lnSpc>
              <a:spcBef>
                <a:spcPts val="745"/>
              </a:spcBef>
              <a:tabLst>
                <a:tab pos="1936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	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 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Dimensionality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reduction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： 降维 -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PCA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,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feature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selection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,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matrix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factorization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,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etc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.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marL="13335" algn="l" rtl="0" eaLnBrk="0">
              <a:lnSpc>
                <a:spcPct val="89000"/>
              </a:lnSpc>
              <a:spcBef>
                <a:spcPts val="745"/>
              </a:spcBef>
              <a:tabLst>
                <a:tab pos="1936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	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 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Model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selection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：</a:t>
            </a:r>
            <a:r>
              <a:rPr sz="2000" kern="0" spc="-14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模型选择 - Grid search, cross-va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lidation, metrics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  <a:p>
            <a:pPr algn="l" rtl="0" eaLnBrk="0">
              <a:lnSpc>
                <a:spcPct val="103000"/>
              </a:lnSpc>
            </a:pPr>
            <a:endParaRPr sz="6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13335" algn="l" rtl="0" eaLnBrk="0">
              <a:lnSpc>
                <a:spcPct val="89000"/>
              </a:lnSpc>
              <a:spcBef>
                <a:spcPts val="5"/>
              </a:spcBef>
              <a:tabLst>
                <a:tab pos="1936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	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  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Preprocessing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：预处理 -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Feature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extraction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,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normalization</a:t>
            </a:r>
            <a:endParaRPr sz="20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pic>
        <p:nvPicPr>
          <p:cNvPr id="728" name="picture 7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51018" y="4715264"/>
            <a:ext cx="180700" cy="186808"/>
          </a:xfrm>
          <a:prstGeom prst="rect">
            <a:avLst/>
          </a:prstGeom>
        </p:spPr>
      </p:pic>
      <p:pic>
        <p:nvPicPr>
          <p:cNvPr id="730" name="picture 7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1018" y="4349250"/>
            <a:ext cx="180700" cy="186808"/>
          </a:xfrm>
          <a:prstGeom prst="rect">
            <a:avLst/>
          </a:prstGeom>
        </p:spPr>
      </p:pic>
      <p:pic>
        <p:nvPicPr>
          <p:cNvPr id="732" name="picture 7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51018" y="3983490"/>
            <a:ext cx="180700" cy="186808"/>
          </a:xfrm>
          <a:prstGeom prst="rect">
            <a:avLst/>
          </a:prstGeom>
        </p:spPr>
      </p:pic>
      <p:pic>
        <p:nvPicPr>
          <p:cNvPr id="734" name="picture 7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1018" y="3617730"/>
            <a:ext cx="180700" cy="186808"/>
          </a:xfrm>
          <a:prstGeom prst="rect">
            <a:avLst/>
          </a:prstGeom>
        </p:spPr>
      </p:pic>
      <p:pic>
        <p:nvPicPr>
          <p:cNvPr id="736" name="picture 7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51044" y="3251365"/>
            <a:ext cx="180917" cy="187032"/>
          </a:xfrm>
          <a:prstGeom prst="rect">
            <a:avLst/>
          </a:prstGeom>
        </p:spPr>
      </p:pic>
      <p:pic>
        <p:nvPicPr>
          <p:cNvPr id="738" name="picture 7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1018" y="2520069"/>
            <a:ext cx="180700" cy="186808"/>
          </a:xfrm>
          <a:prstGeom prst="rect">
            <a:avLst/>
          </a:prstGeom>
        </p:spPr>
      </p:pic>
      <p:sp>
        <p:nvSpPr>
          <p:cNvPr id="748" name="textbox 748"/>
          <p:cNvSpPr/>
          <p:nvPr/>
        </p:nvSpPr>
        <p:spPr>
          <a:xfrm>
            <a:off x="2601711" y="435774"/>
            <a:ext cx="2621280" cy="56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900" kern="0" spc="-30" dirty="0">
                <a:solidFill>
                  <a:srgbClr val="1353A2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scikit-lear</a:t>
            </a:r>
            <a:r>
              <a:rPr sz="3900" kern="0" spc="-40" dirty="0">
                <a:solidFill>
                  <a:srgbClr val="1353A2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n</a:t>
            </a:r>
            <a:endParaRPr sz="39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sp>
        <p:nvSpPr>
          <p:cNvPr id="752" name="path 752"/>
          <p:cNvSpPr/>
          <p:nvPr/>
        </p:nvSpPr>
        <p:spPr>
          <a:xfrm>
            <a:off x="2318766" y="1085088"/>
            <a:ext cx="9282557" cy="38100"/>
          </a:xfrm>
          <a:custGeom>
            <a:avLst/>
            <a:gdLst/>
            <a:ahLst/>
            <a:cxnLst/>
            <a:rect l="0" t="0" r="0" b="0"/>
            <a:pathLst>
              <a:path w="14618" h="60">
                <a:moveTo>
                  <a:pt x="0" y="30"/>
                </a:moveTo>
                <a:lnTo>
                  <a:pt x="14618" y="30"/>
                </a:lnTo>
              </a:path>
            </a:pathLst>
          </a:custGeom>
          <a:noFill/>
          <a:ln w="38100" cap="flat">
            <a:solidFill>
              <a:srgbClr val="1369B2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picture 7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00228" y="1517904"/>
            <a:ext cx="11609832" cy="4375404"/>
          </a:xfrm>
          <a:prstGeom prst="rect">
            <a:avLst/>
          </a:prstGeom>
        </p:spPr>
      </p:pic>
      <p:sp>
        <p:nvSpPr>
          <p:cNvPr id="764" name="textbox 764"/>
          <p:cNvSpPr/>
          <p:nvPr/>
        </p:nvSpPr>
        <p:spPr>
          <a:xfrm>
            <a:off x="2601711" y="435774"/>
            <a:ext cx="2621280" cy="56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900" kern="0" spc="-30" dirty="0">
                <a:solidFill>
                  <a:srgbClr val="1353A2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scikit-lear</a:t>
            </a:r>
            <a:r>
              <a:rPr sz="3900" kern="0" spc="-40" dirty="0">
                <a:solidFill>
                  <a:srgbClr val="1353A2">
                    <a:alpha val="100000"/>
                  </a:srgbClr>
                </a:solidFill>
                <a:latin typeface="Arial" panose="020B0604020202020204" pitchFamily="34" charset="0"/>
                <a:ea typeface="PingFang TC"/>
                <a:cs typeface="Arial" panose="020B0604020202020204" pitchFamily="34" charset="0"/>
              </a:rPr>
              <a:t>n</a:t>
            </a:r>
            <a:endParaRPr sz="3900" dirty="0">
              <a:latin typeface="Arial" panose="020B0604020202020204" pitchFamily="34" charset="0"/>
              <a:ea typeface="PingFang TC"/>
              <a:cs typeface="Arial" panose="020B0604020202020204" pitchFamily="34" charset="0"/>
            </a:endParaRPr>
          </a:p>
        </p:txBody>
      </p:sp>
      <p:sp>
        <p:nvSpPr>
          <p:cNvPr id="768" name="path 768"/>
          <p:cNvSpPr/>
          <p:nvPr/>
        </p:nvSpPr>
        <p:spPr>
          <a:xfrm>
            <a:off x="2318766" y="1085088"/>
            <a:ext cx="9282557" cy="38100"/>
          </a:xfrm>
          <a:custGeom>
            <a:avLst/>
            <a:gdLst/>
            <a:ahLst/>
            <a:cxnLst/>
            <a:rect l="0" t="0" r="0" b="0"/>
            <a:pathLst>
              <a:path w="14618" h="60">
                <a:moveTo>
                  <a:pt x="0" y="30"/>
                </a:moveTo>
                <a:lnTo>
                  <a:pt x="14618" y="30"/>
                </a:lnTo>
              </a:path>
            </a:pathLst>
          </a:custGeom>
          <a:noFill/>
          <a:ln w="38100" cap="flat">
            <a:solidFill>
              <a:srgbClr val="1369B2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2263</Words>
  <Application>WPS 演示</Application>
  <PresentationFormat/>
  <Paragraphs>116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PingFang TC</vt:lpstr>
      <vt:lpstr>Segoe Print</vt:lpstr>
      <vt:lpstr>Arial</vt:lpstr>
      <vt:lpstr>PingFang SC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孟 凡</dc:creator>
  <cp:lastModifiedBy>GJ</cp:lastModifiedBy>
  <cp:revision>2</cp:revision>
  <dcterms:created xsi:type="dcterms:W3CDTF">2026-03-03T15:16:00Z</dcterms:created>
  <dcterms:modified xsi:type="dcterms:W3CDTF">2026-03-04T00:24:46Z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2026-03-02T00:48:10Z</vt:filetime>
  </property>
  <property fmtid="{D5CDD505-2E9C-101B-9397-08002B2CF9AE}" pid="4" name="KSOProductBuildVer">
    <vt:lpwstr>2052-12.1.0.25225</vt:lpwstr>
  </property>
  <property fmtid="{D5CDD505-2E9C-101B-9397-08002B2CF9AE}" pid="5" name="ICV">
    <vt:lpwstr>7ADF7967FF7F4D759749CDBB87080CF5_13</vt:lpwstr>
  </property>
</Properties>
</file>