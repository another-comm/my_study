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29"/>
  </p:handoutMasterIdLst>
  <p:sldIdLst>
    <p:sldId id="848" r:id="rId3"/>
    <p:sldId id="1773" r:id="rId4"/>
    <p:sldId id="1798" r:id="rId5"/>
    <p:sldId id="1796" r:id="rId6"/>
    <p:sldId id="1775" r:id="rId7"/>
    <p:sldId id="1776" r:id="rId8"/>
    <p:sldId id="1777" r:id="rId9"/>
    <p:sldId id="1778" r:id="rId10"/>
    <p:sldId id="1779" r:id="rId11"/>
    <p:sldId id="1780" r:id="rId12"/>
    <p:sldId id="1782" r:id="rId14"/>
    <p:sldId id="1781" r:id="rId15"/>
    <p:sldId id="1783" r:id="rId16"/>
    <p:sldId id="1784" r:id="rId17"/>
    <p:sldId id="1785" r:id="rId18"/>
    <p:sldId id="1786" r:id="rId19"/>
    <p:sldId id="1787" r:id="rId20"/>
    <p:sldId id="1788" r:id="rId21"/>
    <p:sldId id="1789" r:id="rId22"/>
    <p:sldId id="1790" r:id="rId23"/>
    <p:sldId id="1791" r:id="rId24"/>
    <p:sldId id="1792" r:id="rId25"/>
    <p:sldId id="1793" r:id="rId26"/>
    <p:sldId id="1794" r:id="rId27"/>
    <p:sldId id="1820" r:id="rId28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4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dotDmnd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5" y="4445"/>
            <a:ext cx="12157075" cy="1002030"/>
          </a:xfrm>
          <a:gradFill>
            <a:gsLst>
              <a:gs pos="100000">
                <a:srgbClr val="0070C0"/>
              </a:gs>
              <a:gs pos="53000">
                <a:schemeClr val="accent1">
                  <a:lumMod val="45000"/>
                  <a:lumOff val="55000"/>
                </a:schemeClr>
              </a:gs>
              <a:gs pos="29000">
                <a:schemeClr val="accent1">
                  <a:lumMod val="45000"/>
                  <a:lumOff val="55000"/>
                </a:schemeClr>
              </a:gs>
              <a:gs pos="1000">
                <a:schemeClr val="accent1">
                  <a:lumMod val="30000"/>
                  <a:lumOff val="70000"/>
                </a:schemeClr>
              </a:gs>
            </a:gsLst>
            <a:lin ang="8100000" scaled="0"/>
          </a:gradFill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21435"/>
            <a:ext cx="10515600" cy="463994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1905" y="1040765"/>
            <a:ext cx="12157075" cy="0"/>
          </a:xfrm>
          <a:prstGeom prst="line">
            <a:avLst/>
          </a:prstGeom>
          <a:ln w="66675" cmpd="sng">
            <a:solidFill>
              <a:srgbClr val="00B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589915" y="1062990"/>
            <a:ext cx="0" cy="5121275"/>
          </a:xfrm>
          <a:prstGeom prst="line">
            <a:avLst/>
          </a:prstGeom>
          <a:ln w="476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0640" y="1122680"/>
            <a:ext cx="12091670" cy="2387600"/>
          </a:xfrm>
        </p:spPr>
        <p:txBody>
          <a:bodyPr/>
          <a:p>
            <a:pPr fontAlgn="auto">
              <a:lnSpc>
                <a:spcPct val="120000"/>
              </a:lnSpc>
            </a:pPr>
            <a:r>
              <a:rPr lang="zh-CN" altLang="en-US"/>
              <a:t>第</a:t>
            </a:r>
            <a:r>
              <a:rPr lang="en-US" altLang="zh-CN"/>
              <a:t>10</a:t>
            </a:r>
            <a:r>
              <a:rPr lang="zh-CN" altLang="en-US"/>
              <a:t>章  文件与文件夹操作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2298065"/>
          </a:xfrm>
        </p:spPr>
        <p:txBody>
          <a:bodyPr>
            <a:normAutofit/>
          </a:bodyPr>
          <a:p>
            <a:endParaRPr lang="zh-CN" altLang="en-US" sz="2800"/>
          </a:p>
          <a:p>
            <a:endParaRPr lang="zh-CN" altLang="en-US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10.1  os模块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4"/>
          <p:cNvSpPr/>
          <p:nvPr>
            <p:ph idx="1"/>
          </p:nvPr>
        </p:nvSpPr>
        <p:spPr>
          <a:xfrm>
            <a:off x="851535" y="1261745"/>
            <a:ext cx="10515600" cy="4639945"/>
          </a:xfrm>
        </p:spPr>
        <p:txBody>
          <a:bodyPr/>
          <a:p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os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模块常用的目录操作函数</a:t>
            </a:r>
            <a:endParaRPr lang="zh-CN" altLang="en-US" sz="2000"/>
          </a:p>
          <a:p>
            <a:endParaRPr lang="zh-CN" altLang="en-US" sz="2000"/>
          </a:p>
        </p:txBody>
      </p:sp>
      <p:graphicFrame>
        <p:nvGraphicFramePr>
          <p:cNvPr id="53252" name="表格 5325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01420" y="1737995"/>
          <a:ext cx="9815195" cy="458089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3802380"/>
                <a:gridCol w="6012815"/>
              </a:tblGrid>
              <a:tr h="37338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函数名称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91" marR="68591" marT="34295" marB="34295"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使用说明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91" marR="68591" marT="34295" marB="3429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45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92075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0" i="0" u="none" kern="1200" baseline="0" dirty="0" err="1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mkdir</a:t>
                      </a:r>
                      <a:r>
                        <a:rPr lang="en-US" altLang="zh-CN" sz="20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(path[, mode=0o777])</a:t>
                      </a:r>
                      <a:endParaRPr lang="en-US" altLang="zh-CN" sz="2000" b="0" i="0" u="none" kern="1200" baseline="0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ea"/>
                      </a:endParaRPr>
                    </a:p>
                  </a:txBody>
                  <a:tcPr marL="2715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indent="92075" algn="l">
                        <a:buNone/>
                      </a:pPr>
                      <a:r>
                        <a:rPr lang="zh-CN" altLang="en-US" sz="2000" b="0" u="non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创建目录，要求上级目录必须存在</a:t>
                      </a:r>
                      <a:endParaRPr lang="zh-CN" altLang="en-US" sz="2000" b="0" u="non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92075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0" i="0" u="none" kern="1200" baseline="0" dirty="0" err="1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makedirs</a:t>
                      </a:r>
                      <a:r>
                        <a:rPr lang="en-US" altLang="zh-CN" sz="2000" b="0" i="0" u="none" kern="1200" baseline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(path1/path2…, mode=511)</a:t>
                      </a:r>
                      <a:endParaRPr lang="en-US" altLang="zh-CN" sz="2000" b="0" i="0" u="none" kern="1200" baseline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ea"/>
                      </a:endParaRPr>
                    </a:p>
                  </a:txBody>
                  <a:tcPr marL="2715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indent="92075" algn="l">
                        <a:buNone/>
                      </a:pPr>
                      <a:r>
                        <a:rPr lang="zh-CN" altLang="en-US" sz="2000" b="0" u="non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创建多级目录，会根据需要自动创建中间缺失的目录</a:t>
                      </a:r>
                      <a:endParaRPr lang="zh-CN" altLang="en-US" sz="2000" b="0" u="non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356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Arial" panose="020B0604020202020204" pitchFamily="34" charset="0"/>
                        <a:buNone/>
                      </a:pPr>
                      <a:r>
                        <a:rPr lang="en-US" altLang="x-none" sz="20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rmdir</a:t>
                      </a:r>
                      <a:r>
                        <a:rPr lang="en-US" altLang="x-none" sz="2000" b="0" i="0" u="none" kern="1200" baseline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(path)</a:t>
                      </a:r>
                      <a:endParaRPr lang="en-US" altLang="x-none" sz="2000" b="0" i="0" u="none" kern="1200" baseline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ea"/>
                      </a:endParaRPr>
                    </a:p>
                  </a:txBody>
                  <a:tcPr marL="68591" marR="68591" marT="34295" marB="34295"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删除目录，要求该文件夹中不能有文件或子文件夹</a:t>
                      </a:r>
                      <a:endParaRPr lang="zh-CN" altLang="en-US" sz="20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91" marR="68591" marT="34295" marB="3429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356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Arial" panose="020B0604020202020204" pitchFamily="34" charset="0"/>
                        <a:buNone/>
                      </a:pPr>
                      <a:r>
                        <a:rPr lang="en-US" altLang="x-none" sz="20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removedirs</a:t>
                      </a:r>
                      <a:r>
                        <a:rPr lang="en-US" altLang="x-none" sz="2000" b="0" i="0" u="none" kern="1200" baseline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(path1/path2…)</a:t>
                      </a:r>
                      <a:endParaRPr lang="en-US" altLang="x-none" sz="2000" b="0" i="0" u="none" kern="1200" baseline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ea"/>
                      </a:endParaRPr>
                    </a:p>
                  </a:txBody>
                  <a:tcPr marL="68591" marR="68591" marT="34295" marB="34295"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删除多级目录</a:t>
                      </a:r>
                      <a:endParaRPr lang="zh-CN" altLang="en-US" sz="20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91" marR="68591" marT="34295" marB="3429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Arial" panose="020B0604020202020204" pitchFamily="34" charset="0"/>
                        <a:buNone/>
                      </a:pPr>
                      <a:r>
                        <a:rPr lang="en-US" altLang="x-none" sz="20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listdir(path)</a:t>
                      </a:r>
                      <a:endParaRPr lang="en-US" altLang="x-none" sz="2000" b="0" i="0" u="none" kern="1200" baseline="0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ea"/>
                      </a:endParaRPr>
                    </a:p>
                  </a:txBody>
                  <a:tcPr marL="68591" marR="68591" marT="34295" marB="34295"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返回指定目录下所有文件信息</a:t>
                      </a:r>
                      <a:endParaRPr lang="zh-CN" altLang="en-US" sz="20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91" marR="68591" marT="34295" marB="3429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Arial" panose="020B0604020202020204" pitchFamily="34" charset="0"/>
                        <a:buNone/>
                      </a:pPr>
                      <a:r>
                        <a:rPr lang="en-US" altLang="x-none" sz="2000" b="0" i="0" u="none" kern="1200" baseline="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getcwd()</a:t>
                      </a:r>
                      <a:endParaRPr lang="en-US" altLang="x-none" sz="2000" b="0" i="0" u="none" kern="1200" baseline="0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ea"/>
                      </a:endParaRPr>
                    </a:p>
                  </a:txBody>
                  <a:tcPr marL="68591" marR="68591" marT="34295" marB="34295"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返回当前工作目录</a:t>
                      </a:r>
                      <a:endParaRPr lang="zh-CN" altLang="en-US" sz="20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91" marR="68591" marT="34295" marB="3429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Arial" panose="020B0604020202020204" pitchFamily="34" charset="0"/>
                        <a:buNone/>
                      </a:pPr>
                      <a:r>
                        <a:rPr lang="en-US" altLang="x-none" sz="20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chdir(path)</a:t>
                      </a:r>
                      <a:endParaRPr lang="en-US" altLang="x-none" sz="2000" b="0" i="0" u="none" kern="1200" baseline="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ea"/>
                      </a:endParaRPr>
                    </a:p>
                  </a:txBody>
                  <a:tcPr marL="68591" marR="68591" marT="34295" marB="34295"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把</a:t>
                      </a:r>
                      <a:r>
                        <a:rPr lang="en-US" altLang="x-none" sz="2000" b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path</a:t>
                      </a:r>
                      <a:r>
                        <a:rPr lang="zh-CN" altLang="en-US" sz="2000" b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设为当前工作目录</a:t>
                      </a:r>
                      <a:endParaRPr lang="zh-CN" altLang="en-US" sz="20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91" marR="68591" marT="34295" marB="3429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61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lvl="0" indent="92075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Arial" panose="020B0604020202020204" pitchFamily="34" charset="0"/>
                        <a:buNone/>
                      </a:pPr>
                      <a:r>
                        <a:rPr lang="en-US" altLang="zh-CN" sz="2000" b="0" i="0" u="none" kern="1200" baseline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walk(top, </a:t>
                      </a:r>
                      <a:r>
                        <a:rPr lang="en-US" altLang="zh-CN" sz="2000" b="0" i="0" u="none" kern="1200" baseline="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topdown</a:t>
                      </a:r>
                      <a:r>
                        <a:rPr lang="en-US" altLang="zh-CN" sz="2000" b="0" i="0" u="none" kern="1200" baseline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=True, </a:t>
                      </a:r>
                      <a:r>
                        <a:rPr lang="en-US" altLang="zh-CN" sz="2000" b="0" i="0" u="none" kern="1200" baseline="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onerror</a:t>
                      </a:r>
                      <a:r>
                        <a:rPr lang="en-US" altLang="zh-CN" sz="2000" b="0" i="0" u="none" kern="1200" baseline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ea"/>
                        </a:rPr>
                        <a:t>=None)</a:t>
                      </a:r>
                      <a:endParaRPr lang="en-US" altLang="zh-CN" sz="2000" b="0" i="0" u="none" kern="1200" baseline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ea"/>
                      </a:endParaRPr>
                    </a:p>
                  </a:txBody>
                  <a:tcPr marL="27150" marR="0" marT="0" marB="0"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Pct val="90000"/>
                        <a:buFont typeface="Wingdings" panose="05000000000000000000" pitchFamily="2" charset="2"/>
                        <a:buBlip>
                          <a:blip r:embed="rId2"/>
                        </a:buBlip>
                        <a:defRPr sz="2800" b="0" i="0" u="none" kern="1200" baseline="0">
                          <a:solidFill>
                            <a:srgbClr val="00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buChar char="–"/>
                        <a:defRPr sz="24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2pPr>
                      <a:lvl3pPr marL="1143000" lvl="2" indent="-228600" algn="l">
                        <a:buClr>
                          <a:srgbClr val="333399"/>
                        </a:buClr>
                        <a:buSzPct val="90000"/>
                        <a:buBlip>
                          <a:blip r:embed="rId3"/>
                        </a:buBlip>
                        <a:defRPr sz="20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3pPr>
                      <a:lvl4pPr marL="1600200" lvl="3" indent="-228600" algn="l">
                        <a:buChar char="–"/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4pPr>
                      <a:lvl5pPr marL="2057400" lvl="4" indent="-228600" algn="l">
                        <a:buClr>
                          <a:srgbClr val="99CC00"/>
                        </a:buClr>
                        <a:buSzPct val="90000"/>
                        <a:buBlip>
                          <a:blip r:embed="rId4"/>
                        </a:buBlip>
                        <a:defRPr sz="1800" kern="120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defRPr>
                      </a:lvl5pPr>
                    </a:lstStyle>
                    <a:p>
                      <a:pPr marL="0" indent="92075" algn="l">
                        <a:buNone/>
                      </a:pPr>
                      <a:r>
                        <a:rPr lang="zh-CN" altLang="en-US" sz="2000" b="0" u="non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遍历目录树，该方法返回一个元组，包括</a:t>
                      </a:r>
                      <a:r>
                        <a:rPr lang="en-US" altLang="zh-CN" sz="2000" b="0" u="non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r>
                        <a:rPr lang="zh-CN" altLang="en-US" sz="2000" b="0" u="non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个元素：所有路径名、所有目录列表与文件列表</a:t>
                      </a:r>
                      <a:endParaRPr lang="en-US" sz="2000" b="0" u="non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10.1  os模块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4"/>
          <p:cNvSpPr/>
          <p:nvPr>
            <p:ph idx="1"/>
          </p:nvPr>
        </p:nvSpPr>
        <p:spPr/>
        <p:txBody>
          <a:bodyPr/>
          <a:p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os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模块常用的文件操作函数</a:t>
            </a:r>
            <a:endParaRPr lang="zh-CN" altLang="en-US" sz="2000"/>
          </a:p>
          <a:p>
            <a:endParaRPr lang="zh-CN" altLang="en-US" sz="2000"/>
          </a:p>
        </p:txBody>
      </p:sp>
      <p:graphicFrame>
        <p:nvGraphicFramePr>
          <p:cNvPr id="11" name="Table -1"/>
          <p:cNvGraphicFramePr/>
          <p:nvPr>
            <p:custDataLst>
              <p:tags r:id="rId1"/>
            </p:custDataLst>
          </p:nvPr>
        </p:nvGraphicFramePr>
        <p:xfrm>
          <a:off x="1119505" y="1712595"/>
          <a:ext cx="8976995" cy="3641725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4862195"/>
                <a:gridCol w="4114800"/>
              </a:tblGrid>
              <a:tr h="28892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1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altLang="en-US" sz="1800" b="1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800" b="1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功能说明</a:t>
                      </a:r>
                      <a:endParaRPr lang="zh-CN" altLang="en-US" sz="1800" b="1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7215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chmod(path, mode, *, dir_fd=None, follow_symlinks=True)</a:t>
                      </a:r>
                      <a:endParaRPr lang="en-US" altLang="zh-CN" sz="2000" b="0" u="none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改变文件的访问权限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29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curdir</a:t>
                      </a:r>
                      <a:endParaRPr lang="en-US" altLang="zh-CN" sz="2000" b="0" u="none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当前文件夹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environ</a:t>
                      </a:r>
                      <a:endParaRPr lang="en-US" altLang="zh-CN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包含系统环境变量和值的字典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29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extsep</a:t>
                      </a:r>
                      <a:endParaRPr lang="en-US" altLang="zh-CN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当前操作系统所使用的文件扩展名分隔符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get_exec_path()</a:t>
                      </a:r>
                      <a:endParaRPr lang="en-US" altLang="zh-CN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返回可执行文件的搜索路径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7215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open(path, flags, mode=0o777, *, dir_fd=None)</a:t>
                      </a:r>
                      <a:endParaRPr lang="en-US" altLang="zh-CN" sz="2000" b="0" u="none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按照</a:t>
                      </a: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mode</a:t>
                      </a: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指定的权限打开文件，默认权限为可读、可写、可执行</a:t>
                      </a:r>
                      <a:endParaRPr 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popen(cmd, mode='r', buffering=-1)</a:t>
                      </a:r>
                      <a:endParaRPr lang="en-US" altLang="zh-CN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创建进程，启动外部程序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10.1  os模块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3" name="Content Placeholder -1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38200" y="1321435"/>
          <a:ext cx="10515600" cy="3138805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4221480"/>
                <a:gridCol w="6294120"/>
              </a:tblGrid>
              <a:tr h="20574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2000" b="1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altLang="en-US" sz="2000" b="1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2000" b="1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功能说明</a:t>
                      </a:r>
                      <a:endParaRPr lang="zh-CN" altLang="en-US" sz="2000" b="1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remove(path)</a:t>
                      </a:r>
                      <a:endParaRPr lang="en-US" altLang="zh-CN" sz="2000" b="0" u="none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删除指定的文件，要求用户拥有删除文件的权限，并且文件没有只读或其他特殊属性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rename(src, dst)</a:t>
                      </a:r>
                      <a:endParaRPr lang="en-US" altLang="zh-CN" sz="2000" b="0" u="none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重命名文件或目录，可以实现文件的移动，若目标文件已存在则抛出异常，不能跨越磁盘或分区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replace</a:t>
                      </a: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(old, new)</a:t>
                      </a:r>
                      <a:endParaRPr lang="en-US" altLang="zh-CN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重命名文件或目录，若目标文件已存在则直接覆盖，不能跨越磁盘或分区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115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scandir</a:t>
                      </a: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(path='.')</a:t>
                      </a:r>
                      <a:endParaRPr lang="en-US" altLang="zh-CN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返回包含指定文件夹中所有</a:t>
                      </a: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DirEntry</a:t>
                      </a: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对象的迭代对象，遍历文件夹时比</a:t>
                      </a: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listdir()</a:t>
                      </a: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更加高效</a:t>
                      </a:r>
                      <a:endParaRPr 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74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sep</a:t>
                      </a:r>
                      <a:endParaRPr lang="en-US" altLang="zh-CN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当前操作系统所使用的路径分隔符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781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startfile(filepath [, operation])</a:t>
                      </a:r>
                      <a:endParaRPr lang="en-US" altLang="zh-CN" sz="2000" b="0" u="none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使用关联的应用程序打开指定文件或启动指定应用程序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74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stat(path)</a:t>
                      </a:r>
                      <a:endParaRPr lang="en-US" altLang="zh-CN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返回文件的所有属性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74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system()</a:t>
                      </a:r>
                      <a:endParaRPr lang="en-US" altLang="zh-CN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启动外部程序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74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truncate(path, length)</a:t>
                      </a:r>
                      <a:endParaRPr lang="en-US" altLang="zh-CN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将文件截断，只保留指定长度的内容</a:t>
                      </a:r>
                      <a:endParaRPr lang="zh-CN" alt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74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write</a:t>
                      </a: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(fd, data)</a:t>
                      </a:r>
                      <a:endParaRPr lang="en-US" altLang="zh-CN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将</a:t>
                      </a: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bytes</a:t>
                      </a: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对象</a:t>
                      </a: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data</a:t>
                      </a:r>
                      <a:r>
                        <a:rPr lang="zh-CN" altLang="en-US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写入文件</a:t>
                      </a:r>
                      <a:r>
                        <a:rPr lang="en-US" altLang="zh-CN" sz="2000" b="0" u="none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fd</a:t>
                      </a:r>
                      <a:endParaRPr lang="en-US" sz="2000" b="0" u="none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10.1  os模块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1243945" cy="5140325"/>
          </a:xfrm>
        </p:spPr>
        <p:txBody>
          <a:bodyPr>
            <a:normAutofit lnSpcReduction="10000"/>
          </a:bodyPr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import os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import os.path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os.rename('C:\\dfg.txt', 'D:\\test2.txt') #rename()可以实现文件的改名和移动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[fname for fname in os.listdir('.')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if fname.endswith(('.pyc', '.py', '.pyw'))]  #结果略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os.getcwd()                                   #返回当前工作目录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'C:\\Python35'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os.mkdir(os.getcwd()+'\\temp')         #创建目录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os.chdir(os.getcwd()+'\\temp')         #改变当前工作目录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os.getcwd()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'C:\\Python35\\temp'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os.mkdir(os.getcwd()+'\\test')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os.listdir('.')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['test']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os.rmdir('test')                       #删除目录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os.listdir('.')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[]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10.1  os模块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os.environ.get('path')                #获取系统变量path的值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import time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time.strftime('%Y-%m-%d %H:%M:%S',    #查看文件创建时间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       time.localtime(os.stat('yilaizhuru2.py').st_ctime))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'2016-10-18 15:58:57'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os.startfile('notepad.exe')           #启动记事本程序</a:t>
            </a:r>
            <a:endParaRPr lang="en-US" sz="20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10.1  os模块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0515600" cy="5034280"/>
          </a:xfrm>
        </p:spPr>
        <p:txBody>
          <a:bodyPr>
            <a:normAutofit lnSpcReduction="10000"/>
          </a:bodyPr>
          <a:p>
            <a:pPr fontAlgn="auto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>
                <a:latin typeface="Consolas" panose="020B0609020204030204" charset="0"/>
              </a:rPr>
              <a:t>如果需要遍历指定目录下所有子目录和文件，可以使用递归的方法。</a:t>
            </a:r>
            <a:endParaRPr lang="en-US" sz="24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from os import listdir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from os.path import join, isfile, isdir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def listDirDepthFirst(directory):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'''深度优先遍历文件夹'''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#遍历文件夹，如果是文件就直接输出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#如果是文件夹，就输出显示，然后递归遍历该文件夹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for subPath in listdir(directory):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path = join(directory, subPath)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if isfile(path):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print(path)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elif isdir(path):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print(path)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listDirDepthFirst(path)</a:t>
            </a:r>
            <a:endParaRPr lang="en-US" sz="20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10.1  os模块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0515600" cy="5273675"/>
          </a:xfrm>
        </p:spPr>
        <p:txBody>
          <a:bodyPr>
            <a:normAutofit fontScale="90000" lnSpcReduction="20000"/>
          </a:bodyPr>
          <a:p>
            <a:pPr fontAlgn="auto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/>
              <a:t>下面的代码使用了广度优先遍历方法。</a:t>
            </a:r>
            <a:endParaRPr lang="en-US" sz="24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from os import listdir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from os.path import join, isfile, isdir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def listDirWidthFirst(directory):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'''广度优先遍历文件夹'''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#使用列表模拟双端队列，效率稍微受影响，不过关系不大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dirs = [directory]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#如果还有没遍历过的文件夹，继续循环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while dirs: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#遍历还没遍历过的第一项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current = dirs.pop(0)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#遍历该文件夹，如果是文件就直接输出显示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#如果是文件夹，输出显示后，标记为待遍历项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for subPath in listdir(current):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path = join(current, subPath)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if isfile(path):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    print(path)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elif isdir(path):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    print(path)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    dirs.append(path)</a:t>
            </a:r>
            <a:endParaRPr lang="en-US" sz="20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10.2  os.path模块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Table -1"/>
          <p:cNvGraphicFramePr/>
          <p:nvPr>
            <p:ph idx="1"/>
          </p:nvPr>
        </p:nvGraphicFramePr>
        <p:xfrm>
          <a:off x="838200" y="1321435"/>
          <a:ext cx="10515600" cy="30181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7140"/>
                <a:gridCol w="7998460"/>
              </a:tblGrid>
              <a:tr h="274349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功能说明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49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abspath(path)</a:t>
                      </a:r>
                      <a:endParaRPr lang="en-US" altLang="zh-CN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返回给定路径的绝对路径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49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basename(path)</a:t>
                      </a:r>
                      <a:endParaRPr lang="en-US" altLang="zh-CN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返回指定路径的最后一个组成部分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49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commonpath(paths)</a:t>
                      </a:r>
                      <a:endParaRPr lang="en-US" altLang="zh-CN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返回给定的多个路径的最长公共路径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49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commonprefix(paths)</a:t>
                      </a:r>
                      <a:endParaRPr lang="en-US" altLang="zh-CN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返回给定的多个路径的最长公共前缀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49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dirname(p)</a:t>
                      </a:r>
                      <a:endParaRPr lang="en-US" altLang="zh-CN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返回给定路径的文件夹部分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49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exists(path)</a:t>
                      </a:r>
                      <a:endParaRPr lang="en-US" altLang="zh-CN" sz="2000" b="0" u="none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判断文件是否存在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49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getatime(filename)</a:t>
                      </a:r>
                      <a:endParaRPr lang="en-US" altLang="zh-CN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返回文件的最后访问时间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49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getctime(filename)</a:t>
                      </a:r>
                      <a:endParaRPr lang="en-US" altLang="zh-CN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返回文件的创建时间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49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getmtime(filename)</a:t>
                      </a:r>
                      <a:endParaRPr lang="en-US" altLang="zh-CN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返回文件的最后修改时间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49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getsize(filename)</a:t>
                      </a:r>
                      <a:endParaRPr lang="en-US" altLang="zh-CN" sz="2000" b="0" u="none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返回文件的大小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3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10.2  os.path模块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Table -1"/>
          <p:cNvGraphicFramePr/>
          <p:nvPr>
            <p:ph idx="1"/>
          </p:nvPr>
        </p:nvGraphicFramePr>
        <p:xfrm>
          <a:off x="838200" y="1321435"/>
          <a:ext cx="10793730" cy="33566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78405"/>
                <a:gridCol w="8315325"/>
              </a:tblGrid>
              <a:tr h="304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2000" b="1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功能说明</a:t>
                      </a:r>
                      <a:endParaRPr lang="zh-CN" altLang="en-US" sz="2000" b="1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73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isabs(path)</a:t>
                      </a:r>
                      <a:endParaRPr lang="en-US" altLang="zh-CN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判断</a:t>
                      </a: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path</a:t>
                      </a: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是否为绝对路径</a:t>
                      </a:r>
                      <a:endParaRPr 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73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isdir(path)</a:t>
                      </a:r>
                      <a:endParaRPr lang="en-US" altLang="zh-CN" sz="2000" b="0" u="none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判断</a:t>
                      </a: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path</a:t>
                      </a: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是否为文件夹</a:t>
                      </a:r>
                      <a:endParaRPr 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73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isfile(path)</a:t>
                      </a:r>
                      <a:endParaRPr lang="en-US" altLang="zh-CN" sz="2000" b="0" u="none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判断</a:t>
                      </a: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path</a:t>
                      </a: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是否为文件</a:t>
                      </a:r>
                      <a:endParaRPr 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73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join(path, *paths)</a:t>
                      </a:r>
                      <a:endParaRPr lang="en-US" altLang="zh-CN" sz="2000" b="0" u="none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连接两个或多个</a:t>
                      </a: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path</a:t>
                      </a:r>
                      <a:endParaRPr 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73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realpath(path)</a:t>
                      </a:r>
                      <a:endParaRPr lang="en-US" altLang="zh-CN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返回给定路径的绝对路径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73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relpath(path)</a:t>
                      </a:r>
                      <a:endParaRPr lang="en-US" altLang="zh-CN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返回给定路径的相对路径，不能跨越磁盘驱动器或分区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73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samefile(f1, f2)</a:t>
                      </a:r>
                      <a:endParaRPr lang="en-US" altLang="zh-CN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</a:t>
                      </a: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f1</a:t>
                      </a: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和</a:t>
                      </a: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f2</a:t>
                      </a: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这两个路径是否引用的同一个文件</a:t>
                      </a:r>
                      <a:endParaRPr 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861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split(path)</a:t>
                      </a:r>
                      <a:endParaRPr lang="en-US" altLang="zh-CN" sz="2000" b="0" u="none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以路径中的最后一个斜线为分隔符把路径分隔成两部分，以元组形式返回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73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splitext(path)</a:t>
                      </a:r>
                      <a:endParaRPr lang="en-US" altLang="zh-CN" sz="2000" b="0" u="none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从路径中分隔文件的扩展名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73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splitdrive(path)</a:t>
                      </a:r>
                      <a:endParaRPr lang="en-US" altLang="zh-CN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20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从路径中分隔驱动器的名称</a:t>
                      </a:r>
                      <a:endParaRPr lang="zh-CN" altLang="en-US" sz="2000" b="0" u="none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10.2  os.path模块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0515600" cy="5148580"/>
          </a:xfrm>
        </p:spPr>
        <p:txBody>
          <a:bodyPr>
            <a:normAutofit lnSpcReduction="10000"/>
          </a:bodyPr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path='D:\\mypython_exp\\new_test.txt'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os.path.dirname(path)                      #返回路径的文件夹名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'D:\\mypython_exp'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os.path.basename(path)                     #返回路径的最后一个组成部分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'new_test.txt'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os.path.split(path)                        #切分文件路径和文件名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('D:\\mypython_exp', 'new_test.txt')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os.path.split('')                          #切分结果为空字符串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('', '')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os.path.split('C:\\windows')               #以最后一个斜线为分隔符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('C:\\', 'windows')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os.path.split('C:\\windows\\')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('C:\\windows', '')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os.path.splitdrive(path)                   #切分驱动器符号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('D:', '\\mypython_exp\\new_test.txt')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os.path.splitext(path)                     #切分文件扩展名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('D:\\mypython_exp\\new_test', '.txt')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10.2  os.path模块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0918825" cy="5301615"/>
          </a:xfrm>
        </p:spPr>
        <p:txBody>
          <a:bodyPr>
            <a:normAutofit lnSpcReduction="10000"/>
          </a:bodyPr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os.path.commonpath([r'C:\windows\notepad.exe', r'C:\windows\system'])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'C:\\windows'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os.path.commonpath([r'a\b\c\d', r'a\b\c\e'])    #返回路径中的共同部分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'a\\b\\c'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os.path.commonprefix([r'a\b\c\d', r'a\b\c\e'])  #返回字符串的最长公共前缀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'a\\b\\c\\'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os.path.realpath('tttt.py')                     #返回绝对路径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'C:\\Python 3.5\\tttt.py'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os.path.abspath('tttt.py')                      #返回绝对路径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'C:\\Python 3.5\\tttt.py'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os.path.relpath('C:\\windows\\notepad.exe')     #返回相对路径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'..\\windows\\notepad.exe'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os.path.relpath('D:\\windows\\notepad.exe')     #相对路径不能跨越分区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FF0000"/>
                </a:solidFill>
                <a:latin typeface="Consolas" panose="020B0609020204030204" charset="0"/>
              </a:rPr>
              <a:t>ValueError: path is on mount 'D:', start on mount 'C:'</a:t>
            </a:r>
            <a:endParaRPr lang="en-US" sz="2000">
              <a:solidFill>
                <a:srgbClr val="FF000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os.path.relpath('C:\\windows\\notepad.exe','dlls')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                                  #指定相对路径的基准位置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'..\\..\\windows\\notepad.exe'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10.3  shutil模块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3" name="Content Placeholder -1"/>
          <p:cNvGraphicFramePr/>
          <p:nvPr>
            <p:ph idx="1"/>
          </p:nvPr>
        </p:nvGraphicFramePr>
        <p:xfrm>
          <a:off x="838200" y="1321435"/>
          <a:ext cx="10515600" cy="521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5125"/>
                <a:gridCol w="7610475"/>
              </a:tblGrid>
              <a:tr h="2743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altLang="en-US" sz="1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功能说明</a:t>
                      </a:r>
                      <a:endParaRPr lang="zh-CN" altLang="en-US" sz="1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copy(src, dst)</a:t>
                      </a:r>
                      <a:endParaRPr lang="en-US" altLang="zh-CN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复制文件，新文件具有同样的文件属性，如果目标文件已存在则抛出异常</a:t>
                      </a:r>
                      <a:endParaRPr lang="zh-CN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copy2(src, dst)</a:t>
                      </a:r>
                      <a:endParaRPr lang="en-US" altLang="zh-CN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复制文件，新文件具有原文件完全一样的属性，包括创建时间、修改时间和最后访问时间等等，如果目标文件已存在则抛出异常</a:t>
                      </a:r>
                      <a:endParaRPr lang="zh-CN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copyfile(src, dst)</a:t>
                      </a:r>
                      <a:endParaRPr lang="en-US" altLang="zh-CN" sz="1800" b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复制文件，不复制文件属性，如果目标文件已存在则直接覆盖</a:t>
                      </a:r>
                      <a:endParaRPr lang="zh-CN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copyfileobj(fsrc, fdst)</a:t>
                      </a:r>
                      <a:endParaRPr lang="en-US" altLang="zh-CN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在两个文件对象之间复制数据，例如</a:t>
                      </a: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copyfileobj(open('123.txt'), open('456.txt', 'a'))</a:t>
                      </a:r>
                      <a:endParaRPr 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copymode(src, dst)</a:t>
                      </a:r>
                      <a:endParaRPr lang="en-US" altLang="zh-CN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把</a:t>
                      </a: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src</a:t>
                      </a: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的模式位（</a:t>
                      </a: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mode bit</a:t>
                      </a: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）复制到</a:t>
                      </a: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dst</a:t>
                      </a: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上，之后二者具有相同的模式</a:t>
                      </a:r>
                      <a:endParaRPr 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copystat(src, dst)</a:t>
                      </a:r>
                      <a:endParaRPr lang="en-US" altLang="zh-CN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把</a:t>
                      </a: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src</a:t>
                      </a: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的模式位、访问时间等所有状态都复制到</a:t>
                      </a: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dst</a:t>
                      </a: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上</a:t>
                      </a:r>
                      <a:endParaRPr 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copytree(src, dst)</a:t>
                      </a:r>
                      <a:endParaRPr lang="en-US" altLang="zh-CN" sz="1800" b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递归复制文件夹</a:t>
                      </a:r>
                      <a:endParaRPr lang="zh-CN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disk_usage(path)</a:t>
                      </a:r>
                      <a:endParaRPr lang="en-US" altLang="zh-CN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查看磁盘使用情况</a:t>
                      </a:r>
                      <a:endParaRPr lang="zh-CN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move(src, dst)</a:t>
                      </a:r>
                      <a:endParaRPr lang="en-US" altLang="zh-CN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移动文件或递归移动文件夹，也可以给文件和文件夹重命名</a:t>
                      </a:r>
                      <a:endParaRPr lang="zh-CN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rmtree(path)</a:t>
                      </a:r>
                      <a:endParaRPr lang="en-US" altLang="zh-CN" sz="1800" b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递归删除文件夹</a:t>
                      </a:r>
                      <a:endParaRPr lang="zh-CN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make_archive(base_name, format, root_dir=None, base_dir=None)</a:t>
                      </a:r>
                      <a:endParaRPr lang="en-US" altLang="zh-CN" sz="1800" b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创建</a:t>
                      </a: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tar</a:t>
                      </a: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lang="en-US" altLang="zh-CN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zip</a:t>
                      </a: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格式的压缩文件</a:t>
                      </a:r>
                      <a:endParaRPr 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unpack_archive(filename, extract_dir=None, format=None)</a:t>
                      </a:r>
                      <a:endParaRPr lang="en-US" altLang="zh-CN" sz="1800" b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解压缩压缩文件</a:t>
                      </a:r>
                      <a:endParaRPr lang="zh-CN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10.3  shutil模块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0515600" cy="3930015"/>
          </a:xfrm>
        </p:spPr>
        <p:txBody>
          <a:bodyPr>
            <a:normAutofit/>
          </a:bodyPr>
          <a:p>
            <a:pPr fontAlgn="auto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/>
              <a:t>下面的代码演示了如何使用标准库shutil的copyfile()方法复制文件。</a:t>
            </a:r>
            <a:endParaRPr lang="en-US" sz="24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import shutil                                   #导入shutil模块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shutil.copyfile('C:\\dir.txt', 'C:\\dir1.txt')  #复制文件</a:t>
            </a:r>
            <a:endParaRPr lang="en-US" sz="2000">
              <a:latin typeface="Consolas" panose="020B0609020204030204" charset="0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/>
              <a:t>下面的代码将C:\Python35\Dlls文件夹以及该文件夹中所有文件压缩至D:\a.zip文件：</a:t>
            </a:r>
            <a:endParaRPr lang="en-US" sz="24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shutil.make_archive('D:\\a', 'zip', 'C:\\Python35', 'Dlls')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00B0F0"/>
                </a:solidFill>
                <a:latin typeface="Consolas" panose="020B0609020204030204" charset="0"/>
              </a:rPr>
              <a:t>'D:\\a.zip'</a:t>
            </a:r>
            <a:endParaRPr lang="en-US" sz="2000">
              <a:solidFill>
                <a:srgbClr val="00B0F0"/>
              </a:solidFill>
              <a:latin typeface="Consolas" panose="020B0609020204030204" charset="0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/>
              <a:t>下面的代码将刚压缩得到的文件D:\a.zip解压缩至D:\a_unpack文件夹：</a:t>
            </a:r>
            <a:endParaRPr lang="en-US" sz="24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shutil.unpack_archive('D:\\a.zip', 'D:\\a_unpack')</a:t>
            </a:r>
            <a:endParaRPr lang="en-US" sz="2000">
              <a:latin typeface="Consolas" panose="020B0609020204030204" charset="0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/>
              <a:t>下面的代码使用shutil模块的方法删除刚刚解压缩得到的文件夹：</a:t>
            </a:r>
            <a:endParaRPr lang="en-US" sz="24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&gt;&gt;&gt; shutil.rmtree('D:\\a_unpack')</a:t>
            </a:r>
            <a:endParaRPr lang="en-US" sz="20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10.3  shutil模块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1071860" cy="4639945"/>
          </a:xfrm>
        </p:spPr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下面的代码使用shutil的copytree()函数递归复制文件夹，并忽略扩展名为pyc的文件和以“新”字开头的文件和子文件夹：</a:t>
            </a:r>
            <a:endParaRPr lang="en-US" sz="2400"/>
          </a:p>
          <a:p>
            <a:pPr marL="0" indent="0">
              <a:buNone/>
            </a:pPr>
            <a:endParaRPr lang="en-US" sz="20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2000">
                <a:latin typeface="Consolas" panose="020B0609020204030204" charset="0"/>
              </a:rPr>
              <a:t>&gt;&gt;&gt; from shutil import copytree, ignore_patterns</a:t>
            </a:r>
            <a:endParaRPr lang="en-US" sz="20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2000">
                <a:latin typeface="Consolas" panose="020B0609020204030204" charset="0"/>
              </a:rPr>
              <a:t>&gt;&gt;&gt; copytree('C:\\python35\\test', 'D:\\des_test', </a:t>
            </a:r>
            <a:endParaRPr lang="en-US" sz="20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2000">
                <a:latin typeface="Consolas" panose="020B0609020204030204" charset="0"/>
              </a:rPr>
              <a:t>             ignore=ignore_patterns('*.pyc', '新*'))</a:t>
            </a:r>
            <a:endParaRPr lang="en-US" sz="20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10.4  精彩案例赏析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0515600" cy="4966335"/>
          </a:xfrm>
        </p:spPr>
        <p:txBody>
          <a:bodyPr>
            <a:normAutofit fontScale="90000"/>
          </a:bodyPr>
          <a:p>
            <a:pPr fontAlgn="auto">
              <a:lnSpc>
                <a:spcPct val="100000"/>
              </a:lnSpc>
              <a:spcBef>
                <a:spcPts val="0"/>
              </a:spcBef>
            </a:pPr>
            <a:r>
              <a:rPr lang="en-US" sz="2400" b="1"/>
              <a:t>示例10-1</a:t>
            </a:r>
            <a:r>
              <a:rPr lang="en-US" sz="2400"/>
              <a:t>   把指定文件夹中的所有文件名批量随机化，保持文件类型不变。</a:t>
            </a:r>
            <a:endParaRPr lang="en-US" sz="24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from string import ascii_letters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from os import listdir, rename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from os.path import splitext, join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from random import choice, randint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def randomFilename(directory):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for fn in listdir(directory):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#切分，得到文件名和扩展名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name, ext = splitext(fn)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n = randint(5, 20)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#生成随机字符串作为新文件名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newName = ''.join((choice(ascii_letters) for i in range(n)))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#修改文件名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rename(join(directory, fn), join(directory, newName+ext))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randomFilename('C:\\test')</a:t>
            </a:r>
            <a:endParaRPr lang="en-US" sz="20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10.4  精彩案例赏析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fontAlgn="auto">
              <a:lnSpc>
                <a:spcPct val="150000"/>
              </a:lnSpc>
            </a:pPr>
            <a:r>
              <a:rPr lang="en-US" sz="2400" b="1"/>
              <a:t>示例10-2</a:t>
            </a:r>
            <a:r>
              <a:rPr lang="en-US" sz="2400"/>
              <a:t>  编写程序，进行文件夹增量备份。</a:t>
            </a:r>
            <a:endParaRPr lang="en-US" sz="2400"/>
          </a:p>
          <a:p>
            <a:pPr fontAlgn="auto">
              <a:lnSpc>
                <a:spcPct val="150000"/>
              </a:lnSpc>
            </a:pPr>
            <a:r>
              <a:rPr lang="en-US" sz="2400"/>
              <a:t>程序功能与用法：指定源文件夹与目标文件夹，自动检测自上次备份以来源文件夹中内容的改变，包括修改的文件、新建的文件、新建的文件夹等等，自动复制新增或修改过的文件到目标文件夹中，自上次备份以来没有修改过的文件将被忽略而不复制，从而实现增量备份。本例属于系统运维的范畴。</a:t>
            </a:r>
            <a:endParaRPr lang="en-US" sz="2400"/>
          </a:p>
          <a:p>
            <a:pPr marL="0" indent="37211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2000">
                <a:latin typeface="Consolas" panose="020B0609020204030204" charset="0"/>
                <a:sym typeface="+mn-ea"/>
              </a:rPr>
              <a:t>import os</a:t>
            </a:r>
            <a:endParaRPr lang="zh-CN" altLang="en-US" sz="2000" strike="noStrike" noProof="1">
              <a:latin typeface="Consolas" panose="020B0609020204030204" charset="0"/>
            </a:endParaRPr>
          </a:p>
          <a:p>
            <a:pPr marL="0" indent="37211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2000">
                <a:latin typeface="Consolas" panose="020B0609020204030204" charset="0"/>
                <a:sym typeface="+mn-ea"/>
              </a:rPr>
              <a:t>import filecmp</a:t>
            </a:r>
            <a:endParaRPr lang="zh-CN" altLang="en-US" sz="2000" strike="noStrike" noProof="1">
              <a:latin typeface="Consolas" panose="020B0609020204030204" charset="0"/>
            </a:endParaRPr>
          </a:p>
          <a:p>
            <a:pPr marL="0" indent="37211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2000">
                <a:latin typeface="Consolas" panose="020B0609020204030204" charset="0"/>
                <a:sym typeface="+mn-ea"/>
              </a:rPr>
              <a:t>import shutil</a:t>
            </a:r>
            <a:endParaRPr lang="zh-CN" altLang="en-US" sz="2000" strike="noStrike" noProof="1">
              <a:latin typeface="Consolas" panose="020B0609020204030204" charset="0"/>
            </a:endParaRPr>
          </a:p>
          <a:p>
            <a:pPr marL="0" indent="37211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2000">
                <a:latin typeface="Consolas" panose="020B0609020204030204" charset="0"/>
                <a:sym typeface="+mn-ea"/>
              </a:rPr>
              <a:t>import sys</a:t>
            </a:r>
            <a:endParaRPr lang="en-US" sz="20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10.4  精彩案例赏析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1042650" cy="5157470"/>
          </a:xfrm>
        </p:spPr>
        <p:txBody>
          <a:bodyPr>
            <a:normAutofit fontScale="90000" lnSpcReduction="10000"/>
          </a:bodyPr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def autoBackup(scrDir, dstDir):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if ((not os.path.isdir(scrDir)) or (not os.path.isdir(dstDir)) or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(os.path.abspath(scrDir)!=scrDir) or (os.path.abspath(dstDir)!=dstDir)):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usage()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for item in os.listdir(scrDir):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scrItem = os.path.join(scrDir, item)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dstItem = scrItem.replace(scrDir,dstDir)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if os.path.isdir(scrItem):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#创建新增的文件夹，保证目标文件夹的结构与原始文件夹一致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if not os.path.exists(dstItem):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    os.makedirs(dstItem)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    print('make directory'+dstItem)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#递归调用自身函数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autoBackup(scrItem, dstItem)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elif os.path.isfile(scrItem):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#只复制新增或修改过的文件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if ((not os.path.exists(dstItem)) or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   (not filecmp.cmp(scrItem, dstItem, shallow=False))):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    shutil.copyfile(scrItem, dstItem)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    print('file:'+scrItem+'==&gt;'+dstItem)</a:t>
            </a:r>
            <a:endParaRPr lang="en-US" sz="20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10.4  精彩案例赏析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1206480" cy="463994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sz="1800">
                <a:latin typeface="Consolas" panose="020B0609020204030204" charset="0"/>
              </a:rPr>
              <a:t>def usage():</a:t>
            </a:r>
            <a:endParaRPr lang="en-US" sz="18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1800">
                <a:latin typeface="Consolas" panose="020B0609020204030204" charset="0"/>
              </a:rPr>
              <a:t>    print('scrDir and dstDir must be existing absolute path of certain directory')</a:t>
            </a:r>
            <a:endParaRPr lang="en-US" sz="18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1800">
                <a:latin typeface="Consolas" panose="020B0609020204030204" charset="0"/>
              </a:rPr>
              <a:t>    print('For example:{0} c:\\olddir c:\\newdir'.format(sys.argv[0]))</a:t>
            </a:r>
            <a:endParaRPr lang="en-US" sz="18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1800">
                <a:latin typeface="Consolas" panose="020B0609020204030204" charset="0"/>
              </a:rPr>
              <a:t>    sys.exit(0)</a:t>
            </a:r>
            <a:endParaRPr lang="en-US" sz="18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1800">
                <a:latin typeface="Consolas" panose="020B0609020204030204" charset="0"/>
              </a:rPr>
              <a:t>    </a:t>
            </a:r>
            <a:endParaRPr lang="en-US" sz="18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1800">
                <a:latin typeface="Consolas" panose="020B0609020204030204" charset="0"/>
              </a:rPr>
              <a:t>if __name__=='__main__':</a:t>
            </a:r>
            <a:endParaRPr lang="en-US" sz="18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1800">
                <a:latin typeface="Consolas" panose="020B0609020204030204" charset="0"/>
              </a:rPr>
              <a:t>    if len(sys.argv)!=3:</a:t>
            </a:r>
            <a:endParaRPr lang="en-US" sz="18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1800">
                <a:latin typeface="Consolas" panose="020B0609020204030204" charset="0"/>
              </a:rPr>
              <a:t>        usage()</a:t>
            </a:r>
            <a:endParaRPr lang="en-US" sz="18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1800">
                <a:latin typeface="Consolas" panose="020B0609020204030204" charset="0"/>
              </a:rPr>
              <a:t>    scrDir, dstDir= sys.argv[1], sys.argv[2]</a:t>
            </a:r>
            <a:endParaRPr lang="en-US" sz="18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1800">
                <a:latin typeface="Consolas" panose="020B0609020204030204" charset="0"/>
              </a:rPr>
              <a:t>    autoBackup(scrDir, dstDir)</a:t>
            </a:r>
            <a:endParaRPr lang="en-US" sz="18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10.4  精彩案例赏析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400" b="1"/>
              <a:t>示例10-3</a:t>
            </a:r>
            <a:r>
              <a:rPr lang="en-US" sz="2400"/>
              <a:t>   编写程序，统计指定文件夹大小以及文件和子文件夹数量。本例也属于系统运维范畴，可用于磁盘配额的计算，例如email、博客、FTP、快盘等系统中每个账号所占空间大小的统计。</a:t>
            </a:r>
            <a:endParaRPr lang="en-US" sz="2400"/>
          </a:p>
          <a:p>
            <a:pPr marL="0" indent="0">
              <a:buNone/>
            </a:pPr>
            <a:r>
              <a:rPr lang="en-US" sz="2000">
                <a:latin typeface="Consolas" panose="020B0609020204030204" charset="0"/>
              </a:rPr>
              <a:t>import os</a:t>
            </a:r>
            <a:endParaRPr lang="en-US" sz="2000">
              <a:latin typeface="Consolas" panose="020B0609020204030204" charset="0"/>
            </a:endParaRPr>
          </a:p>
          <a:p>
            <a:pPr marL="0" indent="0">
              <a:buNone/>
            </a:pPr>
            <a:endParaRPr lang="en-US" sz="20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2000">
                <a:latin typeface="Consolas" panose="020B0609020204030204" charset="0"/>
              </a:rPr>
              <a:t>totalSize = 0</a:t>
            </a:r>
            <a:endParaRPr lang="en-US" sz="20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2000">
                <a:latin typeface="Consolas" panose="020B0609020204030204" charset="0"/>
              </a:rPr>
              <a:t>fileNum = 0</a:t>
            </a:r>
            <a:endParaRPr lang="en-US" sz="200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sz="2000">
                <a:latin typeface="Consolas" panose="020B0609020204030204" charset="0"/>
              </a:rPr>
              <a:t>dirNum = 0</a:t>
            </a:r>
            <a:endParaRPr lang="en-US" sz="20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10.4  精彩案例赏析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1026775" cy="4639945"/>
          </a:xfrm>
        </p:spPr>
        <p:txBody>
          <a:bodyPr>
            <a:normAutofit/>
          </a:bodyPr>
          <a:p>
            <a:pPr marL="0" indent="0" fontAlgn="auto"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def visitDir(path):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global totalSize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global fileNum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global dirNum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for lists in os.listdir(path):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sub_path = os.path.join(path, lists)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if os.path.isfile(sub_path):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fileNum = fileNum+1                              #统计文件数量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totalSize = totalSize+os.path.getsize(sub_path)  #统计文件总大小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elif os.path.isdir(sub_path):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dirNum = dirNum+1                                #统计文件夹数量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visitDir(sub_path)                               #递归遍历子文件夹</a:t>
            </a:r>
            <a:endParaRPr lang="en-US" sz="20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10.4  精彩案例赏析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0515600" cy="5290820"/>
          </a:xfrm>
        </p:spPr>
        <p:txBody>
          <a:bodyPr>
            <a:normAutofit lnSpcReduction="10000"/>
          </a:bodyPr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def main(path):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if not os.path.isdir(path):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print('Error:"', path, '" is not a directory or does not exist.')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return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visitDir(path)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def sizeConvert(size):                                   #单位换算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K, M, G = 1024, 1024**2, 1024**3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if size &gt;= G: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return str(size/G)+'G Bytes'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elif size &gt;= M: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return str(size/M)+'M Bytes'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elif size &gt;= K: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return str(size/K)+'K Bytes'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else: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return str(size)+'Bytes'</a:t>
            </a:r>
            <a:endParaRPr lang="en-US" sz="20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10.4  精彩案例赏析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0941685" cy="4639945"/>
          </a:xfrm>
        </p:spPr>
        <p:txBody>
          <a:bodyPr>
            <a:normAutofit/>
          </a:bodyPr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Consolas" panose="020B0609020204030204" charset="0"/>
              </a:rPr>
              <a:t>def output(path):</a:t>
            </a:r>
            <a:endParaRPr lang="en-US" sz="18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Consolas" panose="020B0609020204030204" charset="0"/>
              </a:rPr>
              <a:t>    print('The total size of '+path+' is:'+sizeConvert(totalSize)</a:t>
            </a:r>
            <a:endParaRPr lang="en-US" sz="18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Consolas" panose="020B0609020204030204" charset="0"/>
              </a:rPr>
              <a:t>          +'('+str(totalSize)+' Bytes)')</a:t>
            </a:r>
            <a:endParaRPr lang="en-US" sz="18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Consolas" panose="020B0609020204030204" charset="0"/>
              </a:rPr>
              <a:t>    print('The total number of files in '+path+' is:',fileNum)</a:t>
            </a:r>
            <a:endParaRPr lang="en-US" sz="18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Consolas" panose="020B0609020204030204" charset="0"/>
              </a:rPr>
              <a:t>    print('The total number of directories in '+path+' is:',dirNum)</a:t>
            </a:r>
            <a:endParaRPr lang="en-US" sz="18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sz="18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Consolas" panose="020B0609020204030204" charset="0"/>
              </a:rPr>
              <a:t>if __name__=='__main__':</a:t>
            </a:r>
            <a:endParaRPr lang="en-US" sz="18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Consolas" panose="020B0609020204030204" charset="0"/>
              </a:rPr>
              <a:t>    path = r'd:\idapro6.5plus'</a:t>
            </a:r>
            <a:endParaRPr lang="en-US" sz="18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Consolas" panose="020B0609020204030204" charset="0"/>
              </a:rPr>
              <a:t>    main(path)</a:t>
            </a:r>
            <a:endParaRPr lang="en-US" sz="18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Consolas" panose="020B0609020204030204" charset="0"/>
              </a:rPr>
              <a:t>    output(path)</a:t>
            </a:r>
            <a:endParaRPr lang="en-US" sz="18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10.4  精彩案例赏析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435"/>
            <a:ext cx="10515600" cy="5400040"/>
          </a:xfrm>
        </p:spPr>
        <p:txBody>
          <a:bodyPr>
            <a:normAutofit fontScale="90000"/>
          </a:bodyPr>
          <a:p>
            <a:pPr fontAlgn="auto">
              <a:lnSpc>
                <a:spcPct val="100000"/>
              </a:lnSpc>
              <a:spcBef>
                <a:spcPts val="0"/>
              </a:spcBef>
            </a:pPr>
            <a:r>
              <a:rPr lang="en-US" sz="2400" b="1"/>
              <a:t>示例10-4</a:t>
            </a:r>
            <a:r>
              <a:rPr lang="en-US" sz="2400"/>
              <a:t>   编写程序，递归删除指定文件夹中指定类型的文件和大小为0的文件。</a:t>
            </a:r>
            <a:endParaRPr lang="en-US" sz="240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from os.path import isdir, join, splitext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from os import remove, listdir, chmod, stat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filetypes = ('.tmp', '.log', '.obj', '.txt')     #指定要删除的文件类型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def delCertainFiles(directory):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if not isdir(directory):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return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for filename in listdir(directory):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temp = join(directory, filename)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if isdir(temp):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delCertainFiles(temp)                #递归调用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elif splitext(temp)[1] in filetypes or stat(temp).st_size==0: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chmod(temp, 0o777)                   #修改文件属性，获取删除权限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remove(temp)                         #删除文件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            print(temp, ' deleted....')</a:t>
            </a: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nsolas" panose="020B0609020204030204" charset="0"/>
              </a:rPr>
              <a:t>delCertainFiles(r'C:\test')</a:t>
            </a:r>
            <a:endParaRPr lang="en-US" sz="2000">
              <a:latin typeface="Consolas" panose="020B0609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02385" y="1584325"/>
            <a:ext cx="9174480" cy="341376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5418760f-6139-4c01-8036-59c085964743}"/>
  <p:tag name="TABLE_ENDDRAG_ORIGIN_RECT" val="772*363"/>
  <p:tag name="TABLE_ENDDRAG_RECT" val="94*136*772*363"/>
</p:tagLst>
</file>

<file path=ppt/tags/tag2.xml><?xml version="1.0" encoding="utf-8"?>
<p:tagLst xmlns:p="http://schemas.openxmlformats.org/presentationml/2006/main">
  <p:tag name="KSO_WM_UNIT_TABLE_BEAUTIFY" val="smartTable{86f12fb1-2c66-43ba-ae3c-143a42e9f1f6}"/>
  <p:tag name="TABLE_ENDDRAG_ORIGIN_RECT" val="708*318"/>
  <p:tag name="TABLE_ENDDRAG_RECT" val="99*151*708*318"/>
</p:tagLst>
</file>

<file path=ppt/tags/tag3.xml><?xml version="1.0" encoding="utf-8"?>
<p:tagLst xmlns:p="http://schemas.openxmlformats.org/presentationml/2006/main">
  <p:tag name="KSO_WM_UNIT_TABLE_BEAUTIFY" val="smartTable{1a9beea2-9211-4235-9ec4-c936f9fe3fac}"/>
</p:tagLst>
</file>

<file path=ppt/tags/tag4.xml><?xml version="1.0" encoding="utf-8"?>
<p:tagLst xmlns:p="http://schemas.openxmlformats.org/presentationml/2006/main">
  <p:tag name="COMMONDATA" val="eyJoZGlkIjoiMDBiMDBmOThhYWE2ZDZkNjY4YzI1NzE1ODdhZGNmZmEifQ=="/>
  <p:tag name="commondata" val="eyJoZGlkIjoiYzc0ZTVlYWNlMTcwNzI1YzBkZTQyYWYxYTEzOGFjNm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10300</Words>
  <Application>WPS 演示</Application>
  <PresentationFormat>宽屏</PresentationFormat>
  <Paragraphs>601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宋体</vt:lpstr>
      <vt:lpstr>Wingdings</vt:lpstr>
      <vt:lpstr>Consolas</vt:lpstr>
      <vt:lpstr>Calibri Light</vt:lpstr>
      <vt:lpstr>Calibri</vt:lpstr>
      <vt:lpstr>微软雅黑</vt:lpstr>
      <vt:lpstr>Arial Unicode MS</vt:lpstr>
      <vt:lpstr>Office 主题</vt:lpstr>
      <vt:lpstr>第10章  文件与文件夹操作</vt:lpstr>
      <vt:lpstr>10.1  os模块</vt:lpstr>
      <vt:lpstr>10.1  os模块</vt:lpstr>
      <vt:lpstr>10.1  os模块</vt:lpstr>
      <vt:lpstr>10.1  os模块</vt:lpstr>
      <vt:lpstr>10.1  os模块</vt:lpstr>
      <vt:lpstr>10.1  os模块</vt:lpstr>
      <vt:lpstr>10.1  os模块</vt:lpstr>
      <vt:lpstr>10.2  os.path模块</vt:lpstr>
      <vt:lpstr>10.2  os.path模块</vt:lpstr>
      <vt:lpstr>10.2  os.path模块</vt:lpstr>
      <vt:lpstr>10.2  os.path模块</vt:lpstr>
      <vt:lpstr>10.3  shutil模块</vt:lpstr>
      <vt:lpstr>10.3  shutil模块</vt:lpstr>
      <vt:lpstr>10.3  shutil模块</vt:lpstr>
      <vt:lpstr>10.4  精彩案例赏析</vt:lpstr>
      <vt:lpstr>10.4  精彩案例赏析</vt:lpstr>
      <vt:lpstr>10.4  精彩案例赏析</vt:lpstr>
      <vt:lpstr>10.4  精彩案例赏析</vt:lpstr>
      <vt:lpstr>10.4  精彩案例赏析</vt:lpstr>
      <vt:lpstr>10.4  精彩案例赏析</vt:lpstr>
      <vt:lpstr>10.4  精彩案例赏析</vt:lpstr>
      <vt:lpstr>10.4  精彩案例赏析</vt:lpstr>
      <vt:lpstr>10.4  精彩案例赏析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</dc:creator>
  <cp:lastModifiedBy>文文</cp:lastModifiedBy>
  <cp:revision>328</cp:revision>
  <dcterms:created xsi:type="dcterms:W3CDTF">2015-05-05T08:02:00Z</dcterms:created>
  <dcterms:modified xsi:type="dcterms:W3CDTF">2025-05-25T15:21:32Z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5BC6C89C839341EABB7F0E8FBC507067_13</vt:lpwstr>
  </property>
</Properties>
</file>