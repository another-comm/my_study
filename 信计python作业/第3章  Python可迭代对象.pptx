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96"/>
  </p:handoutMasterIdLst>
  <p:sldIdLst>
    <p:sldId id="848" r:id="rId3"/>
    <p:sldId id="1866" r:id="rId5"/>
    <p:sldId id="1773" r:id="rId6"/>
    <p:sldId id="1774" r:id="rId7"/>
    <p:sldId id="1775" r:id="rId8"/>
    <p:sldId id="1776" r:id="rId9"/>
    <p:sldId id="1777" r:id="rId10"/>
    <p:sldId id="1778" r:id="rId11"/>
    <p:sldId id="1779" r:id="rId12"/>
    <p:sldId id="1780" r:id="rId13"/>
    <p:sldId id="1781" r:id="rId14"/>
    <p:sldId id="1782" r:id="rId15"/>
    <p:sldId id="1783" r:id="rId16"/>
    <p:sldId id="1784" r:id="rId17"/>
    <p:sldId id="1785" r:id="rId18"/>
    <p:sldId id="1867" r:id="rId19"/>
    <p:sldId id="1868" r:id="rId20"/>
    <p:sldId id="1869" r:id="rId21"/>
    <p:sldId id="1870" r:id="rId22"/>
    <p:sldId id="1786" r:id="rId23"/>
    <p:sldId id="1787" r:id="rId24"/>
    <p:sldId id="1788" r:id="rId25"/>
    <p:sldId id="1789" r:id="rId26"/>
    <p:sldId id="1790" r:id="rId27"/>
    <p:sldId id="1791" r:id="rId28"/>
    <p:sldId id="1792" r:id="rId29"/>
    <p:sldId id="1793" r:id="rId30"/>
    <p:sldId id="1794" r:id="rId31"/>
    <p:sldId id="1795" r:id="rId32"/>
    <p:sldId id="1796" r:id="rId33"/>
    <p:sldId id="1872" r:id="rId34"/>
    <p:sldId id="1873" r:id="rId35"/>
    <p:sldId id="1798" r:id="rId36"/>
    <p:sldId id="1799" r:id="rId37"/>
    <p:sldId id="1800" r:id="rId38"/>
    <p:sldId id="1801" r:id="rId39"/>
    <p:sldId id="1802" r:id="rId40"/>
    <p:sldId id="1803" r:id="rId41"/>
    <p:sldId id="1804" r:id="rId42"/>
    <p:sldId id="1805" r:id="rId43"/>
    <p:sldId id="1806" r:id="rId44"/>
    <p:sldId id="1807" r:id="rId45"/>
    <p:sldId id="1808" r:id="rId46"/>
    <p:sldId id="1809" r:id="rId47"/>
    <p:sldId id="1810" r:id="rId48"/>
    <p:sldId id="1811" r:id="rId49"/>
    <p:sldId id="1813" r:id="rId50"/>
    <p:sldId id="1814" r:id="rId51"/>
    <p:sldId id="1815" r:id="rId52"/>
    <p:sldId id="1816" r:id="rId53"/>
    <p:sldId id="1817" r:id="rId54"/>
    <p:sldId id="1818" r:id="rId55"/>
    <p:sldId id="1819" r:id="rId56"/>
    <p:sldId id="1820" r:id="rId57"/>
    <p:sldId id="1821" r:id="rId58"/>
    <p:sldId id="1822" r:id="rId59"/>
    <p:sldId id="1824" r:id="rId60"/>
    <p:sldId id="1953" r:id="rId61"/>
    <p:sldId id="1825" r:id="rId62"/>
    <p:sldId id="1954" r:id="rId63"/>
    <p:sldId id="1826" r:id="rId64"/>
    <p:sldId id="1955" r:id="rId65"/>
    <p:sldId id="1827" r:id="rId66"/>
    <p:sldId id="1829" r:id="rId67"/>
    <p:sldId id="1830" r:id="rId68"/>
    <p:sldId id="1831" r:id="rId69"/>
    <p:sldId id="1956" r:id="rId70"/>
    <p:sldId id="1832" r:id="rId71"/>
    <p:sldId id="1833" r:id="rId72"/>
    <p:sldId id="1834" r:id="rId73"/>
    <p:sldId id="1835" r:id="rId74"/>
    <p:sldId id="1836" r:id="rId75"/>
    <p:sldId id="1957" r:id="rId76"/>
    <p:sldId id="1958" r:id="rId77"/>
    <p:sldId id="1837" r:id="rId78"/>
    <p:sldId id="1838" r:id="rId79"/>
    <p:sldId id="1839" r:id="rId80"/>
    <p:sldId id="1840" r:id="rId81"/>
    <p:sldId id="1841" r:id="rId82"/>
    <p:sldId id="1842" r:id="rId83"/>
    <p:sldId id="1843" r:id="rId84"/>
    <p:sldId id="1844" r:id="rId85"/>
    <p:sldId id="1845" r:id="rId86"/>
    <p:sldId id="1846" r:id="rId87"/>
    <p:sldId id="1853" r:id="rId88"/>
    <p:sldId id="1852" r:id="rId89"/>
    <p:sldId id="1860" r:id="rId90"/>
    <p:sldId id="1847" r:id="rId91"/>
    <p:sldId id="1848" r:id="rId92"/>
    <p:sldId id="1849" r:id="rId93"/>
    <p:sldId id="1850" r:id="rId94"/>
    <p:sldId id="1851" r:id="rId95"/>
  </p:sldIdLst>
  <p:sldSz cx="12192000" cy="6858000"/>
  <p:notesSz cx="6858000" cy="9144000"/>
  <p:custDataLst>
    <p:tags r:id="rId10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handoutMaster" Target="handoutMasters/handoutMaster1.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0" Type="http://schemas.openxmlformats.org/officeDocument/2006/relationships/tags" Target="tags/tag4.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dotDmnd">
          <a:fgClr>
            <a:srgbClr val="00B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905" y="4445"/>
            <a:ext cx="12157075" cy="1002030"/>
          </a:xfrm>
          <a:gradFill>
            <a:gsLst>
              <a:gs pos="100000">
                <a:srgbClr val="0070C0"/>
              </a:gs>
              <a:gs pos="53000">
                <a:schemeClr val="accent1">
                  <a:lumMod val="45000"/>
                  <a:lumOff val="55000"/>
                </a:schemeClr>
              </a:gs>
              <a:gs pos="29000">
                <a:schemeClr val="accent1">
                  <a:lumMod val="45000"/>
                  <a:lumOff val="55000"/>
                </a:schemeClr>
              </a:gs>
              <a:gs pos="1000">
                <a:schemeClr val="accent1">
                  <a:lumMod val="30000"/>
                  <a:lumOff val="70000"/>
                </a:schemeClr>
              </a:gs>
            </a:gsLst>
            <a:lin ang="8100000" scaled="0"/>
          </a:gradFill>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321435"/>
            <a:ext cx="10515600" cy="463994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cxnSp>
        <p:nvCxnSpPr>
          <p:cNvPr id="7" name="直接连接符 6"/>
          <p:cNvCxnSpPr/>
          <p:nvPr userDrawn="1"/>
        </p:nvCxnSpPr>
        <p:spPr>
          <a:xfrm>
            <a:off x="1905" y="1040765"/>
            <a:ext cx="12157075" cy="0"/>
          </a:xfrm>
          <a:prstGeom prst="line">
            <a:avLst/>
          </a:prstGeom>
          <a:ln w="66675" cmpd="sng">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589915" y="1062990"/>
            <a:ext cx="0" cy="5121275"/>
          </a:xfrm>
          <a:prstGeom prst="line">
            <a:avLst/>
          </a:prstGeom>
          <a:ln w="47625">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3.4.3_1.py" TargetMode="Externa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3.4.3_2.py"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3.4.3_3.py" TargetMode="Externa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40640" y="1122680"/>
            <a:ext cx="12091670" cy="2387600"/>
          </a:xfrm>
        </p:spPr>
        <p:txBody>
          <a:bodyPr/>
          <a:p>
            <a:pPr fontAlgn="auto">
              <a:lnSpc>
                <a:spcPct val="120000"/>
              </a:lnSpc>
            </a:pPr>
            <a:r>
              <a:rPr lang="zh-CN" altLang="en-US"/>
              <a:t>第</a:t>
            </a:r>
            <a:r>
              <a:rPr lang="en-US" altLang="zh-CN"/>
              <a:t>3</a:t>
            </a:r>
            <a:r>
              <a:rPr lang="zh-CN" altLang="en-US"/>
              <a:t>章  </a:t>
            </a:r>
            <a:r>
              <a:rPr lang="en-US" altLang="zh-CN"/>
              <a:t>Python</a:t>
            </a:r>
            <a:r>
              <a:rPr lang="zh-CN" altLang="en-US"/>
              <a:t>可迭代</a:t>
            </a:r>
            <a:r>
              <a:rPr lang="zh-CN" altLang="en-US"/>
              <a:t>对象</a:t>
            </a:r>
            <a:endParaRPr lang="zh-CN" altLang="en-US"/>
          </a:p>
        </p:txBody>
      </p:sp>
      <p:sp>
        <p:nvSpPr>
          <p:cNvPr id="3" name="副标题 2"/>
          <p:cNvSpPr>
            <a:spLocks noGrp="1"/>
          </p:cNvSpPr>
          <p:nvPr>
            <p:ph type="subTitle" idx="1"/>
          </p:nvPr>
        </p:nvSpPr>
        <p:spPr>
          <a:xfrm>
            <a:off x="1524000" y="3602355"/>
            <a:ext cx="9144000" cy="2298065"/>
          </a:xfrm>
        </p:spPr>
        <p:txBody>
          <a:bodyPr>
            <a:normAutofit/>
          </a:bodyPr>
          <a:p>
            <a:endParaRPr lang="zh-CN" altLang="en-US" sz="2800"/>
          </a:p>
          <a:p>
            <a:r>
              <a:rPr lang="en-US" altLang="zh-CN" sz="2800"/>
              <a:t> </a:t>
            </a:r>
            <a:endParaRPr lang="en-US" altLang="zh-CN" sz="28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第</a:t>
            </a:r>
            <a:r>
              <a:rPr lang="en-US" altLang="zh-CN">
                <a:sym typeface="+mn-ea"/>
              </a:rPr>
              <a:t>3</a:t>
            </a:r>
            <a:r>
              <a:rPr lang="zh-CN" altLang="en-US">
                <a:sym typeface="+mn-ea"/>
              </a:rPr>
              <a:t>章  </a:t>
            </a:r>
            <a:r>
              <a:rPr lang="en-US" altLang="zh-CN">
                <a:sym typeface="+mn-ea"/>
              </a:rPr>
              <a:t>Python</a:t>
            </a:r>
            <a:r>
              <a:rPr lang="zh-CN" altLang="en-US">
                <a:sym typeface="+mn-ea"/>
              </a:rPr>
              <a:t>可迭代</a:t>
            </a:r>
            <a:r>
              <a:rPr lang="zh-CN" altLang="en-US">
                <a:sym typeface="+mn-ea"/>
              </a:rPr>
              <a:t>对象</a:t>
            </a:r>
            <a:endParaRPr lang="zh-CN" altLang="en-US">
              <a:sym typeface="+mn-ea"/>
            </a:endParaRPr>
          </a:p>
        </p:txBody>
      </p:sp>
      <p:sp>
        <p:nvSpPr>
          <p:cNvPr id="3" name="内容占位符 2"/>
          <p:cNvSpPr>
            <a:spLocks noGrp="1"/>
          </p:cNvSpPr>
          <p:nvPr>
            <p:ph idx="1"/>
          </p:nvPr>
        </p:nvSpPr>
        <p:spPr>
          <a:xfrm>
            <a:off x="838200" y="1321435"/>
            <a:ext cx="10515600" cy="4276090"/>
          </a:xfrm>
        </p:spPr>
        <p:txBody>
          <a:bodyPr>
            <a:normAutofit lnSpcReduction="10000"/>
          </a:bodyPr>
          <a:p>
            <a:pPr>
              <a:lnSpc>
                <a:spcPct val="130000"/>
              </a:lnSpc>
            </a:pPr>
            <a:r>
              <a:rPr lang="zh-CN" altLang="en-US" sz="2000"/>
              <a:t>从面向对象程序设计的角度来讲，在Python中实现了特殊方法__iter__()的类的对象称作</a:t>
            </a:r>
            <a:r>
              <a:rPr lang="zh-CN" altLang="en-US" sz="2000">
                <a:solidFill>
                  <a:srgbClr val="FF0000"/>
                </a:solidFill>
              </a:rPr>
              <a:t>可迭代对象</a:t>
            </a:r>
            <a:r>
              <a:rPr lang="zh-CN" altLang="en-US" sz="2000"/>
              <a:t>，同时实现了特殊方法__iter__()和__next__()的类的对象称作</a:t>
            </a:r>
            <a:r>
              <a:rPr lang="zh-CN" altLang="en-US" sz="2000">
                <a:solidFill>
                  <a:srgbClr val="FF0000"/>
                </a:solidFill>
              </a:rPr>
              <a:t>迭代器对象</a:t>
            </a:r>
            <a:r>
              <a:rPr lang="zh-CN" altLang="en-US" sz="2000"/>
              <a:t>。</a:t>
            </a:r>
            <a:endParaRPr lang="zh-CN" altLang="en-US" sz="2000"/>
          </a:p>
          <a:p>
            <a:pPr>
              <a:lnSpc>
                <a:spcPct val="130000"/>
              </a:lnSpc>
            </a:pPr>
            <a:r>
              <a:rPr lang="zh-CN" altLang="en-US" sz="2000"/>
              <a:t>可迭代对象包括迭代器对象以及列表、元组、字典、集合、字符串和range对象。其中，列表、元组、字典、集合、字符串这几种类型的对象在任何时刻都在相应的内存中包含了全部的元素，称作</a:t>
            </a:r>
            <a:r>
              <a:rPr lang="zh-CN" altLang="en-US" sz="2000">
                <a:solidFill>
                  <a:srgbClr val="FF0000"/>
                </a:solidFill>
              </a:rPr>
              <a:t>容器对象</a:t>
            </a:r>
            <a:r>
              <a:rPr lang="zh-CN" altLang="en-US" sz="2000"/>
              <a:t>。</a:t>
            </a:r>
            <a:endParaRPr lang="zh-CN" altLang="en-US" sz="2000"/>
          </a:p>
          <a:p>
            <a:pPr>
              <a:lnSpc>
                <a:spcPct val="130000"/>
              </a:lnSpc>
            </a:pPr>
            <a:r>
              <a:rPr lang="zh-CN" altLang="en-US" sz="2000">
                <a:solidFill>
                  <a:srgbClr val="FF0000"/>
                </a:solidFill>
              </a:rPr>
              <a:t>range对象</a:t>
            </a:r>
            <a:r>
              <a:rPr lang="zh-CN" altLang="en-US" sz="2000"/>
              <a:t>比较特殊，不在内存中包含具体的元素但支持下标和切片运算，没有实现特殊方法__next__()所以又不属于迭代器对象。</a:t>
            </a:r>
            <a:endParaRPr lang="zh-CN" altLang="en-US" sz="2000"/>
          </a:p>
          <a:p>
            <a:pPr>
              <a:lnSpc>
                <a:spcPct val="130000"/>
              </a:lnSpc>
            </a:pPr>
            <a:r>
              <a:rPr lang="zh-CN" altLang="en-US" sz="2000">
                <a:solidFill>
                  <a:srgbClr val="FF0000"/>
                </a:solidFill>
              </a:rPr>
              <a:t>迭代器对象</a:t>
            </a:r>
            <a:r>
              <a:rPr lang="zh-CN" altLang="en-US" sz="2000"/>
              <a:t>具有惰性求值特点，只在必要时才会生成下一个值，每个值只会生成一次。迭代器对象不持有任何元素，不支持使用下标和</a:t>
            </a:r>
            <a:r>
              <a:rPr lang="zh-CN" altLang="en-US" sz="2000"/>
              <a:t>切片访问指定位置上的元素，也不支持切片运算和内置函数len()，只能从前往后逐个生成值。</a:t>
            </a:r>
            <a:endParaRPr lang="zh-CN" altLang="en-US" sz="20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a:t>
            </a:r>
            <a:r>
              <a:rPr lang="en-US" altLang="zh-CN"/>
              <a:t>3</a:t>
            </a:r>
            <a:r>
              <a:rPr lang="zh-CN" altLang="en-US"/>
              <a:t>章  </a:t>
            </a:r>
            <a:r>
              <a:rPr lang="en-US" altLang="zh-CN"/>
              <a:t>Python</a:t>
            </a:r>
            <a:r>
              <a:rPr lang="zh-CN" altLang="en-US"/>
              <a:t>可迭代</a:t>
            </a:r>
            <a:r>
              <a:rPr lang="zh-CN" altLang="en-US"/>
              <a:t>对象</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pSp>
        <p:nvGrpSpPr>
          <p:cNvPr id="15361" name="画布 8"/>
          <p:cNvGrpSpPr/>
          <p:nvPr/>
        </p:nvGrpSpPr>
        <p:grpSpPr>
          <a:xfrm>
            <a:off x="1885950" y="1679575"/>
            <a:ext cx="6724650" cy="3428365"/>
            <a:chOff x="0" y="0"/>
            <a:chExt cx="4302760" cy="2480280"/>
          </a:xfrm>
        </p:grpSpPr>
        <p:sp>
          <p:nvSpPr>
            <p:cNvPr id="15362" name="画布 8"/>
            <p:cNvSpPr/>
            <p:nvPr/>
          </p:nvSpPr>
          <p:spPr>
            <a:xfrm>
              <a:off x="0" y="0"/>
              <a:ext cx="4302760" cy="2480280"/>
            </a:xfrm>
            <a:prstGeom prst="rect">
              <a:avLst/>
            </a:prstGeom>
            <a:noFill/>
            <a:ln w="9525">
              <a:noFill/>
            </a:ln>
          </p:spPr>
          <p:txBody>
            <a:bodyPr anchor="t"/>
            <a:p>
              <a:endParaRPr lang="en-US" altLang="en-US">
                <a:latin typeface="Arial" panose="020B0604020202020204" pitchFamily="34" charset="0"/>
                <a:ea typeface="宋体" panose="02010600030101010101" pitchFamily="2" charset="-122"/>
              </a:endParaRPr>
            </a:p>
          </p:txBody>
        </p:sp>
        <p:sp>
          <p:nvSpPr>
            <p:cNvPr id="9" name="文本框 9"/>
            <p:cNvSpPr txBox="1"/>
            <p:nvPr/>
          </p:nvSpPr>
          <p:spPr>
            <a:xfrm>
              <a:off x="95075" y="660943"/>
              <a:ext cx="734598" cy="433744"/>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algn="just" fontAlgn="base"/>
              <a:r>
                <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rPr>
                <a:t>有序</a:t>
              </a:r>
              <a:r>
                <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rPr>
                <a:t>可迭代</a:t>
              </a:r>
              <a:r>
                <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rPr>
                <a:t>对象</a:t>
              </a:r>
              <a:endPar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0" name="文本框 10"/>
            <p:cNvSpPr txBox="1"/>
            <p:nvPr/>
          </p:nvSpPr>
          <p:spPr>
            <a:xfrm>
              <a:off x="104826" y="1510593"/>
              <a:ext cx="734598" cy="45721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algn="just" fontAlgn="base"/>
              <a:r>
                <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rPr>
                <a:t>无序</a:t>
              </a:r>
              <a:r>
                <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rPr>
                <a:t>可迭代</a:t>
              </a:r>
              <a:r>
                <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rPr>
                <a:t>对象</a:t>
              </a:r>
              <a:endPar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1" name="文本框 11"/>
            <p:cNvSpPr txBox="1"/>
            <p:nvPr/>
          </p:nvSpPr>
          <p:spPr>
            <a:xfrm>
              <a:off x="1545473" y="25351"/>
              <a:ext cx="1194211" cy="281204"/>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algn="ctr" fontAlgn="base"/>
              <a:r>
                <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rPr>
                <a:t>列表</a:t>
              </a:r>
              <a:endPar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2" name="文本框 12"/>
            <p:cNvSpPr txBox="1"/>
            <p:nvPr/>
          </p:nvSpPr>
          <p:spPr>
            <a:xfrm>
              <a:off x="1540617" y="512646"/>
              <a:ext cx="1198662" cy="281204"/>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algn="ctr" fontAlgn="base"/>
              <a:r>
                <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rPr>
                <a:t>元组</a:t>
              </a:r>
              <a:endPar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3" name="文本框 13"/>
            <p:cNvSpPr txBox="1"/>
            <p:nvPr/>
          </p:nvSpPr>
          <p:spPr>
            <a:xfrm>
              <a:off x="1540617" y="1001350"/>
              <a:ext cx="1198662" cy="281204"/>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algn="ctr" fontAlgn="base"/>
              <a:r>
                <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rPr>
                <a:t>字符串</a:t>
              </a:r>
              <a:endPar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4" name="文本框 14"/>
            <p:cNvSpPr txBox="1"/>
            <p:nvPr/>
          </p:nvSpPr>
          <p:spPr>
            <a:xfrm>
              <a:off x="1539807" y="1507893"/>
              <a:ext cx="1199876" cy="281204"/>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algn="ctr" fontAlgn="base"/>
              <a:r>
                <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rPr>
                <a:t>字典</a:t>
              </a:r>
              <a:endPar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5" name="文本框 15"/>
            <p:cNvSpPr txBox="1"/>
            <p:nvPr/>
          </p:nvSpPr>
          <p:spPr>
            <a:xfrm>
              <a:off x="1539403" y="2043542"/>
              <a:ext cx="1200686" cy="281204"/>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algn="ctr" fontAlgn="base"/>
              <a:r>
                <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rPr>
                <a:t>集合</a:t>
              </a:r>
              <a:endPar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7" name="文本框 17"/>
            <p:cNvSpPr txBox="1"/>
            <p:nvPr/>
          </p:nvSpPr>
          <p:spPr>
            <a:xfrm>
              <a:off x="3305690" y="687700"/>
              <a:ext cx="915809" cy="455337"/>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algn="ctr" fontAlgn="base"/>
              <a:r>
                <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rPr>
                <a:t>可变</a:t>
              </a:r>
              <a:r>
                <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rPr>
                <a:t>可迭代</a:t>
              </a:r>
              <a:r>
                <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rPr>
                <a:t>对象</a:t>
              </a:r>
              <a:endPar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8" name="文本框 18"/>
            <p:cNvSpPr txBox="1"/>
            <p:nvPr/>
          </p:nvSpPr>
          <p:spPr>
            <a:xfrm>
              <a:off x="3305284" y="1513410"/>
              <a:ext cx="914590" cy="454399"/>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p>
              <a:pPr algn="ctr" fontAlgn="base"/>
              <a:r>
                <a:rPr lang="en-US" altLang="zh-CN" sz="1800" strike="noStrike" kern="100" noProof="1">
                  <a:latin typeface="Calibri" panose="020F0502020204030204"/>
                  <a:ea typeface="宋体" panose="02010600030101010101" pitchFamily="2" charset="-122"/>
                  <a:cs typeface="Times New Roman" panose="02020603050405020304"/>
                  <a:sym typeface="Times New Roman" panose="02020603050405020304"/>
                </a:rPr>
                <a:t>不可变</a:t>
              </a:r>
              <a:r>
                <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rPr>
                <a:t>可迭代</a:t>
              </a:r>
              <a:r>
                <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rPr>
                <a:t>对象</a:t>
              </a:r>
              <a:endParaRPr lang="zh-CN" altLang="en-US" sz="180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cxnSp>
          <p:nvCxnSpPr>
            <p:cNvPr id="19" name="直接箭头连接符 19"/>
            <p:cNvCxnSpPr>
              <a:stCxn id="11" idx="3"/>
              <a:endCxn id="17" idx="1"/>
            </p:cNvCxnSpPr>
            <p:nvPr/>
          </p:nvCxnSpPr>
          <p:spPr>
            <a:xfrm>
              <a:off x="2739890" y="166370"/>
              <a:ext cx="565982" cy="749194"/>
            </a:xfrm>
            <a:prstGeom prst="straightConnector1">
              <a:avLst/>
            </a:prstGeom>
            <a:ln w="25400">
              <a:solidFill>
                <a:schemeClr val="accent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0" name="直接箭头连接符 20"/>
            <p:cNvCxnSpPr>
              <a:stCxn id="14" idx="3"/>
              <a:endCxn id="17" idx="1"/>
            </p:cNvCxnSpPr>
            <p:nvPr/>
          </p:nvCxnSpPr>
          <p:spPr>
            <a:xfrm flipV="1">
              <a:off x="2739546" y="915391"/>
              <a:ext cx="565982" cy="733234"/>
            </a:xfrm>
            <a:prstGeom prst="straightConnector1">
              <a:avLst/>
            </a:prstGeom>
            <a:ln w="25400">
              <a:solidFill>
                <a:schemeClr val="accent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1" name="直接箭头连接符 21"/>
            <p:cNvCxnSpPr>
              <a:stCxn id="15" idx="3"/>
              <a:endCxn id="17" idx="1"/>
            </p:cNvCxnSpPr>
            <p:nvPr/>
          </p:nvCxnSpPr>
          <p:spPr>
            <a:xfrm flipV="1">
              <a:off x="2739923" y="915558"/>
              <a:ext cx="565575" cy="1268842"/>
            </a:xfrm>
            <a:prstGeom prst="straightConnector1">
              <a:avLst/>
            </a:prstGeom>
            <a:ln w="25400">
              <a:solidFill>
                <a:schemeClr val="accent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2" name="直接箭头连接符 22"/>
            <p:cNvCxnSpPr>
              <a:stCxn id="12" idx="3"/>
              <a:endCxn id="18" idx="1"/>
            </p:cNvCxnSpPr>
            <p:nvPr/>
          </p:nvCxnSpPr>
          <p:spPr>
            <a:xfrm>
              <a:off x="2739191" y="653415"/>
              <a:ext cx="565982" cy="1087177"/>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3" name="直接箭头连接符 23"/>
            <p:cNvCxnSpPr>
              <a:stCxn id="13" idx="3"/>
              <a:endCxn id="18" idx="1"/>
            </p:cNvCxnSpPr>
            <p:nvPr/>
          </p:nvCxnSpPr>
          <p:spPr>
            <a:xfrm>
              <a:off x="2739165" y="1141896"/>
              <a:ext cx="565982" cy="598510"/>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5" name="直接箭头连接符 25"/>
            <p:cNvCxnSpPr>
              <a:stCxn id="11" idx="1"/>
              <a:endCxn id="9" idx="3"/>
            </p:cNvCxnSpPr>
            <p:nvPr/>
          </p:nvCxnSpPr>
          <p:spPr>
            <a:xfrm flipH="1">
              <a:off x="829869" y="166370"/>
              <a:ext cx="715908" cy="711641"/>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6" name="直接箭头连接符 26"/>
            <p:cNvCxnSpPr>
              <a:stCxn id="12" idx="1"/>
              <a:endCxn id="9" idx="3"/>
            </p:cNvCxnSpPr>
            <p:nvPr/>
          </p:nvCxnSpPr>
          <p:spPr>
            <a:xfrm flipH="1">
              <a:off x="829666" y="653415"/>
              <a:ext cx="711032" cy="224383"/>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7" name="直接箭头连接符 27"/>
            <p:cNvCxnSpPr>
              <a:stCxn id="13" idx="1"/>
              <a:endCxn id="9" idx="3"/>
            </p:cNvCxnSpPr>
            <p:nvPr/>
          </p:nvCxnSpPr>
          <p:spPr>
            <a:xfrm flipH="1" flipV="1">
              <a:off x="829666" y="877612"/>
              <a:ext cx="711032" cy="264283"/>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9" name="直接箭头连接符 29"/>
            <p:cNvCxnSpPr>
              <a:stCxn id="14" idx="1"/>
              <a:endCxn id="10" idx="3"/>
            </p:cNvCxnSpPr>
            <p:nvPr/>
          </p:nvCxnSpPr>
          <p:spPr>
            <a:xfrm flipH="1">
              <a:off x="839596" y="1648626"/>
              <a:ext cx="700468" cy="90598"/>
            </a:xfrm>
            <a:prstGeom prst="straightConnector1">
              <a:avLst/>
            </a:prstGeom>
            <a:ln w="25400">
              <a:solidFill>
                <a:schemeClr val="accent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0" name="直接箭头连接符 30"/>
            <p:cNvCxnSpPr>
              <a:stCxn id="15" idx="1"/>
              <a:endCxn id="10" idx="3"/>
            </p:cNvCxnSpPr>
            <p:nvPr/>
          </p:nvCxnSpPr>
          <p:spPr>
            <a:xfrm flipH="1" flipV="1">
              <a:off x="839365" y="1739390"/>
              <a:ext cx="700062" cy="445010"/>
            </a:xfrm>
            <a:prstGeom prst="straightConnector1">
              <a:avLst/>
            </a:prstGeom>
            <a:ln w="25400">
              <a:solidFill>
                <a:schemeClr val="accent1"/>
              </a:solidFill>
              <a:tailEnd type="arrow"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3.1  列表</a:t>
            </a:r>
            <a:endParaRPr lang="zh-CN" altLang="en-US"/>
          </a:p>
        </p:txBody>
      </p:sp>
      <p:sp>
        <p:nvSpPr>
          <p:cNvPr id="3" name="内容占位符 2"/>
          <p:cNvSpPr>
            <a:spLocks noGrp="1"/>
          </p:cNvSpPr>
          <p:nvPr>
            <p:ph idx="1"/>
          </p:nvPr>
        </p:nvSpPr>
        <p:spPr>
          <a:xfrm>
            <a:off x="838200" y="1321435"/>
            <a:ext cx="10793730" cy="4639945"/>
          </a:xfrm>
        </p:spPr>
        <p:txBody>
          <a:bodyPr/>
          <a:p>
            <a:pPr fontAlgn="auto">
              <a:lnSpc>
                <a:spcPct val="150000"/>
              </a:lnSpc>
              <a:spcBef>
                <a:spcPts val="0"/>
              </a:spcBef>
            </a:pPr>
            <a:r>
              <a:rPr lang="zh-CN" altLang="en-US" sz="2400"/>
              <a:t>列表（list）是最重要的Python内置对象之一，是</a:t>
            </a:r>
            <a:r>
              <a:rPr lang="zh-CN" altLang="en-US" sz="2400">
                <a:solidFill>
                  <a:srgbClr val="FF0000"/>
                </a:solidFill>
              </a:rPr>
              <a:t>包含若干元素的有序连续内存空间</a:t>
            </a:r>
            <a:r>
              <a:rPr lang="zh-CN" altLang="en-US" sz="2400"/>
              <a:t>。</a:t>
            </a:r>
            <a:r>
              <a:rPr lang="zh-CN" altLang="en-US" sz="2400">
                <a:solidFill>
                  <a:srgbClr val="FF0000"/>
                </a:solidFill>
              </a:rPr>
              <a:t>当列表增加或删除元素时，列表对象自动进行内存的扩展或收缩</a:t>
            </a:r>
            <a:r>
              <a:rPr lang="zh-CN" altLang="en-US" sz="2400"/>
              <a:t>，从而保证相邻元素之间没有缝隙。Python列表的这个内存自动管理功能可以大幅度减少程序员的负担，但</a:t>
            </a:r>
            <a:r>
              <a:rPr lang="zh-CN" altLang="en-US" sz="2400">
                <a:solidFill>
                  <a:srgbClr val="FF0000"/>
                </a:solidFill>
              </a:rPr>
              <a:t>插入和删除非尾部元素时涉及到列表中大量元素的移动</a:t>
            </a:r>
            <a:r>
              <a:rPr lang="zh-CN" altLang="en-US" sz="2400"/>
              <a:t>，会严重影响效率。</a:t>
            </a:r>
            <a:endParaRPr lang="zh-CN" altLang="en-US" sz="2400"/>
          </a:p>
          <a:p>
            <a:pPr fontAlgn="auto">
              <a:lnSpc>
                <a:spcPct val="150000"/>
              </a:lnSpc>
              <a:spcBef>
                <a:spcPts val="0"/>
              </a:spcBef>
            </a:pPr>
            <a:r>
              <a:rPr lang="zh-CN" altLang="en-US" sz="2400">
                <a:solidFill>
                  <a:srgbClr val="FF0000"/>
                </a:solidFill>
              </a:rPr>
              <a:t>在非尾部位置插入和删除元素时会改变该位置后面的元素在列表中的索引</a:t>
            </a:r>
            <a:r>
              <a:rPr lang="zh-CN" altLang="en-US" sz="2400"/>
              <a:t>，这对于某些操作可能会导致意外的错误结果。</a:t>
            </a:r>
            <a:endParaRPr lang="zh-CN" altLang="en-US" sz="2400"/>
          </a:p>
          <a:p>
            <a:pPr fontAlgn="auto">
              <a:lnSpc>
                <a:spcPct val="150000"/>
              </a:lnSpc>
              <a:spcBef>
                <a:spcPts val="0"/>
              </a:spcBef>
            </a:pPr>
            <a:r>
              <a:rPr lang="zh-CN" altLang="en-US" sz="2400"/>
              <a:t>除非确实有必要，否则</a:t>
            </a:r>
            <a:r>
              <a:rPr lang="zh-CN" altLang="en-US" sz="2400">
                <a:solidFill>
                  <a:srgbClr val="FF0000"/>
                </a:solidFill>
              </a:rPr>
              <a:t>应尽量从列表尾部进行元素的追加与删除操作</a:t>
            </a:r>
            <a:r>
              <a:rPr lang="zh-CN" altLang="en-US" sz="2400"/>
              <a:t>。</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  列表</a:t>
            </a:r>
            <a:endParaRPr lang="zh-CN" altLang="en-US"/>
          </a:p>
        </p:txBody>
      </p:sp>
      <p:sp>
        <p:nvSpPr>
          <p:cNvPr id="3" name="内容占位符 2"/>
          <p:cNvSpPr>
            <a:spLocks noGrp="1"/>
          </p:cNvSpPr>
          <p:nvPr>
            <p:ph idx="1"/>
          </p:nvPr>
        </p:nvSpPr>
        <p:spPr>
          <a:xfrm>
            <a:off x="838200" y="1321435"/>
            <a:ext cx="10956290" cy="3969385"/>
          </a:xfrm>
        </p:spPr>
        <p:txBody>
          <a:bodyPr>
            <a:normAutofit/>
          </a:bodyPr>
          <a:p>
            <a:pPr>
              <a:lnSpc>
                <a:spcPct val="110000"/>
              </a:lnSpc>
            </a:pPr>
            <a:r>
              <a:rPr lang="zh-CN" altLang="en-US" sz="2400"/>
              <a:t>在形式上，列表的所有元素放在一对</a:t>
            </a:r>
            <a:r>
              <a:rPr lang="zh-CN" altLang="en-US" sz="2400">
                <a:solidFill>
                  <a:srgbClr val="FF0000"/>
                </a:solidFill>
              </a:rPr>
              <a:t>方括号</a:t>
            </a:r>
            <a:r>
              <a:rPr lang="zh-CN" altLang="en-US" sz="2400"/>
              <a:t>[]中，相邻元素之间使用</a:t>
            </a:r>
            <a:r>
              <a:rPr lang="zh-CN" altLang="en-US" sz="2400">
                <a:solidFill>
                  <a:srgbClr val="FF0000"/>
                </a:solidFill>
              </a:rPr>
              <a:t>逗号</a:t>
            </a:r>
            <a:r>
              <a:rPr lang="zh-CN" altLang="en-US" sz="2400"/>
              <a:t>分隔。</a:t>
            </a:r>
            <a:endParaRPr lang="zh-CN" altLang="en-US" sz="2400"/>
          </a:p>
          <a:p>
            <a:pPr>
              <a:lnSpc>
                <a:spcPct val="110000"/>
              </a:lnSpc>
            </a:pPr>
            <a:r>
              <a:rPr lang="zh-CN" altLang="en-US" sz="2400"/>
              <a:t>在Python中，</a:t>
            </a:r>
            <a:r>
              <a:rPr lang="zh-CN" altLang="en-US" sz="2400">
                <a:solidFill>
                  <a:srgbClr val="FF0000"/>
                </a:solidFill>
              </a:rPr>
              <a:t>同一个列表中元素的数据类型可以各不相同</a:t>
            </a:r>
            <a:r>
              <a:rPr lang="zh-CN" altLang="en-US" sz="2400"/>
              <a:t>，可以同时包含整数、实数、字符串等基本类型的元素，也可以包含列表、元组、字典、集合、函数以及其他任意对象。</a:t>
            </a:r>
            <a:endParaRPr lang="zh-CN" altLang="en-US" sz="2400"/>
          </a:p>
          <a:p>
            <a:pPr>
              <a:lnSpc>
                <a:spcPct val="110000"/>
              </a:lnSpc>
            </a:pPr>
            <a:r>
              <a:rPr lang="zh-CN" altLang="en-US" sz="2400"/>
              <a:t>如果只有一对方括号而没有任何元素则表示空列表。</a:t>
            </a:r>
            <a:endParaRPr lang="zh-CN" altLang="en-US" sz="2400"/>
          </a:p>
          <a:p>
            <a:pPr marL="0" indent="0" fontAlgn="auto">
              <a:lnSpc>
                <a:spcPct val="100000"/>
              </a:lnSpc>
              <a:spcBef>
                <a:spcPts val="0"/>
              </a:spcBef>
              <a:buNone/>
            </a:pPr>
            <a:r>
              <a:rPr lang="zh-CN" altLang="en-US" sz="2000">
                <a:solidFill>
                  <a:srgbClr val="00B0F0"/>
                </a:solidFill>
                <a:latin typeface="Consolas" panose="020B0609020204030204" charset="0"/>
              </a:rPr>
              <a:t>[10, 20, 30, 40]</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['富强', '民主', '文明']</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['和谐', 2.0, 5, [10, 20]]</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[['自由', 200,</a:t>
            </a:r>
            <a:r>
              <a:rPr lang="en-US" altLang="zh-CN" sz="2000">
                <a:solidFill>
                  <a:srgbClr val="00B0F0"/>
                </a:solidFill>
                <a:latin typeface="Consolas" panose="020B0609020204030204" charset="0"/>
              </a:rPr>
              <a:t> </a:t>
            </a:r>
            <a:r>
              <a:rPr lang="zh-CN" altLang="en-US" sz="2000">
                <a:solidFill>
                  <a:srgbClr val="00B0F0"/>
                </a:solidFill>
                <a:latin typeface="Consolas" panose="020B0609020204030204" charset="0"/>
              </a:rPr>
              <a:t>7], ['平等', 260,</a:t>
            </a:r>
            <a:r>
              <a:rPr lang="en-US" altLang="zh-CN" sz="2000">
                <a:solidFill>
                  <a:srgbClr val="00B0F0"/>
                </a:solidFill>
                <a:latin typeface="Consolas" panose="020B0609020204030204" charset="0"/>
              </a:rPr>
              <a:t> </a:t>
            </a:r>
            <a:r>
              <a:rPr lang="zh-CN" altLang="en-US" sz="2000">
                <a:solidFill>
                  <a:srgbClr val="00B0F0"/>
                </a:solidFill>
                <a:latin typeface="Consolas" panose="020B0609020204030204" charset="0"/>
              </a:rPr>
              <a:t>9]]</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[{3}, {5:6}, (1, 2, 3)]</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  列表</a:t>
            </a:r>
            <a:endParaRPr lang="zh-CN" altLang="en-US"/>
          </a:p>
        </p:txBody>
      </p:sp>
      <p:sp>
        <p:nvSpPr>
          <p:cNvPr id="3" name="内容占位符 2"/>
          <p:cNvSpPr>
            <a:spLocks noGrp="1"/>
          </p:cNvSpPr>
          <p:nvPr>
            <p:ph idx="1"/>
          </p:nvPr>
        </p:nvSpPr>
        <p:spPr/>
        <p:txBody>
          <a:bodyPr/>
          <a:p>
            <a:pPr fontAlgn="auto">
              <a:lnSpc>
                <a:spcPct val="150000"/>
              </a:lnSpc>
              <a:spcBef>
                <a:spcPts val="400"/>
              </a:spcBef>
            </a:pPr>
            <a:r>
              <a:rPr lang="zh-CN" altLang="en-US" sz="2400"/>
              <a:t>Python采用</a:t>
            </a:r>
            <a:r>
              <a:rPr lang="zh-CN" altLang="en-US" sz="2400">
                <a:solidFill>
                  <a:srgbClr val="FF0000"/>
                </a:solidFill>
              </a:rPr>
              <a:t>基于值的自动内存管理模式</a:t>
            </a:r>
            <a:r>
              <a:rPr lang="zh-CN" altLang="en-US" sz="2400"/>
              <a:t>，</a:t>
            </a:r>
            <a:r>
              <a:rPr lang="zh-CN" altLang="en-US" sz="2400">
                <a:solidFill>
                  <a:srgbClr val="FF0000"/>
                </a:solidFill>
              </a:rPr>
              <a:t>变量并不直接存储值</a:t>
            </a:r>
            <a:r>
              <a:rPr lang="zh-CN" altLang="en-US" sz="2400"/>
              <a:t>，而是存储值的引用或内存地址，这也是python中变量可以随时改变类型的重要原因。同理，</a:t>
            </a:r>
            <a:r>
              <a:rPr lang="zh-CN" altLang="en-US" sz="2400">
                <a:solidFill>
                  <a:srgbClr val="FF0000"/>
                </a:solidFill>
              </a:rPr>
              <a:t>Python列表中的元素也是值的引用</a:t>
            </a:r>
            <a:r>
              <a:rPr lang="zh-CN" altLang="en-US" sz="2400"/>
              <a:t>，所以列表中各元素可以是不同类型的数据。</a:t>
            </a:r>
            <a:endParaRPr lang="zh-CN" altLang="en-US" sz="2400"/>
          </a:p>
          <a:p>
            <a:pPr fontAlgn="auto">
              <a:lnSpc>
                <a:spcPct val="150000"/>
              </a:lnSpc>
              <a:spcBef>
                <a:spcPts val="400"/>
              </a:spcBef>
            </a:pPr>
            <a:r>
              <a:rPr lang="zh-CN" altLang="en-US" sz="2400"/>
              <a:t>需要注意的是，列表的功能虽然非常强大，但是负担也比较重，开销较大，在实际开发中，最好根据实际的问题选择一种合适的数据类型，要</a:t>
            </a:r>
            <a:r>
              <a:rPr lang="zh-CN" altLang="en-US" sz="2400">
                <a:solidFill>
                  <a:srgbClr val="FF0000"/>
                </a:solidFill>
              </a:rPr>
              <a:t>尽量避免过多使用列表</a:t>
            </a:r>
            <a:r>
              <a:rPr lang="zh-CN" altLang="en-US" sz="2400"/>
              <a:t>。</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3.1.1  列表创建与删除</a:t>
            </a:r>
            <a:endParaRPr lang="zh-CN" altLang="en-US"/>
          </a:p>
        </p:txBody>
      </p:sp>
      <p:sp>
        <p:nvSpPr>
          <p:cNvPr id="3" name="内容占位符 2"/>
          <p:cNvSpPr>
            <a:spLocks noGrp="1"/>
          </p:cNvSpPr>
          <p:nvPr>
            <p:ph idx="1"/>
          </p:nvPr>
        </p:nvSpPr>
        <p:spPr/>
        <p:txBody>
          <a:bodyPr/>
          <a:p>
            <a:pPr>
              <a:lnSpc>
                <a:spcPct val="110000"/>
              </a:lnSpc>
            </a:pPr>
            <a:r>
              <a:rPr lang="zh-CN" altLang="en-US" sz="2400"/>
              <a:t>使用“=”直接将一个列表</a:t>
            </a:r>
            <a:r>
              <a:rPr lang="zh-CN" altLang="en-US" sz="2400"/>
              <a:t>字面值赋值给变量即可创建列表对象。</a:t>
            </a:r>
            <a:endParaRPr lang="zh-CN" altLang="en-US" sz="2400"/>
          </a:p>
          <a:p>
            <a:pPr marL="0" indent="0">
              <a:buNone/>
            </a:pPr>
            <a:r>
              <a:rPr lang="zh-CN" altLang="en-US" sz="2000">
                <a:latin typeface="Consolas" panose="020B0609020204030204" charset="0"/>
              </a:rPr>
              <a:t>&gt;&gt;&gt; a_list = ['a', 'b', 'mpilgrim', 'z', 'example']</a:t>
            </a:r>
            <a:endParaRPr lang="zh-CN" altLang="en-US" sz="2000">
              <a:latin typeface="Consolas" panose="020B0609020204030204" charset="0"/>
            </a:endParaRPr>
          </a:p>
          <a:p>
            <a:pPr marL="0" indent="0">
              <a:buNone/>
            </a:pPr>
            <a:r>
              <a:rPr lang="zh-CN" altLang="en-US" sz="2000">
                <a:latin typeface="Consolas" panose="020B0609020204030204" charset="0"/>
              </a:rPr>
              <a:t>&gt;&gt;&gt; a_list = []                       # 创建空列表</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3.1.1  列表创建与删除</a:t>
            </a:r>
            <a:endParaRPr lang="zh-CN" altLang="en-US"/>
          </a:p>
        </p:txBody>
      </p:sp>
      <p:sp>
        <p:nvSpPr>
          <p:cNvPr id="3" name="内容占位符 2"/>
          <p:cNvSpPr>
            <a:spLocks noGrp="1"/>
          </p:cNvSpPr>
          <p:nvPr>
            <p:ph idx="1"/>
          </p:nvPr>
        </p:nvSpPr>
        <p:spPr>
          <a:xfrm>
            <a:off x="838200" y="1321435"/>
            <a:ext cx="10515600" cy="5138420"/>
          </a:xfrm>
        </p:spPr>
        <p:txBody>
          <a:bodyPr>
            <a:normAutofit/>
          </a:bodyPr>
          <a:p>
            <a:pPr indent="-208280" fontAlgn="auto">
              <a:lnSpc>
                <a:spcPct val="120000"/>
              </a:lnSpc>
              <a:spcBef>
                <a:spcPts val="0"/>
              </a:spcBef>
            </a:pPr>
            <a:r>
              <a:rPr lang="zh-CN" altLang="en-US" sz="2400"/>
              <a:t>也可以使用list()函数把元组、range对象、字符串、字典、集合或其他有限</a:t>
            </a:r>
            <a:r>
              <a:rPr lang="zh-CN" altLang="en-US" sz="2400"/>
              <a:t>长度</a:t>
            </a:r>
            <a:r>
              <a:rPr lang="zh-CN" altLang="en-US" sz="2400"/>
              <a:t>的可迭代对象转换为列表。</a:t>
            </a:r>
            <a:endParaRPr lang="zh-CN" altLang="en-US" sz="2400"/>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list((3,</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5,</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7,</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9,</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11))        </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    # 将元组转换为列表</a:t>
            </a:r>
            <a:endParaRPr lang="zh-CN" altLang="en-US" sz="1800">
              <a:latin typeface="Consolas" panose="020B0609020204030204" charset="0"/>
              <a:cs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cs typeface="Consolas" panose="020B0609020204030204" charset="0"/>
              </a:rPr>
              <a:t>[3, 5, 7, 9, 11]</a:t>
            </a:r>
            <a:endParaRPr lang="zh-CN" altLang="en-US" sz="18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list(range(1, 10, 2))           </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  # 将range对象转换为列表</a:t>
            </a:r>
            <a:endParaRPr lang="zh-CN" altLang="en-US" sz="1800">
              <a:latin typeface="Consolas" panose="020B0609020204030204" charset="0"/>
              <a:cs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cs typeface="Consolas" panose="020B0609020204030204" charset="0"/>
              </a:rPr>
              <a:t>[1, 3, 5, 7, 9]</a:t>
            </a:r>
            <a:endParaRPr lang="zh-CN" altLang="en-US" sz="18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list('hello world')             </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  # 将字符串转换为列表</a:t>
            </a:r>
            <a:endParaRPr lang="zh-CN" altLang="en-US" sz="1800">
              <a:latin typeface="Consolas" panose="020B0609020204030204" charset="0"/>
              <a:cs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cs typeface="Consolas" panose="020B0609020204030204" charset="0"/>
              </a:rPr>
              <a:t>['h', 'e', 'l', 'l', 'o', ' ', 'w', 'o', 'r', 'l', 'd']</a:t>
            </a:r>
            <a:endParaRPr lang="zh-CN" altLang="en-US" sz="18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list({3,7,5})                   </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  # 将集合转换为列表</a:t>
            </a:r>
            <a:endParaRPr lang="zh-CN" altLang="en-US" sz="1800">
              <a:latin typeface="Consolas" panose="020B0609020204030204" charset="0"/>
              <a:cs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cs typeface="Consolas" panose="020B0609020204030204" charset="0"/>
              </a:rPr>
              <a:t>[3, 5, 7]</a:t>
            </a:r>
            <a:endParaRPr lang="zh-CN" altLang="en-US" sz="18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list({'a':3, 'b':9, 'c':78})    </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  # 将字典的“键”转换为列表</a:t>
            </a:r>
            <a:endParaRPr lang="zh-CN" altLang="en-US" sz="1800">
              <a:latin typeface="Consolas" panose="020B0609020204030204" charset="0"/>
              <a:cs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cs typeface="Consolas" panose="020B0609020204030204" charset="0"/>
              </a:rPr>
              <a:t>['a', 'c', 'b']</a:t>
            </a:r>
            <a:endParaRPr lang="zh-CN" altLang="en-US" sz="18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list({'a':3, 'b':9, 'c':78}.items())</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将字典的“键:值”对转换为列表</a:t>
            </a:r>
            <a:endParaRPr lang="zh-CN" altLang="en-US" sz="1800">
              <a:latin typeface="Consolas" panose="020B0609020204030204" charset="0"/>
              <a:cs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cs typeface="Consolas" panose="020B0609020204030204" charset="0"/>
              </a:rPr>
              <a:t>[('b', 9), ('c', 78), ('a', 3)]</a:t>
            </a:r>
            <a:endParaRPr lang="zh-CN" altLang="en-US" sz="18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x = list()                          </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创建空列表</a:t>
            </a:r>
            <a:endParaRPr lang="zh-CN" altLang="en-US" sz="18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3.1.1  列表创建与删除</a:t>
            </a:r>
            <a:endParaRPr lang="zh-CN" altLang="en-US"/>
          </a:p>
        </p:txBody>
      </p:sp>
      <p:sp>
        <p:nvSpPr>
          <p:cNvPr id="3" name="内容占位符 2"/>
          <p:cNvSpPr>
            <a:spLocks noGrp="1"/>
          </p:cNvSpPr>
          <p:nvPr>
            <p:ph idx="1"/>
          </p:nvPr>
        </p:nvSpPr>
        <p:spPr/>
        <p:txBody>
          <a:bodyPr/>
          <a:p>
            <a:pPr>
              <a:lnSpc>
                <a:spcPct val="120000"/>
              </a:lnSpc>
            </a:pPr>
            <a:r>
              <a:rPr lang="zh-CN" altLang="en-US" sz="2400"/>
              <a:t>当一个变量不再使用时，可以使用del命令将其删除，这一点适用于所有类型的变量</a:t>
            </a:r>
            <a:r>
              <a:rPr lang="zh-CN" altLang="en-US" sz="2400"/>
              <a:t>。</a:t>
            </a:r>
            <a:endParaRPr lang="zh-CN" altLang="en-US" sz="2400"/>
          </a:p>
          <a:p>
            <a:pPr marL="0" indent="0">
              <a:buNone/>
            </a:pPr>
            <a:r>
              <a:rPr lang="zh-CN" altLang="en-US" sz="2000">
                <a:latin typeface="Consolas" panose="020B0609020204030204" charset="0"/>
              </a:rPr>
              <a:t>&gt;&gt;&gt; x = [1, 2, 3]</a:t>
            </a:r>
            <a:endParaRPr lang="zh-CN" altLang="en-US" sz="2000">
              <a:latin typeface="Consolas" panose="020B0609020204030204" charset="0"/>
            </a:endParaRPr>
          </a:p>
          <a:p>
            <a:pPr marL="0" indent="0">
              <a:buNone/>
            </a:pPr>
            <a:r>
              <a:rPr lang="zh-CN" altLang="en-US" sz="2000">
                <a:latin typeface="Consolas" panose="020B0609020204030204" charset="0"/>
              </a:rPr>
              <a:t>&gt;&gt;&gt; del x                      # 删除变量，解除变量与列表之间的关联</a:t>
            </a:r>
            <a:endParaRPr lang="zh-CN" altLang="en-US" sz="2000">
              <a:latin typeface="Consolas" panose="020B0609020204030204" charset="0"/>
            </a:endParaRPr>
          </a:p>
          <a:p>
            <a:pPr marL="0" indent="0">
              <a:buNone/>
            </a:pPr>
            <a:r>
              <a:rPr lang="zh-CN" altLang="en-US" sz="2000">
                <a:latin typeface="Consolas" panose="020B0609020204030204" charset="0"/>
              </a:rPr>
              <a:t>&gt;&gt;&gt; x                          # 变量</a:t>
            </a:r>
            <a:r>
              <a:rPr lang="zh-CN" altLang="en-US" sz="2000">
                <a:latin typeface="Consolas" panose="020B0609020204030204" charset="0"/>
              </a:rPr>
              <a:t>删除后无法再访问，抛出异常</a:t>
            </a:r>
            <a:endParaRPr lang="zh-CN" altLang="en-US" sz="2000">
              <a:latin typeface="Consolas" panose="020B0609020204030204" charset="0"/>
            </a:endParaRPr>
          </a:p>
          <a:p>
            <a:pPr marL="0" indent="0">
              <a:buNone/>
            </a:pPr>
            <a:r>
              <a:rPr lang="zh-CN" altLang="en-US" sz="2000">
                <a:solidFill>
                  <a:srgbClr val="FF0000"/>
                </a:solidFill>
                <a:latin typeface="Consolas" panose="020B0609020204030204" charset="0"/>
              </a:rPr>
              <a:t>NameError: name 'x' is not defined</a:t>
            </a:r>
            <a:endParaRPr lang="zh-CN" altLang="en-US" sz="2000">
              <a:solidFill>
                <a:srgbClr val="FF000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3.1.2  列表元素访问</a:t>
            </a:r>
            <a:endParaRPr lang="zh-CN" altLang="en-US"/>
          </a:p>
        </p:txBody>
      </p:sp>
      <p:sp>
        <p:nvSpPr>
          <p:cNvPr id="3" name="内容占位符 2"/>
          <p:cNvSpPr>
            <a:spLocks noGrp="1"/>
          </p:cNvSpPr>
          <p:nvPr>
            <p:ph idx="1"/>
          </p:nvPr>
        </p:nvSpPr>
        <p:spPr/>
        <p:txBody>
          <a:bodyPr>
            <a:normAutofit/>
          </a:bodyPr>
          <a:p>
            <a:pPr indent="-228600" fontAlgn="auto">
              <a:lnSpc>
                <a:spcPct val="120000"/>
              </a:lnSpc>
              <a:spcBef>
                <a:spcPts val="0"/>
              </a:spcBef>
            </a:pPr>
            <a:r>
              <a:rPr lang="zh-CN" altLang="en-US" sz="2400"/>
              <a:t>创建列表之后，可以使用</a:t>
            </a:r>
            <a:r>
              <a:rPr lang="zh-CN" altLang="en-US" sz="2400">
                <a:solidFill>
                  <a:srgbClr val="FF0000"/>
                </a:solidFill>
              </a:rPr>
              <a:t>整数</a:t>
            </a:r>
            <a:r>
              <a:rPr lang="zh-CN" altLang="en-US" sz="2400"/>
              <a:t>作为下标来访问其中的元素，其中</a:t>
            </a:r>
            <a:r>
              <a:rPr lang="zh-CN" altLang="en-US" sz="2400">
                <a:solidFill>
                  <a:srgbClr val="FF0000"/>
                </a:solidFill>
              </a:rPr>
              <a:t>0表示第1个元素</a:t>
            </a:r>
            <a:r>
              <a:rPr lang="zh-CN" altLang="en-US" sz="2400"/>
              <a:t>，1表示第2个元素，2表示第3个元素，以此类推；列表还支持使用负整数作为下标，其中</a:t>
            </a:r>
            <a:r>
              <a:rPr lang="zh-CN" altLang="en-US" sz="2400">
                <a:solidFill>
                  <a:srgbClr val="FF0000"/>
                </a:solidFill>
              </a:rPr>
              <a:t>-1表示最后1个元素</a:t>
            </a:r>
            <a:r>
              <a:rPr lang="zh-CN" altLang="en-US" sz="2400"/>
              <a:t>，-2表示倒数第2个元素，-3表示倒数第3个元素，以此类推。</a:t>
            </a:r>
            <a:endParaRPr lang="zh-CN" altLang="en-US" sz="2400"/>
          </a:p>
          <a:p>
            <a:pPr marL="0" indent="0" fontAlgn="auto">
              <a:lnSpc>
                <a:spcPct val="100000"/>
              </a:lnSpc>
              <a:spcBef>
                <a:spcPts val="0"/>
              </a:spcBef>
              <a:buNone/>
            </a:pPr>
            <a:r>
              <a:rPr lang="zh-CN" altLang="en-US" sz="2000">
                <a:latin typeface="Consolas" panose="020B0609020204030204" charset="0"/>
              </a:rPr>
              <a:t>&gt;&gt;&gt; x = list('Python')             # 创建列表</a:t>
            </a:r>
            <a:r>
              <a:rPr lang="zh-CN" altLang="en-US" sz="2000">
                <a:latin typeface="Consolas" panose="020B0609020204030204" charset="0"/>
              </a:rPr>
              <a:t>对象</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['P', 'y', 't', 'h', 'o', 'n']</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x[0]                           # 下标为0的元素，第一个元素</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'P'</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x[-1]                          # 下标为-1的元素，最后一个元素</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'n'</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pic>
        <p:nvPicPr>
          <p:cNvPr id="5" name="图片 -2147482620"/>
          <p:cNvPicPr>
            <a:picLocks noChangeAspect="1"/>
          </p:cNvPicPr>
          <p:nvPr/>
        </p:nvPicPr>
        <p:blipFill>
          <a:blip r:embed="rId1">
            <a:lum/>
          </a:blip>
          <a:stretch>
            <a:fillRect/>
          </a:stretch>
        </p:blipFill>
        <p:spPr>
          <a:xfrm>
            <a:off x="2917190" y="5009515"/>
            <a:ext cx="4791075" cy="1346835"/>
          </a:xfrm>
          <a:prstGeom prst="rect">
            <a:avLst/>
          </a:prstGeom>
          <a:noFill/>
          <a:ln w="9525">
            <a:solidFill>
              <a:schemeClr val="accent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3.1.3  列表常用方法</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5" name="表格 4"/>
          <p:cNvGraphicFramePr/>
          <p:nvPr>
            <p:custDataLst>
              <p:tags r:id="rId1"/>
            </p:custDataLst>
          </p:nvPr>
        </p:nvGraphicFramePr>
        <p:xfrm>
          <a:off x="960120" y="1105535"/>
          <a:ext cx="9422765" cy="5189220"/>
        </p:xfrm>
        <a:graphic>
          <a:graphicData uri="http://schemas.openxmlformats.org/drawingml/2006/table">
            <a:tbl>
              <a:tblPr firstRow="1" bandRow="1">
                <a:tableStyleId>{5940675A-B579-460E-94D1-54222C63F5DA}</a:tableStyleId>
              </a:tblPr>
              <a:tblGrid>
                <a:gridCol w="3173730"/>
                <a:gridCol w="6249035"/>
              </a:tblGrid>
              <a:tr h="123825">
                <a:tc>
                  <a:txBody>
                    <a:bodyPr/>
                    <a:p>
                      <a:pPr indent="0" algn="ctr">
                        <a:buNone/>
                      </a:pPr>
                      <a:r>
                        <a:rPr lang="en-US" sz="1400" b="1">
                          <a:latin typeface="Consolas" panose="020B0609020204030204" charset="0"/>
                          <a:cs typeface="Consolas" panose="020B0609020204030204" charset="0"/>
                        </a:rPr>
                        <a:t>方法</a:t>
                      </a:r>
                      <a:endParaRPr lang="en-US" altLang="en-US" sz="1400" b="1">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1">
                          <a:latin typeface="Consolas" panose="020B0609020204030204" charset="0"/>
                          <a:cs typeface="Consolas" panose="020B0609020204030204" charset="0"/>
                        </a:rPr>
                        <a:t>功能描述</a:t>
                      </a:r>
                      <a:endParaRPr lang="en-US" altLang="en-US" sz="1400" b="1">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9250">
                <a:tc>
                  <a:txBody>
                    <a:bodyPr/>
                    <a:p>
                      <a:pPr indent="0">
                        <a:buNone/>
                      </a:pPr>
                      <a:r>
                        <a:rPr lang="en-US" sz="1400" b="0">
                          <a:latin typeface="Consolas" panose="020B0609020204030204" charset="0"/>
                          <a:cs typeface="Consolas" panose="020B0609020204030204" charset="0"/>
                        </a:rPr>
                        <a:t>append(object, /)</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将</a:t>
                      </a:r>
                      <a:r>
                        <a:rPr lang="en-US" sz="1400" b="0">
                          <a:latin typeface="宋体" panose="02010600030101010101" pitchFamily="2" charset="-122"/>
                          <a:ea typeface="宋体" panose="02010600030101010101" pitchFamily="2" charset="-122"/>
                          <a:cs typeface="宋体" panose="02010600030101010101" pitchFamily="2" charset="-122"/>
                        </a:rPr>
                        <a:t>任意类型的对象</a:t>
                      </a:r>
                      <a:r>
                        <a:rPr lang="en-US" sz="1400" b="0">
                          <a:latin typeface="Consolas" panose="020B0609020204030204" charset="0"/>
                          <a:cs typeface="Consolas" panose="020B0609020204030204" charset="0"/>
                        </a:rPr>
                        <a:t>object追加至当前列表的尾部，不影响</a:t>
                      </a:r>
                      <a:r>
                        <a:rPr lang="en-US" sz="1400" b="0">
                          <a:latin typeface="宋体" panose="02010600030101010101" pitchFamily="2" charset="-122"/>
                          <a:ea typeface="宋体" panose="02010600030101010101" pitchFamily="2" charset="-122"/>
                          <a:cs typeface="宋体" panose="02010600030101010101" pitchFamily="2" charset="-122"/>
                        </a:rPr>
                        <a:t>当前</a:t>
                      </a:r>
                      <a:r>
                        <a:rPr lang="en-US" sz="1400" b="0">
                          <a:latin typeface="Consolas" panose="020B0609020204030204" charset="0"/>
                          <a:cs typeface="Consolas" panose="020B0609020204030204" charset="0"/>
                        </a:rPr>
                        <a:t>列表中已有的元素下标，也不影响</a:t>
                      </a:r>
                      <a:r>
                        <a:rPr lang="en-US" sz="1400" b="0">
                          <a:latin typeface="宋体" panose="02010600030101010101" pitchFamily="2" charset="-122"/>
                          <a:ea typeface="宋体" panose="02010600030101010101" pitchFamily="2" charset="-122"/>
                          <a:cs typeface="宋体" panose="02010600030101010101" pitchFamily="2" charset="-122"/>
                        </a:rPr>
                        <a:t>当前</a:t>
                      </a:r>
                      <a:r>
                        <a:rPr lang="en-US" sz="1400" b="0">
                          <a:latin typeface="Consolas" panose="020B0609020204030204" charset="0"/>
                          <a:cs typeface="Consolas" panose="020B0609020204030204" charset="0"/>
                        </a:rPr>
                        <a:t>列表的</a:t>
                      </a:r>
                      <a:r>
                        <a:rPr lang="en-US" sz="1400" b="0">
                          <a:latin typeface="宋体" panose="02010600030101010101" pitchFamily="2" charset="-122"/>
                          <a:ea typeface="宋体" panose="02010600030101010101" pitchFamily="2" charset="-122"/>
                          <a:cs typeface="宋体" panose="02010600030101010101" pitchFamily="2" charset="-122"/>
                        </a:rPr>
                        <a:t>引用</a:t>
                      </a:r>
                      <a:r>
                        <a:rPr lang="en-US" sz="1400" b="0">
                          <a:latin typeface="Consolas" panose="020B0609020204030204" charset="0"/>
                          <a:cs typeface="Consolas" panose="020B0609020204030204" charset="0"/>
                        </a:rPr>
                        <a:t>，</a:t>
                      </a:r>
                      <a:r>
                        <a:rPr lang="en-US" sz="1400" b="0">
                          <a:latin typeface="宋体" panose="02010600030101010101" pitchFamily="2" charset="-122"/>
                          <a:ea typeface="宋体" panose="02010600030101010101" pitchFamily="2" charset="-122"/>
                          <a:cs typeface="宋体" panose="02010600030101010101" pitchFamily="2" charset="-122"/>
                        </a:rPr>
                        <a:t>没有返回值</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7650">
                <a:tc>
                  <a:txBody>
                    <a:bodyPr/>
                    <a:p>
                      <a:pPr indent="0">
                        <a:buNone/>
                      </a:pPr>
                      <a:r>
                        <a:rPr lang="en-US" sz="1400" b="0">
                          <a:latin typeface="Consolas" panose="020B0609020204030204" charset="0"/>
                          <a:cs typeface="Consolas" panose="020B0609020204030204" charset="0"/>
                        </a:rPr>
                        <a:t>clear()</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宋体" panose="02010600030101010101" pitchFamily="2" charset="-122"/>
                          <a:ea typeface="宋体" panose="02010600030101010101" pitchFamily="2" charset="-122"/>
                          <a:cs typeface="宋体" panose="02010600030101010101" pitchFamily="2" charset="-122"/>
                        </a:rPr>
                        <a:t>删除当前列表中所有元素，不影响列表的引用，没有返回值</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7650">
                <a:tc>
                  <a:txBody>
                    <a:bodyPr/>
                    <a:p>
                      <a:pPr indent="0">
                        <a:buNone/>
                      </a:pPr>
                      <a:r>
                        <a:rPr lang="en-US" sz="1400" b="0">
                          <a:latin typeface="Consolas" panose="020B0609020204030204" charset="0"/>
                          <a:cs typeface="Consolas" panose="020B0609020204030204" charset="0"/>
                        </a:rPr>
                        <a:t>copy()</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宋体" panose="02010600030101010101" pitchFamily="2" charset="-122"/>
                          <a:ea typeface="宋体" panose="02010600030101010101" pitchFamily="2" charset="-122"/>
                          <a:cs typeface="宋体" panose="02010600030101010101" pitchFamily="2" charset="-122"/>
                        </a:rPr>
                        <a:t>返回当前列表的浅复制，把当前列表中所有元素的引用复制到新列表中</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1475">
                <a:tc>
                  <a:txBody>
                    <a:bodyPr/>
                    <a:p>
                      <a:pPr indent="0">
                        <a:buNone/>
                      </a:pPr>
                      <a:r>
                        <a:rPr lang="en-US" sz="1400" b="0">
                          <a:latin typeface="Consolas" panose="020B0609020204030204" charset="0"/>
                          <a:cs typeface="Consolas" panose="020B0609020204030204" charset="0"/>
                        </a:rPr>
                        <a:t>count(value, /)</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返回</a:t>
                      </a:r>
                      <a:r>
                        <a:rPr lang="en-US" sz="1400" b="0">
                          <a:latin typeface="宋体" panose="02010600030101010101" pitchFamily="2" charset="-122"/>
                          <a:ea typeface="宋体" panose="02010600030101010101" pitchFamily="2" charset="-122"/>
                          <a:cs typeface="宋体" panose="02010600030101010101" pitchFamily="2" charset="-122"/>
                        </a:rPr>
                        <a:t>值为</a:t>
                      </a:r>
                      <a:r>
                        <a:rPr lang="en-US" sz="1400" b="0">
                          <a:latin typeface="Consolas" panose="020B0609020204030204" charset="0"/>
                          <a:cs typeface="Consolas" panose="020B0609020204030204" charset="0"/>
                        </a:rPr>
                        <a:t>value</a:t>
                      </a:r>
                      <a:r>
                        <a:rPr lang="en-US" sz="1400" b="0">
                          <a:latin typeface="宋体" panose="02010600030101010101" pitchFamily="2" charset="-122"/>
                          <a:ea typeface="宋体" panose="02010600030101010101" pitchFamily="2" charset="-122"/>
                          <a:cs typeface="宋体" panose="02010600030101010101" pitchFamily="2" charset="-122"/>
                        </a:rPr>
                        <a:t>的元素</a:t>
                      </a:r>
                      <a:r>
                        <a:rPr lang="en-US" sz="1400" b="0">
                          <a:latin typeface="Consolas" panose="020B0609020204030204" charset="0"/>
                          <a:cs typeface="Consolas" panose="020B0609020204030204" charset="0"/>
                        </a:rPr>
                        <a:t>在当前列表中的出现次数</a:t>
                      </a:r>
                      <a:r>
                        <a:rPr lang="en-US" sz="1400" b="0">
                          <a:latin typeface="宋体" panose="02010600030101010101" pitchFamily="2" charset="-122"/>
                          <a:ea typeface="宋体" panose="02010600030101010101" pitchFamily="2" charset="-122"/>
                          <a:cs typeface="宋体" panose="02010600030101010101" pitchFamily="2" charset="-122"/>
                        </a:rPr>
                        <a:t>，如果当前列表中没有值为value的元素则返回0，对当前列表没有任何影响</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1475">
                <a:tc>
                  <a:txBody>
                    <a:bodyPr/>
                    <a:p>
                      <a:pPr indent="0">
                        <a:buNone/>
                      </a:pPr>
                      <a:r>
                        <a:rPr lang="en-US" sz="1400" b="0">
                          <a:latin typeface="Consolas" panose="020B0609020204030204" charset="0"/>
                          <a:cs typeface="Consolas" panose="020B0609020204030204" charset="0"/>
                        </a:rPr>
                        <a:t>extend(iterable, /)</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将可迭代对象iterable中所有元素追加至当前列表的尾部，不影响</a:t>
                      </a:r>
                      <a:r>
                        <a:rPr lang="en-US" sz="1400" b="0">
                          <a:latin typeface="宋体" panose="02010600030101010101" pitchFamily="2" charset="-122"/>
                          <a:ea typeface="宋体" panose="02010600030101010101" pitchFamily="2" charset="-122"/>
                          <a:cs typeface="宋体" panose="02010600030101010101" pitchFamily="2" charset="-122"/>
                        </a:rPr>
                        <a:t>当前</a:t>
                      </a:r>
                      <a:r>
                        <a:rPr lang="en-US" sz="1400" b="0">
                          <a:latin typeface="Consolas" panose="020B0609020204030204" charset="0"/>
                          <a:cs typeface="Consolas" panose="020B0609020204030204" charset="0"/>
                        </a:rPr>
                        <a:t>列表中已有的元素位置</a:t>
                      </a:r>
                      <a:r>
                        <a:rPr lang="en-US" sz="1400" b="0">
                          <a:latin typeface="宋体" panose="02010600030101010101" pitchFamily="2" charset="-122"/>
                          <a:ea typeface="宋体" panose="02010600030101010101" pitchFamily="2" charset="-122"/>
                          <a:cs typeface="宋体" panose="02010600030101010101" pitchFamily="2" charset="-122"/>
                        </a:rPr>
                        <a:t>和</a:t>
                      </a:r>
                      <a:r>
                        <a:rPr lang="en-US" sz="1400" b="0">
                          <a:latin typeface="Consolas" panose="020B0609020204030204" charset="0"/>
                          <a:cs typeface="Consolas" panose="020B0609020204030204" charset="0"/>
                        </a:rPr>
                        <a:t>列表</a:t>
                      </a:r>
                      <a:r>
                        <a:rPr lang="en-US" sz="1400" b="0">
                          <a:latin typeface="宋体" panose="02010600030101010101" pitchFamily="2" charset="-122"/>
                          <a:ea typeface="宋体" panose="02010600030101010101" pitchFamily="2" charset="-122"/>
                          <a:cs typeface="宋体" panose="02010600030101010101" pitchFamily="2" charset="-122"/>
                        </a:rPr>
                        <a:t>的引用，没有返回值</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1475">
                <a:tc>
                  <a:txBody>
                    <a:bodyPr/>
                    <a:p>
                      <a:pPr indent="0">
                        <a:buNone/>
                      </a:pPr>
                      <a:r>
                        <a:rPr lang="en-US" sz="1400" b="0">
                          <a:latin typeface="Consolas" panose="020B0609020204030204" charset="0"/>
                          <a:cs typeface="Consolas" panose="020B0609020204030204" charset="0"/>
                        </a:rPr>
                        <a:t>insert(index, object, /)</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在当前列表的index位置前面插入对象object，该位置及后面所有元素自动向后移动，索引加1</a:t>
                      </a:r>
                      <a:r>
                        <a:rPr lang="en-US" sz="1400" b="0">
                          <a:latin typeface="宋体" panose="02010600030101010101" pitchFamily="2" charset="-122"/>
                          <a:ea typeface="宋体" panose="02010600030101010101" pitchFamily="2" charset="-122"/>
                          <a:cs typeface="宋体" panose="02010600030101010101" pitchFamily="2" charset="-122"/>
                        </a:rPr>
                        <a:t>，没有返回值</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4510">
                <a:tc>
                  <a:txBody>
                    <a:bodyPr/>
                    <a:p>
                      <a:pPr indent="0">
                        <a:buNone/>
                      </a:pPr>
                      <a:r>
                        <a:rPr lang="en-US" sz="1400" b="0">
                          <a:latin typeface="Consolas" panose="020B0609020204030204" charset="0"/>
                          <a:cs typeface="Consolas" panose="020B0609020204030204" charset="0"/>
                        </a:rPr>
                        <a:t>index(value, start=0,</a:t>
                      </a:r>
                      <a:endParaRPr lang="en-US" sz="1400" b="0">
                        <a:latin typeface="Consolas" panose="020B0609020204030204" charset="0"/>
                        <a:cs typeface="Consolas" panose="020B0609020204030204" charset="0"/>
                      </a:endParaRPr>
                    </a:p>
                    <a:p>
                      <a:pPr indent="0">
                        <a:buNone/>
                      </a:pPr>
                      <a:r>
                        <a:rPr lang="en-US" sz="1400" b="0">
                          <a:latin typeface="Consolas" panose="020B0609020204030204" charset="0"/>
                          <a:cs typeface="Consolas" panose="020B0609020204030204" charset="0"/>
                        </a:rPr>
                        <a:t>      stop=9223372036854775807,</a:t>
                      </a:r>
                      <a:endParaRPr lang="en-US" sz="1400" b="0">
                        <a:latin typeface="Consolas" panose="020B0609020204030204" charset="0"/>
                        <a:cs typeface="Consolas" panose="020B0609020204030204" charset="0"/>
                      </a:endParaRPr>
                    </a:p>
                    <a:p>
                      <a:pPr indent="0">
                        <a:buNone/>
                      </a:pPr>
                      <a:r>
                        <a:rPr lang="en-US" sz="1400" b="0">
                          <a:latin typeface="Consolas" panose="020B0609020204030204" charset="0"/>
                          <a:cs typeface="Consolas" panose="020B0609020204030204" charset="0"/>
                        </a:rPr>
                        <a:t>      /)</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返回当前列表指定范围中第一个值为value的元素的索引，若不存在值为value的元素则抛出异常ValueError，可以使用参数start和stop指定要搜索的下标范围，start默认为0表示从头开始，stop默认值</a:t>
                      </a:r>
                      <a:r>
                        <a:rPr lang="en-US" sz="1400" b="0">
                          <a:latin typeface="宋体" panose="02010600030101010101" pitchFamily="2" charset="-122"/>
                          <a:ea typeface="宋体" panose="02010600030101010101" pitchFamily="2" charset="-122"/>
                          <a:cs typeface="宋体" panose="02010600030101010101" pitchFamily="2" charset="-122"/>
                        </a:rPr>
                        <a:t>为</a:t>
                      </a:r>
                      <a:r>
                        <a:rPr lang="en-US" sz="1400" b="0">
                          <a:latin typeface="Consolas" panose="020B0609020204030204" charset="0"/>
                          <a:cs typeface="Consolas" panose="020B0609020204030204" charset="0"/>
                        </a:rPr>
                        <a:t>最大允许的下标值</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0340">
                <a:tc>
                  <a:txBody>
                    <a:bodyPr/>
                    <a:p>
                      <a:pPr indent="0">
                        <a:buNone/>
                      </a:pPr>
                      <a:r>
                        <a:rPr lang="en-US" sz="1400" b="0">
                          <a:latin typeface="Consolas" panose="020B0609020204030204" charset="0"/>
                          <a:cs typeface="Consolas" panose="020B0609020204030204" charset="0"/>
                        </a:rPr>
                        <a:t>pop(index=-1, /)</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删除并返回当前列表中下标为index的元素，该位置后面的所有元素自动向前移动，索引减1。index默认为-1，表示删除并返回列表中最后一个元素</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8775">
                <a:tc>
                  <a:txBody>
                    <a:bodyPr/>
                    <a:p>
                      <a:pPr indent="0">
                        <a:buNone/>
                      </a:pPr>
                      <a:r>
                        <a:rPr lang="en-US" sz="1400" b="0">
                          <a:latin typeface="Consolas" panose="020B0609020204030204" charset="0"/>
                          <a:cs typeface="Consolas" panose="020B0609020204030204" charset="0"/>
                        </a:rPr>
                        <a:t>remove(value, /)</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在当前列表中删除第一个值为value的元素，被删除元素</a:t>
                      </a:r>
                      <a:r>
                        <a:rPr lang="en-US" sz="1400" b="0">
                          <a:latin typeface="宋体" panose="02010600030101010101" pitchFamily="2" charset="-122"/>
                          <a:ea typeface="宋体" panose="02010600030101010101" pitchFamily="2" charset="-122"/>
                          <a:cs typeface="宋体" panose="02010600030101010101" pitchFamily="2" charset="-122"/>
                        </a:rPr>
                        <a:t>所在</a:t>
                      </a:r>
                      <a:r>
                        <a:rPr lang="en-US" sz="1400" b="0">
                          <a:latin typeface="Consolas" panose="020B0609020204030204" charset="0"/>
                          <a:cs typeface="Consolas" panose="020B0609020204030204" charset="0"/>
                        </a:rPr>
                        <a:t>位置之后的所有元素自动向前移动，索引减1</a:t>
                      </a:r>
                      <a:r>
                        <a:rPr lang="en-US" sz="1400" b="0">
                          <a:latin typeface="宋体" panose="02010600030101010101" pitchFamily="2" charset="-122"/>
                          <a:ea typeface="宋体" panose="02010600030101010101" pitchFamily="2" charset="-122"/>
                          <a:cs typeface="宋体" panose="02010600030101010101" pitchFamily="2" charset="-122"/>
                        </a:rPr>
                        <a:t>，不影响当前列表的引用，没有返回值</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30810">
                <a:tc>
                  <a:txBody>
                    <a:bodyPr/>
                    <a:p>
                      <a:pPr indent="0">
                        <a:buNone/>
                      </a:pPr>
                      <a:r>
                        <a:rPr lang="en-US" sz="1400" b="0">
                          <a:latin typeface="Consolas" panose="020B0609020204030204" charset="0"/>
                          <a:cs typeface="Consolas" panose="020B0609020204030204" charset="0"/>
                        </a:rPr>
                        <a:t>reverse()</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对当前列表中的所有元素进行原地翻转，首尾交换</a:t>
                      </a:r>
                      <a:r>
                        <a:rPr lang="en-US" sz="1400" b="0">
                          <a:latin typeface="宋体" panose="02010600030101010101" pitchFamily="2" charset="-122"/>
                          <a:ea typeface="宋体" panose="02010600030101010101" pitchFamily="2" charset="-122"/>
                          <a:cs typeface="宋体" panose="02010600030101010101" pitchFamily="2" charset="-122"/>
                        </a:rPr>
                        <a:t>，不影响当前列表的引用，没有返回值</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19125">
                <a:tc>
                  <a:txBody>
                    <a:bodyPr/>
                    <a:p>
                      <a:pPr indent="0">
                        <a:buNone/>
                      </a:pPr>
                      <a:r>
                        <a:rPr lang="en-US" sz="1400" b="0">
                          <a:latin typeface="Consolas" panose="020B0609020204030204" charset="0"/>
                          <a:cs typeface="Consolas" panose="020B0609020204030204" charset="0"/>
                        </a:rPr>
                        <a:t>sort(*, key=None,</a:t>
                      </a:r>
                      <a:endParaRPr lang="en-US" sz="1400" b="0">
                        <a:latin typeface="Consolas" panose="020B0609020204030204" charset="0"/>
                        <a:cs typeface="Consolas" panose="020B0609020204030204" charset="0"/>
                      </a:endParaRPr>
                    </a:p>
                    <a:p>
                      <a:pPr indent="0">
                        <a:buNone/>
                      </a:pPr>
                      <a:r>
                        <a:rPr lang="en-US" sz="1400" b="0">
                          <a:latin typeface="Consolas" panose="020B0609020204030204" charset="0"/>
                          <a:cs typeface="Consolas" panose="020B0609020204030204" charset="0"/>
                        </a:rPr>
                        <a:t>     reverse=False)</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对当前列表中的元素进行原地排序，是稳定排序（在指定规则下相等的元素保持原来的相对顺序）。参数key用来指定排序规则，可以为任意可调用对象；</a:t>
                      </a:r>
                      <a:r>
                        <a:rPr lang="en-US" sz="1400" b="0">
                          <a:latin typeface="宋体" panose="02010600030101010101" pitchFamily="2" charset="-122"/>
                          <a:ea typeface="宋体" panose="02010600030101010101" pitchFamily="2" charset="-122"/>
                          <a:cs typeface="宋体" panose="02010600030101010101" pitchFamily="2" charset="-122"/>
                        </a:rPr>
                        <a:t>参数</a:t>
                      </a:r>
                      <a:r>
                        <a:rPr lang="en-US" sz="1400" b="0">
                          <a:latin typeface="Consolas" panose="020B0609020204030204" charset="0"/>
                          <a:cs typeface="Consolas" panose="020B0609020204030204" charset="0"/>
                        </a:rPr>
                        <a:t>reverse为False表示升序，True表示降序</a:t>
                      </a:r>
                      <a:r>
                        <a:rPr lang="en-US" sz="1400" b="0">
                          <a:latin typeface="宋体" panose="02010600030101010101" pitchFamily="2" charset="-122"/>
                          <a:ea typeface="宋体" panose="02010600030101010101" pitchFamily="2" charset="-122"/>
                          <a:cs typeface="宋体" panose="02010600030101010101" pitchFamily="2" charset="-122"/>
                        </a:rPr>
                        <a:t>。不影响当前列表的引用，没有返回值</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3.1.3  列表常用方法</a:t>
            </a:r>
            <a:endParaRPr lang="zh-CN" altLang="en-US"/>
          </a:p>
        </p:txBody>
      </p:sp>
      <p:sp>
        <p:nvSpPr>
          <p:cNvPr id="3" name="内容占位符 2"/>
          <p:cNvSpPr>
            <a:spLocks noGrp="1"/>
          </p:cNvSpPr>
          <p:nvPr>
            <p:ph idx="1"/>
          </p:nvPr>
        </p:nvSpPr>
        <p:spPr/>
        <p:txBody>
          <a:bodyPr>
            <a:normAutofit lnSpcReduction="10000"/>
          </a:bodyPr>
          <a:p>
            <a:pPr marL="0" indent="0" fontAlgn="auto">
              <a:lnSpc>
                <a:spcPct val="140000"/>
              </a:lnSpc>
              <a:spcBef>
                <a:spcPts val="0"/>
              </a:spcBef>
              <a:buNone/>
            </a:pPr>
            <a:r>
              <a:rPr lang="zh-CN" altLang="en-US" sz="2400"/>
              <a:t>（1）append()、insert()、extend()</a:t>
            </a:r>
            <a:endParaRPr lang="zh-CN" altLang="en-US" sz="2400"/>
          </a:p>
          <a:p>
            <a:pPr marL="0" indent="0" fontAlgn="auto">
              <a:lnSpc>
                <a:spcPct val="140000"/>
              </a:lnSpc>
              <a:spcBef>
                <a:spcPts val="0"/>
              </a:spcBef>
              <a:buNone/>
            </a:pPr>
            <a:r>
              <a:rPr lang="zh-CN" altLang="en-US" sz="2400"/>
              <a:t>append()用于向列表尾部追加一个元素，insert()用于向列表任意指定位置插入一个元素，extend()用于将参数可迭代</a:t>
            </a:r>
            <a:r>
              <a:rPr lang="zh-CN" altLang="en-US" sz="2400"/>
              <a:t>对象中的所有元素追加至当前列表的尾部。这3个方法都属于</a:t>
            </a:r>
            <a:r>
              <a:rPr lang="zh-CN" altLang="en-US" sz="2400">
                <a:solidFill>
                  <a:srgbClr val="FF0000"/>
                </a:solidFill>
              </a:rPr>
              <a:t>原地操作</a:t>
            </a:r>
            <a:r>
              <a:rPr lang="zh-CN" altLang="en-US" sz="2400"/>
              <a:t>，不影响列表对象在内存中的起始地址。</a:t>
            </a:r>
            <a:endParaRPr lang="zh-CN" altLang="en-US" sz="2400"/>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x = [1, 2, 3]</a:t>
            </a:r>
            <a:endParaRPr lang="zh-CN" altLang="en-US" sz="1800">
              <a:latin typeface="Consolas" panose="020B0609020204030204" charset="0"/>
              <a:cs typeface="Consolas" panose="020B0609020204030204" charset="0"/>
            </a:endParaRPr>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x.append(4)                     # 在尾部追加元素</a:t>
            </a:r>
            <a:endParaRPr lang="zh-CN" altLang="en-US" sz="1800">
              <a:latin typeface="Consolas" panose="020B0609020204030204" charset="0"/>
              <a:cs typeface="Consolas" panose="020B0609020204030204" charset="0"/>
            </a:endParaRPr>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x.insert(0, 0)                  # 在指定位置插入元素</a:t>
            </a:r>
            <a:endParaRPr lang="zh-CN" altLang="en-US" sz="1800">
              <a:latin typeface="Consolas" panose="020B0609020204030204" charset="0"/>
              <a:cs typeface="Consolas" panose="020B0609020204030204" charset="0"/>
            </a:endParaRPr>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x.extend([5, 6, 7])             # 在尾部追加多个元素</a:t>
            </a:r>
            <a:endParaRPr lang="zh-CN" altLang="en-US" sz="1800">
              <a:latin typeface="Consolas" panose="020B0609020204030204" charset="0"/>
              <a:cs typeface="Consolas" panose="020B0609020204030204" charset="0"/>
            </a:endParaRPr>
          </a:p>
          <a:p>
            <a:pPr marL="0" indent="0" fontAlgn="auto">
              <a:lnSpc>
                <a:spcPct val="100000"/>
              </a:lnSpc>
              <a:spcBef>
                <a:spcPts val="0"/>
              </a:spcBef>
              <a:buNone/>
            </a:pPr>
            <a:r>
              <a:rPr lang="zh-CN" altLang="en-US" sz="1800">
                <a:latin typeface="Consolas" panose="020B0609020204030204" charset="0"/>
                <a:cs typeface="Consolas" panose="020B0609020204030204" charset="0"/>
              </a:rPr>
              <a:t>&gt;&gt;&gt; x</a:t>
            </a:r>
            <a:endParaRPr lang="zh-CN" altLang="en-US" sz="1800">
              <a:latin typeface="Consolas" panose="020B0609020204030204" charset="0"/>
              <a:cs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cs typeface="Consolas" panose="020B0609020204030204" charset="0"/>
              </a:rPr>
              <a:t>[0, 1, 2, 3, 4, 5, 6, 7]</a:t>
            </a:r>
            <a:endParaRPr lang="zh-CN" altLang="en-US" sz="18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3.1.3  列表常用方法</a:t>
            </a:r>
            <a:endParaRPr lang="zh-CN" altLang="en-US"/>
          </a:p>
        </p:txBody>
      </p:sp>
      <p:sp>
        <p:nvSpPr>
          <p:cNvPr id="3" name="内容占位符 2"/>
          <p:cNvSpPr>
            <a:spLocks noGrp="1"/>
          </p:cNvSpPr>
          <p:nvPr>
            <p:ph idx="1"/>
          </p:nvPr>
        </p:nvSpPr>
        <p:spPr>
          <a:xfrm>
            <a:off x="838200" y="1321435"/>
            <a:ext cx="10945495" cy="5152390"/>
          </a:xfrm>
        </p:spPr>
        <p:txBody>
          <a:bodyPr>
            <a:normAutofit fontScale="90000"/>
          </a:bodyPr>
          <a:p>
            <a:pPr marL="0" indent="0" fontAlgn="auto">
              <a:lnSpc>
                <a:spcPct val="130000"/>
              </a:lnSpc>
              <a:spcBef>
                <a:spcPts val="0"/>
              </a:spcBef>
              <a:buNone/>
            </a:pPr>
            <a:r>
              <a:rPr lang="zh-CN" altLang="en-US" sz="2400"/>
              <a:t>（2）pop()、remove()、clear()</a:t>
            </a:r>
            <a:endParaRPr lang="zh-CN" altLang="en-US" sz="2400"/>
          </a:p>
          <a:p>
            <a:pPr marL="0" indent="0" fontAlgn="auto">
              <a:lnSpc>
                <a:spcPct val="130000"/>
              </a:lnSpc>
              <a:spcBef>
                <a:spcPts val="0"/>
              </a:spcBef>
              <a:buNone/>
            </a:pPr>
            <a:r>
              <a:rPr lang="zh-CN" altLang="en-US" sz="2400"/>
              <a:t>pop()用于删除并返回指定位置（默认是最后一个）上的元素；remove()用于删除列表中第一个值与指定值相等的元素；clear()用于清空列表中的所有元素。这3个方法也属于</a:t>
            </a:r>
            <a:r>
              <a:rPr lang="zh-CN" altLang="en-US" sz="2400">
                <a:solidFill>
                  <a:srgbClr val="FF0000"/>
                </a:solidFill>
              </a:rPr>
              <a:t>原地操作</a:t>
            </a:r>
            <a:r>
              <a:rPr lang="zh-CN" altLang="en-US" sz="2400"/>
              <a:t>。另外，还可以使用del命令删除列表中指定位置的元素，同样也属于原地操作。</a:t>
            </a:r>
            <a:endParaRPr lang="zh-CN" altLang="en-US" sz="2400"/>
          </a:p>
          <a:p>
            <a:pPr marL="0" indent="0" fontAlgn="auto">
              <a:lnSpc>
                <a:spcPct val="100000"/>
              </a:lnSpc>
              <a:spcBef>
                <a:spcPts val="0"/>
              </a:spcBef>
              <a:buNone/>
            </a:pPr>
            <a:r>
              <a:rPr lang="zh-CN" altLang="en-US" sz="1800">
                <a:latin typeface="Consolas" panose="020B0609020204030204" charset="0"/>
              </a:rPr>
              <a:t>&gt;&gt;&gt; x = [1, 2, 3, 4, 5, 6, 7]</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x.pop()                        # 弹出并返回尾部元素</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7</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x.pop(0)                       # 弹出并返回指定位置的元素</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x.clear()                      # 删除所有元素</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 = [1, 2, 1, 1, 2]</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x.remove(2)                    # 删除首个值为2的元素</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del x[3]                       # 删除指定位置上的元素</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 1, 1]</a:t>
            </a:r>
            <a:endParaRPr lang="zh-CN" altLang="en-US" sz="18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3.1.3  列表常用方法</a:t>
            </a:r>
            <a:endParaRPr lang="zh-CN" altLang="en-US"/>
          </a:p>
        </p:txBody>
      </p:sp>
      <p:sp>
        <p:nvSpPr>
          <p:cNvPr id="3" name="内容占位符 2"/>
          <p:cNvSpPr>
            <a:spLocks noGrp="1"/>
          </p:cNvSpPr>
          <p:nvPr>
            <p:ph idx="1"/>
          </p:nvPr>
        </p:nvSpPr>
        <p:spPr/>
        <p:txBody>
          <a:bodyPr>
            <a:normAutofit/>
          </a:bodyPr>
          <a:p>
            <a:pPr marL="0" indent="0" fontAlgn="auto">
              <a:lnSpc>
                <a:spcPct val="130000"/>
              </a:lnSpc>
              <a:spcBef>
                <a:spcPts val="0"/>
              </a:spcBef>
              <a:buNone/>
            </a:pPr>
            <a:r>
              <a:rPr lang="zh-CN" altLang="en-US" sz="2400"/>
              <a:t>（3）count()、index()</a:t>
            </a:r>
            <a:endParaRPr lang="zh-CN" altLang="en-US" sz="2400"/>
          </a:p>
          <a:p>
            <a:pPr marL="0" indent="0" fontAlgn="auto">
              <a:lnSpc>
                <a:spcPct val="130000"/>
              </a:lnSpc>
              <a:spcBef>
                <a:spcPts val="0"/>
              </a:spcBef>
              <a:buNone/>
            </a:pPr>
            <a:r>
              <a:rPr lang="zh-CN" altLang="en-US" sz="2400"/>
              <a:t>列表方法count()用于返回列表中指定元素出现的次数；index()用于返回指定元素在列表中</a:t>
            </a:r>
            <a:r>
              <a:rPr lang="zh-CN" altLang="en-US" sz="2400">
                <a:solidFill>
                  <a:srgbClr val="FF0000"/>
                </a:solidFill>
              </a:rPr>
              <a:t>首次出现的位置</a:t>
            </a:r>
            <a:r>
              <a:rPr lang="zh-CN" altLang="en-US" sz="2400"/>
              <a:t>，如果该元素不在列表中则抛出异常。</a:t>
            </a:r>
            <a:endParaRPr lang="zh-CN" altLang="en-US" sz="2400"/>
          </a:p>
          <a:p>
            <a:pPr marL="0" indent="0" fontAlgn="auto">
              <a:lnSpc>
                <a:spcPct val="100000"/>
              </a:lnSpc>
              <a:spcBef>
                <a:spcPts val="0"/>
              </a:spcBef>
              <a:buNone/>
            </a:pPr>
            <a:r>
              <a:rPr lang="zh-CN" altLang="en-US" sz="1800">
                <a:latin typeface="Consolas" panose="020B0609020204030204" charset="0"/>
              </a:rPr>
              <a:t>&gt;&gt;&gt; x = [1, 2, 2, 3, 3, 3, 4, 4, 4, 4]</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x.count(3)                     # 元素3在列表x中的出现次数</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3</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x.count(5)                     # 不存在，返回0</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0</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x.index(2)                     # 元素2在列表x中首次出现的索引</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x.index(5)                     # 列表x中没有5，抛出异常</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FF0000"/>
                </a:solidFill>
                <a:latin typeface="Consolas" panose="020B0609020204030204" charset="0"/>
              </a:rPr>
              <a:t>ValueError: 5 is not in list</a:t>
            </a:r>
            <a:endParaRPr lang="zh-CN" altLang="en-US" sz="1800">
              <a:solidFill>
                <a:srgbClr val="FF000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3.1.3  列表常用方法</a:t>
            </a:r>
            <a:endParaRPr lang="zh-CN" altLang="en-US"/>
          </a:p>
        </p:txBody>
      </p:sp>
      <p:sp>
        <p:nvSpPr>
          <p:cNvPr id="3" name="内容占位符 2"/>
          <p:cNvSpPr>
            <a:spLocks noGrp="1"/>
          </p:cNvSpPr>
          <p:nvPr>
            <p:ph idx="1"/>
          </p:nvPr>
        </p:nvSpPr>
        <p:spPr>
          <a:xfrm>
            <a:off x="838200" y="1321435"/>
            <a:ext cx="10515600" cy="5215255"/>
          </a:xfrm>
        </p:spPr>
        <p:txBody>
          <a:bodyPr>
            <a:normAutofit fontScale="80000"/>
          </a:bodyPr>
          <a:p>
            <a:pPr marL="0" indent="0" fontAlgn="auto">
              <a:lnSpc>
                <a:spcPct val="100000"/>
              </a:lnSpc>
              <a:spcBef>
                <a:spcPts val="0"/>
              </a:spcBef>
              <a:buNone/>
            </a:pPr>
            <a:r>
              <a:rPr lang="zh-CN" altLang="en-US" sz="2400"/>
              <a:t>（4）sort()、reverse()</a:t>
            </a:r>
            <a:endParaRPr lang="zh-CN" altLang="en-US" sz="2400"/>
          </a:p>
          <a:p>
            <a:pPr marL="0" indent="0" fontAlgn="auto">
              <a:lnSpc>
                <a:spcPct val="100000"/>
              </a:lnSpc>
              <a:spcBef>
                <a:spcPts val="0"/>
              </a:spcBef>
              <a:buNone/>
            </a:pPr>
            <a:r>
              <a:rPr lang="zh-CN" altLang="en-US" sz="2400"/>
              <a:t>列表对象的sort()方法用于按照指定的规则对所有元素进行排序；reverse()方法用于将列表所有元素逆序或翻转。</a:t>
            </a:r>
            <a:endParaRPr lang="zh-CN" altLang="en-US" sz="2400"/>
          </a:p>
          <a:p>
            <a:pPr marL="0" indent="0" fontAlgn="auto">
              <a:lnSpc>
                <a:spcPct val="100000"/>
              </a:lnSpc>
              <a:spcBef>
                <a:spcPts val="0"/>
              </a:spcBef>
              <a:buNone/>
            </a:pPr>
            <a:r>
              <a:rPr lang="zh-CN" altLang="en-US" sz="2000">
                <a:latin typeface="Consolas" panose="020B0609020204030204" charset="0"/>
              </a:rPr>
              <a:t>&gt;&gt;&gt; x = list(range(11))                       # 包含11个整数的列表</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import random</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random.shuffle(x)                         # 把列表x中的元素随机乱序</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[6, 0, 1, 7, 4, 3, 2, 8, 5, 10, 9]</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x.sort(key=lambda item:len(str(item)), reverse=True)  # 按转换成字符串以后的长度，降序排列</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[10, 6, 0, 1, 7, 4, 3, 2, 8, 5, 9]</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x.sort(key=str)                           # 按转换为字符串后的大小，升序排序</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[0, 1, 10, 2, 3, 4, 5, 6, 7, 8, 9]</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x.sort()                                  # 按默认规则排序</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[0, 1, 2, 3, 4, 5, 6, 7, 8, 9, 10]</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x.reverse()                               # 把所有元素翻转或逆序</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[10, 9, 8, 7, 6, 5, 4, 3, 2, 1, 0]</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3.1.3  列表常用方法</a:t>
            </a:r>
            <a:endParaRPr lang="zh-CN" altLang="en-US"/>
          </a:p>
        </p:txBody>
      </p:sp>
      <p:sp>
        <p:nvSpPr>
          <p:cNvPr id="3" name="内容占位符 2"/>
          <p:cNvSpPr>
            <a:spLocks noGrp="1"/>
          </p:cNvSpPr>
          <p:nvPr>
            <p:ph idx="1"/>
          </p:nvPr>
        </p:nvSpPr>
        <p:spPr>
          <a:xfrm>
            <a:off x="838200" y="1321435"/>
            <a:ext cx="10846435" cy="5186045"/>
          </a:xfrm>
        </p:spPr>
        <p:txBody>
          <a:bodyPr>
            <a:normAutofit fontScale="90000"/>
          </a:bodyPr>
          <a:p>
            <a:pPr marL="0" indent="0">
              <a:lnSpc>
                <a:spcPct val="90000"/>
              </a:lnSpc>
              <a:buNone/>
            </a:pPr>
            <a:r>
              <a:rPr lang="zh-CN" altLang="en-US" sz="2400"/>
              <a:t>（</a:t>
            </a:r>
            <a:r>
              <a:rPr lang="en-US" altLang="zh-CN" sz="2400"/>
              <a:t>5</a:t>
            </a:r>
            <a:r>
              <a:rPr lang="zh-CN" altLang="en-US" sz="2400"/>
              <a:t>）</a:t>
            </a:r>
            <a:r>
              <a:rPr lang="en-US" altLang="zh-CN" sz="2400"/>
              <a:t>copy()</a:t>
            </a:r>
            <a:r>
              <a:rPr lang="zh-CN" altLang="en-US" sz="2400"/>
              <a:t>方法</a:t>
            </a:r>
            <a:endParaRPr lang="zh-CN" altLang="en-US" sz="2400"/>
          </a:p>
          <a:p>
            <a:pPr marL="0" indent="0">
              <a:lnSpc>
                <a:spcPct val="90000"/>
              </a:lnSpc>
              <a:buNone/>
            </a:pPr>
            <a:r>
              <a:rPr lang="en-US" altLang="zh-CN" sz="2400"/>
              <a:t>copy()</a:t>
            </a:r>
            <a:r>
              <a:rPr lang="zh-CN" altLang="en-US" sz="2400"/>
              <a:t>方法返回当前列表的浅复制，返回包含原列表中所有元素的引用的新列表。</a:t>
            </a:r>
            <a:endParaRPr lang="zh-CN" altLang="en-US" sz="2400"/>
          </a:p>
          <a:p>
            <a:pPr marL="0" indent="0" fontAlgn="auto">
              <a:lnSpc>
                <a:spcPct val="120000"/>
              </a:lnSpc>
              <a:spcBef>
                <a:spcPts val="0"/>
              </a:spcBef>
              <a:buNone/>
            </a:pPr>
            <a:r>
              <a:rPr lang="zh-CN" altLang="en-US" sz="2000">
                <a:latin typeface="Consolas" panose="020B0609020204030204" charset="0"/>
                <a:cs typeface="Consolas" panose="020B0609020204030204" charset="0"/>
              </a:rPr>
              <a:t>&gt;&gt;&gt; x = [1, 2, [3, 4]]</a:t>
            </a:r>
            <a:endParaRPr lang="zh-CN" altLang="en-US" sz="2000">
              <a:latin typeface="Consolas" panose="020B0609020204030204" charset="0"/>
              <a:cs typeface="Consolas" panose="020B0609020204030204" charset="0"/>
            </a:endParaRPr>
          </a:p>
          <a:p>
            <a:pPr marL="0" indent="0" fontAlgn="auto">
              <a:lnSpc>
                <a:spcPct val="120000"/>
              </a:lnSpc>
              <a:spcBef>
                <a:spcPts val="0"/>
              </a:spcBef>
              <a:buNone/>
            </a:pPr>
            <a:r>
              <a:rPr lang="zh-CN" altLang="en-US" sz="2000">
                <a:latin typeface="Consolas" panose="020B0609020204030204" charset="0"/>
                <a:cs typeface="Consolas" panose="020B0609020204030204" charset="0"/>
              </a:rPr>
              <a:t>&gt;&gt;&gt; y = x.copy()</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返回列表</a:t>
            </a:r>
            <a:r>
              <a:rPr lang="en-US" altLang="zh-CN" sz="2000">
                <a:latin typeface="Consolas" panose="020B0609020204030204" charset="0"/>
                <a:cs typeface="Consolas" panose="020B0609020204030204" charset="0"/>
              </a:rPr>
              <a:t>x</a:t>
            </a:r>
            <a:r>
              <a:rPr lang="zh-CN" altLang="en-US" sz="2000">
                <a:latin typeface="Consolas" panose="020B0609020204030204" charset="0"/>
                <a:cs typeface="Consolas" panose="020B0609020204030204" charset="0"/>
              </a:rPr>
              <a:t>的浅复制</a:t>
            </a:r>
            <a:endParaRPr lang="zh-CN" altLang="en-US" sz="2000">
              <a:latin typeface="Consolas" panose="020B0609020204030204" charset="0"/>
              <a:cs typeface="Consolas" panose="020B0609020204030204" charset="0"/>
            </a:endParaRPr>
          </a:p>
          <a:p>
            <a:pPr marL="0" indent="0" fontAlgn="auto">
              <a:lnSpc>
                <a:spcPct val="120000"/>
              </a:lnSpc>
              <a:spcBef>
                <a:spcPts val="0"/>
              </a:spcBef>
              <a:buNone/>
            </a:pPr>
            <a:r>
              <a:rPr lang="zh-CN" altLang="en-US" sz="2000">
                <a:latin typeface="Consolas" panose="020B0609020204030204" charset="0"/>
                <a:cs typeface="Consolas" panose="020B0609020204030204" charset="0"/>
              </a:rPr>
              <a:t>&gt;&gt;&gt; y</a:t>
            </a:r>
            <a:endParaRPr lang="zh-CN" altLang="en-US" sz="2000">
              <a:latin typeface="Consolas" panose="020B0609020204030204" charset="0"/>
              <a:cs typeface="Consolas" panose="020B0609020204030204" charset="0"/>
            </a:endParaRPr>
          </a:p>
          <a:p>
            <a:pPr marL="0" indent="0" fontAlgn="auto">
              <a:lnSpc>
                <a:spcPct val="120000"/>
              </a:lnSpc>
              <a:spcBef>
                <a:spcPts val="0"/>
              </a:spcBef>
              <a:buNone/>
            </a:pPr>
            <a:r>
              <a:rPr lang="zh-CN" altLang="en-US" sz="2000">
                <a:solidFill>
                  <a:srgbClr val="00B0F0"/>
                </a:solidFill>
                <a:latin typeface="Consolas" panose="020B0609020204030204" charset="0"/>
                <a:cs typeface="Consolas" panose="020B0609020204030204" charset="0"/>
              </a:rPr>
              <a:t>[1, 2, [3, 4]]</a:t>
            </a:r>
            <a:endParaRPr lang="zh-CN" altLang="en-US" sz="2000">
              <a:solidFill>
                <a:srgbClr val="00B0F0"/>
              </a:solidFill>
              <a:latin typeface="Consolas" panose="020B0609020204030204" charset="0"/>
              <a:cs typeface="Consolas" panose="020B0609020204030204" charset="0"/>
            </a:endParaRPr>
          </a:p>
          <a:p>
            <a:pPr marL="0" indent="0" fontAlgn="auto">
              <a:lnSpc>
                <a:spcPct val="120000"/>
              </a:lnSpc>
              <a:spcBef>
                <a:spcPts val="0"/>
              </a:spcBef>
              <a:buNone/>
            </a:pPr>
            <a:r>
              <a:rPr lang="zh-CN" altLang="en-US" sz="2000">
                <a:latin typeface="Consolas" panose="020B0609020204030204" charset="0"/>
                <a:cs typeface="Consolas" panose="020B0609020204030204" charset="0"/>
              </a:rPr>
              <a:t>&gt;&gt;&gt; y[2].append(5)</a:t>
            </a:r>
            <a:r>
              <a:rPr lang="en-US" altLang="zh-CN" sz="2000">
                <a:latin typeface="Consolas" panose="020B0609020204030204" charset="0"/>
                <a:cs typeface="Consolas" panose="020B0609020204030204" charset="0"/>
              </a:rPr>
              <a:t>          # y[2]</a:t>
            </a:r>
            <a:r>
              <a:rPr lang="zh-CN" altLang="en-US" sz="2000">
                <a:latin typeface="Consolas" panose="020B0609020204030204" charset="0"/>
                <a:cs typeface="Consolas" panose="020B0609020204030204" charset="0"/>
              </a:rPr>
              <a:t>是子列表，</a:t>
            </a:r>
            <a:r>
              <a:rPr lang="en-US" altLang="zh-CN" sz="2000">
                <a:latin typeface="Consolas" panose="020B0609020204030204" charset="0"/>
                <a:cs typeface="Consolas" panose="020B0609020204030204" charset="0"/>
              </a:rPr>
              <a:t>append()</a:t>
            </a:r>
            <a:r>
              <a:rPr lang="zh-CN" altLang="en-US" sz="2000">
                <a:latin typeface="Consolas" panose="020B0609020204030204" charset="0"/>
                <a:cs typeface="Consolas" panose="020B0609020204030204" charset="0"/>
              </a:rPr>
              <a:t>不改变子列表引用，所以会影响</a:t>
            </a:r>
            <a:r>
              <a:rPr lang="en-US" altLang="zh-CN" sz="2000">
                <a:latin typeface="Consolas" panose="020B0609020204030204" charset="0"/>
                <a:cs typeface="Consolas" panose="020B0609020204030204" charset="0"/>
              </a:rPr>
              <a:t>x</a:t>
            </a:r>
            <a:endParaRPr lang="zh-CN" altLang="en-US" sz="2000">
              <a:latin typeface="Consolas" panose="020B0609020204030204" charset="0"/>
              <a:cs typeface="Consolas" panose="020B0609020204030204" charset="0"/>
            </a:endParaRPr>
          </a:p>
          <a:p>
            <a:pPr marL="0" indent="0" fontAlgn="auto">
              <a:lnSpc>
                <a:spcPct val="120000"/>
              </a:lnSpc>
              <a:spcBef>
                <a:spcPts val="0"/>
              </a:spcBef>
              <a:buNone/>
            </a:pPr>
            <a:r>
              <a:rPr lang="zh-CN" altLang="en-US" sz="2000">
                <a:latin typeface="Consolas" panose="020B0609020204030204" charset="0"/>
                <a:cs typeface="Consolas" panose="020B0609020204030204" charset="0"/>
              </a:rPr>
              <a:t>&gt;&gt;&gt; x[0] = 6</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这个操作不会对</a:t>
            </a:r>
            <a:r>
              <a:rPr lang="en-US" altLang="zh-CN" sz="2000">
                <a:latin typeface="Consolas" panose="020B0609020204030204" charset="0"/>
                <a:cs typeface="Consolas" panose="020B0609020204030204" charset="0"/>
              </a:rPr>
              <a:t>y</a:t>
            </a:r>
            <a:r>
              <a:rPr lang="zh-CN" altLang="en-US" sz="2000">
                <a:latin typeface="Consolas" panose="020B0609020204030204" charset="0"/>
                <a:cs typeface="Consolas" panose="020B0609020204030204" charset="0"/>
              </a:rPr>
              <a:t>造成任何</a:t>
            </a:r>
            <a:r>
              <a:rPr lang="zh-CN" altLang="en-US" sz="2000">
                <a:latin typeface="Consolas" panose="020B0609020204030204" charset="0"/>
                <a:cs typeface="Consolas" panose="020B0609020204030204" charset="0"/>
              </a:rPr>
              <a:t>影响</a:t>
            </a:r>
            <a:endParaRPr lang="zh-CN" altLang="en-US" sz="2000">
              <a:latin typeface="Consolas" panose="020B0609020204030204" charset="0"/>
              <a:cs typeface="Consolas" panose="020B0609020204030204" charset="0"/>
            </a:endParaRPr>
          </a:p>
          <a:p>
            <a:pPr marL="0" indent="0" fontAlgn="auto">
              <a:lnSpc>
                <a:spcPct val="120000"/>
              </a:lnSpc>
              <a:spcBef>
                <a:spcPts val="0"/>
              </a:spcBef>
              <a:buNone/>
            </a:pPr>
            <a:r>
              <a:rPr lang="zh-CN" altLang="en-US" sz="2000">
                <a:latin typeface="Consolas" panose="020B0609020204030204" charset="0"/>
                <a:cs typeface="Consolas" panose="020B0609020204030204" charset="0"/>
              </a:rPr>
              <a:t>&gt;&gt;&gt; y.append(6)</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这个操作不会影响</a:t>
            </a:r>
            <a:r>
              <a:rPr lang="en-US" altLang="zh-CN" sz="2000">
                <a:latin typeface="Consolas" panose="020B0609020204030204" charset="0"/>
                <a:cs typeface="Consolas" panose="020B0609020204030204" charset="0"/>
              </a:rPr>
              <a:t>x</a:t>
            </a:r>
            <a:endParaRPr lang="zh-CN" altLang="en-US" sz="2000">
              <a:latin typeface="Consolas" panose="020B0609020204030204" charset="0"/>
              <a:cs typeface="Consolas" panose="020B0609020204030204" charset="0"/>
            </a:endParaRPr>
          </a:p>
          <a:p>
            <a:pPr marL="0" indent="0" fontAlgn="auto">
              <a:lnSpc>
                <a:spcPct val="120000"/>
              </a:lnSpc>
              <a:spcBef>
                <a:spcPts val="0"/>
              </a:spcBef>
              <a:buNone/>
            </a:pPr>
            <a:r>
              <a:rPr lang="zh-CN" altLang="en-US" sz="2000">
                <a:latin typeface="Consolas" panose="020B0609020204030204" charset="0"/>
                <a:cs typeface="Consolas" panose="020B0609020204030204" charset="0"/>
              </a:rPr>
              <a:t>&gt;&gt;&gt; y</a:t>
            </a:r>
            <a:endParaRPr lang="zh-CN" altLang="en-US" sz="2000">
              <a:latin typeface="Consolas" panose="020B0609020204030204" charset="0"/>
              <a:cs typeface="Consolas" panose="020B0609020204030204" charset="0"/>
            </a:endParaRPr>
          </a:p>
          <a:p>
            <a:pPr marL="0" indent="0" fontAlgn="auto">
              <a:lnSpc>
                <a:spcPct val="120000"/>
              </a:lnSpc>
              <a:spcBef>
                <a:spcPts val="0"/>
              </a:spcBef>
              <a:buNone/>
            </a:pPr>
            <a:r>
              <a:rPr lang="zh-CN" altLang="en-US" sz="2000">
                <a:solidFill>
                  <a:srgbClr val="00B0F0"/>
                </a:solidFill>
                <a:latin typeface="Consolas" panose="020B0609020204030204" charset="0"/>
                <a:cs typeface="Consolas" panose="020B0609020204030204" charset="0"/>
              </a:rPr>
              <a:t>[1, 2, [3, 4, 5], 6]</a:t>
            </a:r>
            <a:endParaRPr lang="zh-CN" altLang="en-US" sz="2000">
              <a:solidFill>
                <a:srgbClr val="00B0F0"/>
              </a:solidFill>
              <a:latin typeface="Consolas" panose="020B0609020204030204" charset="0"/>
              <a:cs typeface="Consolas" panose="020B0609020204030204" charset="0"/>
            </a:endParaRPr>
          </a:p>
          <a:p>
            <a:pPr marL="0" indent="0" fontAlgn="auto">
              <a:lnSpc>
                <a:spcPct val="120000"/>
              </a:lnSpc>
              <a:spcBef>
                <a:spcPts val="0"/>
              </a:spcBef>
              <a:buNone/>
            </a:pPr>
            <a:r>
              <a:rPr lang="zh-CN" altLang="en-US" sz="2000">
                <a:latin typeface="Consolas" panose="020B0609020204030204" charset="0"/>
                <a:cs typeface="Consolas" panose="020B0609020204030204" charset="0"/>
              </a:rPr>
              <a:t>&gt;&gt;&gt; x</a:t>
            </a:r>
            <a:endParaRPr lang="zh-CN" altLang="en-US" sz="2000">
              <a:latin typeface="Consolas" panose="020B0609020204030204" charset="0"/>
              <a:cs typeface="Consolas" panose="020B0609020204030204" charset="0"/>
            </a:endParaRPr>
          </a:p>
          <a:p>
            <a:pPr marL="0" indent="0" fontAlgn="auto">
              <a:lnSpc>
                <a:spcPct val="120000"/>
              </a:lnSpc>
              <a:spcBef>
                <a:spcPts val="0"/>
              </a:spcBef>
              <a:buNone/>
            </a:pPr>
            <a:r>
              <a:rPr lang="zh-CN" altLang="en-US" sz="2000">
                <a:solidFill>
                  <a:srgbClr val="00B0F0"/>
                </a:solidFill>
                <a:latin typeface="Consolas" panose="020B0609020204030204" charset="0"/>
                <a:cs typeface="Consolas" panose="020B0609020204030204" charset="0"/>
              </a:rPr>
              <a:t>[6, 2, [3, 4, 5]]</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3.1.3  列表常用方法</a:t>
            </a:r>
            <a:endParaRPr lang="zh-CN" altLang="en-US"/>
          </a:p>
        </p:txBody>
      </p:sp>
      <p:sp>
        <p:nvSpPr>
          <p:cNvPr id="3" name="内容占位符 2"/>
          <p:cNvSpPr>
            <a:spLocks noGrp="1"/>
          </p:cNvSpPr>
          <p:nvPr>
            <p:ph idx="1"/>
          </p:nvPr>
        </p:nvSpPr>
        <p:spPr>
          <a:xfrm>
            <a:off x="838200" y="1321435"/>
            <a:ext cx="10515600" cy="5034280"/>
          </a:xfrm>
        </p:spPr>
        <p:txBody>
          <a:bodyPr>
            <a:normAutofit/>
          </a:bodyPr>
          <a:p>
            <a:pPr>
              <a:lnSpc>
                <a:spcPct val="140000"/>
              </a:lnSpc>
            </a:pPr>
            <a:r>
              <a:rPr lang="zh-CN" altLang="en-US" sz="2400"/>
              <a:t>标准库</a:t>
            </a:r>
            <a:r>
              <a:rPr lang="en-US" altLang="zh-CN" sz="2400"/>
              <a:t>copy</a:t>
            </a:r>
            <a:r>
              <a:rPr lang="zh-CN" altLang="en-US" sz="2400"/>
              <a:t>中的</a:t>
            </a:r>
            <a:r>
              <a:rPr lang="en-US" altLang="zh-CN" sz="2400"/>
              <a:t>deepcopy()</a:t>
            </a:r>
            <a:r>
              <a:rPr lang="zh-CN" altLang="en-US" sz="2400"/>
              <a:t>函数可以实现</a:t>
            </a:r>
            <a:r>
              <a:rPr lang="zh-CN" altLang="en-US" sz="2400">
                <a:solidFill>
                  <a:srgbClr val="FF0000"/>
                </a:solidFill>
              </a:rPr>
              <a:t>深复制</a:t>
            </a:r>
            <a:r>
              <a:rPr lang="zh-CN" altLang="en-US" sz="2400"/>
              <a:t>，对原列表中的元素的引用进行复制，如果元素是容器对象就递归对其中的元素进行复制。</a:t>
            </a:r>
            <a:r>
              <a:rPr lang="zh-CN" altLang="en-US" sz="2400">
                <a:solidFill>
                  <a:srgbClr val="FF0000"/>
                </a:solidFill>
              </a:rPr>
              <a:t>深复制得到的对象与原来的对象完全独立。</a:t>
            </a:r>
            <a:endParaRPr lang="zh-CN" altLang="en-US" sz="2400">
              <a:solidFill>
                <a:srgbClr val="FF0000"/>
              </a:solidFill>
            </a:endParaRPr>
          </a:p>
          <a:p>
            <a:pPr marL="0" indent="0" fontAlgn="auto">
              <a:lnSpc>
                <a:spcPct val="110000"/>
              </a:lnSpc>
              <a:spcBef>
                <a:spcPts val="0"/>
              </a:spcBef>
              <a:buNone/>
            </a:pPr>
            <a:r>
              <a:rPr lang="zh-CN" altLang="en-US" sz="2000">
                <a:latin typeface="Consolas" panose="020B0609020204030204" charset="0"/>
                <a:cs typeface="Consolas" panose="020B0609020204030204" charset="0"/>
              </a:rPr>
              <a:t>&gt;&gt;&gt; import copy</a:t>
            </a:r>
            <a:endParaRPr lang="zh-CN" altLang="en-US" sz="2000">
              <a:latin typeface="Consolas" panose="020B0609020204030204" charset="0"/>
              <a:cs typeface="Consolas" panose="020B0609020204030204" charset="0"/>
            </a:endParaRPr>
          </a:p>
          <a:p>
            <a:pPr marL="0" indent="0" fontAlgn="auto">
              <a:lnSpc>
                <a:spcPct val="110000"/>
              </a:lnSpc>
              <a:spcBef>
                <a:spcPts val="0"/>
              </a:spcBef>
              <a:buNone/>
            </a:pPr>
            <a:r>
              <a:rPr lang="zh-CN" altLang="en-US" sz="2000">
                <a:latin typeface="Consolas" panose="020B0609020204030204" charset="0"/>
                <a:cs typeface="Consolas" panose="020B0609020204030204" charset="0"/>
              </a:rPr>
              <a:t>&gt;&gt;&gt; x = [1, 2, [3, 4]]</a:t>
            </a:r>
            <a:endParaRPr lang="zh-CN" altLang="en-US" sz="2000">
              <a:latin typeface="Consolas" panose="020B0609020204030204" charset="0"/>
              <a:cs typeface="Consolas" panose="020B0609020204030204" charset="0"/>
            </a:endParaRPr>
          </a:p>
          <a:p>
            <a:pPr marL="0" indent="0" fontAlgn="auto">
              <a:lnSpc>
                <a:spcPct val="110000"/>
              </a:lnSpc>
              <a:spcBef>
                <a:spcPts val="0"/>
              </a:spcBef>
              <a:buNone/>
            </a:pPr>
            <a:r>
              <a:rPr lang="zh-CN" altLang="en-US" sz="2000">
                <a:latin typeface="Consolas" panose="020B0609020204030204" charset="0"/>
                <a:cs typeface="Consolas" panose="020B0609020204030204" charset="0"/>
              </a:rPr>
              <a:t>&gt;&gt;&gt; y = copy.deepcopy(x)</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得到完全独立的</a:t>
            </a:r>
            <a:r>
              <a:rPr lang="zh-CN" altLang="en-US" sz="2000">
                <a:latin typeface="Consolas" panose="020B0609020204030204" charset="0"/>
                <a:cs typeface="Consolas" panose="020B0609020204030204" charset="0"/>
              </a:rPr>
              <a:t>副本</a:t>
            </a:r>
            <a:endParaRPr lang="zh-CN" altLang="en-US" sz="2000">
              <a:latin typeface="Consolas" panose="020B0609020204030204" charset="0"/>
              <a:cs typeface="Consolas" panose="020B0609020204030204" charset="0"/>
            </a:endParaRPr>
          </a:p>
          <a:p>
            <a:pPr marL="0" indent="0" fontAlgn="auto">
              <a:lnSpc>
                <a:spcPct val="110000"/>
              </a:lnSpc>
              <a:spcBef>
                <a:spcPts val="0"/>
              </a:spcBef>
              <a:buNone/>
            </a:pPr>
            <a:r>
              <a:rPr lang="zh-CN" altLang="en-US" sz="2000">
                <a:latin typeface="Consolas" panose="020B0609020204030204" charset="0"/>
                <a:cs typeface="Consolas" panose="020B0609020204030204" charset="0"/>
              </a:rPr>
              <a:t>&gt;&gt;&gt; x[2].append(5)</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这个操作不影响</a:t>
            </a:r>
            <a:r>
              <a:rPr lang="en-US" altLang="zh-CN" sz="2000">
                <a:latin typeface="Consolas" panose="020B0609020204030204" charset="0"/>
                <a:cs typeface="Consolas" panose="020B0609020204030204" charset="0"/>
              </a:rPr>
              <a:t>y</a:t>
            </a:r>
            <a:endParaRPr lang="zh-CN" altLang="en-US" sz="2000">
              <a:latin typeface="Consolas" panose="020B0609020204030204" charset="0"/>
              <a:cs typeface="Consolas" panose="020B0609020204030204" charset="0"/>
            </a:endParaRPr>
          </a:p>
          <a:p>
            <a:pPr marL="0" indent="0" fontAlgn="auto">
              <a:lnSpc>
                <a:spcPct val="110000"/>
              </a:lnSpc>
              <a:spcBef>
                <a:spcPts val="0"/>
              </a:spcBef>
              <a:buNone/>
            </a:pPr>
            <a:r>
              <a:rPr lang="zh-CN" altLang="en-US" sz="2000">
                <a:latin typeface="Consolas" panose="020B0609020204030204" charset="0"/>
                <a:cs typeface="Consolas" panose="020B0609020204030204" charset="0"/>
              </a:rPr>
              <a:t>&gt;&gt;&gt; y.append(6)</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这个操作不影响</a:t>
            </a:r>
            <a:r>
              <a:rPr lang="en-US" altLang="zh-CN" sz="2000">
                <a:latin typeface="Consolas" panose="020B0609020204030204" charset="0"/>
                <a:cs typeface="Consolas" panose="020B0609020204030204" charset="0"/>
              </a:rPr>
              <a:t>x</a:t>
            </a:r>
            <a:endParaRPr lang="zh-CN" altLang="en-US" sz="2000">
              <a:latin typeface="Consolas" panose="020B0609020204030204" charset="0"/>
              <a:cs typeface="Consolas" panose="020B0609020204030204" charset="0"/>
            </a:endParaRPr>
          </a:p>
          <a:p>
            <a:pPr marL="0" indent="0" fontAlgn="auto">
              <a:lnSpc>
                <a:spcPct val="110000"/>
              </a:lnSpc>
              <a:spcBef>
                <a:spcPts val="0"/>
              </a:spcBef>
              <a:buNone/>
            </a:pPr>
            <a:r>
              <a:rPr lang="zh-CN" altLang="en-US" sz="2000">
                <a:latin typeface="Consolas" panose="020B0609020204030204" charset="0"/>
                <a:cs typeface="Consolas" panose="020B0609020204030204" charset="0"/>
              </a:rPr>
              <a:t>&gt;&gt;&gt; y</a:t>
            </a:r>
            <a:endParaRPr lang="zh-CN" altLang="en-US" sz="2000">
              <a:latin typeface="Consolas" panose="020B0609020204030204" charset="0"/>
              <a:cs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cs typeface="Consolas" panose="020B0609020204030204" charset="0"/>
              </a:rPr>
              <a:t>[1, 2, [3, 4], 6]</a:t>
            </a:r>
            <a:endParaRPr lang="zh-CN" altLang="en-US" sz="2000">
              <a:solidFill>
                <a:srgbClr val="00B0F0"/>
              </a:solidFill>
              <a:latin typeface="Consolas" panose="020B0609020204030204" charset="0"/>
              <a:cs typeface="Consolas" panose="020B0609020204030204" charset="0"/>
            </a:endParaRPr>
          </a:p>
          <a:p>
            <a:pPr marL="0" indent="0" fontAlgn="auto">
              <a:lnSpc>
                <a:spcPct val="110000"/>
              </a:lnSpc>
              <a:spcBef>
                <a:spcPts val="0"/>
              </a:spcBef>
              <a:buNone/>
            </a:pPr>
            <a:r>
              <a:rPr lang="zh-CN" altLang="en-US" sz="2000">
                <a:latin typeface="Consolas" panose="020B0609020204030204" charset="0"/>
                <a:cs typeface="Consolas" panose="020B0609020204030204" charset="0"/>
              </a:rPr>
              <a:t>&gt;&gt;&gt; x</a:t>
            </a:r>
            <a:endParaRPr lang="zh-CN" altLang="en-US" sz="2000">
              <a:latin typeface="Consolas" panose="020B0609020204030204" charset="0"/>
              <a:cs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cs typeface="Consolas" panose="020B0609020204030204" charset="0"/>
              </a:rPr>
              <a:t>[1, 2, [3, 4, 5]]</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3.1.3  列表常用方法</a:t>
            </a:r>
            <a:endParaRPr lang="zh-CN" altLang="en-US"/>
          </a:p>
        </p:txBody>
      </p:sp>
      <p:sp>
        <p:nvSpPr>
          <p:cNvPr id="3" name="内容占位符 2"/>
          <p:cNvSpPr>
            <a:spLocks noGrp="1"/>
          </p:cNvSpPr>
          <p:nvPr>
            <p:ph idx="1"/>
          </p:nvPr>
        </p:nvSpPr>
        <p:spPr/>
        <p:txBody>
          <a:bodyPr>
            <a:normAutofit lnSpcReduction="10000"/>
          </a:bodyPr>
          <a:p>
            <a:pPr>
              <a:lnSpc>
                <a:spcPct val="130000"/>
              </a:lnSpc>
            </a:pPr>
            <a:r>
              <a:rPr lang="zh-CN" altLang="en-US" sz="2400"/>
              <a:t>把同一个列表赋值给两个变量时，这两个变量的引用不同，得到两个不同的列表，但有可能两个列表中的元素具有相同</a:t>
            </a:r>
            <a:r>
              <a:rPr lang="zh-CN" altLang="en-US" sz="2400"/>
              <a:t>的引用。</a:t>
            </a:r>
            <a:endParaRPr lang="zh-CN" altLang="en-US" sz="2400"/>
          </a:p>
          <a:p>
            <a:pPr marL="0" indent="0" fontAlgn="auto">
              <a:lnSpc>
                <a:spcPct val="110000"/>
              </a:lnSpc>
              <a:spcBef>
                <a:spcPts val="0"/>
              </a:spcBef>
              <a:buNone/>
            </a:pPr>
            <a:r>
              <a:rPr lang="zh-CN" altLang="en-US" sz="1800">
                <a:latin typeface="Consolas" panose="020B0609020204030204" charset="0"/>
                <a:cs typeface="Consolas" panose="020B0609020204030204" charset="0"/>
              </a:rPr>
              <a:t>&gt;&gt;&gt; x = [1, 2, [3, 4]]</a:t>
            </a:r>
            <a:endParaRPr lang="zh-CN" altLang="en-US" sz="1800">
              <a:latin typeface="Consolas" panose="020B0609020204030204" charset="0"/>
              <a:cs typeface="Consolas" panose="020B0609020204030204" charset="0"/>
            </a:endParaRPr>
          </a:p>
          <a:p>
            <a:pPr marL="0" indent="0" fontAlgn="auto">
              <a:lnSpc>
                <a:spcPct val="110000"/>
              </a:lnSpc>
              <a:spcBef>
                <a:spcPts val="0"/>
              </a:spcBef>
              <a:buNone/>
            </a:pPr>
            <a:r>
              <a:rPr lang="zh-CN" altLang="en-US" sz="1800">
                <a:latin typeface="Consolas" panose="020B0609020204030204" charset="0"/>
                <a:cs typeface="Consolas" panose="020B0609020204030204" charset="0"/>
              </a:rPr>
              <a:t>&gt;&gt;&gt; y = [1, 2, [3, 4]]</a:t>
            </a:r>
            <a:endParaRPr lang="zh-CN" altLang="en-US" sz="1800">
              <a:latin typeface="Consolas" panose="020B0609020204030204" charset="0"/>
              <a:cs typeface="Consolas" panose="020B0609020204030204" charset="0"/>
            </a:endParaRPr>
          </a:p>
          <a:p>
            <a:pPr marL="0" indent="0" fontAlgn="auto">
              <a:lnSpc>
                <a:spcPct val="110000"/>
              </a:lnSpc>
              <a:spcBef>
                <a:spcPts val="0"/>
              </a:spcBef>
              <a:buNone/>
            </a:pPr>
            <a:r>
              <a:rPr lang="zh-CN" altLang="en-US" sz="1800">
                <a:latin typeface="Consolas" panose="020B0609020204030204" charset="0"/>
                <a:cs typeface="Consolas" panose="020B0609020204030204" charset="0"/>
              </a:rPr>
              <a:t>&gt;&gt;&gt; x == y</a:t>
            </a:r>
            <a:r>
              <a:rPr lang="en-US" altLang="zh-CN" sz="1800">
                <a:latin typeface="Consolas" panose="020B0609020204030204" charset="0"/>
                <a:cs typeface="Consolas" panose="020B0609020204030204" charset="0"/>
              </a:rPr>
              <a:t>                  # </a:t>
            </a:r>
            <a:r>
              <a:rPr lang="zh-CN" altLang="en-US" sz="1800">
                <a:latin typeface="Consolas" panose="020B0609020204030204" charset="0"/>
                <a:cs typeface="Consolas" panose="020B0609020204030204" charset="0"/>
              </a:rPr>
              <a:t>两个列表中元素的值</a:t>
            </a:r>
            <a:r>
              <a:rPr lang="zh-CN" altLang="en-US" sz="1800">
                <a:latin typeface="Consolas" panose="020B0609020204030204" charset="0"/>
                <a:cs typeface="Consolas" panose="020B0609020204030204" charset="0"/>
              </a:rPr>
              <a:t>相同</a:t>
            </a:r>
            <a:endParaRPr lang="zh-CN" altLang="en-US" sz="1800">
              <a:latin typeface="Consolas" panose="020B0609020204030204" charset="0"/>
              <a:cs typeface="Consolas" panose="020B0609020204030204" charset="0"/>
            </a:endParaRPr>
          </a:p>
          <a:p>
            <a:pPr marL="0" indent="0" fontAlgn="auto">
              <a:lnSpc>
                <a:spcPct val="110000"/>
              </a:lnSpc>
              <a:spcBef>
                <a:spcPts val="0"/>
              </a:spcBef>
              <a:buNone/>
            </a:pPr>
            <a:r>
              <a:rPr lang="zh-CN" altLang="en-US" sz="1800">
                <a:solidFill>
                  <a:srgbClr val="00B0F0"/>
                </a:solidFill>
                <a:latin typeface="Consolas" panose="020B0609020204030204" charset="0"/>
                <a:cs typeface="Consolas" panose="020B0609020204030204" charset="0"/>
              </a:rPr>
              <a:t>True</a:t>
            </a:r>
            <a:endParaRPr lang="zh-CN" altLang="en-US" sz="1800">
              <a:solidFill>
                <a:srgbClr val="00B0F0"/>
              </a:solidFill>
              <a:latin typeface="Consolas" panose="020B0609020204030204" charset="0"/>
              <a:cs typeface="Consolas" panose="020B0609020204030204" charset="0"/>
            </a:endParaRPr>
          </a:p>
          <a:p>
            <a:pPr marL="0" indent="0" fontAlgn="auto">
              <a:lnSpc>
                <a:spcPct val="110000"/>
              </a:lnSpc>
              <a:spcBef>
                <a:spcPts val="0"/>
              </a:spcBef>
              <a:buNone/>
            </a:pPr>
            <a:r>
              <a:rPr lang="zh-CN" altLang="en-US" sz="1800">
                <a:latin typeface="Consolas" panose="020B0609020204030204" charset="0"/>
                <a:cs typeface="Consolas" panose="020B0609020204030204" charset="0"/>
              </a:rPr>
              <a:t>&gt;&gt;&gt; x is y</a:t>
            </a:r>
            <a:r>
              <a:rPr lang="en-US" altLang="zh-CN" sz="1800">
                <a:latin typeface="Consolas" panose="020B0609020204030204" charset="0"/>
                <a:cs typeface="Consolas" panose="020B0609020204030204" charset="0"/>
              </a:rPr>
              <a:t>                  # </a:t>
            </a:r>
            <a:r>
              <a:rPr lang="zh-CN" altLang="en-US" sz="1800">
                <a:latin typeface="Consolas" panose="020B0609020204030204" charset="0"/>
                <a:cs typeface="Consolas" panose="020B0609020204030204" charset="0"/>
              </a:rPr>
              <a:t>两个列表的引用不同，是不同的两个列表，完全</a:t>
            </a:r>
            <a:r>
              <a:rPr lang="zh-CN" altLang="en-US" sz="1800">
                <a:latin typeface="Consolas" panose="020B0609020204030204" charset="0"/>
                <a:cs typeface="Consolas" panose="020B0609020204030204" charset="0"/>
              </a:rPr>
              <a:t>独立</a:t>
            </a:r>
            <a:endParaRPr lang="zh-CN" altLang="en-US" sz="1800">
              <a:latin typeface="Consolas" panose="020B0609020204030204" charset="0"/>
              <a:cs typeface="Consolas" panose="020B0609020204030204" charset="0"/>
            </a:endParaRPr>
          </a:p>
          <a:p>
            <a:pPr marL="0" indent="0" fontAlgn="auto">
              <a:lnSpc>
                <a:spcPct val="110000"/>
              </a:lnSpc>
              <a:spcBef>
                <a:spcPts val="0"/>
              </a:spcBef>
              <a:buNone/>
            </a:pPr>
            <a:r>
              <a:rPr lang="zh-CN" altLang="en-US" sz="1800">
                <a:solidFill>
                  <a:srgbClr val="00B0F0"/>
                </a:solidFill>
                <a:latin typeface="Consolas" panose="020B0609020204030204" charset="0"/>
                <a:cs typeface="Consolas" panose="020B0609020204030204" charset="0"/>
              </a:rPr>
              <a:t>False</a:t>
            </a:r>
            <a:endParaRPr lang="zh-CN" altLang="en-US" sz="1800">
              <a:solidFill>
                <a:srgbClr val="00B0F0"/>
              </a:solidFill>
              <a:latin typeface="Consolas" panose="020B0609020204030204" charset="0"/>
              <a:cs typeface="Consolas" panose="020B0609020204030204" charset="0"/>
            </a:endParaRPr>
          </a:p>
          <a:p>
            <a:pPr marL="0" indent="0" fontAlgn="auto">
              <a:lnSpc>
                <a:spcPct val="110000"/>
              </a:lnSpc>
              <a:spcBef>
                <a:spcPts val="0"/>
              </a:spcBef>
              <a:buNone/>
            </a:pPr>
            <a:r>
              <a:rPr lang="zh-CN" altLang="en-US" sz="1800">
                <a:latin typeface="Consolas" panose="020B0609020204030204" charset="0"/>
                <a:cs typeface="Consolas" panose="020B0609020204030204" charset="0"/>
              </a:rPr>
              <a:t>&gt;&gt;&gt; x[0] = 6</a:t>
            </a:r>
            <a:r>
              <a:rPr lang="en-US" altLang="zh-CN" sz="1800">
                <a:latin typeface="Consolas" panose="020B0609020204030204" charset="0"/>
                <a:cs typeface="Consolas" panose="020B0609020204030204" charset="0"/>
              </a:rPr>
              <a:t>                # </a:t>
            </a:r>
            <a:r>
              <a:rPr lang="zh-CN" altLang="en-US" sz="1800">
                <a:latin typeface="Consolas" panose="020B0609020204030204" charset="0"/>
                <a:cs typeface="Consolas" panose="020B0609020204030204" charset="0"/>
              </a:rPr>
              <a:t>这个操作不影响</a:t>
            </a:r>
            <a:r>
              <a:rPr lang="en-US" altLang="zh-CN" sz="1800">
                <a:latin typeface="Consolas" panose="020B0609020204030204" charset="0"/>
                <a:cs typeface="Consolas" panose="020B0609020204030204" charset="0"/>
              </a:rPr>
              <a:t>y</a:t>
            </a:r>
            <a:endParaRPr lang="zh-CN" altLang="en-US" sz="1800">
              <a:latin typeface="Consolas" panose="020B0609020204030204" charset="0"/>
              <a:cs typeface="Consolas" panose="020B0609020204030204" charset="0"/>
            </a:endParaRPr>
          </a:p>
          <a:p>
            <a:pPr marL="0" indent="0" fontAlgn="auto">
              <a:lnSpc>
                <a:spcPct val="110000"/>
              </a:lnSpc>
              <a:spcBef>
                <a:spcPts val="0"/>
              </a:spcBef>
              <a:buNone/>
            </a:pPr>
            <a:r>
              <a:rPr lang="zh-CN" altLang="en-US" sz="1800">
                <a:latin typeface="Consolas" panose="020B0609020204030204" charset="0"/>
                <a:cs typeface="Consolas" panose="020B0609020204030204" charset="0"/>
              </a:rPr>
              <a:t>&gt;&gt;&gt; x[2].append(5)</a:t>
            </a:r>
            <a:r>
              <a:rPr lang="en-US" altLang="zh-CN" sz="1800">
                <a:latin typeface="Consolas" panose="020B0609020204030204" charset="0"/>
                <a:cs typeface="Consolas" panose="020B0609020204030204" charset="0"/>
              </a:rPr>
              <a:t>          # </a:t>
            </a:r>
            <a:r>
              <a:rPr lang="zh-CN" altLang="en-US" sz="1800">
                <a:latin typeface="Consolas" panose="020B0609020204030204" charset="0"/>
                <a:cs typeface="Consolas" panose="020B0609020204030204" charset="0"/>
              </a:rPr>
              <a:t>这个操作不影响</a:t>
            </a:r>
            <a:r>
              <a:rPr lang="en-US" altLang="zh-CN" sz="1800">
                <a:latin typeface="Consolas" panose="020B0609020204030204" charset="0"/>
                <a:cs typeface="Consolas" panose="020B0609020204030204" charset="0"/>
              </a:rPr>
              <a:t>y</a:t>
            </a:r>
            <a:endParaRPr lang="zh-CN" altLang="en-US" sz="1800">
              <a:latin typeface="Consolas" panose="020B0609020204030204" charset="0"/>
              <a:cs typeface="Consolas" panose="020B0609020204030204" charset="0"/>
            </a:endParaRPr>
          </a:p>
          <a:p>
            <a:pPr marL="0" indent="0" fontAlgn="auto">
              <a:lnSpc>
                <a:spcPct val="110000"/>
              </a:lnSpc>
              <a:spcBef>
                <a:spcPts val="0"/>
              </a:spcBef>
              <a:buNone/>
            </a:pPr>
            <a:r>
              <a:rPr lang="zh-CN" altLang="en-US" sz="1800">
                <a:latin typeface="Consolas" panose="020B0609020204030204" charset="0"/>
                <a:cs typeface="Consolas" panose="020B0609020204030204" charset="0"/>
              </a:rPr>
              <a:t>&gt;&gt;&gt; x</a:t>
            </a:r>
            <a:endParaRPr lang="zh-CN" altLang="en-US" sz="1800">
              <a:latin typeface="Consolas" panose="020B0609020204030204" charset="0"/>
              <a:cs typeface="Consolas" panose="020B0609020204030204" charset="0"/>
            </a:endParaRPr>
          </a:p>
          <a:p>
            <a:pPr marL="0" indent="0" fontAlgn="auto">
              <a:lnSpc>
                <a:spcPct val="110000"/>
              </a:lnSpc>
              <a:spcBef>
                <a:spcPts val="0"/>
              </a:spcBef>
              <a:buNone/>
            </a:pPr>
            <a:r>
              <a:rPr lang="zh-CN" altLang="en-US" sz="1800">
                <a:solidFill>
                  <a:srgbClr val="00B0F0"/>
                </a:solidFill>
                <a:latin typeface="Consolas" panose="020B0609020204030204" charset="0"/>
                <a:cs typeface="Consolas" panose="020B0609020204030204" charset="0"/>
              </a:rPr>
              <a:t>[6, 2, [3, 4, 5]]</a:t>
            </a:r>
            <a:endParaRPr lang="zh-CN" altLang="en-US" sz="1800">
              <a:solidFill>
                <a:srgbClr val="00B0F0"/>
              </a:solidFill>
              <a:latin typeface="Consolas" panose="020B0609020204030204" charset="0"/>
              <a:cs typeface="Consolas" panose="020B0609020204030204" charset="0"/>
            </a:endParaRPr>
          </a:p>
          <a:p>
            <a:pPr marL="0" indent="0" fontAlgn="auto">
              <a:lnSpc>
                <a:spcPct val="110000"/>
              </a:lnSpc>
              <a:spcBef>
                <a:spcPts val="0"/>
              </a:spcBef>
              <a:buNone/>
            </a:pPr>
            <a:r>
              <a:rPr lang="zh-CN" altLang="en-US" sz="1800">
                <a:latin typeface="Consolas" panose="020B0609020204030204" charset="0"/>
                <a:cs typeface="Consolas" panose="020B0609020204030204" charset="0"/>
              </a:rPr>
              <a:t>&gt;&gt;&gt; y</a:t>
            </a:r>
            <a:endParaRPr lang="zh-CN" altLang="en-US" sz="1800">
              <a:latin typeface="Consolas" panose="020B0609020204030204" charset="0"/>
              <a:cs typeface="Consolas" panose="020B0609020204030204" charset="0"/>
            </a:endParaRPr>
          </a:p>
          <a:p>
            <a:pPr marL="0" indent="0" fontAlgn="auto">
              <a:lnSpc>
                <a:spcPct val="110000"/>
              </a:lnSpc>
              <a:spcBef>
                <a:spcPts val="0"/>
              </a:spcBef>
              <a:buNone/>
            </a:pPr>
            <a:r>
              <a:rPr lang="zh-CN" altLang="en-US" sz="1800">
                <a:solidFill>
                  <a:srgbClr val="00B0F0"/>
                </a:solidFill>
                <a:latin typeface="Consolas" panose="020B0609020204030204" charset="0"/>
                <a:cs typeface="Consolas" panose="020B0609020204030204" charset="0"/>
              </a:rPr>
              <a:t>[1, 2, [3, 4]]</a:t>
            </a:r>
            <a:endParaRPr lang="zh-CN" altLang="en-US" sz="18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3.1.3  列表常用方法</a:t>
            </a:r>
            <a:endParaRPr lang="zh-CN" altLang="en-US"/>
          </a:p>
        </p:txBody>
      </p:sp>
      <p:sp>
        <p:nvSpPr>
          <p:cNvPr id="3" name="内容占位符 2"/>
          <p:cNvSpPr>
            <a:spLocks noGrp="1"/>
          </p:cNvSpPr>
          <p:nvPr>
            <p:ph idx="1"/>
          </p:nvPr>
        </p:nvSpPr>
        <p:spPr/>
        <p:txBody>
          <a:bodyPr>
            <a:normAutofit/>
          </a:bodyPr>
          <a:p>
            <a:pPr>
              <a:lnSpc>
                <a:spcPct val="120000"/>
              </a:lnSpc>
            </a:pPr>
            <a:r>
              <a:rPr lang="zh-CN" altLang="en-US" sz="2400"/>
              <a:t>直接把一个变量赋值给另一个变量时，两个变量引用同一个对象。</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x = [1, 2, [3, 4]]</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y = x</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x[0] = </a:t>
            </a:r>
            <a:r>
              <a:rPr lang="en-US" altLang="zh-CN" sz="2000">
                <a:latin typeface="Consolas" panose="020B0609020204030204" charset="0"/>
                <a:cs typeface="Consolas" panose="020B0609020204030204" charset="0"/>
              </a:rPr>
              <a:t>7</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这个操作影响</a:t>
            </a:r>
            <a:r>
              <a:rPr lang="en-US" altLang="zh-CN" sz="2000">
                <a:latin typeface="Consolas" panose="020B0609020204030204" charset="0"/>
                <a:cs typeface="Consolas" panose="020B0609020204030204" charset="0"/>
              </a:rPr>
              <a:t>y</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x[2].append(5)</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这个操作影响</a:t>
            </a:r>
            <a:r>
              <a:rPr lang="en-US" altLang="zh-CN" sz="2000">
                <a:latin typeface="Consolas" panose="020B0609020204030204" charset="0"/>
                <a:cs typeface="Consolas" panose="020B0609020204030204" charset="0"/>
              </a:rPr>
              <a:t>y</a:t>
            </a:r>
            <a:endParaRPr lang="en-US" altLang="zh-CN" sz="2000">
              <a:latin typeface="Consolas" panose="020B0609020204030204" charset="0"/>
              <a:cs typeface="Consolas" panose="020B0609020204030204" charset="0"/>
            </a:endParaRPr>
          </a:p>
          <a:p>
            <a:pPr marL="0" indent="0" fontAlgn="auto">
              <a:lnSpc>
                <a:spcPct val="100000"/>
              </a:lnSpc>
              <a:spcBef>
                <a:spcPts val="0"/>
              </a:spcBef>
              <a:buNone/>
            </a:pPr>
            <a:r>
              <a:rPr lang="en-US" altLang="zh-CN" sz="2000">
                <a:latin typeface="Consolas" panose="020B0609020204030204" charset="0"/>
                <a:cs typeface="Consolas" panose="020B0609020204030204" charset="0"/>
              </a:rPr>
              <a:t>&gt;&gt;&gt; x.append(6)</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x</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a:t>
            </a:r>
            <a:r>
              <a:rPr lang="en-US" altLang="zh-CN" sz="2000">
                <a:solidFill>
                  <a:srgbClr val="00B0F0"/>
                </a:solidFill>
                <a:latin typeface="Consolas" panose="020B0609020204030204" charset="0"/>
                <a:cs typeface="Consolas" panose="020B0609020204030204" charset="0"/>
              </a:rPr>
              <a:t>7</a:t>
            </a:r>
            <a:r>
              <a:rPr lang="zh-CN" altLang="en-US" sz="2000">
                <a:solidFill>
                  <a:srgbClr val="00B0F0"/>
                </a:solidFill>
                <a:latin typeface="Consolas" panose="020B0609020204030204" charset="0"/>
                <a:cs typeface="Consolas" panose="020B0609020204030204" charset="0"/>
              </a:rPr>
              <a:t>, 2, [3, 4, 5]</a:t>
            </a:r>
            <a:r>
              <a:rPr lang="en-US" altLang="zh-CN" sz="2000">
                <a:solidFill>
                  <a:srgbClr val="00B0F0"/>
                </a:solidFill>
                <a:latin typeface="Consolas" panose="020B0609020204030204" charset="0"/>
                <a:cs typeface="Consolas" panose="020B0609020204030204" charset="0"/>
              </a:rPr>
              <a:t>, 6</a:t>
            </a:r>
            <a:r>
              <a:rPr lang="zh-CN" altLang="en-US" sz="2000">
                <a:solidFill>
                  <a:srgbClr val="00B0F0"/>
                </a:solidFill>
                <a:latin typeface="Consolas" panose="020B0609020204030204" charset="0"/>
                <a:cs typeface="Consolas" panose="020B0609020204030204" charset="0"/>
              </a:rPr>
              <a:t>]</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y</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a:t>
            </a:r>
            <a:r>
              <a:rPr lang="en-US" altLang="zh-CN" sz="2000">
                <a:solidFill>
                  <a:srgbClr val="00B0F0"/>
                </a:solidFill>
                <a:latin typeface="Consolas" panose="020B0609020204030204" charset="0"/>
                <a:cs typeface="Consolas" panose="020B0609020204030204" charset="0"/>
              </a:rPr>
              <a:t>7</a:t>
            </a:r>
            <a:r>
              <a:rPr lang="zh-CN" altLang="en-US" sz="2000">
                <a:solidFill>
                  <a:srgbClr val="00B0F0"/>
                </a:solidFill>
                <a:latin typeface="Consolas" panose="020B0609020204030204" charset="0"/>
                <a:cs typeface="Consolas" panose="020B0609020204030204" charset="0"/>
              </a:rPr>
              <a:t>, 2, [3, 4, 5]</a:t>
            </a:r>
            <a:r>
              <a:rPr lang="en-US" altLang="zh-CN" sz="2000">
                <a:solidFill>
                  <a:srgbClr val="00B0F0"/>
                </a:solidFill>
                <a:latin typeface="Consolas" panose="020B0609020204030204" charset="0"/>
                <a:cs typeface="Consolas" panose="020B0609020204030204" charset="0"/>
              </a:rPr>
              <a:t>, 6</a:t>
            </a:r>
            <a:r>
              <a:rPr lang="zh-CN" altLang="en-US" sz="2000">
                <a:solidFill>
                  <a:srgbClr val="00B0F0"/>
                </a:solidFill>
                <a:latin typeface="Consolas" panose="020B0609020204030204" charset="0"/>
                <a:cs typeface="Consolas" panose="020B0609020204030204" charset="0"/>
              </a:rPr>
              <a:t>]</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3.1.4  列表对象支持的运算符</a:t>
            </a:r>
            <a:endParaRPr lang="zh-CN" altLang="en-US"/>
          </a:p>
        </p:txBody>
      </p:sp>
      <p:sp>
        <p:nvSpPr>
          <p:cNvPr id="3" name="内容占位符 2"/>
          <p:cNvSpPr>
            <a:spLocks noGrp="1"/>
          </p:cNvSpPr>
          <p:nvPr>
            <p:ph idx="1"/>
          </p:nvPr>
        </p:nvSpPr>
        <p:spPr>
          <a:xfrm>
            <a:off x="838200" y="1321435"/>
            <a:ext cx="10515600" cy="5195570"/>
          </a:xfrm>
        </p:spPr>
        <p:txBody>
          <a:bodyPr>
            <a:normAutofit/>
          </a:bodyPr>
          <a:p>
            <a:pPr indent="-228600" fontAlgn="auto">
              <a:lnSpc>
                <a:spcPct val="120000"/>
              </a:lnSpc>
              <a:spcBef>
                <a:spcPts val="0"/>
              </a:spcBef>
            </a:pPr>
            <a:r>
              <a:rPr lang="zh-CN" altLang="en-US" sz="2400"/>
              <a:t>加法运算符+也可以实现列表增加元素的目的，但不属于原地操作，而是</a:t>
            </a:r>
            <a:r>
              <a:rPr lang="zh-CN" altLang="en-US" sz="2400">
                <a:solidFill>
                  <a:srgbClr val="FF0000"/>
                </a:solidFill>
              </a:rPr>
              <a:t>返回新列表</a:t>
            </a:r>
            <a:r>
              <a:rPr lang="zh-CN" altLang="en-US" sz="2400"/>
              <a:t>，涉及大量元素的复制，效率非常低。+=</a:t>
            </a:r>
            <a:r>
              <a:rPr lang="zh-CN" altLang="en-US" sz="2400"/>
              <a:t>用于列表追加元素时属于原地操作，与append()方法一样高效。</a:t>
            </a:r>
            <a:endParaRPr lang="zh-CN" altLang="en-US" sz="2400"/>
          </a:p>
          <a:p>
            <a:pPr marL="0" indent="0" fontAlgn="auto">
              <a:lnSpc>
                <a:spcPct val="100000"/>
              </a:lnSpc>
              <a:spcBef>
                <a:spcPts val="0"/>
              </a:spcBef>
              <a:buNone/>
            </a:pPr>
            <a:r>
              <a:rPr lang="zh-CN" altLang="en-US" sz="1800">
                <a:latin typeface="Consolas" panose="020B0609020204030204" charset="0"/>
              </a:rPr>
              <a:t>&gt;&gt;&gt; x = [1, 2, 3]</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id(x)</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2461112034752</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 = x + [4]                        # 连接两个列表</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 2, 3, 4]</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id(x)                              # 内存地址发生改变</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2461112100224</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 += [5]                           # 为列表追加元素</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 2, 3, 4, 5]</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id(x)                              # 内存地址不变</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2461112100224</a:t>
            </a:r>
            <a:endParaRPr lang="zh-CN" altLang="en-US" sz="18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3.1.4  列表对象支持的运算符</a:t>
            </a:r>
            <a:endParaRPr lang="zh-CN" altLang="en-US"/>
          </a:p>
        </p:txBody>
      </p:sp>
      <p:sp>
        <p:nvSpPr>
          <p:cNvPr id="3" name="内容占位符 2"/>
          <p:cNvSpPr>
            <a:spLocks noGrp="1"/>
          </p:cNvSpPr>
          <p:nvPr>
            <p:ph idx="1"/>
          </p:nvPr>
        </p:nvSpPr>
        <p:spPr>
          <a:xfrm>
            <a:off x="838200" y="1321435"/>
            <a:ext cx="11032490" cy="5306060"/>
          </a:xfrm>
        </p:spPr>
        <p:txBody>
          <a:bodyPr>
            <a:normAutofit lnSpcReduction="10000"/>
          </a:bodyPr>
          <a:p>
            <a:pPr fontAlgn="auto">
              <a:lnSpc>
                <a:spcPct val="130000"/>
              </a:lnSpc>
              <a:spcBef>
                <a:spcPts val="0"/>
              </a:spcBef>
            </a:pPr>
            <a:r>
              <a:rPr lang="zh-CN" altLang="en-US" sz="2400"/>
              <a:t>乘法运算符*可以用于列表和整数相乘，表示序列重复，</a:t>
            </a:r>
            <a:r>
              <a:rPr lang="zh-CN" altLang="en-US" sz="2400">
                <a:solidFill>
                  <a:srgbClr val="FF0000"/>
                </a:solidFill>
              </a:rPr>
              <a:t>返回新列表</a:t>
            </a:r>
            <a:r>
              <a:rPr lang="zh-CN" altLang="en-US" sz="2400"/>
              <a:t>。运算符*=也可以用于列表元素重复，属于原地操作。</a:t>
            </a:r>
            <a:endParaRPr lang="zh-CN" altLang="en-US" sz="2400"/>
          </a:p>
          <a:p>
            <a:pPr marL="0" indent="0" fontAlgn="auto">
              <a:lnSpc>
                <a:spcPct val="100000"/>
              </a:lnSpc>
              <a:spcBef>
                <a:spcPts val="0"/>
              </a:spcBef>
              <a:buNone/>
            </a:pPr>
            <a:r>
              <a:rPr lang="zh-CN" altLang="en-US" sz="1800">
                <a:latin typeface="Consolas" panose="020B0609020204030204" charset="0"/>
              </a:rPr>
              <a:t>&gt;&gt;&gt; x = [1, 2, 3, 4]</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id(x)</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2461112034304</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 = x * 2        # 元素重复，返回新列表</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 2, 3, 4, 1, 2, 3, 4]</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id(x)            # 地址发生改变</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a:t>
            </a:r>
            <a:r>
              <a:rPr lang="en-US" altLang="zh-CN" sz="1800">
                <a:latin typeface="Consolas" panose="020B0609020204030204" charset="0"/>
              </a:rPr>
              <a:t>                    # </a:t>
            </a:r>
            <a:r>
              <a:rPr lang="zh-CN" altLang="en-US" sz="1800">
                <a:latin typeface="Consolas" panose="020B0609020204030204" charset="0"/>
              </a:rPr>
              <a:t>注意，这里的数字和上一页相同，</a:t>
            </a:r>
            <a:r>
              <a:rPr lang="zh-CN" altLang="en-US" sz="1800">
                <a:latin typeface="Consolas" panose="020B0609020204030204" charset="0"/>
              </a:rPr>
              <a:t>但不需要关心具体的</a:t>
            </a:r>
            <a:r>
              <a:rPr lang="zh-CN" altLang="en-US" sz="1800">
                <a:latin typeface="Consolas" panose="020B0609020204030204" charset="0"/>
              </a:rPr>
              <a:t>值</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a:t>
            </a:r>
            <a:r>
              <a:rPr lang="en-US" altLang="zh-CN" sz="1800">
                <a:latin typeface="Consolas" panose="020B0609020204030204" charset="0"/>
              </a:rPr>
              <a:t>                    # Python</a:t>
            </a:r>
            <a:r>
              <a:rPr lang="zh-CN" altLang="en-US" sz="1800">
                <a:latin typeface="Consolas" panose="020B0609020204030204" charset="0"/>
              </a:rPr>
              <a:t>会尽量避免重复申请内存空间，尽量利用当前进程已经拥有的</a:t>
            </a:r>
            <a:r>
              <a:rPr lang="zh-CN" altLang="en-US" sz="1800">
                <a:latin typeface="Consolas" panose="020B0609020204030204" charset="0"/>
              </a:rPr>
              <a:t>空间</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2461112100224</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 *= 2           # 元素重复，原地进行</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 2, 3, 4, 1, 2, 3, 4, 1, 2, 3, 4, 1, 2, 3, 4]</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id(x)            # 地址不变</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2461112100224</a:t>
            </a:r>
            <a:endParaRPr lang="zh-CN" altLang="en-US" sz="18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3.1.4  列表对象支持的运算符</a:t>
            </a:r>
            <a:endParaRPr lang="zh-CN" altLang="en-US"/>
          </a:p>
        </p:txBody>
      </p:sp>
      <p:sp>
        <p:nvSpPr>
          <p:cNvPr id="3" name="内容占位符 2"/>
          <p:cNvSpPr>
            <a:spLocks noGrp="1"/>
          </p:cNvSpPr>
          <p:nvPr>
            <p:ph idx="1"/>
          </p:nvPr>
        </p:nvSpPr>
        <p:spPr/>
        <p:txBody>
          <a:bodyPr/>
          <a:p>
            <a:pPr>
              <a:lnSpc>
                <a:spcPct val="130000"/>
              </a:lnSpc>
            </a:pPr>
            <a:r>
              <a:rPr lang="zh-CN" altLang="en-US" sz="2400"/>
              <a:t>成员测试运算符in可用于测试列表中是否包含某个元素，</a:t>
            </a:r>
            <a:r>
              <a:rPr lang="zh-CN" altLang="en-US" sz="2400">
                <a:solidFill>
                  <a:srgbClr val="FF0000"/>
                </a:solidFill>
              </a:rPr>
              <a:t>查询时间随着列表长度的增加而线性增加</a:t>
            </a:r>
            <a:r>
              <a:rPr lang="zh-CN" altLang="en-US" sz="2400"/>
              <a:t>，而同样的操作对于集合而言是常数级的。</a:t>
            </a:r>
            <a:endParaRPr lang="zh-CN" altLang="en-US" sz="2400"/>
          </a:p>
          <a:p>
            <a:pPr marL="0" indent="0">
              <a:buNone/>
            </a:pPr>
            <a:r>
              <a:rPr lang="zh-CN" altLang="en-US" sz="2000">
                <a:latin typeface="Consolas" panose="020B0609020204030204" charset="0"/>
              </a:rPr>
              <a:t>&gt;&gt;&gt; 3 in [1, 2, 3]</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True</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3 in [1, 2, '3']</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False</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3.1.5  内置函数对列表的操作</a:t>
            </a:r>
            <a:endParaRPr lang="zh-CN" altLang="en-US"/>
          </a:p>
        </p:txBody>
      </p:sp>
      <p:sp>
        <p:nvSpPr>
          <p:cNvPr id="3" name="内容占位符 2"/>
          <p:cNvSpPr>
            <a:spLocks noGrp="1"/>
          </p:cNvSpPr>
          <p:nvPr>
            <p:ph idx="1"/>
          </p:nvPr>
        </p:nvSpPr>
        <p:spPr/>
        <p:txBody>
          <a:bodyPr/>
          <a:p>
            <a:pPr fontAlgn="auto">
              <a:lnSpc>
                <a:spcPct val="110000"/>
              </a:lnSpc>
              <a:spcBef>
                <a:spcPts val="400"/>
              </a:spcBef>
            </a:pPr>
            <a:r>
              <a:rPr lang="zh-CN" altLang="en-US" sz="2000"/>
              <a:t>max()、min()函数用于返回列表中所有元素的最大值和最小值，</a:t>
            </a:r>
            <a:endParaRPr lang="zh-CN" altLang="en-US" sz="2000"/>
          </a:p>
          <a:p>
            <a:pPr fontAlgn="auto">
              <a:lnSpc>
                <a:spcPct val="110000"/>
              </a:lnSpc>
              <a:spcBef>
                <a:spcPts val="400"/>
              </a:spcBef>
            </a:pPr>
            <a:r>
              <a:rPr lang="zh-CN" altLang="en-US" sz="2000"/>
              <a:t>sum()函数用于返回列表中所有元素之和；</a:t>
            </a:r>
            <a:endParaRPr lang="zh-CN" altLang="en-US" sz="2000"/>
          </a:p>
          <a:p>
            <a:pPr fontAlgn="auto">
              <a:lnSpc>
                <a:spcPct val="110000"/>
              </a:lnSpc>
              <a:spcBef>
                <a:spcPts val="400"/>
              </a:spcBef>
            </a:pPr>
            <a:r>
              <a:rPr lang="zh-CN" altLang="en-US" sz="2000"/>
              <a:t>len()函数用于返回列表中元素个数，zip()函数用于将多个列表中元素重新组合为元组并返回包含这些元组的zip对象；</a:t>
            </a:r>
            <a:endParaRPr lang="zh-CN" altLang="en-US" sz="2000"/>
          </a:p>
          <a:p>
            <a:pPr fontAlgn="auto">
              <a:lnSpc>
                <a:spcPct val="110000"/>
              </a:lnSpc>
              <a:spcBef>
                <a:spcPts val="400"/>
              </a:spcBef>
            </a:pPr>
            <a:r>
              <a:rPr lang="zh-CN" altLang="en-US" sz="2000"/>
              <a:t>enumerate()函数返回包含若干下标和值的迭代对象；</a:t>
            </a:r>
            <a:endParaRPr lang="zh-CN" altLang="en-US" sz="2000"/>
          </a:p>
          <a:p>
            <a:pPr fontAlgn="auto">
              <a:lnSpc>
                <a:spcPct val="110000"/>
              </a:lnSpc>
              <a:spcBef>
                <a:spcPts val="400"/>
              </a:spcBef>
            </a:pPr>
            <a:r>
              <a:rPr lang="zh-CN" altLang="en-US" sz="2000"/>
              <a:t>map()函数把函数映射到列表上的每个元素，filter()函数根据指定函数的返回值对列表元素进行过滤；</a:t>
            </a:r>
            <a:endParaRPr lang="zh-CN" altLang="en-US" sz="2000"/>
          </a:p>
          <a:p>
            <a:pPr fontAlgn="auto">
              <a:lnSpc>
                <a:spcPct val="110000"/>
              </a:lnSpc>
              <a:spcBef>
                <a:spcPts val="400"/>
              </a:spcBef>
            </a:pPr>
            <a:r>
              <a:rPr lang="zh-CN" altLang="en-US" sz="2000"/>
              <a:t>all()函数用来测试列表中是否所有元素都等价于True，any()用来测试列表中是否有等价于True的元素。</a:t>
            </a:r>
            <a:endParaRPr lang="zh-CN" altLang="en-US" sz="2000"/>
          </a:p>
          <a:p>
            <a:pPr fontAlgn="auto">
              <a:lnSpc>
                <a:spcPct val="110000"/>
              </a:lnSpc>
              <a:spcBef>
                <a:spcPts val="400"/>
              </a:spcBef>
            </a:pPr>
            <a:r>
              <a:rPr lang="zh-CN" altLang="en-US" sz="2000"/>
              <a:t>标准库functools中的reduce()函数以及标准库itertools中的compress()、groupby()、dropwhile()等大量函数也可以对列表进行操作。</a:t>
            </a:r>
            <a:endParaRPr lang="zh-CN" altLang="en-US" sz="20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3.1.5  内置函数对列表的操作</a:t>
            </a:r>
            <a:endParaRPr lang="zh-CN" altLang="en-US"/>
          </a:p>
        </p:txBody>
      </p:sp>
      <p:sp>
        <p:nvSpPr>
          <p:cNvPr id="3" name="内容占位符 2"/>
          <p:cNvSpPr>
            <a:spLocks noGrp="1"/>
          </p:cNvSpPr>
          <p:nvPr>
            <p:ph idx="1"/>
          </p:nvPr>
        </p:nvSpPr>
        <p:spPr>
          <a:xfrm>
            <a:off x="838200" y="1321435"/>
            <a:ext cx="10515600" cy="4918075"/>
          </a:xfrm>
        </p:spPr>
        <p:txBody>
          <a:bodyPr>
            <a:normAutofit lnSpcReduction="10000"/>
          </a:bodyPr>
          <a:p>
            <a:pPr marL="0" indent="0" fontAlgn="auto">
              <a:lnSpc>
                <a:spcPct val="100000"/>
              </a:lnSpc>
              <a:spcBef>
                <a:spcPts val="0"/>
              </a:spcBef>
              <a:buNone/>
            </a:pPr>
            <a:r>
              <a:rPr lang="zh-CN" altLang="en-US" sz="2000">
                <a:latin typeface="Consolas" panose="020B0609020204030204" charset="0"/>
              </a:rPr>
              <a:t>&gt;&gt;&gt; x = list(range(11))              #</a:t>
            </a:r>
            <a:r>
              <a:rPr lang="en-US" altLang="zh-CN" sz="2000">
                <a:latin typeface="Consolas" panose="020B0609020204030204" charset="0"/>
              </a:rPr>
              <a:t> </a:t>
            </a:r>
            <a:r>
              <a:rPr lang="zh-CN" altLang="en-US" sz="2000">
                <a:latin typeface="Consolas" panose="020B0609020204030204" charset="0"/>
              </a:rPr>
              <a:t>生成列表</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import random</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random.shuffle(x)                # 打乱列表中元素顺序</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[0, 6, 10, 9, 8, 7, 4, 5, 2, 1, 3]</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all(x)                           # 测试是否所有元素都等价于True</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False</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any(x)                           # 测试是否存在等价于True的元素</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True</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max(x)                           # 返回最大值</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10</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max(x, key=str)                  # 按指定规则返回最大值</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9</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min(x)</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0</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3.1.5  内置函数对列表的操作</a:t>
            </a:r>
            <a:endParaRPr lang="zh-CN" altLang="en-US"/>
          </a:p>
        </p:txBody>
      </p:sp>
      <p:sp>
        <p:nvSpPr>
          <p:cNvPr id="3" name="内容占位符 2"/>
          <p:cNvSpPr>
            <a:spLocks noGrp="1"/>
          </p:cNvSpPr>
          <p:nvPr>
            <p:ph idx="1"/>
          </p:nvPr>
        </p:nvSpPr>
        <p:spPr>
          <a:xfrm>
            <a:off x="838200" y="1321435"/>
            <a:ext cx="10515600" cy="5035550"/>
          </a:xfrm>
        </p:spPr>
        <p:txBody>
          <a:bodyPr>
            <a:normAutofit/>
          </a:bodyPr>
          <a:p>
            <a:pPr marL="0" indent="0" fontAlgn="auto">
              <a:lnSpc>
                <a:spcPct val="100000"/>
              </a:lnSpc>
              <a:spcBef>
                <a:spcPts val="0"/>
              </a:spcBef>
              <a:buNone/>
            </a:pPr>
            <a:r>
              <a:rPr lang="zh-CN" altLang="en-US" sz="1800">
                <a:latin typeface="Consolas" panose="020B0609020204030204" charset="0"/>
              </a:rPr>
              <a:t>&gt;&gt;&gt; sum(x)                    # 所有元素之和</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55</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len(x)                    # 列表元素个数</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11</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list(zip(x, [1]*11))      # 多列表元素重新组合</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[(0, 1), (6, 1), (10, 1), (9, 1), (8, 1), (7, 1), (4, 1), (5, 1), (2, 1), (1, 1), (3, 1)]</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list(zip(range(1,4)))     # zip()函数也可以用于一个序列或迭代对象</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 (2,), (3,)]</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list(zip(['a', 'b', 'c'], [1, 2]))    # 如果两个列表不等长，以短的为准</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[('a', 1), ('b', 2)]</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list(enumerate(x))        # enumerate对象可以转换为列表、元组、集合</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[(0, 0), (1, 6), (2, 10), (3, 9), (4, 8), (5, 7), (6, 4), (7, 5), (8, 2), (9, 1), (10, 3)]</a:t>
            </a:r>
            <a:endParaRPr lang="zh-CN" altLang="en-US" sz="18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3.1.6  </a:t>
            </a:r>
            <a:r>
              <a:rPr lang="zh-CN" altLang="en-US"/>
              <a:t>列表推导式语法与应用</a:t>
            </a:r>
            <a:endParaRPr lang="zh-CN" altLang="en-US"/>
          </a:p>
        </p:txBody>
      </p:sp>
      <p:sp>
        <p:nvSpPr>
          <p:cNvPr id="3" name="内容占位符 2"/>
          <p:cNvSpPr>
            <a:spLocks noGrp="1"/>
          </p:cNvSpPr>
          <p:nvPr>
            <p:ph idx="1"/>
          </p:nvPr>
        </p:nvSpPr>
        <p:spPr/>
        <p:txBody>
          <a:bodyPr/>
          <a:p>
            <a:pPr fontAlgn="base">
              <a:lnSpc>
                <a:spcPct val="150000"/>
              </a:lnSpc>
              <a:spcBef>
                <a:spcPts val="0"/>
              </a:spcBef>
              <a:buFont typeface="Arial" panose="020B0604020202020204" pitchFamily="34" charset="0"/>
              <a:buChar char="•"/>
            </a:pPr>
            <a:r>
              <a:rPr lang="en-US" altLang="x-none" sz="2400" dirty="0">
                <a:effectLst/>
                <a:latin typeface="宋体" panose="02010600030101010101" pitchFamily="2" charset="-122"/>
                <a:sym typeface="+mn-ea"/>
              </a:rPr>
              <a:t>列表推导式使用非常简洁的方式来快速生成满足特定需求的列表，</a:t>
            </a:r>
            <a:r>
              <a:rPr lang="zh-CN" altLang="en-US" sz="2400" dirty="0">
                <a:effectLst/>
                <a:latin typeface="宋体" panose="02010600030101010101" pitchFamily="2" charset="-122"/>
                <a:sym typeface="+mn-ea"/>
              </a:rPr>
              <a:t>对原可迭代对象中的元素进行计算或过滤，</a:t>
            </a:r>
            <a:r>
              <a:rPr lang="en-US" altLang="x-none" sz="2400" dirty="0">
                <a:effectLst/>
                <a:latin typeface="宋体" panose="02010600030101010101" pitchFamily="2" charset="-122"/>
                <a:sym typeface="+mn-ea"/>
              </a:rPr>
              <a:t>代码具有非常强的可读性。</a:t>
            </a:r>
            <a:endParaRPr lang="en-US" altLang="x-none" sz="2400" strike="noStrike" noProof="1" dirty="0">
              <a:effectLst/>
              <a:latin typeface="宋体" panose="02010600030101010101" pitchFamily="2" charset="-122"/>
            </a:endParaRPr>
          </a:p>
          <a:p>
            <a:pPr fontAlgn="base">
              <a:lnSpc>
                <a:spcPct val="150000"/>
              </a:lnSpc>
              <a:spcBef>
                <a:spcPts val="0"/>
              </a:spcBef>
              <a:buFont typeface="Arial" panose="020B0604020202020204" pitchFamily="34" charset="0"/>
              <a:buChar char="•"/>
            </a:pPr>
            <a:r>
              <a:rPr lang="zh-CN" altLang="en-US" sz="2400" dirty="0">
                <a:effectLst/>
                <a:latin typeface="宋体" panose="02010600030101010101" pitchFamily="2" charset="-122"/>
                <a:sym typeface="+mn-ea"/>
              </a:rPr>
              <a:t>列表推导式语法形式为：</a:t>
            </a:r>
            <a:endParaRPr lang="zh-CN" altLang="en-US" sz="2400" strike="noStrike" noProof="1" dirty="0">
              <a:effectLst/>
              <a:latin typeface="宋体" panose="02010600030101010101" pitchFamily="2" charset="-122"/>
            </a:endParaRPr>
          </a:p>
          <a:p>
            <a:pPr marL="0" indent="0" fontAlgn="base">
              <a:lnSpc>
                <a:spcPct val="100000"/>
              </a:lnSpc>
              <a:spcBef>
                <a:spcPts val="0"/>
              </a:spcBef>
              <a:buFont typeface="Wingdings" panose="05000000000000000000" charset="0"/>
              <a:buNone/>
            </a:pPr>
            <a:r>
              <a:rPr lang="en-US" altLang="x-none" sz="2000" dirty="0">
                <a:effectLst/>
                <a:latin typeface="Consolas" panose="020B0609020204030204" charset="0"/>
                <a:sym typeface="+mn-ea"/>
              </a:rPr>
              <a:t>[expression for expr1 in sequence1 if condition1</a:t>
            </a:r>
            <a:endParaRPr lang="en-US" altLang="x-none" sz="2000" strike="noStrike" noProof="1" dirty="0">
              <a:effectLst/>
              <a:latin typeface="Consolas" panose="020B0609020204030204" charset="0"/>
            </a:endParaRPr>
          </a:p>
          <a:p>
            <a:pPr marL="0" indent="0" fontAlgn="base">
              <a:lnSpc>
                <a:spcPct val="100000"/>
              </a:lnSpc>
              <a:spcBef>
                <a:spcPts val="0"/>
              </a:spcBef>
              <a:buFont typeface="Wingdings" panose="05000000000000000000" charset="0"/>
              <a:buNone/>
            </a:pPr>
            <a:r>
              <a:rPr lang="en-US" altLang="x-none" sz="2000" dirty="0">
                <a:effectLst/>
                <a:latin typeface="Consolas" panose="020B0609020204030204" charset="0"/>
                <a:sym typeface="+mn-ea"/>
              </a:rPr>
              <a:t>            for expr2 in sequence2 if condition2</a:t>
            </a:r>
            <a:endParaRPr lang="en-US" altLang="x-none" sz="2000" strike="noStrike" noProof="1" dirty="0">
              <a:effectLst/>
              <a:latin typeface="Consolas" panose="020B0609020204030204" charset="0"/>
            </a:endParaRPr>
          </a:p>
          <a:p>
            <a:pPr marL="0" indent="0" fontAlgn="base">
              <a:lnSpc>
                <a:spcPct val="100000"/>
              </a:lnSpc>
              <a:spcBef>
                <a:spcPts val="0"/>
              </a:spcBef>
              <a:buFont typeface="Wingdings" panose="05000000000000000000" charset="0"/>
              <a:buNone/>
            </a:pPr>
            <a:r>
              <a:rPr lang="en-US" altLang="x-none" sz="2000" dirty="0">
                <a:effectLst/>
                <a:latin typeface="Consolas" panose="020B0609020204030204" charset="0"/>
                <a:sym typeface="+mn-ea"/>
              </a:rPr>
              <a:t>            for expr3 in sequence3 if condition3</a:t>
            </a:r>
            <a:endParaRPr lang="en-US" altLang="x-none" sz="2000" strike="noStrike" noProof="1" dirty="0">
              <a:effectLst/>
              <a:latin typeface="Consolas" panose="020B0609020204030204" charset="0"/>
            </a:endParaRPr>
          </a:p>
          <a:p>
            <a:pPr marL="0" indent="0" fontAlgn="base">
              <a:lnSpc>
                <a:spcPct val="100000"/>
              </a:lnSpc>
              <a:spcBef>
                <a:spcPts val="0"/>
              </a:spcBef>
              <a:buFont typeface="Wingdings" panose="05000000000000000000" charset="0"/>
              <a:buNone/>
            </a:pPr>
            <a:r>
              <a:rPr lang="en-US" altLang="x-none" sz="2000" dirty="0">
                <a:effectLst/>
                <a:latin typeface="Consolas" panose="020B0609020204030204" charset="0"/>
                <a:sym typeface="+mn-ea"/>
              </a:rPr>
              <a:t>            ...</a:t>
            </a:r>
            <a:endParaRPr lang="en-US" altLang="x-none" sz="2000" strike="noStrike" noProof="1" dirty="0">
              <a:effectLst/>
              <a:latin typeface="Consolas" panose="020B0609020204030204" charset="0"/>
            </a:endParaRPr>
          </a:p>
          <a:p>
            <a:pPr marL="0" indent="0" fontAlgn="base">
              <a:lnSpc>
                <a:spcPct val="100000"/>
              </a:lnSpc>
              <a:spcBef>
                <a:spcPts val="0"/>
              </a:spcBef>
              <a:buFont typeface="Wingdings" panose="05000000000000000000" charset="0"/>
              <a:buNone/>
            </a:pPr>
            <a:r>
              <a:rPr lang="en-US" altLang="x-none" sz="2000" dirty="0">
                <a:effectLst/>
                <a:latin typeface="Consolas" panose="020B0609020204030204" charset="0"/>
                <a:sym typeface="+mn-ea"/>
              </a:rPr>
              <a:t>            for exprN in sequenceN if conditionN]</a:t>
            </a:r>
            <a:endParaRPr lang="en-US" altLang="x-none" sz="2000" strike="noStrike" noProof="1" dirty="0">
              <a:effectLst/>
              <a:latin typeface="Consolas" panose="020B0609020204030204" charset="0"/>
            </a:endParaRPr>
          </a:p>
          <a:p>
            <a:pPr marL="1905" indent="-344805" fontAlgn="base">
              <a:lnSpc>
                <a:spcPct val="80000"/>
              </a:lnSpc>
              <a:buNone/>
            </a:pP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3.1.6  </a:t>
            </a:r>
            <a:r>
              <a:rPr lang="zh-CN" altLang="en-US">
                <a:sym typeface="+mn-ea"/>
              </a:rPr>
              <a:t>列表推导式语法与应用</a:t>
            </a:r>
            <a:endParaRPr lang="zh-CN" altLang="en-US"/>
          </a:p>
        </p:txBody>
      </p:sp>
      <p:sp>
        <p:nvSpPr>
          <p:cNvPr id="3" name="内容占位符 2"/>
          <p:cNvSpPr>
            <a:spLocks noGrp="1"/>
          </p:cNvSpPr>
          <p:nvPr>
            <p:ph idx="1"/>
          </p:nvPr>
        </p:nvSpPr>
        <p:spPr/>
        <p:txBody>
          <a:bodyPr/>
          <a:p>
            <a:pPr>
              <a:lnSpc>
                <a:spcPct val="120000"/>
              </a:lnSpc>
            </a:pPr>
            <a:r>
              <a:rPr lang="zh-CN" altLang="en-US" sz="2400"/>
              <a:t>列表推导式在逻辑上等价于一个循环语句，只是形式上更加简洁</a:t>
            </a:r>
            <a:r>
              <a:rPr lang="zh-CN" altLang="en-US" sz="2400" dirty="0">
                <a:effectLst/>
                <a:latin typeface="宋体" panose="02010600030101010101" pitchFamily="2" charset="-122"/>
                <a:sym typeface="+mn-ea"/>
              </a:rPr>
              <a:t>，但代码执行效率并不比循环结构高</a:t>
            </a:r>
            <a:r>
              <a:rPr lang="zh-CN" altLang="en-US" sz="2400"/>
              <a:t>。</a:t>
            </a:r>
            <a:endParaRPr lang="zh-CN" altLang="en-US" sz="2400"/>
          </a:p>
          <a:p>
            <a:pPr marL="0" indent="0">
              <a:buNone/>
            </a:pPr>
            <a:r>
              <a:rPr lang="zh-CN" altLang="en-US" sz="2000">
                <a:latin typeface="Consolas" panose="020B0609020204030204" charset="0"/>
              </a:rPr>
              <a:t>&gt;&gt;&gt; aList = [x*x for x in range(10)]</a:t>
            </a:r>
            <a:endParaRPr lang="zh-CN" altLang="en-US" sz="2000">
              <a:latin typeface="Consolas" panose="020B0609020204030204" charset="0"/>
            </a:endParaRPr>
          </a:p>
          <a:p>
            <a:pPr marL="0" indent="0">
              <a:buNone/>
            </a:pPr>
            <a:r>
              <a:rPr lang="zh-CN" altLang="en-US" sz="2400">
                <a:latin typeface="Consolas" panose="020B0609020204030204" charset="0"/>
              </a:rPr>
              <a:t>相当于</a:t>
            </a:r>
            <a:endParaRPr lang="zh-CN" altLang="en-US" sz="2400">
              <a:latin typeface="Consolas" panose="020B0609020204030204" charset="0"/>
            </a:endParaRPr>
          </a:p>
          <a:p>
            <a:pPr marL="0" indent="0">
              <a:buNone/>
            </a:pPr>
            <a:r>
              <a:rPr lang="zh-CN" altLang="en-US" sz="2000">
                <a:latin typeface="Consolas" panose="020B0609020204030204" charset="0"/>
              </a:rPr>
              <a:t>&gt;&gt;&gt; aList = []</a:t>
            </a:r>
            <a:endParaRPr lang="zh-CN" altLang="en-US" sz="2000">
              <a:latin typeface="Consolas" panose="020B0609020204030204" charset="0"/>
            </a:endParaRPr>
          </a:p>
          <a:p>
            <a:pPr marL="0" indent="0">
              <a:buNone/>
            </a:pPr>
            <a:r>
              <a:rPr lang="zh-CN" altLang="en-US" sz="2000">
                <a:latin typeface="Consolas" panose="020B0609020204030204" charset="0"/>
              </a:rPr>
              <a:t>&gt;&gt;&gt; for x in range(10):</a:t>
            </a:r>
            <a:endParaRPr lang="zh-CN" altLang="en-US" sz="2000">
              <a:latin typeface="Consolas" panose="020B0609020204030204" charset="0"/>
            </a:endParaRPr>
          </a:p>
          <a:p>
            <a:pPr marL="0" indent="0">
              <a:buNone/>
            </a:pPr>
            <a:r>
              <a:rPr lang="zh-CN" altLang="en-US" sz="2000">
                <a:latin typeface="Consolas" panose="020B0609020204030204" charset="0"/>
              </a:rPr>
              <a:t>    aList.append(x*x)</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3.1.6  </a:t>
            </a:r>
            <a:r>
              <a:rPr lang="zh-CN" altLang="en-US">
                <a:sym typeface="+mn-ea"/>
              </a:rPr>
              <a:t>列表推导式语法与应用</a:t>
            </a:r>
            <a:endParaRPr lang="zh-CN" altLang="en-US"/>
          </a:p>
        </p:txBody>
      </p:sp>
      <p:sp>
        <p:nvSpPr>
          <p:cNvPr id="3" name="内容占位符 2"/>
          <p:cNvSpPr>
            <a:spLocks noGrp="1"/>
          </p:cNvSpPr>
          <p:nvPr>
            <p:ph idx="1"/>
          </p:nvPr>
        </p:nvSpPr>
        <p:spPr/>
        <p:txBody>
          <a:bodyPr/>
          <a:p>
            <a:pPr marL="0" indent="0">
              <a:buNone/>
            </a:pPr>
            <a:r>
              <a:rPr lang="zh-CN" altLang="en-US" sz="2000">
                <a:latin typeface="Consolas" panose="020B0609020204030204" charset="0"/>
              </a:rPr>
              <a:t>&gt;&gt;&gt; freshfruit = [' banana', ' loganberry ', 'passion fruit ']</a:t>
            </a:r>
            <a:endParaRPr lang="zh-CN" altLang="en-US" sz="2000">
              <a:latin typeface="Consolas" panose="020B0609020204030204" charset="0"/>
            </a:endParaRPr>
          </a:p>
          <a:p>
            <a:pPr marL="0" indent="0">
              <a:buNone/>
            </a:pPr>
            <a:r>
              <a:rPr lang="zh-CN" altLang="en-US" sz="2000">
                <a:latin typeface="Consolas" panose="020B0609020204030204" charset="0"/>
              </a:rPr>
              <a:t>&gt;&gt;&gt; aList = [w.strip() for w in freshfruit]</a:t>
            </a:r>
            <a:endParaRPr lang="zh-CN" altLang="en-US" sz="2000">
              <a:latin typeface="Consolas" panose="020B0609020204030204" charset="0"/>
            </a:endParaRPr>
          </a:p>
          <a:p>
            <a:pPr>
              <a:buFont typeface="Wingdings" panose="05000000000000000000" charset="0"/>
              <a:buChar char=""/>
            </a:pPr>
            <a:r>
              <a:rPr lang="zh-CN" altLang="en-US" sz="2400">
                <a:latin typeface="Consolas" panose="020B0609020204030204" charset="0"/>
              </a:rPr>
              <a:t>等价于下面的代码</a:t>
            </a:r>
            <a:endParaRPr lang="zh-CN" altLang="en-US" sz="2400">
              <a:latin typeface="Consolas" panose="020B0609020204030204" charset="0"/>
            </a:endParaRPr>
          </a:p>
          <a:p>
            <a:pPr marL="0" indent="0">
              <a:buNone/>
            </a:pPr>
            <a:r>
              <a:rPr lang="zh-CN" altLang="en-US" sz="2000">
                <a:latin typeface="Consolas" panose="020B0609020204030204" charset="0"/>
              </a:rPr>
              <a:t>&gt;&gt;&gt; aList = []</a:t>
            </a:r>
            <a:endParaRPr lang="zh-CN" altLang="en-US" sz="2000">
              <a:latin typeface="Consolas" panose="020B0609020204030204" charset="0"/>
            </a:endParaRPr>
          </a:p>
          <a:p>
            <a:pPr marL="0" indent="0">
              <a:buNone/>
            </a:pPr>
            <a:r>
              <a:rPr lang="zh-CN" altLang="en-US" sz="2000">
                <a:latin typeface="Consolas" panose="020B0609020204030204" charset="0"/>
              </a:rPr>
              <a:t>&gt;&gt;&gt; for item in freshfruit:</a:t>
            </a:r>
            <a:endParaRPr lang="zh-CN" altLang="en-US" sz="2000">
              <a:latin typeface="Consolas" panose="020B0609020204030204" charset="0"/>
            </a:endParaRPr>
          </a:p>
          <a:p>
            <a:pPr marL="0" indent="0">
              <a:buNone/>
            </a:pPr>
            <a:r>
              <a:rPr lang="zh-CN" altLang="en-US" sz="2000">
                <a:latin typeface="Consolas" panose="020B0609020204030204" charset="0"/>
              </a:rPr>
              <a:t>    aList.append(item.strip())</a:t>
            </a:r>
            <a:endParaRPr lang="zh-CN" altLang="en-US" sz="2000">
              <a:latin typeface="Consolas" panose="020B0609020204030204" charset="0"/>
            </a:endParaRPr>
          </a:p>
          <a:p>
            <a:pPr algn="l">
              <a:lnSpc>
                <a:spcPct val="110000"/>
              </a:lnSpc>
              <a:buClrTx/>
              <a:buSzTx/>
              <a:buFont typeface="Wingdings" panose="05000000000000000000" charset="0"/>
              <a:buChar char=""/>
            </a:pPr>
            <a:r>
              <a:rPr lang="zh-CN" altLang="en-US" sz="2400">
                <a:latin typeface="Consolas" panose="020B0609020204030204" charset="0"/>
              </a:rPr>
              <a:t>也等价于下面两种写法，更推荐第二种，但</a:t>
            </a:r>
            <a:r>
              <a:rPr lang="zh-CN" altLang="en-US" sz="2400">
                <a:solidFill>
                  <a:srgbClr val="FF0000"/>
                </a:solidFill>
                <a:latin typeface="Consolas" panose="020B0609020204030204" charset="0"/>
              </a:rPr>
              <a:t>实际开发时应避免把迭代器转换为列表之后再使用</a:t>
            </a:r>
            <a:r>
              <a:rPr lang="zh-CN" altLang="en-US" sz="2400">
                <a:latin typeface="Consolas" panose="020B0609020204030204" charset="0"/>
              </a:rPr>
              <a:t>。</a:t>
            </a:r>
            <a:endParaRPr lang="zh-CN" altLang="en-US" sz="2400">
              <a:latin typeface="Consolas" panose="020B0609020204030204" charset="0"/>
            </a:endParaRPr>
          </a:p>
          <a:p>
            <a:pPr marL="0" indent="0">
              <a:buNone/>
            </a:pPr>
            <a:r>
              <a:rPr lang="en-US" altLang="zh-CN" sz="2000">
                <a:latin typeface="Consolas" panose="020B0609020204030204" charset="0"/>
              </a:rPr>
              <a:t>&gt;&gt;&gt; aList = list(map(lambda s: s.strip(), freshfruit))</a:t>
            </a:r>
            <a:endParaRPr lang="en-US" altLang="zh-CN" sz="2000">
              <a:latin typeface="Consolas" panose="020B0609020204030204" charset="0"/>
            </a:endParaRPr>
          </a:p>
          <a:p>
            <a:pPr marL="0" indent="0">
              <a:buNone/>
            </a:pPr>
            <a:r>
              <a:rPr lang="en-US" altLang="zh-CN" sz="2000">
                <a:latin typeface="Consolas" panose="020B0609020204030204" charset="0"/>
              </a:rPr>
              <a:t>&gt;&gt;&gt; aList = list(map(str.strip, freshfruit))</a:t>
            </a:r>
            <a:endParaRPr lang="en-US" altLang="zh-CN"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3.1.6  </a:t>
            </a:r>
            <a:r>
              <a:rPr lang="zh-CN" altLang="en-US">
                <a:sym typeface="+mn-ea"/>
              </a:rPr>
              <a:t>列表推导式语法与应用</a:t>
            </a:r>
            <a:endParaRPr lang="zh-CN" altLang="en-US"/>
          </a:p>
        </p:txBody>
      </p:sp>
      <p:sp>
        <p:nvSpPr>
          <p:cNvPr id="3" name="内容占位符 2"/>
          <p:cNvSpPr>
            <a:spLocks noGrp="1"/>
          </p:cNvSpPr>
          <p:nvPr>
            <p:ph idx="1"/>
          </p:nvPr>
        </p:nvSpPr>
        <p:spPr/>
        <p:txBody>
          <a:bodyPr>
            <a:normAutofit/>
          </a:bodyPr>
          <a:p>
            <a:pPr fontAlgn="base">
              <a:lnSpc>
                <a:spcPct val="130000"/>
              </a:lnSpc>
              <a:spcBef>
                <a:spcPts val="0"/>
              </a:spcBef>
              <a:buFont typeface="Arial" panose="020B0604020202020204" pitchFamily="34" charset="0"/>
              <a:buChar char="•"/>
            </a:pPr>
            <a:r>
              <a:rPr lang="zh-CN" altLang="en-US" sz="2400">
                <a:sym typeface="+mn-ea"/>
              </a:rPr>
              <a:t>应用：</a:t>
            </a:r>
            <a:r>
              <a:rPr lang="en-US" sz="2400">
                <a:sym typeface="+mn-ea"/>
              </a:rPr>
              <a:t>阿凡提与国王比赛下棋，国王说要是自己输了的话阿凡提想要什么他都可以拿得出来。阿凡提说那就要点米吧，棋盘一共64个小格子，在第一个格子里放1粒米，第二个格子里放2粒米，第三个格子里放4粒米，第四个格子里放8粒米，以此类推，后面每个格子里的米都是前一个格子里的2倍，一直把64个格子都放满。需要多少粒米呢？</a:t>
            </a:r>
            <a:endParaRPr lang="en-US" sz="2400" strike="noStrike" noProof="1">
              <a:sym typeface="+mn-ea"/>
            </a:endParaRPr>
          </a:p>
          <a:p>
            <a:pPr marL="0" indent="0" fontAlgn="base">
              <a:buNone/>
            </a:pPr>
            <a:endParaRPr lang="en-US" strike="noStrike" noProof="1">
              <a:latin typeface="Consolas" panose="020B0609020204030204" charset="0"/>
            </a:endParaRPr>
          </a:p>
          <a:p>
            <a:pPr marL="0" indent="0" fontAlgn="base">
              <a:buNone/>
            </a:pPr>
            <a:r>
              <a:rPr lang="en-US" sz="2000">
                <a:latin typeface="Consolas" panose="020B0609020204030204" charset="0"/>
                <a:sym typeface="+mn-ea"/>
              </a:rPr>
              <a:t>&gt;&gt;&gt; sum([2**i for i in range(64)])</a:t>
            </a:r>
            <a:endParaRPr lang="en-US" sz="2000" strike="noStrike" noProof="1">
              <a:latin typeface="Consolas" panose="020B0609020204030204" charset="0"/>
            </a:endParaRPr>
          </a:p>
          <a:p>
            <a:pPr marL="0" indent="0" fontAlgn="base">
              <a:buNone/>
            </a:pPr>
            <a:r>
              <a:rPr lang="en-US" sz="2000">
                <a:solidFill>
                  <a:srgbClr val="00B0F0"/>
                </a:solidFill>
                <a:latin typeface="Consolas" panose="020B0609020204030204" charset="0"/>
                <a:sym typeface="+mn-ea"/>
              </a:rPr>
              <a:t>18446744073709551615</a:t>
            </a:r>
            <a:endParaRPr lang="en-US" sz="2000" strike="noStrike" noProof="1">
              <a:solidFill>
                <a:srgbClr val="00B0F0"/>
              </a:solidFill>
              <a:latin typeface="Consolas" panose="020B0609020204030204" charset="0"/>
            </a:endParaRPr>
          </a:p>
          <a:p>
            <a:pPr marL="0" indent="0" fontAlgn="base">
              <a:buNone/>
            </a:pPr>
            <a:r>
              <a:rPr lang="en-US" sz="2000">
                <a:latin typeface="Consolas" panose="020B0609020204030204" charset="0"/>
                <a:sym typeface="+mn-ea"/>
              </a:rPr>
              <a:t>&gt;&gt;&gt; int('1'*64, 2)</a:t>
            </a:r>
            <a:endParaRPr lang="en-US" sz="2000" strike="noStrike" noProof="1">
              <a:solidFill>
                <a:srgbClr val="00B0F0"/>
              </a:solidFill>
              <a:latin typeface="Consolas" panose="020B0609020204030204" charset="0"/>
            </a:endParaRPr>
          </a:p>
          <a:p>
            <a:pPr marL="0" indent="0" fontAlgn="base">
              <a:buNone/>
            </a:pPr>
            <a:r>
              <a:rPr lang="en-US" sz="2000">
                <a:solidFill>
                  <a:srgbClr val="00B0F0"/>
                </a:solidFill>
                <a:latin typeface="Consolas" panose="020B0609020204030204" charset="0"/>
                <a:sym typeface="+mn-ea"/>
              </a:rPr>
              <a:t>18446744073709551615</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3.1.6  </a:t>
            </a:r>
            <a:r>
              <a:rPr lang="zh-CN" altLang="en-US">
                <a:sym typeface="+mn-ea"/>
              </a:rPr>
              <a:t>列表推导式语法与应用</a:t>
            </a:r>
            <a:endParaRPr lang="zh-CN" altLang="en-US"/>
          </a:p>
        </p:txBody>
      </p:sp>
      <p:sp>
        <p:nvSpPr>
          <p:cNvPr id="3" name="内容占位符 2"/>
          <p:cNvSpPr>
            <a:spLocks noGrp="1"/>
          </p:cNvSpPr>
          <p:nvPr>
            <p:ph idx="1"/>
          </p:nvPr>
        </p:nvSpPr>
        <p:spPr/>
        <p:txBody>
          <a:bodyPr>
            <a:normAutofit/>
          </a:bodyPr>
          <a:p>
            <a:pPr marL="0" indent="0" fontAlgn="auto">
              <a:lnSpc>
                <a:spcPct val="100000"/>
              </a:lnSpc>
              <a:spcBef>
                <a:spcPts val="0"/>
              </a:spcBef>
              <a:buNone/>
            </a:pPr>
            <a:r>
              <a:rPr lang="zh-CN" altLang="en-US" sz="2400"/>
              <a:t>（1）实现嵌套列表的平铺</a:t>
            </a:r>
            <a:endParaRPr lang="zh-CN" altLang="en-US" sz="2400"/>
          </a:p>
          <a:p>
            <a:pPr marL="0" indent="0" fontAlgn="auto">
              <a:lnSpc>
                <a:spcPct val="100000"/>
              </a:lnSpc>
              <a:spcBef>
                <a:spcPts val="0"/>
              </a:spcBef>
              <a:buNone/>
            </a:pPr>
            <a:r>
              <a:rPr lang="zh-CN" altLang="en-US" sz="1800">
                <a:latin typeface="Consolas" panose="020B0609020204030204" charset="0"/>
              </a:rPr>
              <a:t>&gt;&gt;&gt; vec = [[1, 2, 3], [4, 5, 6], [7, 8, 9]]</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[num for elem in vec for num in elem]</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 2, 3, 4, 5, 6, 7, 8, 9] </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2400"/>
              <a:t>在这个列表推导式中有2个循环，其中第一个循环相当于外循环，执行的慢；而第二个循环</a:t>
            </a:r>
            <a:r>
              <a:rPr lang="zh-CN" altLang="en-US" sz="2400"/>
              <a:t>相当于内循环，执行的快。上面代码的执行过程等价于下面的写法：</a:t>
            </a:r>
            <a:endParaRPr lang="zh-CN" altLang="en-US" sz="2400"/>
          </a:p>
          <a:p>
            <a:pPr marL="0" indent="0" fontAlgn="auto">
              <a:lnSpc>
                <a:spcPct val="100000"/>
              </a:lnSpc>
              <a:spcBef>
                <a:spcPts val="0"/>
              </a:spcBef>
              <a:buNone/>
            </a:pPr>
            <a:r>
              <a:rPr lang="zh-CN" altLang="en-US" sz="1800">
                <a:latin typeface="Consolas" panose="020B0609020204030204" charset="0"/>
              </a:rPr>
              <a:t>&gt;&gt;&gt; vec = [[1, 2, 3], [4, 5, 6], [7, 8, 9]]</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result = []</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for elem in vec:</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for num in elem:</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result.append(num)</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result</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 2, 3, 4, 5, 6, 7, 8, 9]</a:t>
            </a:r>
            <a:endParaRPr lang="zh-CN" altLang="en-US" sz="18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3.1.6  </a:t>
            </a:r>
            <a:r>
              <a:rPr lang="zh-CN" altLang="en-US">
                <a:sym typeface="+mn-ea"/>
              </a:rPr>
              <a:t>列表推导式语法与应用</a:t>
            </a:r>
            <a:endParaRPr lang="zh-CN" altLang="en-US"/>
          </a:p>
        </p:txBody>
      </p:sp>
      <p:sp>
        <p:nvSpPr>
          <p:cNvPr id="3" name="内容占位符 2"/>
          <p:cNvSpPr>
            <a:spLocks noGrp="1"/>
          </p:cNvSpPr>
          <p:nvPr>
            <p:ph idx="1"/>
          </p:nvPr>
        </p:nvSpPr>
        <p:spPr/>
        <p:txBody>
          <a:bodyPr/>
          <a:p>
            <a:pPr>
              <a:lnSpc>
                <a:spcPct val="120000"/>
              </a:lnSpc>
            </a:pPr>
            <a:r>
              <a:rPr lang="zh-CN" altLang="en-US" sz="2400"/>
              <a:t>使用标准库函数快速实现相同的功能。</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vec = [[1, 2, 3], [4, 5, 6], [7, 8, 9]]</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from itertools import chain</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list(chain(*vec))</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更高效的</a:t>
            </a:r>
            <a:r>
              <a:rPr lang="zh-CN" altLang="en-US" sz="2000">
                <a:latin typeface="Consolas" panose="020B0609020204030204" charset="0"/>
                <a:cs typeface="Consolas" panose="020B0609020204030204" charset="0"/>
              </a:rPr>
              <a:t>方法</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[1, 2, 3, 4, 5, 6, 7, 8, 9]</a:t>
            </a:r>
            <a:endParaRPr lang="zh-CN" altLang="en-US" sz="2000">
              <a:solidFill>
                <a:srgbClr val="00B0F0"/>
              </a:solidFill>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rPr>
              <a:t>&gt;&gt;&gt; sum(vec, [])</a:t>
            </a:r>
            <a:endParaRPr lang="zh-CN" altLang="en-US" sz="2000">
              <a:latin typeface="Consolas" panose="020B0609020204030204" charset="0"/>
              <a:cs typeface="Consolas" panose="020B0609020204030204" charset="0"/>
            </a:endParaRPr>
          </a:p>
          <a:p>
            <a:pPr marL="0" indent="0">
              <a:buNone/>
            </a:pPr>
            <a:r>
              <a:rPr lang="zh-CN" altLang="en-US" sz="2000">
                <a:solidFill>
                  <a:srgbClr val="00B0F0"/>
                </a:solidFill>
                <a:latin typeface="Consolas" panose="020B0609020204030204" charset="0"/>
                <a:cs typeface="Consolas" panose="020B0609020204030204" charset="0"/>
              </a:rPr>
              <a:t>[1, 2, 3, 4, 5, 6, 7, 8, 9]</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3.1.6  </a:t>
            </a:r>
            <a:r>
              <a:rPr lang="zh-CN" altLang="en-US">
                <a:sym typeface="+mn-ea"/>
              </a:rPr>
              <a:t>列表推导式语法与应用</a:t>
            </a:r>
            <a:endParaRPr lang="zh-CN" altLang="en-US"/>
          </a:p>
        </p:txBody>
      </p:sp>
      <p:sp>
        <p:nvSpPr>
          <p:cNvPr id="3" name="内容占位符 2"/>
          <p:cNvSpPr>
            <a:spLocks noGrp="1"/>
          </p:cNvSpPr>
          <p:nvPr>
            <p:ph idx="1"/>
          </p:nvPr>
        </p:nvSpPr>
        <p:spPr>
          <a:xfrm>
            <a:off x="838200" y="1321435"/>
            <a:ext cx="10963910" cy="4639945"/>
          </a:xfrm>
        </p:spPr>
        <p:txBody>
          <a:bodyPr>
            <a:normAutofit fontScale="60000"/>
          </a:bodyPr>
          <a:p>
            <a:pPr>
              <a:lnSpc>
                <a:spcPct val="130000"/>
              </a:lnSpc>
            </a:pPr>
            <a:r>
              <a:rPr lang="zh-CN" altLang="en-US" sz="3430"/>
              <a:t>对于任意层数嵌套且每个子列表中数量不一样的列表，可以使用递归函数实现。（</a:t>
            </a:r>
            <a:r>
              <a:rPr lang="zh-CN" altLang="en-US" sz="3430"/>
              <a:t>选讲）</a:t>
            </a:r>
            <a:endParaRPr lang="zh-CN" altLang="en-US" sz="3430"/>
          </a:p>
          <a:p>
            <a:pPr marL="0" indent="0" fontAlgn="auto">
              <a:lnSpc>
                <a:spcPct val="100000"/>
              </a:lnSpc>
              <a:spcBef>
                <a:spcPts val="0"/>
              </a:spcBef>
              <a:buNone/>
            </a:pPr>
            <a:r>
              <a:rPr lang="zh-CN" altLang="en-US" sz="2570">
                <a:latin typeface="Consolas" panose="020B0609020204030204" charset="0"/>
                <a:cs typeface="Consolas" panose="020B0609020204030204" charset="0"/>
              </a:rPr>
              <a:t>data = [[1], [[2],3], [4,[5,6]], [[7,8,9]]]</a:t>
            </a: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r>
              <a:rPr lang="zh-CN" altLang="en-US" sz="2570">
                <a:latin typeface="Consolas" panose="020B0609020204030204" charset="0"/>
                <a:cs typeface="Consolas" panose="020B0609020204030204" charset="0"/>
              </a:rPr>
              <a:t>def flatList(lst):</a:t>
            </a: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r>
              <a:rPr lang="zh-CN" altLang="en-US" sz="2570">
                <a:latin typeface="Consolas" panose="020B0609020204030204" charset="0"/>
                <a:cs typeface="Consolas" panose="020B0609020204030204" charset="0"/>
              </a:rPr>
              <a:t>    result = []</a:t>
            </a: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r>
              <a:rPr lang="zh-CN" altLang="en-US" sz="2570">
                <a:latin typeface="Consolas" panose="020B0609020204030204" charset="0"/>
                <a:cs typeface="Consolas" panose="020B0609020204030204" charset="0"/>
              </a:rPr>
              <a:t>    def nested(lst):</a:t>
            </a: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r>
              <a:rPr lang="zh-CN" altLang="en-US" sz="2570">
                <a:latin typeface="Consolas" panose="020B0609020204030204" charset="0"/>
                <a:cs typeface="Consolas" panose="020B0609020204030204" charset="0"/>
              </a:rPr>
              <a:t>        for item in lst:</a:t>
            </a: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r>
              <a:rPr lang="zh-CN" altLang="en-US" sz="2570">
                <a:latin typeface="Consolas" panose="020B0609020204030204" charset="0"/>
                <a:cs typeface="Consolas" panose="020B0609020204030204" charset="0"/>
              </a:rPr>
              <a:t>            if isinstance(item, list):</a:t>
            </a: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r>
              <a:rPr lang="zh-CN" altLang="en-US" sz="2570">
                <a:latin typeface="Consolas" panose="020B0609020204030204" charset="0"/>
                <a:cs typeface="Consolas" panose="020B0609020204030204" charset="0"/>
              </a:rPr>
              <a:t>                nested(item)</a:t>
            </a: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r>
              <a:rPr lang="zh-CN" altLang="en-US" sz="2570">
                <a:latin typeface="Consolas" panose="020B0609020204030204" charset="0"/>
                <a:cs typeface="Consolas" panose="020B0609020204030204" charset="0"/>
              </a:rPr>
              <a:t>            else:</a:t>
            </a: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r>
              <a:rPr lang="zh-CN" altLang="en-US" sz="2570">
                <a:latin typeface="Consolas" panose="020B0609020204030204" charset="0"/>
                <a:cs typeface="Consolas" panose="020B0609020204030204" charset="0"/>
              </a:rPr>
              <a:t>                result.append(item)</a:t>
            </a: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r>
              <a:rPr lang="zh-CN" altLang="en-US" sz="2570">
                <a:latin typeface="Consolas" panose="020B0609020204030204" charset="0"/>
                <a:cs typeface="Consolas" panose="020B0609020204030204" charset="0"/>
              </a:rPr>
              <a:t>    nested(lst)</a:t>
            </a: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r>
              <a:rPr lang="zh-CN" altLang="en-US" sz="2570">
                <a:latin typeface="Consolas" panose="020B0609020204030204" charset="0"/>
                <a:cs typeface="Consolas" panose="020B0609020204030204" charset="0"/>
              </a:rPr>
              <a:t>    return result</a:t>
            </a: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endParaRPr lang="zh-CN" altLang="en-US" sz="2570">
              <a:latin typeface="Consolas" panose="020B0609020204030204" charset="0"/>
              <a:cs typeface="Consolas" panose="020B0609020204030204" charset="0"/>
            </a:endParaRPr>
          </a:p>
          <a:p>
            <a:pPr marL="0" indent="0" fontAlgn="auto">
              <a:lnSpc>
                <a:spcPct val="100000"/>
              </a:lnSpc>
              <a:spcBef>
                <a:spcPts val="0"/>
              </a:spcBef>
              <a:buNone/>
            </a:pPr>
            <a:r>
              <a:rPr lang="zh-CN" altLang="en-US" sz="2570">
                <a:latin typeface="Consolas" panose="020B0609020204030204" charset="0"/>
                <a:cs typeface="Consolas" panose="020B0609020204030204" charset="0"/>
              </a:rPr>
              <a:t>print(flatList(data))</a:t>
            </a:r>
            <a:endParaRPr lang="zh-CN" altLang="en-US" sz="257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3.1.6  </a:t>
            </a:r>
            <a:r>
              <a:rPr lang="zh-CN" altLang="en-US">
                <a:sym typeface="+mn-ea"/>
              </a:rPr>
              <a:t>列表推导式语法与应用</a:t>
            </a:r>
            <a:endParaRPr lang="zh-CN" altLang="en-US"/>
          </a:p>
        </p:txBody>
      </p:sp>
      <p:sp>
        <p:nvSpPr>
          <p:cNvPr id="3" name="内容占位符 2"/>
          <p:cNvSpPr>
            <a:spLocks noGrp="1"/>
          </p:cNvSpPr>
          <p:nvPr>
            <p:ph idx="1"/>
          </p:nvPr>
        </p:nvSpPr>
        <p:spPr>
          <a:xfrm>
            <a:off x="838200" y="1321435"/>
            <a:ext cx="10880090" cy="4639945"/>
          </a:xfrm>
        </p:spPr>
        <p:txBody>
          <a:bodyPr>
            <a:normAutofit/>
          </a:bodyPr>
          <a:p>
            <a:pPr marL="0" indent="0" fontAlgn="auto">
              <a:lnSpc>
                <a:spcPct val="120000"/>
              </a:lnSpc>
              <a:spcBef>
                <a:spcPts val="0"/>
              </a:spcBef>
              <a:buNone/>
            </a:pPr>
            <a:r>
              <a:rPr lang="zh-CN" altLang="en-US" sz="2400"/>
              <a:t>（2）过滤不符合条件的元素</a:t>
            </a:r>
            <a:endParaRPr lang="zh-CN" altLang="en-US" sz="2400"/>
          </a:p>
          <a:p>
            <a:pPr marL="0" indent="0" fontAlgn="auto">
              <a:lnSpc>
                <a:spcPct val="120000"/>
              </a:lnSpc>
              <a:spcBef>
                <a:spcPts val="0"/>
              </a:spcBef>
              <a:buNone/>
            </a:pPr>
            <a:r>
              <a:rPr lang="zh-CN" altLang="en-US" sz="2400"/>
              <a:t>在列表推导式中可以使用if子句对列表中的元素进行筛选，只在结果列表中保留符合条件的元素。下面的代码可以列出当前文件夹下所有Python源文件：</a:t>
            </a:r>
            <a:endParaRPr lang="zh-CN" altLang="en-US" sz="2400"/>
          </a:p>
          <a:p>
            <a:pPr marL="0" indent="0" fontAlgn="auto">
              <a:lnSpc>
                <a:spcPct val="100000"/>
              </a:lnSpc>
              <a:spcBef>
                <a:spcPts val="0"/>
              </a:spcBef>
              <a:buNone/>
            </a:pPr>
            <a:r>
              <a:rPr lang="zh-CN" altLang="en-US" sz="1800">
                <a:latin typeface="Consolas" panose="020B0609020204030204" charset="0"/>
              </a:rPr>
              <a:t>&gt;&gt;&gt; import os</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[filename for filename in os.listdir('.') if filename.endswith(('.py', '.pyw'))]</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aList = [-1, -4, 6, 7.5, -2.3, 9, -11]</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[i for i in aList if i&gt;0]                          # 所有大于0的数字</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[6, 7.5, 9]</a:t>
            </a:r>
            <a:endParaRPr lang="zh-CN" altLang="en-US" sz="18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3.1.6  </a:t>
            </a:r>
            <a:r>
              <a:rPr lang="zh-CN" altLang="en-US">
                <a:sym typeface="+mn-ea"/>
              </a:rPr>
              <a:t>列表推导式语法与应用</a:t>
            </a:r>
            <a:endParaRPr lang="zh-CN" altLang="en-US"/>
          </a:p>
        </p:txBody>
      </p:sp>
      <p:sp>
        <p:nvSpPr>
          <p:cNvPr id="3" name="内容占位符 2"/>
          <p:cNvSpPr>
            <a:spLocks noGrp="1"/>
          </p:cNvSpPr>
          <p:nvPr>
            <p:ph idx="1"/>
          </p:nvPr>
        </p:nvSpPr>
        <p:spPr>
          <a:xfrm>
            <a:off x="838200" y="1321435"/>
            <a:ext cx="11111230" cy="4639945"/>
          </a:xfrm>
        </p:spPr>
        <p:txBody>
          <a:bodyPr>
            <a:normAutofit/>
          </a:bodyPr>
          <a:p>
            <a:pPr indent="-207645" fontAlgn="auto">
              <a:lnSpc>
                <a:spcPct val="120000"/>
              </a:lnSpc>
              <a:spcBef>
                <a:spcPts val="0"/>
              </a:spcBef>
            </a:pPr>
            <a:r>
              <a:rPr lang="zh-CN" altLang="en-US" sz="2400" b="1"/>
              <a:t>应用：</a:t>
            </a:r>
            <a:r>
              <a:rPr lang="zh-CN" altLang="en-US" sz="2400"/>
              <a:t>已知有一个包含一些同学成绩的字典，现在需要计算所有成绩的最高分、最低分、平均分，并查找所有最高分同学，代码可以这样编写：</a:t>
            </a:r>
            <a:endParaRPr lang="zh-CN" altLang="en-US" sz="2400"/>
          </a:p>
          <a:p>
            <a:pPr marL="0" indent="0" fontAlgn="auto">
              <a:lnSpc>
                <a:spcPct val="100000"/>
              </a:lnSpc>
              <a:spcBef>
                <a:spcPts val="0"/>
              </a:spcBef>
              <a:buNone/>
            </a:pPr>
            <a:r>
              <a:rPr lang="zh-CN" altLang="en-US" sz="1800">
                <a:latin typeface="Consolas" panose="020B0609020204030204" charset="0"/>
              </a:rPr>
              <a:t>&gt;&gt;&gt; scores = {"Zhang San": 45, "Li Si": 78, "Wang Wu": 40, "Zhou Liu": 96,</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"Zhao Qi": 65, "Sun Ba": 90, "Zheng Jiu": 78, "Wu Shi": 99,</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"Dong Shiyi": 60}</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highest = max(scores.values())                   # 最高分</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lowest = min(scores.values())                    # 最低分</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average = sum(scores.values()) / len(scores)     # 平均分</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highest, lowest, average</a:t>
            </a:r>
            <a:r>
              <a:rPr lang="en-US" altLang="zh-CN" sz="1800">
                <a:latin typeface="Consolas" panose="020B0609020204030204" charset="0"/>
              </a:rPr>
              <a:t>                         # </a:t>
            </a:r>
            <a:r>
              <a:rPr lang="zh-CN" altLang="en-US" sz="1800">
                <a:latin typeface="Consolas" panose="020B0609020204030204" charset="0"/>
              </a:rPr>
              <a:t>此处逗号用来创建</a:t>
            </a:r>
            <a:r>
              <a:rPr lang="zh-CN" altLang="en-US" sz="1800">
                <a:latin typeface="Consolas" panose="020B0609020204030204" charset="0"/>
              </a:rPr>
              <a:t>元组</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(99, 40, 72.33333333333333)</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highestPerson = [name for name, score in scores.items() if score == highest]</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highestPerson</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['Wu Shi']</a:t>
            </a:r>
            <a:endParaRPr lang="zh-CN" altLang="en-US" sz="18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3.1.6  </a:t>
            </a:r>
            <a:r>
              <a:rPr lang="zh-CN" altLang="en-US">
                <a:sym typeface="+mn-ea"/>
              </a:rPr>
              <a:t>列表推导式语法与应用</a:t>
            </a:r>
            <a:endParaRPr lang="zh-CN" altLang="en-US"/>
          </a:p>
        </p:txBody>
      </p:sp>
      <p:sp>
        <p:nvSpPr>
          <p:cNvPr id="3" name="内容占位符 2"/>
          <p:cNvSpPr>
            <a:spLocks noGrp="1"/>
          </p:cNvSpPr>
          <p:nvPr>
            <p:ph idx="1"/>
          </p:nvPr>
        </p:nvSpPr>
        <p:spPr>
          <a:xfrm>
            <a:off x="838200" y="1321435"/>
            <a:ext cx="10515600" cy="4819650"/>
          </a:xfrm>
        </p:spPr>
        <p:txBody>
          <a:bodyPr>
            <a:normAutofit/>
          </a:bodyPr>
          <a:p>
            <a:pPr marL="0" indent="0" fontAlgn="auto">
              <a:lnSpc>
                <a:spcPct val="120000"/>
              </a:lnSpc>
              <a:spcBef>
                <a:spcPts val="0"/>
              </a:spcBef>
              <a:buNone/>
            </a:pPr>
            <a:r>
              <a:rPr lang="zh-CN" altLang="en-US" sz="2400"/>
              <a:t>（3）同时遍历多个列表或可迭代对象</a:t>
            </a:r>
            <a:endParaRPr lang="zh-CN" altLang="en-US" sz="2400"/>
          </a:p>
          <a:p>
            <a:pPr marL="0" indent="0" fontAlgn="auto">
              <a:lnSpc>
                <a:spcPct val="100000"/>
              </a:lnSpc>
              <a:spcBef>
                <a:spcPts val="0"/>
              </a:spcBef>
              <a:buNone/>
            </a:pPr>
            <a:r>
              <a:rPr lang="zh-CN" altLang="en-US" sz="1800">
                <a:latin typeface="Consolas" panose="020B0609020204030204" charset="0"/>
              </a:rPr>
              <a:t>&gt;&gt;&gt; [(x, y) for x in [1, 2, 3] for y in [3, 1, 4] if x!=y]</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 3), (1, 4), (2, 3), (2, 1), (2, 4), (3, 1), (3, 4)]</a:t>
            </a:r>
            <a:endParaRPr lang="zh-CN" altLang="en-US" sz="1800">
              <a:solidFill>
                <a:srgbClr val="00B0F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[(x, y) for x in [1, 2, 3] if x==1 for y in [3, 1, 4] if y!=x]</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 3), (1, 4)]</a:t>
            </a:r>
            <a:endParaRPr lang="zh-CN" altLang="en-US" sz="1800">
              <a:solidFill>
                <a:srgbClr val="00B0F0"/>
              </a:solidFill>
              <a:latin typeface="Consolas" panose="020B0609020204030204" charset="0"/>
            </a:endParaRPr>
          </a:p>
          <a:p>
            <a:pPr marL="0" indent="0" fontAlgn="auto">
              <a:lnSpc>
                <a:spcPct val="120000"/>
              </a:lnSpc>
              <a:spcBef>
                <a:spcPts val="0"/>
              </a:spcBef>
              <a:buNone/>
            </a:pPr>
            <a:r>
              <a:rPr lang="zh-CN" altLang="en-US" sz="2400"/>
              <a:t>对于包含多个循环的列表推导式，一定要清楚多个循环的执行顺序或“嵌套关系”。例如，上面第一个列表推导式等价于</a:t>
            </a:r>
            <a:endParaRPr lang="zh-CN" altLang="en-US" sz="2400"/>
          </a:p>
          <a:p>
            <a:pPr marL="0" indent="0" fontAlgn="auto">
              <a:lnSpc>
                <a:spcPct val="100000"/>
              </a:lnSpc>
              <a:spcBef>
                <a:spcPts val="0"/>
              </a:spcBef>
              <a:buNone/>
            </a:pPr>
            <a:r>
              <a:rPr lang="zh-CN" altLang="en-US" sz="1800">
                <a:latin typeface="Consolas" panose="020B0609020204030204" charset="0"/>
              </a:rPr>
              <a:t>&gt;&gt;&gt; result = []</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for x in [1, 2, 3]:</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for y in [3, 1, 4]:</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if x != y:</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result.append((x,y))</a:t>
            </a:r>
            <a:endParaRPr lang="zh-CN" altLang="en-US" sz="1800">
              <a:latin typeface="Consolas" panose="020B0609020204030204" charset="0"/>
            </a:endParaRPr>
          </a:p>
          <a:p>
            <a:pPr marL="0" indent="0" fontAlgn="auto">
              <a:lnSpc>
                <a:spcPct val="100000"/>
              </a:lnSpc>
              <a:spcBef>
                <a:spcPts val="0"/>
              </a:spcBef>
              <a:buNone/>
            </a:pP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result</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00B0F0"/>
                </a:solidFill>
                <a:latin typeface="Consolas" panose="020B0609020204030204" charset="0"/>
              </a:rPr>
              <a:t>[(1, 3), (1, 4), (2, 3), (2, 1), (2, 4), (3, 1), (3, 4)]</a:t>
            </a:r>
            <a:endParaRPr lang="zh-CN" altLang="en-US" sz="18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3.1.6  </a:t>
            </a:r>
            <a:r>
              <a:rPr lang="zh-CN" altLang="en-US">
                <a:sym typeface="+mn-ea"/>
              </a:rPr>
              <a:t>列表推导式语法与应用</a:t>
            </a:r>
            <a:endParaRPr lang="zh-CN" altLang="en-US"/>
          </a:p>
        </p:txBody>
      </p:sp>
      <p:sp>
        <p:nvSpPr>
          <p:cNvPr id="3" name="内容占位符 2"/>
          <p:cNvSpPr>
            <a:spLocks noGrp="1"/>
          </p:cNvSpPr>
          <p:nvPr>
            <p:ph idx="1"/>
          </p:nvPr>
        </p:nvSpPr>
        <p:spPr/>
        <p:txBody>
          <a:bodyPr>
            <a:normAutofit/>
          </a:bodyPr>
          <a:p>
            <a:pPr marL="0" indent="0" fontAlgn="auto">
              <a:lnSpc>
                <a:spcPct val="100000"/>
              </a:lnSpc>
              <a:spcBef>
                <a:spcPts val="0"/>
              </a:spcBef>
              <a:buNone/>
            </a:pPr>
            <a:r>
              <a:rPr lang="zh-CN" altLang="en-US" sz="2400"/>
              <a:t>（4）使用列表推导式实现矩阵转置</a:t>
            </a:r>
            <a:endParaRPr lang="zh-CN" altLang="en-US" sz="2400"/>
          </a:p>
          <a:p>
            <a:pPr marL="0" indent="0" fontAlgn="auto">
              <a:lnSpc>
                <a:spcPct val="100000"/>
              </a:lnSpc>
              <a:spcBef>
                <a:spcPts val="0"/>
              </a:spcBef>
              <a:buNone/>
            </a:pPr>
            <a:r>
              <a:rPr lang="zh-CN" altLang="en-US" sz="2000">
                <a:latin typeface="Consolas" panose="020B0609020204030204" charset="0"/>
              </a:rPr>
              <a:t>&gt;&gt;&gt; matrix = [[1, 2, 3, 4], [5, 6, 7, 8], [9, 10, 11, 12]]</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[[row[i] for row in matrix] for i in range(4)]</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 5, 9], [2, 6, 10], [3, 7, 11], [4, 8, 12]]</a:t>
            </a:r>
            <a:endParaRPr lang="zh-CN" altLang="en-US" sz="2000">
              <a:solidFill>
                <a:srgbClr val="00B0F0"/>
              </a:solidFill>
              <a:latin typeface="Consolas" panose="020B0609020204030204" charset="0"/>
            </a:endParaRPr>
          </a:p>
          <a:p>
            <a:pPr marL="0" indent="0" fontAlgn="auto">
              <a:lnSpc>
                <a:spcPct val="130000"/>
              </a:lnSpc>
              <a:spcBef>
                <a:spcPts val="0"/>
              </a:spcBef>
              <a:buNone/>
            </a:pPr>
            <a:r>
              <a:rPr lang="zh-CN" altLang="en-US" sz="2400"/>
              <a:t>上面列表推导式的执行过程等价于下面的代码：</a:t>
            </a:r>
            <a:endParaRPr lang="zh-CN" altLang="en-US" sz="2400"/>
          </a:p>
          <a:p>
            <a:pPr marL="0" indent="0" fontAlgn="auto">
              <a:lnSpc>
                <a:spcPct val="100000"/>
              </a:lnSpc>
              <a:spcBef>
                <a:spcPts val="0"/>
              </a:spcBef>
              <a:buNone/>
            </a:pPr>
            <a:r>
              <a:rPr lang="zh-CN" altLang="en-US" sz="2000">
                <a:latin typeface="Consolas" panose="020B0609020204030204" charset="0"/>
              </a:rPr>
              <a:t>matrix = [[1, 2, 3, 4], [5, 6, 7, 8], [9, 10, 11, 12]]</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result = []</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for i in range(len(matrix[0])):</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temp = []</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for row in matrix:</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temp.append(row[i])</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result.append(temp)</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print(result)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print(list(map(list, zip(*matrix))))</a:t>
            </a:r>
            <a:r>
              <a:rPr lang="en-US" altLang="zh-CN" sz="2000">
                <a:latin typeface="Consolas" panose="020B0609020204030204" charset="0"/>
              </a:rPr>
              <a:t>      # </a:t>
            </a:r>
            <a:r>
              <a:rPr lang="zh-CN" altLang="en-US" sz="2000">
                <a:latin typeface="Consolas" panose="020B0609020204030204" charset="0"/>
              </a:rPr>
              <a:t>函数式编程，优先推荐</a:t>
            </a:r>
            <a:r>
              <a:rPr lang="zh-CN" altLang="en-US" sz="2000">
                <a:latin typeface="Consolas" panose="020B0609020204030204" charset="0"/>
              </a:rPr>
              <a:t>使用</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3.1.6  </a:t>
            </a:r>
            <a:r>
              <a:rPr lang="zh-CN" altLang="en-US">
                <a:sym typeface="+mn-ea"/>
              </a:rPr>
              <a:t>列表推导式语法与应用</a:t>
            </a:r>
            <a:endParaRPr lang="zh-CN" altLang="en-US"/>
          </a:p>
        </p:txBody>
      </p:sp>
      <p:sp>
        <p:nvSpPr>
          <p:cNvPr id="3" name="内容占位符 2"/>
          <p:cNvSpPr>
            <a:spLocks noGrp="1"/>
          </p:cNvSpPr>
          <p:nvPr>
            <p:ph idx="1"/>
          </p:nvPr>
        </p:nvSpPr>
        <p:spPr>
          <a:xfrm>
            <a:off x="838200" y="1321435"/>
            <a:ext cx="10515600" cy="5242560"/>
          </a:xfrm>
        </p:spPr>
        <p:txBody>
          <a:bodyPr>
            <a:normAutofit/>
          </a:bodyPr>
          <a:p>
            <a:pPr marL="0" indent="0" fontAlgn="base">
              <a:lnSpc>
                <a:spcPct val="100000"/>
              </a:lnSpc>
              <a:spcBef>
                <a:spcPts val="0"/>
              </a:spcBef>
              <a:buFont typeface="Wingdings" panose="05000000000000000000" charset="0"/>
              <a:buNone/>
            </a:pPr>
            <a:r>
              <a:rPr lang="zh-CN" altLang="en-US" sz="2400">
                <a:effectLst/>
                <a:latin typeface="宋体" panose="02010600030101010101" pitchFamily="2" charset="-122"/>
                <a:sym typeface="+mn-ea"/>
              </a:rPr>
              <a:t>（</a:t>
            </a:r>
            <a:r>
              <a:rPr lang="en-US" altLang="zh-CN" sz="2400">
                <a:effectLst/>
                <a:latin typeface="宋体" panose="02010600030101010101" pitchFamily="2" charset="-122"/>
                <a:sym typeface="+mn-ea"/>
              </a:rPr>
              <a:t>5</a:t>
            </a:r>
            <a:r>
              <a:rPr lang="zh-CN" altLang="en-US" sz="2400">
                <a:effectLst/>
                <a:latin typeface="宋体" panose="02010600030101010101" pitchFamily="2" charset="-122"/>
                <a:sym typeface="+mn-ea"/>
              </a:rPr>
              <a:t>）列表推导式中可以使用函数或复杂表达式</a:t>
            </a:r>
            <a:endParaRPr lang="zh-CN" altLang="en-US" sz="2400" strike="noStrike" noProof="1">
              <a:effectLst/>
              <a:latin typeface="宋体" panose="02010600030101010101" pitchFamily="2" charset="-122"/>
            </a:endParaRPr>
          </a:p>
          <a:p>
            <a:pPr marL="0" indent="0" fontAlgn="base">
              <a:lnSpc>
                <a:spcPct val="100000"/>
              </a:lnSpc>
              <a:spcBef>
                <a:spcPts val="0"/>
              </a:spcBef>
              <a:buFont typeface="Wingdings" panose="05000000000000000000" charset="0"/>
              <a:buNone/>
            </a:pPr>
            <a:r>
              <a:rPr lang="en-US" altLang="zh-CN" sz="2000">
                <a:effectLst/>
                <a:latin typeface="Consolas" panose="020B0609020204030204" charset="0"/>
                <a:sym typeface="+mn-ea"/>
              </a:rPr>
              <a:t>&gt;&gt;&gt; def f(v):</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if v%2 == 0:</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v = v**2</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else:</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v = v+1</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    return v</a:t>
            </a:r>
            <a:endParaRPr lang="en-US" altLang="zh-CN" sz="2000" strike="noStrike" noProof="1">
              <a:effectLst/>
              <a:latin typeface="Consolas" panose="020B0609020204030204" charset="0"/>
            </a:endParaRPr>
          </a:p>
          <a:p>
            <a:pPr marL="1905" indent="0" fontAlgn="base">
              <a:lnSpc>
                <a:spcPct val="100000"/>
              </a:lnSpc>
              <a:spcBef>
                <a:spcPts val="0"/>
              </a:spcBef>
              <a:buNone/>
            </a:pP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&gt;&gt;&gt; [f(v) for v in [2, 3, 4, -1] if v&gt;0]</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solidFill>
                  <a:srgbClr val="00B0F0"/>
                </a:solidFill>
                <a:effectLst/>
                <a:latin typeface="Consolas" panose="020B0609020204030204" charset="0"/>
                <a:sym typeface="+mn-ea"/>
              </a:rPr>
              <a:t>[4, 4, 16]</a:t>
            </a:r>
            <a:endParaRPr lang="en-US" altLang="zh-CN" sz="2000" strike="noStrike" noProof="1">
              <a:solidFill>
                <a:srgbClr val="00B0F0"/>
              </a:solidFill>
              <a:effectLst/>
              <a:latin typeface="Consolas" panose="020B0609020204030204" charset="0"/>
            </a:endParaRPr>
          </a:p>
          <a:p>
            <a:pPr marL="1905" indent="0" fontAlgn="base">
              <a:lnSpc>
                <a:spcPct val="100000"/>
              </a:lnSpc>
              <a:spcBef>
                <a:spcPts val="0"/>
              </a:spcBef>
              <a:buNone/>
            </a:pPr>
            <a:r>
              <a:rPr lang="en-US" altLang="zh-CN" sz="2000">
                <a:effectLst/>
                <a:latin typeface="Consolas" panose="020B0609020204030204" charset="0"/>
                <a:sym typeface="+mn-ea"/>
              </a:rPr>
              <a:t>&gt;&gt;&gt; [v**2 if v%2 == 0 else v+1 for v in [2, 3, 4, -1] if v&gt;0]</a:t>
            </a:r>
            <a:endParaRPr lang="en-US" altLang="zh-CN" sz="2000" strike="noStrike" noProof="1">
              <a:effectLst/>
              <a:latin typeface="Consolas" panose="020B0609020204030204" charset="0"/>
            </a:endParaRPr>
          </a:p>
          <a:p>
            <a:pPr marL="1905" indent="0" fontAlgn="base">
              <a:lnSpc>
                <a:spcPct val="100000"/>
              </a:lnSpc>
              <a:spcBef>
                <a:spcPts val="0"/>
              </a:spcBef>
              <a:buNone/>
            </a:pPr>
            <a:r>
              <a:rPr lang="en-US" altLang="zh-CN" sz="2000">
                <a:solidFill>
                  <a:srgbClr val="00B0F0"/>
                </a:solidFill>
                <a:effectLst/>
                <a:latin typeface="Consolas" panose="020B0609020204030204" charset="0"/>
                <a:sym typeface="+mn-ea"/>
              </a:rPr>
              <a:t>[4, 4, 16]</a:t>
            </a:r>
            <a:endParaRPr lang="en-US" altLang="zh-CN" sz="2000" strike="noStrike" noProof="1">
              <a:solidFill>
                <a:srgbClr val="00B0F0"/>
              </a:solidFill>
              <a:effectLst/>
              <a:latin typeface="Consolas" panose="020B0609020204030204" charset="0"/>
            </a:endParaRPr>
          </a:p>
          <a:p>
            <a:pPr marL="1905" indent="0" fontAlgn="base">
              <a:lnSpc>
                <a:spcPct val="100000"/>
              </a:lnSpc>
              <a:spcBef>
                <a:spcPts val="0"/>
              </a:spcBef>
              <a:buNone/>
            </a:pPr>
            <a:endParaRPr lang="zh-CN" altLang="en-US" sz="20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3.1.7  </a:t>
            </a:r>
            <a:r>
              <a:rPr lang="zh-CN" altLang="en-US"/>
              <a:t>切片操作的强大功能</a:t>
            </a:r>
            <a:endParaRPr lang="zh-CN" altLang="en-US"/>
          </a:p>
        </p:txBody>
      </p:sp>
      <p:sp>
        <p:nvSpPr>
          <p:cNvPr id="3" name="内容占位符 2"/>
          <p:cNvSpPr>
            <a:spLocks noGrp="1"/>
          </p:cNvSpPr>
          <p:nvPr>
            <p:ph idx="1"/>
          </p:nvPr>
        </p:nvSpPr>
        <p:spPr/>
        <p:txBody>
          <a:bodyPr>
            <a:normAutofit lnSpcReduction="10000"/>
          </a:bodyPr>
          <a:p>
            <a:pPr>
              <a:lnSpc>
                <a:spcPct val="140000"/>
              </a:lnSpc>
            </a:pPr>
            <a:r>
              <a:rPr lang="zh-CN" altLang="en-US" sz="2400"/>
              <a:t>切片用来访问有序序列中的部分</a:t>
            </a:r>
            <a:r>
              <a:rPr lang="zh-CN" altLang="en-US" sz="2400"/>
              <a:t>元素。在形式上，切片使用2个冒号分隔的3个数字来完成。</a:t>
            </a:r>
            <a:endParaRPr lang="zh-CN" altLang="en-US" sz="2400"/>
          </a:p>
          <a:p>
            <a:pPr marL="0" indent="0">
              <a:buNone/>
            </a:pPr>
            <a:r>
              <a:rPr lang="zh-CN" altLang="en-US" sz="2000">
                <a:latin typeface="Consolas" panose="020B0609020204030204" charset="0"/>
              </a:rPr>
              <a:t>[start:end:step]</a:t>
            </a:r>
            <a:endParaRPr lang="zh-CN" altLang="en-US" sz="2000">
              <a:latin typeface="Consolas" panose="020B0609020204030204" charset="0"/>
            </a:endParaRPr>
          </a:p>
          <a:p>
            <a:pPr>
              <a:lnSpc>
                <a:spcPct val="90000"/>
              </a:lnSpc>
              <a:buFont typeface="Wingdings" panose="05000000000000000000" charset="0"/>
              <a:buChar char=""/>
            </a:pPr>
            <a:r>
              <a:rPr lang="zh-CN" altLang="en-US" sz="2000"/>
              <a:t>第一个数字</a:t>
            </a:r>
            <a:r>
              <a:rPr lang="zh-CN" altLang="en-US" sz="2000">
                <a:solidFill>
                  <a:srgbClr val="FF0000"/>
                </a:solidFill>
              </a:rPr>
              <a:t>start</a:t>
            </a:r>
            <a:r>
              <a:rPr lang="zh-CN" altLang="en-US" sz="2000"/>
              <a:t>表示切片开始位置，默认为0；</a:t>
            </a:r>
            <a:endParaRPr lang="zh-CN" altLang="en-US" sz="2000"/>
          </a:p>
          <a:p>
            <a:pPr>
              <a:lnSpc>
                <a:spcPct val="90000"/>
              </a:lnSpc>
              <a:buFont typeface="Wingdings" panose="05000000000000000000" charset="0"/>
              <a:buChar char=""/>
            </a:pPr>
            <a:r>
              <a:rPr lang="zh-CN" altLang="en-US" sz="2000"/>
              <a:t>第二个数字</a:t>
            </a:r>
            <a:r>
              <a:rPr lang="zh-CN" altLang="en-US" sz="2000">
                <a:solidFill>
                  <a:srgbClr val="FF0000"/>
                </a:solidFill>
              </a:rPr>
              <a:t>end</a:t>
            </a:r>
            <a:r>
              <a:rPr lang="zh-CN" altLang="en-US" sz="2000"/>
              <a:t>表示切片截止（但不包含）位置（默认为列表长度）；</a:t>
            </a:r>
            <a:endParaRPr lang="zh-CN" altLang="en-US" sz="2000"/>
          </a:p>
          <a:p>
            <a:pPr>
              <a:lnSpc>
                <a:spcPct val="90000"/>
              </a:lnSpc>
              <a:buFont typeface="Wingdings" panose="05000000000000000000" charset="0"/>
              <a:buChar char=""/>
            </a:pPr>
            <a:r>
              <a:rPr lang="zh-CN" altLang="en-US" sz="2000"/>
              <a:t>第三个数字</a:t>
            </a:r>
            <a:r>
              <a:rPr lang="zh-CN" altLang="en-US" sz="2000">
                <a:solidFill>
                  <a:srgbClr val="FF0000"/>
                </a:solidFill>
              </a:rPr>
              <a:t>step</a:t>
            </a:r>
            <a:r>
              <a:rPr lang="zh-CN" altLang="en-US" sz="2000"/>
              <a:t>表示切片的步长（默认为1）。</a:t>
            </a:r>
            <a:endParaRPr lang="zh-CN" altLang="en-US" sz="2000"/>
          </a:p>
          <a:p>
            <a:pPr>
              <a:lnSpc>
                <a:spcPct val="90000"/>
              </a:lnSpc>
              <a:buFont typeface="Wingdings" panose="05000000000000000000" charset="0"/>
              <a:buChar char=""/>
            </a:pPr>
            <a:r>
              <a:rPr lang="zh-CN" altLang="en-US" sz="2000"/>
              <a:t>当start为0时可以省略，当step为1时可以省略，省略步长时还可以同时省略最后一个冒号；</a:t>
            </a:r>
            <a:r>
              <a:rPr lang="en-US" altLang="zh-CN" sz="2000"/>
              <a:t>step</a:t>
            </a:r>
            <a:r>
              <a:rPr lang="zh-CN" altLang="en-US" sz="2000"/>
              <a:t>为正整数时省略</a:t>
            </a:r>
            <a:r>
              <a:rPr lang="en-US" altLang="zh-CN" sz="2000"/>
              <a:t>end</a:t>
            </a:r>
            <a:r>
              <a:rPr lang="zh-CN" altLang="en-US" sz="2000"/>
              <a:t>表示一直切到最后一个元素，</a:t>
            </a:r>
            <a:r>
              <a:rPr lang="en-US" altLang="zh-CN" sz="2000"/>
              <a:t>step</a:t>
            </a:r>
            <a:r>
              <a:rPr lang="zh-CN" altLang="en-US" sz="2000"/>
              <a:t>为负整数时省略</a:t>
            </a:r>
            <a:r>
              <a:rPr lang="en-US" altLang="zh-CN" sz="2000"/>
              <a:t>end</a:t>
            </a:r>
            <a:r>
              <a:rPr lang="zh-CN" altLang="en-US" sz="2000"/>
              <a:t>表示一直切到第一个</a:t>
            </a:r>
            <a:r>
              <a:rPr lang="zh-CN" altLang="en-US" sz="2000"/>
              <a:t>元素。</a:t>
            </a:r>
            <a:endParaRPr lang="zh-CN" altLang="en-US" sz="2000"/>
          </a:p>
          <a:p>
            <a:pPr>
              <a:lnSpc>
                <a:spcPct val="90000"/>
              </a:lnSpc>
              <a:buFont typeface="Wingdings" panose="05000000000000000000" charset="0"/>
              <a:buChar char=""/>
            </a:pPr>
            <a:r>
              <a:rPr lang="zh-CN" altLang="en-US" sz="2000"/>
              <a:t>step为负整数时表示反向切片，这时start应该在end的右侧才行，否则返回结果为</a:t>
            </a:r>
            <a:r>
              <a:rPr lang="zh-CN" altLang="en-US" sz="2000"/>
              <a:t>空。</a:t>
            </a:r>
            <a:endParaRPr lang="zh-CN" altLang="en-US" sz="20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3.1.7  </a:t>
            </a:r>
            <a:r>
              <a:rPr lang="zh-CN" altLang="en-US">
                <a:sym typeface="+mn-ea"/>
              </a:rPr>
              <a:t>切片操作的强大功能</a:t>
            </a:r>
            <a:endParaRPr lang="zh-CN" altLang="en-US"/>
          </a:p>
        </p:txBody>
      </p:sp>
      <p:sp>
        <p:nvSpPr>
          <p:cNvPr id="3" name="内容占位符 2"/>
          <p:cNvSpPr>
            <a:spLocks noGrp="1"/>
          </p:cNvSpPr>
          <p:nvPr>
            <p:ph idx="1"/>
          </p:nvPr>
        </p:nvSpPr>
        <p:spPr/>
        <p:txBody>
          <a:bodyPr/>
          <a:p>
            <a:pPr marL="0" indent="0" fontAlgn="auto">
              <a:lnSpc>
                <a:spcPct val="150000"/>
              </a:lnSpc>
              <a:spcBef>
                <a:spcPts val="400"/>
              </a:spcBef>
              <a:buNone/>
            </a:pPr>
            <a:r>
              <a:rPr lang="zh-CN" altLang="en-US" sz="2400"/>
              <a:t>（1）使用切片获取列表部分元素</a:t>
            </a:r>
            <a:endParaRPr lang="zh-CN" altLang="en-US" sz="2400"/>
          </a:p>
          <a:p>
            <a:pPr marL="0" indent="0" fontAlgn="auto">
              <a:lnSpc>
                <a:spcPct val="150000"/>
              </a:lnSpc>
              <a:spcBef>
                <a:spcPts val="400"/>
              </a:spcBef>
              <a:buNone/>
            </a:pPr>
            <a:r>
              <a:rPr lang="zh-CN" altLang="en-US" sz="2400"/>
              <a:t>使用切片可以返回列表中部分元素组成的</a:t>
            </a:r>
            <a:r>
              <a:rPr lang="zh-CN" altLang="en-US" sz="2400">
                <a:solidFill>
                  <a:srgbClr val="FF0000"/>
                </a:solidFill>
              </a:rPr>
              <a:t>新列表，其中包含原列表中</a:t>
            </a:r>
            <a:r>
              <a:rPr lang="zh-CN" altLang="en-US" sz="2400">
                <a:solidFill>
                  <a:srgbClr val="FF0000"/>
                </a:solidFill>
              </a:rPr>
              <a:t>部分元素的引用</a:t>
            </a:r>
            <a:r>
              <a:rPr lang="zh-CN" altLang="en-US" sz="2400"/>
              <a:t>。与使用索引作为下标访问列表元素的方法不同，切片操作不会因为下标越界而抛出异常，而是简单地截断或者返回一个空列表，</a:t>
            </a:r>
            <a:r>
              <a:rPr lang="zh-CN" altLang="en-US" sz="2400">
                <a:solidFill>
                  <a:srgbClr val="FF0000"/>
                </a:solidFill>
              </a:rPr>
              <a:t>代码具有更强的健壮性</a:t>
            </a:r>
            <a:r>
              <a:rPr lang="zh-CN" altLang="en-US" sz="2400"/>
              <a:t>。</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3.1.7  </a:t>
            </a:r>
            <a:r>
              <a:rPr lang="zh-CN" altLang="en-US">
                <a:sym typeface="+mn-ea"/>
              </a:rPr>
              <a:t>切片操作的强大功能</a:t>
            </a:r>
            <a:endParaRPr lang="zh-CN" altLang="en-US"/>
          </a:p>
        </p:txBody>
      </p:sp>
      <p:sp>
        <p:nvSpPr>
          <p:cNvPr id="3" name="内容占位符 2"/>
          <p:cNvSpPr>
            <a:spLocks noGrp="1"/>
          </p:cNvSpPr>
          <p:nvPr>
            <p:ph idx="1"/>
          </p:nvPr>
        </p:nvSpPr>
        <p:spPr>
          <a:xfrm>
            <a:off x="838200" y="1321435"/>
            <a:ext cx="10661650" cy="4639945"/>
          </a:xfrm>
        </p:spPr>
        <p:txBody>
          <a:bodyPr>
            <a:normAutofit lnSpcReduction="10000"/>
          </a:bodyPr>
          <a:p>
            <a:pPr marL="0" indent="0">
              <a:buNone/>
            </a:pPr>
            <a:r>
              <a:rPr lang="zh-CN" altLang="en-US" sz="2000">
                <a:latin typeface="Consolas" panose="020B0609020204030204" charset="0"/>
              </a:rPr>
              <a:t>&gt;&gt;&gt; aList = [3, 4, 5, 6, 7, 9, 11, 13, 15, 17]</a:t>
            </a:r>
            <a:endParaRPr lang="zh-CN" altLang="en-US" sz="2000">
              <a:latin typeface="Consolas" panose="020B0609020204030204" charset="0"/>
            </a:endParaRPr>
          </a:p>
          <a:p>
            <a:pPr marL="0" indent="0">
              <a:buNone/>
            </a:pPr>
            <a:r>
              <a:rPr lang="zh-CN" altLang="en-US" sz="2000">
                <a:latin typeface="Consolas" panose="020B0609020204030204" charset="0"/>
              </a:rPr>
              <a:t>&gt;&gt;&gt; aList[::]              # 返回包含原列表中所有元素的新列表</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[3, 4, 5, 6, 7, 9, 11, 13, 15, 17]</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aList[::-1]            # 返回包含原列表中所有元素的逆序列表</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[17, 15, 13, 11, 9, 7, 6, 5, 4, 3]</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aList[::2]             # 从下标</a:t>
            </a:r>
            <a:r>
              <a:rPr lang="en-US" altLang="zh-CN" sz="2000">
                <a:latin typeface="Consolas" panose="020B0609020204030204" charset="0"/>
              </a:rPr>
              <a:t>0</a:t>
            </a:r>
            <a:r>
              <a:rPr lang="zh-CN" altLang="en-US" sz="2000">
                <a:latin typeface="Consolas" panose="020B0609020204030204" charset="0"/>
              </a:rPr>
              <a:t>开始，隔一个取一个，获取偶数位置的元素</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[3, 5, 7, 11, 15]</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aList[1::2]            # 从下标</a:t>
            </a:r>
            <a:r>
              <a:rPr lang="en-US" altLang="zh-CN" sz="2000">
                <a:latin typeface="Consolas" panose="020B0609020204030204" charset="0"/>
              </a:rPr>
              <a:t>1</a:t>
            </a:r>
            <a:r>
              <a:rPr lang="zh-CN" altLang="en-US" sz="2000">
                <a:latin typeface="Consolas" panose="020B0609020204030204" charset="0"/>
              </a:rPr>
              <a:t>开始，隔一个取一个，获取奇数位置的元素</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[4, 6, 9, 13, 17]</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aList[3:6]             # 返回下标</a:t>
            </a:r>
            <a:r>
              <a:rPr lang="en-US" altLang="zh-CN" sz="2000">
                <a:latin typeface="Consolas" panose="020B0609020204030204" charset="0"/>
              </a:rPr>
              <a:t>[3,6)</a:t>
            </a:r>
            <a:r>
              <a:rPr lang="zh-CN" altLang="en-US" sz="2000">
                <a:latin typeface="Consolas" panose="020B0609020204030204" charset="0"/>
              </a:rPr>
              <a:t>之间的</a:t>
            </a:r>
            <a:r>
              <a:rPr lang="zh-CN" altLang="en-US" sz="2000">
                <a:latin typeface="Consolas" panose="020B0609020204030204" charset="0"/>
              </a:rPr>
              <a:t>元素</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[6, 7, 9]</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3.1.7  </a:t>
            </a:r>
            <a:r>
              <a:rPr lang="zh-CN" altLang="en-US">
                <a:sym typeface="+mn-ea"/>
              </a:rPr>
              <a:t>切片操作的强大功能</a:t>
            </a:r>
            <a:endParaRPr lang="zh-CN" altLang="en-US"/>
          </a:p>
        </p:txBody>
      </p:sp>
      <p:sp>
        <p:nvSpPr>
          <p:cNvPr id="3" name="内容占位符 2"/>
          <p:cNvSpPr>
            <a:spLocks noGrp="1"/>
          </p:cNvSpPr>
          <p:nvPr>
            <p:ph idx="1"/>
          </p:nvPr>
        </p:nvSpPr>
        <p:spPr/>
        <p:txBody>
          <a:bodyPr>
            <a:normAutofit fontScale="70000"/>
          </a:bodyPr>
          <a:p>
            <a:pPr marL="0" indent="0" fontAlgn="auto">
              <a:lnSpc>
                <a:spcPct val="100000"/>
              </a:lnSpc>
              <a:spcBef>
                <a:spcPts val="0"/>
              </a:spcBef>
              <a:buNone/>
            </a:pPr>
            <a:r>
              <a:rPr lang="zh-CN" altLang="en-US">
                <a:latin typeface="Consolas" panose="020B0609020204030204" charset="0"/>
              </a:rPr>
              <a:t>&gt;&gt;&gt; aList[0:100]             # 切片结束位置大于列表长度时，从列表尾部截断</a:t>
            </a:r>
            <a:endParaRPr lang="zh-CN" altLang="en-US">
              <a:latin typeface="Consolas" panose="020B0609020204030204" charset="0"/>
            </a:endParaRPr>
          </a:p>
          <a:p>
            <a:pPr marL="0" indent="0" fontAlgn="auto">
              <a:lnSpc>
                <a:spcPct val="100000"/>
              </a:lnSpc>
              <a:spcBef>
                <a:spcPts val="0"/>
              </a:spcBef>
              <a:buNone/>
            </a:pPr>
            <a:r>
              <a:rPr lang="zh-CN" altLang="en-US">
                <a:solidFill>
                  <a:srgbClr val="00B0F0"/>
                </a:solidFill>
                <a:latin typeface="Consolas" panose="020B0609020204030204" charset="0"/>
              </a:rPr>
              <a:t>[3, 4, 5, 6, 7, 9, 11, 13, 15, 17]</a:t>
            </a:r>
            <a:endParaRPr lang="zh-CN" altLang="en-US">
              <a:solidFill>
                <a:srgbClr val="00B0F0"/>
              </a:solidFill>
              <a:latin typeface="Consolas" panose="020B0609020204030204" charset="0"/>
            </a:endParaRPr>
          </a:p>
          <a:p>
            <a:pPr marL="0" indent="0" fontAlgn="auto">
              <a:lnSpc>
                <a:spcPct val="100000"/>
              </a:lnSpc>
              <a:spcBef>
                <a:spcPts val="0"/>
              </a:spcBef>
              <a:buNone/>
            </a:pPr>
            <a:r>
              <a:rPr lang="zh-CN" altLang="en-US">
                <a:latin typeface="Consolas" panose="020B0609020204030204" charset="0"/>
              </a:rPr>
              <a:t>&gt;&gt;&gt; aList[100]               # 抛出异常，不允许越界访问</a:t>
            </a:r>
            <a:endParaRPr lang="zh-CN" altLang="en-US">
              <a:latin typeface="Consolas" panose="020B0609020204030204" charset="0"/>
            </a:endParaRPr>
          </a:p>
          <a:p>
            <a:pPr marL="0" indent="0" fontAlgn="auto">
              <a:lnSpc>
                <a:spcPct val="100000"/>
              </a:lnSpc>
              <a:spcBef>
                <a:spcPts val="0"/>
              </a:spcBef>
              <a:buNone/>
            </a:pPr>
            <a:r>
              <a:rPr lang="zh-CN" altLang="en-US">
                <a:solidFill>
                  <a:srgbClr val="FF0000"/>
                </a:solidFill>
                <a:latin typeface="Consolas" panose="020B0609020204030204" charset="0"/>
              </a:rPr>
              <a:t>IndexError: list index out of range</a:t>
            </a:r>
            <a:endParaRPr lang="zh-CN" altLang="en-US">
              <a:solidFill>
                <a:srgbClr val="FF0000"/>
              </a:solidFill>
              <a:latin typeface="Consolas" panose="020B0609020204030204" charset="0"/>
            </a:endParaRPr>
          </a:p>
          <a:p>
            <a:pPr marL="0" indent="0" fontAlgn="auto">
              <a:lnSpc>
                <a:spcPct val="100000"/>
              </a:lnSpc>
              <a:spcBef>
                <a:spcPts val="0"/>
              </a:spcBef>
              <a:buNone/>
            </a:pPr>
            <a:r>
              <a:rPr lang="zh-CN" altLang="en-US">
                <a:latin typeface="Consolas" panose="020B0609020204030204" charset="0"/>
              </a:rPr>
              <a:t>&gt;&gt;&gt; aList[100:]              # 切片开始位置大于列表长度时，返回空列表</a:t>
            </a:r>
            <a:endParaRPr lang="zh-CN" altLang="en-US">
              <a:latin typeface="Consolas" panose="020B0609020204030204" charset="0"/>
            </a:endParaRPr>
          </a:p>
          <a:p>
            <a:pPr marL="0" indent="0" fontAlgn="auto">
              <a:lnSpc>
                <a:spcPct val="100000"/>
              </a:lnSpc>
              <a:spcBef>
                <a:spcPts val="0"/>
              </a:spcBef>
              <a:buNone/>
            </a:pPr>
            <a:r>
              <a:rPr lang="zh-CN" altLang="en-US">
                <a:solidFill>
                  <a:srgbClr val="00B0F0"/>
                </a:solidFill>
                <a:latin typeface="Consolas" panose="020B0609020204030204" charset="0"/>
              </a:rPr>
              <a:t>[]</a:t>
            </a:r>
            <a:endParaRPr lang="zh-CN" altLang="en-US">
              <a:solidFill>
                <a:srgbClr val="00B0F0"/>
              </a:solidFill>
              <a:latin typeface="Consolas" panose="020B0609020204030204" charset="0"/>
            </a:endParaRPr>
          </a:p>
          <a:p>
            <a:pPr marL="0" indent="0" fontAlgn="auto">
              <a:lnSpc>
                <a:spcPct val="100000"/>
              </a:lnSpc>
              <a:spcBef>
                <a:spcPts val="0"/>
              </a:spcBef>
              <a:buNone/>
            </a:pPr>
            <a:r>
              <a:rPr lang="zh-CN" altLang="en-US">
                <a:latin typeface="Consolas" panose="020B0609020204030204" charset="0"/>
              </a:rPr>
              <a:t>&gt;&gt;&gt; aList[-15:3]             # 起始位置小于左边界，在开始处</a:t>
            </a:r>
            <a:r>
              <a:rPr lang="zh-CN" altLang="en-US">
                <a:latin typeface="Consolas" panose="020B0609020204030204" charset="0"/>
              </a:rPr>
              <a:t>截断</a:t>
            </a:r>
            <a:endParaRPr lang="zh-CN" altLang="en-US">
              <a:latin typeface="Consolas" panose="020B0609020204030204" charset="0"/>
            </a:endParaRPr>
          </a:p>
          <a:p>
            <a:pPr marL="0" indent="0" fontAlgn="auto">
              <a:lnSpc>
                <a:spcPct val="100000"/>
              </a:lnSpc>
              <a:spcBef>
                <a:spcPts val="0"/>
              </a:spcBef>
              <a:buNone/>
            </a:pPr>
            <a:r>
              <a:rPr lang="zh-CN" altLang="en-US">
                <a:solidFill>
                  <a:srgbClr val="00B0F0"/>
                </a:solidFill>
                <a:latin typeface="Consolas" panose="020B0609020204030204" charset="0"/>
              </a:rPr>
              <a:t>[3, 4, 5]</a:t>
            </a:r>
            <a:endParaRPr lang="zh-CN" altLang="en-US">
              <a:solidFill>
                <a:srgbClr val="00B0F0"/>
              </a:solidFill>
              <a:latin typeface="Consolas" panose="020B0609020204030204" charset="0"/>
            </a:endParaRPr>
          </a:p>
          <a:p>
            <a:pPr marL="0" indent="0" fontAlgn="auto">
              <a:lnSpc>
                <a:spcPct val="100000"/>
              </a:lnSpc>
              <a:spcBef>
                <a:spcPts val="0"/>
              </a:spcBef>
              <a:buNone/>
            </a:pPr>
            <a:r>
              <a:rPr lang="zh-CN" altLang="en-US">
                <a:latin typeface="Consolas" panose="020B0609020204030204" charset="0"/>
              </a:rPr>
              <a:t>&gt;&gt;&gt; len(aList)</a:t>
            </a:r>
            <a:endParaRPr lang="zh-CN" altLang="en-US">
              <a:latin typeface="Consolas" panose="020B0609020204030204" charset="0"/>
            </a:endParaRPr>
          </a:p>
          <a:p>
            <a:pPr marL="0" indent="0" fontAlgn="auto">
              <a:lnSpc>
                <a:spcPct val="100000"/>
              </a:lnSpc>
              <a:spcBef>
                <a:spcPts val="0"/>
              </a:spcBef>
              <a:buNone/>
            </a:pPr>
            <a:r>
              <a:rPr lang="zh-CN" altLang="en-US">
                <a:solidFill>
                  <a:srgbClr val="00B0F0"/>
                </a:solidFill>
                <a:latin typeface="Consolas" panose="020B0609020204030204" charset="0"/>
              </a:rPr>
              <a:t>10</a:t>
            </a:r>
            <a:endParaRPr lang="zh-CN" altLang="en-US">
              <a:solidFill>
                <a:srgbClr val="00B0F0"/>
              </a:solidFill>
              <a:latin typeface="Consolas" panose="020B0609020204030204" charset="0"/>
            </a:endParaRPr>
          </a:p>
          <a:p>
            <a:pPr marL="0" indent="0" fontAlgn="auto">
              <a:lnSpc>
                <a:spcPct val="100000"/>
              </a:lnSpc>
              <a:spcBef>
                <a:spcPts val="0"/>
              </a:spcBef>
              <a:buNone/>
            </a:pPr>
            <a:r>
              <a:rPr lang="zh-CN" altLang="en-US">
                <a:latin typeface="Consolas" panose="020B0609020204030204" charset="0"/>
              </a:rPr>
              <a:t>&gt;&gt;&gt; aList[3:-10:-1]          # 位置3在位置-10的右侧，-1表示反向切片</a:t>
            </a:r>
            <a:endParaRPr lang="zh-CN" altLang="en-US">
              <a:latin typeface="Consolas" panose="020B0609020204030204" charset="0"/>
            </a:endParaRPr>
          </a:p>
          <a:p>
            <a:pPr marL="0" indent="0" fontAlgn="auto">
              <a:lnSpc>
                <a:spcPct val="100000"/>
              </a:lnSpc>
              <a:spcBef>
                <a:spcPts val="0"/>
              </a:spcBef>
              <a:buNone/>
            </a:pPr>
            <a:r>
              <a:rPr lang="zh-CN" altLang="en-US">
                <a:solidFill>
                  <a:srgbClr val="00B0F0"/>
                </a:solidFill>
                <a:latin typeface="Consolas" panose="020B0609020204030204" charset="0"/>
              </a:rPr>
              <a:t>[6, 5, 4]</a:t>
            </a:r>
            <a:endParaRPr lang="zh-CN" altLang="en-US">
              <a:solidFill>
                <a:srgbClr val="00B0F0"/>
              </a:solidFill>
              <a:latin typeface="Consolas" panose="020B0609020204030204" charset="0"/>
            </a:endParaRPr>
          </a:p>
          <a:p>
            <a:pPr marL="0" indent="0" fontAlgn="auto">
              <a:lnSpc>
                <a:spcPct val="100000"/>
              </a:lnSpc>
              <a:spcBef>
                <a:spcPts val="0"/>
              </a:spcBef>
              <a:buNone/>
            </a:pPr>
            <a:r>
              <a:rPr lang="zh-CN" altLang="en-US">
                <a:latin typeface="Consolas" panose="020B0609020204030204" charset="0"/>
              </a:rPr>
              <a:t>&gt;&gt;&gt; aList[3:-5]              # 位置3在位置-5的左侧，正向切片</a:t>
            </a:r>
            <a:endParaRPr lang="zh-CN" altLang="en-US">
              <a:latin typeface="Consolas" panose="020B0609020204030204" charset="0"/>
            </a:endParaRPr>
          </a:p>
          <a:p>
            <a:pPr marL="0" indent="0" fontAlgn="auto">
              <a:lnSpc>
                <a:spcPct val="100000"/>
              </a:lnSpc>
              <a:spcBef>
                <a:spcPts val="0"/>
              </a:spcBef>
              <a:buNone/>
            </a:pPr>
            <a:r>
              <a:rPr lang="zh-CN" altLang="en-US">
                <a:solidFill>
                  <a:srgbClr val="00B0F0"/>
                </a:solidFill>
                <a:latin typeface="Consolas" panose="020B0609020204030204" charset="0"/>
              </a:rPr>
              <a:t>[6, 7]</a:t>
            </a:r>
            <a:endParaRPr lang="zh-CN" altLang="en-US">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3.1.7  </a:t>
            </a:r>
            <a:r>
              <a:rPr lang="zh-CN" altLang="en-US">
                <a:sym typeface="+mn-ea"/>
              </a:rPr>
              <a:t>切片操作的强大功能</a:t>
            </a:r>
            <a:endParaRPr lang="zh-CN" altLang="en-US"/>
          </a:p>
        </p:txBody>
      </p:sp>
      <p:sp>
        <p:nvSpPr>
          <p:cNvPr id="3" name="内容占位符 2"/>
          <p:cNvSpPr>
            <a:spLocks noGrp="1"/>
          </p:cNvSpPr>
          <p:nvPr>
            <p:ph idx="1"/>
          </p:nvPr>
        </p:nvSpPr>
        <p:spPr>
          <a:xfrm>
            <a:off x="838200" y="1321435"/>
            <a:ext cx="10515600" cy="4815840"/>
          </a:xfrm>
        </p:spPr>
        <p:txBody>
          <a:bodyPr>
            <a:normAutofit/>
          </a:bodyPr>
          <a:p>
            <a:pPr marL="0" indent="0">
              <a:buNone/>
            </a:pPr>
            <a:r>
              <a:rPr lang="zh-CN" altLang="en-US" sz="2400"/>
              <a:t>（2）使用切片为列表增加元素</a:t>
            </a:r>
            <a:endParaRPr lang="zh-CN" altLang="en-US" sz="2400"/>
          </a:p>
          <a:p>
            <a:pPr marL="0" indent="0">
              <a:lnSpc>
                <a:spcPct val="120000"/>
              </a:lnSpc>
              <a:buNone/>
            </a:pPr>
            <a:r>
              <a:rPr lang="zh-CN" altLang="en-US" sz="2400"/>
              <a:t>可以使用切片操作在列表任意位置插入新元素，不影响列表对象的内存地址，属于原地操作。</a:t>
            </a:r>
            <a:r>
              <a:rPr lang="zh-CN" altLang="en-US" sz="2400">
                <a:solidFill>
                  <a:srgbClr val="FF0000"/>
                </a:solidFill>
              </a:rPr>
              <a:t>切片在等号左侧时用来标记位置</a:t>
            </a:r>
            <a:r>
              <a:rPr lang="zh-CN" altLang="en-US" sz="2400"/>
              <a:t>，并没有真的</a:t>
            </a:r>
            <a:r>
              <a:rPr lang="zh-CN" altLang="en-US" sz="2400"/>
              <a:t>切出来。</a:t>
            </a:r>
            <a:endParaRPr lang="zh-CN" altLang="en-US" sz="2400"/>
          </a:p>
          <a:p>
            <a:pPr marL="0" indent="0" fontAlgn="auto">
              <a:lnSpc>
                <a:spcPct val="100000"/>
              </a:lnSpc>
              <a:spcBef>
                <a:spcPts val="0"/>
              </a:spcBef>
              <a:buNone/>
            </a:pPr>
            <a:r>
              <a:rPr lang="zh-CN" altLang="en-US" sz="2000">
                <a:latin typeface="Consolas" panose="020B0609020204030204" charset="0"/>
              </a:rPr>
              <a:t>&gt;&gt;&gt; aList = [3, 5, 7]</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aList[len(aList):]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aList[len(aList):] = [9]       # 在列表尾部增加元素</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aList[:0] = [1, 2]             # 在列表头部插入多个元素</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aList[3:3] = [4]               # 在列表中间位置插入元素</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 2, 3, 4, 5, 7, 9]</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3.1.7  </a:t>
            </a:r>
            <a:r>
              <a:rPr lang="zh-CN" altLang="en-US">
                <a:sym typeface="+mn-ea"/>
              </a:rPr>
              <a:t>切片操作的强大功能</a:t>
            </a:r>
            <a:endParaRPr lang="zh-CN" altLang="en-US"/>
          </a:p>
        </p:txBody>
      </p:sp>
      <p:sp>
        <p:nvSpPr>
          <p:cNvPr id="3" name="内容占位符 2"/>
          <p:cNvSpPr>
            <a:spLocks noGrp="1"/>
          </p:cNvSpPr>
          <p:nvPr>
            <p:ph idx="1"/>
          </p:nvPr>
        </p:nvSpPr>
        <p:spPr>
          <a:xfrm>
            <a:off x="838200" y="1321435"/>
            <a:ext cx="10515600" cy="5034280"/>
          </a:xfrm>
        </p:spPr>
        <p:txBody>
          <a:bodyPr>
            <a:normAutofit/>
          </a:bodyPr>
          <a:p>
            <a:pPr marL="0" indent="0" fontAlgn="auto">
              <a:lnSpc>
                <a:spcPct val="100000"/>
              </a:lnSpc>
              <a:spcBef>
                <a:spcPts val="0"/>
              </a:spcBef>
              <a:buNone/>
            </a:pPr>
            <a:r>
              <a:rPr lang="zh-CN" altLang="en-US" sz="2400"/>
              <a:t>（3）使用切片替换和修改列表中的元素</a:t>
            </a:r>
            <a:endParaRPr lang="zh-CN" altLang="en-US" sz="2400"/>
          </a:p>
          <a:p>
            <a:pPr marL="0" indent="0" fontAlgn="auto">
              <a:lnSpc>
                <a:spcPct val="100000"/>
              </a:lnSpc>
              <a:spcBef>
                <a:spcPts val="0"/>
              </a:spcBef>
              <a:buNone/>
            </a:pPr>
            <a:r>
              <a:rPr lang="zh-CN" altLang="en-US" sz="2000">
                <a:latin typeface="Consolas" panose="020B0609020204030204" charset="0"/>
              </a:rPr>
              <a:t>&gt;&gt;&gt; aList = [3, 5, 7, 9]</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aList[:3] = [1, 2, 3]           # 替换列表元素，等号两边的列表长度相等</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 2, 3, 9]</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aList[3:] = [4, 5, 6]           # </a:t>
            </a:r>
            <a:r>
              <a:rPr lang="en-US" altLang="zh-CN" sz="2000">
                <a:latin typeface="Consolas" panose="020B0609020204030204" charset="0"/>
              </a:rPr>
              <a:t>step=1</a:t>
            </a:r>
            <a:r>
              <a:rPr lang="zh-CN" altLang="en-US" sz="2000">
                <a:latin typeface="Consolas" panose="020B0609020204030204" charset="0"/>
              </a:rPr>
              <a:t>时等号两边的列表长度可以不相等</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 2, 3, 4, 5, 6]</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aList[::2] = [0]</a:t>
            </a:r>
            <a:r>
              <a:rPr lang="en-US" altLang="zh-CN" sz="2000">
                <a:latin typeface="Consolas" panose="020B0609020204030204" charset="0"/>
              </a:rPr>
              <a:t> </a:t>
            </a:r>
            <a:r>
              <a:rPr lang="zh-CN" altLang="en-US" sz="2000">
                <a:latin typeface="Consolas" panose="020B0609020204030204" charset="0"/>
              </a:rPr>
              <a:t>*</a:t>
            </a:r>
            <a:r>
              <a:rPr lang="en-US" altLang="zh-CN" sz="2000">
                <a:latin typeface="Consolas" panose="020B0609020204030204" charset="0"/>
              </a:rPr>
              <a:t> </a:t>
            </a:r>
            <a:r>
              <a:rPr lang="zh-CN" altLang="en-US" sz="2000">
                <a:latin typeface="Consolas" panose="020B0609020204030204" charset="0"/>
              </a:rPr>
              <a:t>3            # 隔一个修改一个，切片步长不为</a:t>
            </a:r>
            <a:r>
              <a:rPr lang="en-US" altLang="zh-CN" sz="2000">
                <a:latin typeface="Consolas" panose="020B0609020204030204" charset="0"/>
              </a:rPr>
              <a:t>1</a:t>
            </a:r>
            <a:endParaRPr lang="en-US" altLang="zh-CN" sz="2000">
              <a:latin typeface="Consolas" panose="020B0609020204030204" charset="0"/>
            </a:endParaRPr>
          </a:p>
          <a:p>
            <a:pPr marL="0" indent="0" fontAlgn="auto">
              <a:lnSpc>
                <a:spcPct val="100000"/>
              </a:lnSpc>
              <a:spcBef>
                <a:spcPts val="0"/>
              </a:spcBef>
              <a:buNone/>
            </a:pPr>
            <a:r>
              <a:rPr lang="en-US" altLang="zh-CN" sz="2000">
                <a:latin typeface="Consolas" panose="020B0609020204030204" charset="0"/>
              </a:rPr>
              <a:t>                                    # </a:t>
            </a:r>
            <a:r>
              <a:rPr lang="zh-CN" altLang="en-US" sz="2000">
                <a:latin typeface="Consolas" panose="020B0609020204030204" charset="0"/>
              </a:rPr>
              <a:t>此时等号两边的元素数量必须</a:t>
            </a:r>
            <a:r>
              <a:rPr lang="zh-CN" altLang="en-US" sz="2000">
                <a:latin typeface="Consolas" panose="020B0609020204030204" charset="0"/>
              </a:rPr>
              <a:t>相等</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[0, 2, 0, 4, 0, 6]</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aList[::2] = ['a', 'b', 'c']    # 隔一个修改一个，等号两侧长度</a:t>
            </a:r>
            <a:r>
              <a:rPr lang="zh-CN" altLang="en-US" sz="2000">
                <a:latin typeface="Consolas" panose="020B0609020204030204" charset="0"/>
              </a:rPr>
              <a:t>相等</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 2, 'b', 4, 'c', 6]</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3.1.7  </a:t>
            </a:r>
            <a:r>
              <a:rPr lang="zh-CN" altLang="en-US">
                <a:sym typeface="+mn-ea"/>
              </a:rPr>
              <a:t>切片操作的强大功能</a:t>
            </a:r>
            <a:endParaRPr lang="zh-CN" altLang="en-US"/>
          </a:p>
        </p:txBody>
      </p:sp>
      <p:sp>
        <p:nvSpPr>
          <p:cNvPr id="3" name="内容占位符 2"/>
          <p:cNvSpPr>
            <a:spLocks noGrp="1"/>
          </p:cNvSpPr>
          <p:nvPr>
            <p:ph idx="1"/>
          </p:nvPr>
        </p:nvSpPr>
        <p:spPr>
          <a:xfrm>
            <a:off x="838200" y="1321435"/>
            <a:ext cx="11052175" cy="4639945"/>
          </a:xfrm>
        </p:spPr>
        <p:txBody>
          <a:bodyPr>
            <a:normAutofit/>
          </a:bodyPr>
          <a:p>
            <a:pPr marL="0" indent="0" fontAlgn="auto">
              <a:lnSpc>
                <a:spcPct val="100000"/>
              </a:lnSpc>
              <a:spcBef>
                <a:spcPts val="0"/>
              </a:spcBef>
              <a:buNone/>
            </a:pPr>
            <a:r>
              <a:rPr lang="zh-CN" altLang="en-US" sz="2000">
                <a:latin typeface="Consolas" panose="020B0609020204030204" charset="0"/>
              </a:rPr>
              <a:t>&gt;&gt;&gt; aList[1::2] = range(3)             # 序列解包的用法，等号右侧可以为可迭代</a:t>
            </a:r>
            <a:r>
              <a:rPr lang="zh-CN" altLang="en-US" sz="2000">
                <a:latin typeface="Consolas" panose="020B0609020204030204" charset="0"/>
              </a:rPr>
              <a:t>对象</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 0, 'b', 1, 'c', 2]</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aList[1::2] = map(lambda x: x!=5, range(3))</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 True, 'b', True, 'c', True]</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aList[1::2] = zip('abc', range(3)) # map、filter、zip对象都支持这样的用法</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 ('a', 0), 'b', ('b', 1), 'c', ('c', 2)]</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aList[::2] = [1]                   # 切片不连续时等号两边列表长度必须相等</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a:t>
            </a:r>
            <a:r>
              <a:rPr lang="en-US" altLang="zh-CN" sz="2000">
                <a:latin typeface="Consolas" panose="020B0609020204030204" charset="0"/>
              </a:rPr>
              <a:t>                                      # </a:t>
            </a:r>
            <a:r>
              <a:rPr lang="zh-CN" altLang="en-US" sz="2000">
                <a:latin typeface="Consolas" panose="020B0609020204030204" charset="0"/>
              </a:rPr>
              <a:t>否则代码会出错抛出</a:t>
            </a:r>
            <a:r>
              <a:rPr lang="zh-CN" altLang="en-US" sz="2000">
                <a:latin typeface="Consolas" panose="020B0609020204030204" charset="0"/>
              </a:rPr>
              <a:t>异常</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FF0000"/>
                </a:solidFill>
                <a:latin typeface="Consolas" panose="020B0609020204030204" charset="0"/>
              </a:rPr>
              <a:t>ValueError: attempt to assign sequence of size 1 to extended slice of size 3</a:t>
            </a:r>
            <a:endParaRPr lang="zh-CN" altLang="en-US" sz="2000">
              <a:solidFill>
                <a:srgbClr val="FF000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3.1.7  </a:t>
            </a:r>
            <a:r>
              <a:rPr lang="zh-CN" altLang="en-US">
                <a:sym typeface="+mn-ea"/>
              </a:rPr>
              <a:t>切片操作的强大功能</a:t>
            </a:r>
            <a:endParaRPr lang="zh-CN" altLang="en-US"/>
          </a:p>
        </p:txBody>
      </p:sp>
      <p:sp>
        <p:nvSpPr>
          <p:cNvPr id="3" name="内容占位符 2"/>
          <p:cNvSpPr>
            <a:spLocks noGrp="1"/>
          </p:cNvSpPr>
          <p:nvPr>
            <p:ph idx="1"/>
          </p:nvPr>
        </p:nvSpPr>
        <p:spPr>
          <a:xfrm>
            <a:off x="838200" y="1321435"/>
            <a:ext cx="10515600" cy="5167630"/>
          </a:xfrm>
        </p:spPr>
        <p:txBody>
          <a:bodyPr>
            <a:normAutofit lnSpcReduction="10000"/>
          </a:bodyPr>
          <a:p>
            <a:pPr marL="0" indent="0" fontAlgn="auto">
              <a:lnSpc>
                <a:spcPct val="100000"/>
              </a:lnSpc>
              <a:spcBef>
                <a:spcPts val="0"/>
              </a:spcBef>
              <a:buNone/>
            </a:pPr>
            <a:r>
              <a:rPr lang="zh-CN" altLang="en-US" sz="2400"/>
              <a:t>（4）使用切片删除列表中的元素</a:t>
            </a:r>
            <a:endParaRPr lang="zh-CN" altLang="en-US" sz="2400"/>
          </a:p>
          <a:p>
            <a:pPr marL="0" indent="0" fontAlgn="auto">
              <a:lnSpc>
                <a:spcPct val="100000"/>
              </a:lnSpc>
              <a:spcBef>
                <a:spcPts val="0"/>
              </a:spcBef>
              <a:buNone/>
            </a:pPr>
            <a:r>
              <a:rPr lang="zh-CN" altLang="en-US" sz="2000">
                <a:latin typeface="Consolas" panose="020B0609020204030204" charset="0"/>
              </a:rPr>
              <a:t>&gt;&gt;&gt; aList = [3, 5, 7, 9]</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aList[:3] = []                  # 删除列表中前3个元素，切片步长必须为</a:t>
            </a:r>
            <a:r>
              <a:rPr lang="en-US" altLang="zh-CN" sz="2000">
                <a:latin typeface="Consolas" panose="020B0609020204030204" charset="0"/>
              </a:rPr>
              <a:t>1</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[9]</a:t>
            </a:r>
            <a:endParaRPr lang="zh-CN" altLang="en-US" sz="2400"/>
          </a:p>
          <a:p>
            <a:pPr marL="0" indent="0" fontAlgn="auto">
              <a:lnSpc>
                <a:spcPct val="120000"/>
              </a:lnSpc>
              <a:spcBef>
                <a:spcPts val="0"/>
              </a:spcBef>
              <a:buNone/>
            </a:pPr>
            <a:r>
              <a:rPr lang="zh-CN" altLang="en-US" sz="2400"/>
              <a:t>也可以结合使用del命令与切片结合来删除列表中的部分元素，此时切片可以不连续，不要求</a:t>
            </a:r>
            <a:r>
              <a:rPr lang="en-US" altLang="zh-CN" sz="2400"/>
              <a:t>step</a:t>
            </a:r>
            <a:r>
              <a:rPr lang="zh-CN" altLang="en-US" sz="2400"/>
              <a:t>必须为</a:t>
            </a:r>
            <a:r>
              <a:rPr lang="en-US" altLang="zh-CN" sz="2400"/>
              <a:t>1</a:t>
            </a:r>
            <a:r>
              <a:rPr lang="zh-CN" altLang="en-US" sz="2400"/>
              <a:t>。</a:t>
            </a:r>
            <a:endParaRPr lang="zh-CN" altLang="en-US" sz="2400"/>
          </a:p>
          <a:p>
            <a:pPr marL="0" indent="0" fontAlgn="auto">
              <a:lnSpc>
                <a:spcPct val="100000"/>
              </a:lnSpc>
              <a:spcBef>
                <a:spcPts val="0"/>
              </a:spcBef>
              <a:buNone/>
            </a:pPr>
            <a:r>
              <a:rPr lang="zh-CN" altLang="en-US" sz="2000">
                <a:latin typeface="Consolas" panose="020B0609020204030204" charset="0"/>
              </a:rPr>
              <a:t>&gt;&gt;&gt; aList = [3, 5, 7, 9, 11]</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del aList[:3]                   # 切片元素连续</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[9, 11]</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 = [3, 5, 7, 9, 11]</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del aList[::2]                  # 切片元素不连续，隔一个删一个</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aList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[5, 9]</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3.2  元组</a:t>
            </a:r>
            <a:endParaRPr lang="zh-CN" altLang="en-US"/>
          </a:p>
        </p:txBody>
      </p:sp>
      <p:sp>
        <p:nvSpPr>
          <p:cNvPr id="3" name="内容占位符 2"/>
          <p:cNvSpPr>
            <a:spLocks noGrp="1"/>
          </p:cNvSpPr>
          <p:nvPr>
            <p:ph idx="1"/>
          </p:nvPr>
        </p:nvSpPr>
        <p:spPr/>
        <p:txBody>
          <a:bodyPr/>
          <a:p>
            <a:pPr fontAlgn="auto">
              <a:lnSpc>
                <a:spcPct val="150000"/>
              </a:lnSpc>
            </a:pPr>
            <a:r>
              <a:rPr lang="zh-CN" altLang="en-US" sz="2400"/>
              <a:t>列表的功能虽然很强大，但负担重、开销大，影响了</a:t>
            </a:r>
            <a:r>
              <a:rPr lang="zh-CN" altLang="en-US" sz="2400"/>
              <a:t>程序运行效率。有时候我们并不需要那么多功能，很希望能有个轻量级的列表，元组（tuple）正是这样一种类型。</a:t>
            </a:r>
            <a:endParaRPr lang="zh-CN" altLang="en-US" sz="2400"/>
          </a:p>
          <a:p>
            <a:pPr fontAlgn="auto">
              <a:lnSpc>
                <a:spcPct val="150000"/>
              </a:lnSpc>
            </a:pPr>
            <a:r>
              <a:rPr lang="zh-CN" altLang="en-US" sz="2400"/>
              <a:t>从形式上，元组的所有元素放在一对</a:t>
            </a:r>
            <a:r>
              <a:rPr lang="zh-CN" altLang="en-US" sz="2400">
                <a:solidFill>
                  <a:srgbClr val="FF0000"/>
                </a:solidFill>
              </a:rPr>
              <a:t>圆括号</a:t>
            </a:r>
            <a:r>
              <a:rPr lang="zh-CN" altLang="en-US" sz="2400"/>
              <a:t>中，元素之间使用</a:t>
            </a:r>
            <a:r>
              <a:rPr lang="zh-CN" altLang="en-US" sz="2400">
                <a:solidFill>
                  <a:srgbClr val="FF0000"/>
                </a:solidFill>
              </a:rPr>
              <a:t>逗号</a:t>
            </a:r>
            <a:r>
              <a:rPr lang="zh-CN" altLang="en-US" sz="2400"/>
              <a:t>分隔，如果</a:t>
            </a:r>
            <a:r>
              <a:rPr lang="zh-CN" altLang="en-US" sz="2400">
                <a:solidFill>
                  <a:srgbClr val="FF0000"/>
                </a:solidFill>
              </a:rPr>
              <a:t>元组中只有一个元素则必须在最后增加一个逗号</a:t>
            </a:r>
            <a:r>
              <a:rPr lang="zh-CN" altLang="en-US" sz="2400"/>
              <a:t>。</a:t>
            </a:r>
            <a:endParaRPr lang="zh-CN" altLang="en-US" sz="2400"/>
          </a:p>
          <a:p>
            <a:pPr fontAlgn="auto">
              <a:lnSpc>
                <a:spcPct val="150000"/>
              </a:lnSpc>
            </a:pPr>
            <a:r>
              <a:rPr lang="zh-CN" altLang="en-US" sz="2400"/>
              <a:t>定义后元组中元素的数量和引用不允许</a:t>
            </a:r>
            <a:r>
              <a:rPr lang="zh-CN" altLang="en-US" sz="2400"/>
              <a:t>改变。</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3.2.1  元组创建与元素访问</a:t>
            </a:r>
            <a:endParaRPr lang="zh-CN" altLang="en-US"/>
          </a:p>
        </p:txBody>
      </p:sp>
      <p:sp>
        <p:nvSpPr>
          <p:cNvPr id="3" name="内容占位符 2"/>
          <p:cNvSpPr>
            <a:spLocks noGrp="1"/>
          </p:cNvSpPr>
          <p:nvPr>
            <p:ph idx="1"/>
          </p:nvPr>
        </p:nvSpPr>
        <p:spPr/>
        <p:txBody>
          <a:bodyPr>
            <a:normAutofit/>
          </a:bodyPr>
          <a:p>
            <a:pPr marL="0" indent="0" fontAlgn="auto">
              <a:lnSpc>
                <a:spcPct val="120000"/>
              </a:lnSpc>
              <a:spcBef>
                <a:spcPts val="0"/>
              </a:spcBef>
              <a:buNone/>
            </a:pPr>
            <a:r>
              <a:rPr lang="zh-CN" altLang="en-US" sz="2000">
                <a:latin typeface="Consolas" panose="020B0609020204030204" charset="0"/>
              </a:rPr>
              <a:t>&gt;&gt;&gt; x = (1, 2, 3)       # 直接把元组</a:t>
            </a:r>
            <a:r>
              <a:rPr lang="zh-CN" altLang="en-US" sz="2000">
                <a:latin typeface="Consolas" panose="020B0609020204030204" charset="0"/>
              </a:rPr>
              <a:t>字面值赋值给一个变量</a:t>
            </a:r>
            <a:endParaRPr lang="zh-CN" altLang="en-US" sz="2000">
              <a:latin typeface="Consolas" panose="020B0609020204030204" charset="0"/>
            </a:endParaRPr>
          </a:p>
          <a:p>
            <a:pPr marL="0" indent="0" fontAlgn="auto">
              <a:lnSpc>
                <a:spcPct val="120000"/>
              </a:lnSpc>
              <a:spcBef>
                <a:spcPts val="0"/>
              </a:spcBef>
              <a:buNone/>
            </a:pPr>
            <a:r>
              <a:rPr lang="zh-CN" altLang="en-US" sz="2000">
                <a:latin typeface="Consolas" panose="020B0609020204030204" charset="0"/>
              </a:rPr>
              <a:t>&gt;&gt;&gt; type(x)             # 使用type()函数查看变量类型</a:t>
            </a:r>
            <a:endParaRPr lang="zh-CN" altLang="en-US" sz="2000">
              <a:latin typeface="Consolas" panose="020B0609020204030204" charset="0"/>
            </a:endParaRPr>
          </a:p>
          <a:p>
            <a:pPr marL="0" indent="0" fontAlgn="auto">
              <a:lnSpc>
                <a:spcPct val="120000"/>
              </a:lnSpc>
              <a:spcBef>
                <a:spcPts val="0"/>
              </a:spcBef>
              <a:buNone/>
            </a:pPr>
            <a:r>
              <a:rPr lang="zh-CN" altLang="en-US" sz="2000">
                <a:solidFill>
                  <a:srgbClr val="00B0F0"/>
                </a:solidFill>
                <a:latin typeface="Consolas" panose="020B0609020204030204" charset="0"/>
              </a:rPr>
              <a:t>&lt;class 'tuple'&gt;</a:t>
            </a:r>
            <a:endParaRPr lang="zh-CN" altLang="en-US" sz="2000">
              <a:solidFill>
                <a:srgbClr val="00B0F0"/>
              </a:solidFill>
              <a:latin typeface="Consolas" panose="020B0609020204030204" charset="0"/>
            </a:endParaRPr>
          </a:p>
          <a:p>
            <a:pPr marL="0" indent="0" fontAlgn="auto">
              <a:lnSpc>
                <a:spcPct val="120000"/>
              </a:lnSpc>
              <a:spcBef>
                <a:spcPts val="0"/>
              </a:spcBef>
              <a:buNone/>
            </a:pPr>
            <a:r>
              <a:rPr lang="zh-CN" altLang="en-US" sz="2000">
                <a:latin typeface="Consolas" panose="020B0609020204030204" charset="0"/>
              </a:rPr>
              <a:t>&gt;&gt;&gt; x[0]                # 元组支持使用下标访问特定位置的元素</a:t>
            </a:r>
            <a:endParaRPr lang="zh-CN" altLang="en-US" sz="2000">
              <a:latin typeface="Consolas" panose="020B0609020204030204" charset="0"/>
            </a:endParaRPr>
          </a:p>
          <a:p>
            <a:pPr marL="0" indent="0" fontAlgn="auto">
              <a:lnSpc>
                <a:spcPct val="120000"/>
              </a:lnSpc>
              <a:spcBef>
                <a:spcPts val="0"/>
              </a:spcBef>
              <a:buNone/>
            </a:pPr>
            <a:r>
              <a:rPr lang="zh-CN" altLang="en-US" sz="2000">
                <a:solidFill>
                  <a:srgbClr val="00B0F0"/>
                </a:solidFill>
                <a:latin typeface="Consolas" panose="020B0609020204030204" charset="0"/>
              </a:rPr>
              <a:t>1</a:t>
            </a:r>
            <a:endParaRPr lang="zh-CN" altLang="en-US" sz="2000">
              <a:solidFill>
                <a:srgbClr val="00B0F0"/>
              </a:solidFill>
              <a:latin typeface="Consolas" panose="020B0609020204030204" charset="0"/>
            </a:endParaRPr>
          </a:p>
          <a:p>
            <a:pPr marL="0" indent="0" fontAlgn="auto">
              <a:lnSpc>
                <a:spcPct val="120000"/>
              </a:lnSpc>
              <a:spcBef>
                <a:spcPts val="0"/>
              </a:spcBef>
              <a:buNone/>
            </a:pPr>
            <a:r>
              <a:rPr lang="zh-CN" altLang="en-US" sz="2000">
                <a:latin typeface="Consolas" panose="020B0609020204030204" charset="0"/>
              </a:rPr>
              <a:t>&gt;&gt;&gt; x[-1]               # 最后一个元素，元组也支持双向索引</a:t>
            </a:r>
            <a:endParaRPr lang="zh-CN" altLang="en-US" sz="2000">
              <a:latin typeface="Consolas" panose="020B0609020204030204" charset="0"/>
            </a:endParaRPr>
          </a:p>
          <a:p>
            <a:pPr marL="0" indent="0" fontAlgn="auto">
              <a:lnSpc>
                <a:spcPct val="120000"/>
              </a:lnSpc>
              <a:spcBef>
                <a:spcPts val="0"/>
              </a:spcBef>
              <a:buNone/>
            </a:pPr>
            <a:r>
              <a:rPr lang="zh-CN" altLang="en-US" sz="2000">
                <a:solidFill>
                  <a:srgbClr val="00B0F0"/>
                </a:solidFill>
                <a:latin typeface="Consolas" panose="020B0609020204030204" charset="0"/>
              </a:rPr>
              <a:t>3</a:t>
            </a:r>
            <a:endParaRPr lang="zh-CN" altLang="en-US" sz="2000">
              <a:solidFill>
                <a:srgbClr val="00B0F0"/>
              </a:solidFill>
              <a:latin typeface="Consolas" panose="020B0609020204030204" charset="0"/>
            </a:endParaRPr>
          </a:p>
          <a:p>
            <a:pPr marL="0" indent="0" fontAlgn="auto">
              <a:lnSpc>
                <a:spcPct val="120000"/>
              </a:lnSpc>
              <a:spcBef>
                <a:spcPts val="0"/>
              </a:spcBef>
              <a:buNone/>
            </a:pPr>
            <a:r>
              <a:rPr lang="zh-CN" altLang="en-US" sz="2000">
                <a:latin typeface="Consolas" panose="020B0609020204030204" charset="0"/>
              </a:rPr>
              <a:t>&gt;&gt;&gt; x[1] = 4            # 元组是不可变的</a:t>
            </a:r>
            <a:endParaRPr lang="zh-CN" altLang="en-US" sz="2000">
              <a:latin typeface="Consolas" panose="020B0609020204030204" charset="0"/>
            </a:endParaRPr>
          </a:p>
          <a:p>
            <a:pPr marL="0" indent="0" fontAlgn="auto">
              <a:lnSpc>
                <a:spcPct val="120000"/>
              </a:lnSpc>
              <a:spcBef>
                <a:spcPts val="0"/>
              </a:spcBef>
              <a:buNone/>
            </a:pPr>
            <a:r>
              <a:rPr lang="zh-CN" altLang="en-US" sz="2000">
                <a:solidFill>
                  <a:srgbClr val="FF0000"/>
                </a:solidFill>
                <a:latin typeface="Consolas" panose="020B0609020204030204" charset="0"/>
              </a:rPr>
              <a:t>TypeError: 'tuple' object does not support item assignment</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3.2.1  元组创建与元素访问</a:t>
            </a:r>
            <a:endParaRPr lang="zh-CN" altLang="en-US"/>
          </a:p>
        </p:txBody>
      </p:sp>
      <p:sp>
        <p:nvSpPr>
          <p:cNvPr id="3" name="内容占位符 2"/>
          <p:cNvSpPr>
            <a:spLocks noGrp="1"/>
          </p:cNvSpPr>
          <p:nvPr>
            <p:ph idx="1"/>
          </p:nvPr>
        </p:nvSpPr>
        <p:spPr/>
        <p:txBody>
          <a:bodyPr>
            <a:normAutofit lnSpcReduction="20000"/>
          </a:bodyPr>
          <a:p>
            <a:pPr marL="0" indent="0" fontAlgn="auto">
              <a:lnSpc>
                <a:spcPct val="110000"/>
              </a:lnSpc>
              <a:spcBef>
                <a:spcPts val="0"/>
              </a:spcBef>
              <a:buNone/>
            </a:pPr>
            <a:r>
              <a:rPr lang="zh-CN" altLang="en-US" sz="2000">
                <a:latin typeface="Consolas" panose="020B0609020204030204" charset="0"/>
                <a:sym typeface="+mn-ea"/>
              </a:rPr>
              <a:t>&gt;&gt;&gt; x = (3)             # 这和x = 3是一样的</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sym typeface="+mn-ea"/>
              </a:rPr>
              <a:t>&gt;&gt;&gt; x</a:t>
            </a:r>
            <a:endParaRPr lang="zh-CN" altLang="en-US" sz="2000">
              <a:latin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sym typeface="+mn-ea"/>
              </a:rPr>
              <a:t>3</a:t>
            </a:r>
            <a:endParaRPr lang="zh-CN" altLang="en-US" sz="2000">
              <a:solidFill>
                <a:srgbClr val="00B0F0"/>
              </a:solidFill>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sym typeface="+mn-ea"/>
              </a:rPr>
              <a:t>&gt;&gt;&gt; x = (3,)            # 如果元组中只有一个元素，必须在后面多写一个逗号</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sym typeface="+mn-ea"/>
              </a:rPr>
              <a:t>&gt;&gt;&gt; x</a:t>
            </a:r>
            <a:endParaRPr lang="zh-CN" altLang="en-US" sz="2000">
              <a:latin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sym typeface="+mn-ea"/>
              </a:rPr>
              <a:t>(3,)</a:t>
            </a:r>
            <a:endParaRPr lang="zh-CN" altLang="en-US" sz="2000">
              <a:solidFill>
                <a:srgbClr val="00B0F0"/>
              </a:solidFill>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x = 3,</a:t>
            </a:r>
            <a:r>
              <a:rPr lang="en-US" altLang="zh-CN" sz="2000">
                <a:latin typeface="Consolas" panose="020B0609020204030204" charset="0"/>
              </a:rPr>
              <a:t>              # </a:t>
            </a:r>
            <a:r>
              <a:rPr lang="zh-CN" altLang="en-US" sz="2000">
                <a:latin typeface="Consolas" panose="020B0609020204030204" charset="0"/>
              </a:rPr>
              <a:t>真正创建元组的是逗号，圆括号只是</a:t>
            </a:r>
            <a:r>
              <a:rPr lang="zh-CN" altLang="en-US" sz="2000">
                <a:latin typeface="Consolas" panose="020B0609020204030204" charset="0"/>
              </a:rPr>
              <a:t>辅助</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x</a:t>
            </a:r>
            <a:endParaRPr lang="zh-CN" altLang="en-US" sz="2000">
              <a:latin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rPr>
              <a:t>(3,)</a:t>
            </a:r>
            <a:endParaRPr lang="zh-CN" altLang="en-US" sz="2000">
              <a:solidFill>
                <a:srgbClr val="00B0F0"/>
              </a:solidFill>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x = ()            </a:t>
            </a:r>
            <a:r>
              <a:rPr lang="en-US" altLang="zh-CN" sz="2000">
                <a:latin typeface="Consolas" panose="020B0609020204030204" charset="0"/>
              </a:rPr>
              <a:t> </a:t>
            </a:r>
            <a:r>
              <a:rPr lang="zh-CN" altLang="en-US" sz="2000">
                <a:latin typeface="Consolas" panose="020B0609020204030204" charset="0"/>
              </a:rPr>
              <a:t> # 空元组</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x = tuple()       </a:t>
            </a:r>
            <a:r>
              <a:rPr lang="en-US" altLang="zh-CN" sz="2000">
                <a:latin typeface="Consolas" panose="020B0609020204030204" charset="0"/>
              </a:rPr>
              <a:t> </a:t>
            </a:r>
            <a:r>
              <a:rPr lang="zh-CN" altLang="en-US" sz="2000">
                <a:latin typeface="Consolas" panose="020B0609020204030204" charset="0"/>
              </a:rPr>
              <a:t> # 空元组</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tuple(range(5))   </a:t>
            </a:r>
            <a:r>
              <a:rPr lang="en-US" altLang="zh-CN" sz="2000">
                <a:latin typeface="Consolas" panose="020B0609020204030204" charset="0"/>
              </a:rPr>
              <a:t> </a:t>
            </a:r>
            <a:r>
              <a:rPr lang="zh-CN" altLang="en-US" sz="2000">
                <a:latin typeface="Consolas" panose="020B0609020204030204" charset="0"/>
              </a:rPr>
              <a:t> # 将其他迭代对象转换为元组</a:t>
            </a:r>
            <a:endParaRPr lang="zh-CN" altLang="en-US" sz="2000">
              <a:latin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rPr>
              <a:t>(0, 1, 2, 3, 4)</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3.2.1  元组创建与元素访问</a:t>
            </a:r>
            <a:endParaRPr lang="zh-CN" altLang="en-US"/>
          </a:p>
        </p:txBody>
      </p:sp>
      <p:sp>
        <p:nvSpPr>
          <p:cNvPr id="3" name="内容占位符 2"/>
          <p:cNvSpPr>
            <a:spLocks noGrp="1"/>
          </p:cNvSpPr>
          <p:nvPr>
            <p:ph idx="1"/>
          </p:nvPr>
        </p:nvSpPr>
        <p:spPr/>
        <p:txBody>
          <a:bodyPr/>
          <a:p>
            <a:pPr>
              <a:lnSpc>
                <a:spcPct val="130000"/>
              </a:lnSpc>
              <a:buFont typeface="Arial" panose="020B0604020202020204" pitchFamily="34" charset="0"/>
              <a:buChar char="•"/>
            </a:pPr>
            <a:r>
              <a:rPr lang="zh-CN" altLang="en-US" sz="2400"/>
              <a:t>很多内置函数的返回值也是包含了若干元组或者可以生成若干</a:t>
            </a:r>
            <a:r>
              <a:rPr lang="zh-CN" altLang="en-US" sz="2400"/>
              <a:t>元组的可迭代对象，例如enumerate()、zip()等等。</a:t>
            </a:r>
            <a:endParaRPr lang="zh-CN" altLang="en-US" sz="2400"/>
          </a:p>
          <a:p>
            <a:pPr marL="0" indent="0">
              <a:buNone/>
            </a:pPr>
            <a:r>
              <a:rPr lang="zh-CN" altLang="en-US" sz="2000">
                <a:latin typeface="Consolas" panose="020B0609020204030204" charset="0"/>
              </a:rPr>
              <a:t>&gt;&gt;&gt; list(enumerate(range(5)))</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[(0, 0), (1, 1), (2, 2), (3, 3), (4, 4)]</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list(zip(range(3), 'abcdefg'))</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[(0, 'a'), (1, 'b'), (2, 'c')]</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3.2.2  元组与列表的异同点</a:t>
            </a:r>
            <a:endParaRPr lang="zh-CN" altLang="en-US"/>
          </a:p>
        </p:txBody>
      </p:sp>
      <p:sp>
        <p:nvSpPr>
          <p:cNvPr id="3" name="内容占位符 2"/>
          <p:cNvSpPr>
            <a:spLocks noGrp="1"/>
          </p:cNvSpPr>
          <p:nvPr>
            <p:ph idx="1"/>
          </p:nvPr>
        </p:nvSpPr>
        <p:spPr/>
        <p:txBody>
          <a:bodyPr/>
          <a:p>
            <a:pPr fontAlgn="auto">
              <a:lnSpc>
                <a:spcPct val="150000"/>
              </a:lnSpc>
            </a:pPr>
            <a:r>
              <a:rPr lang="zh-CN" altLang="en-US" sz="2400"/>
              <a:t>列表和元组都属于有序序列，都支持使用</a:t>
            </a:r>
            <a:r>
              <a:rPr lang="zh-CN" altLang="en-US" sz="2400">
                <a:solidFill>
                  <a:srgbClr val="FF0000"/>
                </a:solidFill>
              </a:rPr>
              <a:t>双向索引</a:t>
            </a:r>
            <a:r>
              <a:rPr lang="zh-CN" altLang="en-US" sz="2400"/>
              <a:t>访问其中的元素，以及使用</a:t>
            </a:r>
            <a:r>
              <a:rPr lang="zh-CN" altLang="en-US" sz="2400">
                <a:solidFill>
                  <a:srgbClr val="FF0000"/>
                </a:solidFill>
              </a:rPr>
              <a:t>count()</a:t>
            </a:r>
            <a:r>
              <a:rPr lang="zh-CN" altLang="en-US" sz="2400"/>
              <a:t>方法统计指定元素的出现次数和</a:t>
            </a:r>
            <a:r>
              <a:rPr lang="zh-CN" altLang="en-US" sz="2400">
                <a:solidFill>
                  <a:srgbClr val="FF0000"/>
                </a:solidFill>
              </a:rPr>
              <a:t>index()</a:t>
            </a:r>
            <a:r>
              <a:rPr lang="zh-CN" altLang="en-US" sz="2400"/>
              <a:t>方法获取指定元素的索引，len()、map()、filter()等大量</a:t>
            </a:r>
            <a:r>
              <a:rPr lang="zh-CN" altLang="en-US" sz="2400">
                <a:solidFill>
                  <a:srgbClr val="FF0000"/>
                </a:solidFill>
              </a:rPr>
              <a:t>内置函数</a:t>
            </a:r>
            <a:r>
              <a:rPr lang="zh-CN" altLang="en-US" sz="2400"/>
              <a:t>和+、</a:t>
            </a:r>
            <a:r>
              <a:rPr lang="en-US" altLang="zh-CN" sz="2400"/>
              <a:t>*</a:t>
            </a:r>
            <a:r>
              <a:rPr lang="zh-CN" altLang="en-US" sz="2400"/>
              <a:t>、+=、in等</a:t>
            </a:r>
            <a:r>
              <a:rPr lang="zh-CN" altLang="en-US" sz="2400">
                <a:solidFill>
                  <a:srgbClr val="FF0000"/>
                </a:solidFill>
              </a:rPr>
              <a:t>运算符</a:t>
            </a:r>
            <a:r>
              <a:rPr lang="zh-CN" altLang="en-US" sz="2400"/>
              <a:t>也都可以作用于列表和元组。</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3.2.2  元组与列表的异同点</a:t>
            </a:r>
            <a:endParaRPr lang="zh-CN" altLang="en-US"/>
          </a:p>
        </p:txBody>
      </p:sp>
      <p:sp>
        <p:nvSpPr>
          <p:cNvPr id="3" name="内容占位符 2"/>
          <p:cNvSpPr>
            <a:spLocks noGrp="1"/>
          </p:cNvSpPr>
          <p:nvPr>
            <p:ph idx="1"/>
          </p:nvPr>
        </p:nvSpPr>
        <p:spPr>
          <a:xfrm>
            <a:off x="838200" y="1321435"/>
            <a:ext cx="10798175" cy="4639945"/>
          </a:xfrm>
        </p:spPr>
        <p:txBody>
          <a:bodyPr>
            <a:normAutofit lnSpcReduction="10000"/>
          </a:bodyPr>
          <a:p>
            <a:pPr fontAlgn="auto">
              <a:lnSpc>
                <a:spcPct val="150000"/>
              </a:lnSpc>
              <a:spcBef>
                <a:spcPts val="400"/>
              </a:spcBef>
            </a:pPr>
            <a:r>
              <a:rPr lang="zh-CN" altLang="en-US" sz="2400"/>
              <a:t>元组属于</a:t>
            </a:r>
            <a:r>
              <a:rPr lang="zh-CN" altLang="en-US" sz="2400">
                <a:solidFill>
                  <a:srgbClr val="FF0000"/>
                </a:solidFill>
              </a:rPr>
              <a:t>不可变</a:t>
            </a:r>
            <a:r>
              <a:rPr lang="zh-CN" altLang="en-US" sz="2400"/>
              <a:t>（immutable）序列，一旦定义，其元素的</a:t>
            </a:r>
            <a:r>
              <a:rPr lang="zh-CN" altLang="en-US" sz="2400">
                <a:solidFill>
                  <a:srgbClr val="FF0000"/>
                </a:solidFill>
              </a:rPr>
              <a:t>数量和引用都是不可变的</a:t>
            </a:r>
            <a:r>
              <a:rPr lang="zh-CN" altLang="en-US" sz="2400"/>
              <a:t>，不可以直接修改元组中元素的</a:t>
            </a:r>
            <a:r>
              <a:rPr lang="zh-CN" altLang="en-US" sz="2400"/>
              <a:t>引用，也无法为元组增加或删除元素。</a:t>
            </a:r>
            <a:endParaRPr lang="zh-CN" altLang="en-US" sz="2400"/>
          </a:p>
          <a:p>
            <a:pPr fontAlgn="auto">
              <a:lnSpc>
                <a:spcPct val="150000"/>
              </a:lnSpc>
              <a:spcBef>
                <a:spcPts val="400"/>
              </a:spcBef>
            </a:pPr>
            <a:r>
              <a:rPr lang="zh-CN" altLang="en-US" sz="2400"/>
              <a:t>元组没有提供append()、extend()和insert()等方法，无法向元组中添加元素；同样，元组也没有remove()和pop()方法，也不支持对元组元素进行del操作，不能从元组中删除元素。</a:t>
            </a:r>
            <a:endParaRPr lang="zh-CN" altLang="en-US" sz="2400"/>
          </a:p>
          <a:p>
            <a:pPr fontAlgn="auto">
              <a:lnSpc>
                <a:spcPct val="150000"/>
              </a:lnSpc>
              <a:spcBef>
                <a:spcPts val="400"/>
              </a:spcBef>
            </a:pPr>
            <a:r>
              <a:rPr lang="zh-CN" altLang="en-US" sz="2400"/>
              <a:t>元组也支持切片操作，但是只能通过切片来访问元组中的元素，不允许使用切片来修改元组中元素的值，也不支持使用切片操作来为元组增加或删除元素。</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3.2.2  元组与列表的异同点</a:t>
            </a:r>
            <a:endParaRPr lang="zh-CN" altLang="en-US"/>
          </a:p>
        </p:txBody>
      </p:sp>
      <p:sp>
        <p:nvSpPr>
          <p:cNvPr id="3" name="内容占位符 2"/>
          <p:cNvSpPr>
            <a:spLocks noGrp="1"/>
          </p:cNvSpPr>
          <p:nvPr>
            <p:ph idx="1"/>
          </p:nvPr>
        </p:nvSpPr>
        <p:spPr>
          <a:xfrm>
            <a:off x="838200" y="1321435"/>
            <a:ext cx="10796905" cy="4639945"/>
          </a:xfrm>
        </p:spPr>
        <p:txBody>
          <a:bodyPr/>
          <a:p>
            <a:pPr fontAlgn="auto">
              <a:lnSpc>
                <a:spcPct val="150000"/>
              </a:lnSpc>
            </a:pPr>
            <a:r>
              <a:rPr lang="zh-CN" altLang="en-US" sz="2400"/>
              <a:t>Python的内部实现对元组做了大量优化，占用内存比列表略小，</a:t>
            </a:r>
            <a:r>
              <a:rPr lang="zh-CN" altLang="en-US" sz="2400">
                <a:solidFill>
                  <a:srgbClr val="FF0000"/>
                </a:solidFill>
              </a:rPr>
              <a:t>访问速度比列表</a:t>
            </a:r>
            <a:r>
              <a:rPr lang="zh-CN" altLang="en-US" sz="2400">
                <a:solidFill>
                  <a:srgbClr val="FF0000"/>
                </a:solidFill>
              </a:rPr>
              <a:t>略快</a:t>
            </a:r>
            <a:r>
              <a:rPr lang="zh-CN" altLang="en-US" sz="2400"/>
              <a:t>。如果定义了一系列常量值，主要用途仅是对它们进行遍历或其他类似用途，而不需要对其元素进行任何修改，那么一般建议使用元组而不用列表。</a:t>
            </a:r>
            <a:endParaRPr lang="zh-CN" altLang="en-US" sz="2400"/>
          </a:p>
          <a:p>
            <a:pPr fontAlgn="auto">
              <a:lnSpc>
                <a:spcPct val="150000"/>
              </a:lnSpc>
            </a:pPr>
            <a:r>
              <a:rPr lang="zh-CN" altLang="en-US" sz="2400"/>
              <a:t>元组在内部实现上不允许修改其元素引用，从而使得</a:t>
            </a:r>
            <a:r>
              <a:rPr lang="zh-CN" altLang="en-US" sz="2400">
                <a:solidFill>
                  <a:srgbClr val="FF0000"/>
                </a:solidFill>
              </a:rPr>
              <a:t>代码更加安全</a:t>
            </a:r>
            <a:r>
              <a:rPr lang="zh-CN" altLang="en-US" sz="2400"/>
              <a:t>，例如调用函数时使用元组传递参数可以防止在函数中修改元组，而使用列表则很难保证这一点。</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3.2.3  生成器</a:t>
            </a:r>
            <a:r>
              <a:rPr lang="zh-CN" altLang="en-US"/>
              <a:t>表达式</a:t>
            </a:r>
            <a:endParaRPr lang="zh-CN" altLang="en-US"/>
          </a:p>
        </p:txBody>
      </p:sp>
      <p:sp>
        <p:nvSpPr>
          <p:cNvPr id="3" name="内容占位符 2"/>
          <p:cNvSpPr>
            <a:spLocks noGrp="1"/>
          </p:cNvSpPr>
          <p:nvPr>
            <p:ph idx="1"/>
          </p:nvPr>
        </p:nvSpPr>
        <p:spPr/>
        <p:txBody>
          <a:bodyPr/>
          <a:p>
            <a:pPr fontAlgn="auto">
              <a:lnSpc>
                <a:spcPct val="150000"/>
              </a:lnSpc>
            </a:pPr>
            <a:r>
              <a:rPr lang="zh-CN" altLang="en-US" sz="2400"/>
              <a:t>生成器表达式（generator expression）的用法与列表推导式非常相似，</a:t>
            </a:r>
            <a:r>
              <a:rPr lang="zh-CN" altLang="en-US" sz="2400"/>
              <a:t>只是在形式上生成器</a:t>
            </a:r>
            <a:r>
              <a:rPr lang="zh-CN" altLang="en-US" sz="2400"/>
              <a:t>表达式使用</a:t>
            </a:r>
            <a:r>
              <a:rPr lang="zh-CN" altLang="en-US" sz="2400">
                <a:solidFill>
                  <a:srgbClr val="FF0000"/>
                </a:solidFill>
              </a:rPr>
              <a:t>圆括号</a:t>
            </a:r>
            <a:r>
              <a:rPr lang="zh-CN" altLang="en-US" sz="2400"/>
              <a:t>（parentheses）作为定界符，而不是列表推导式所使用的方括号（square brackets）。</a:t>
            </a:r>
            <a:endParaRPr lang="zh-CN" altLang="en-US" sz="2400"/>
          </a:p>
          <a:p>
            <a:pPr fontAlgn="auto">
              <a:lnSpc>
                <a:spcPct val="150000"/>
              </a:lnSpc>
            </a:pPr>
            <a:r>
              <a:rPr lang="zh-CN" altLang="en-US" sz="2400"/>
              <a:t>与列表推导式最大的不同是，生成器表达式的结果是一个</a:t>
            </a:r>
            <a:r>
              <a:rPr lang="zh-CN" altLang="en-US" sz="2400">
                <a:solidFill>
                  <a:srgbClr val="FF0000"/>
                </a:solidFill>
              </a:rPr>
              <a:t>生成器对象</a:t>
            </a:r>
            <a:r>
              <a:rPr lang="zh-CN" altLang="en-US" sz="2400"/>
              <a:t>。生成器对象</a:t>
            </a:r>
            <a:r>
              <a:rPr lang="zh-CN" altLang="en-US" sz="2400"/>
              <a:t>属于迭代器对象，具有惰性求值的特点，只在需要时生成新元素，空间占用非常少，尤其适合大数据处理的场合。</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3.2.3  生成器推导式</a:t>
            </a:r>
            <a:endParaRPr lang="zh-CN" altLang="en-US"/>
          </a:p>
        </p:txBody>
      </p:sp>
      <p:sp>
        <p:nvSpPr>
          <p:cNvPr id="3" name="内容占位符 2"/>
          <p:cNvSpPr>
            <a:spLocks noGrp="1"/>
          </p:cNvSpPr>
          <p:nvPr>
            <p:ph idx="1"/>
          </p:nvPr>
        </p:nvSpPr>
        <p:spPr>
          <a:xfrm>
            <a:off x="838200" y="1321435"/>
            <a:ext cx="10690860" cy="4639945"/>
          </a:xfrm>
        </p:spPr>
        <p:txBody>
          <a:bodyPr/>
          <a:p>
            <a:pPr fontAlgn="auto">
              <a:lnSpc>
                <a:spcPct val="150000"/>
              </a:lnSpc>
            </a:pPr>
            <a:r>
              <a:rPr lang="zh-CN" altLang="en-US" sz="2400"/>
              <a:t>使用生成器对象的元素时，可以根据需要将其转化为列表或元组，但一般不建议这样做。</a:t>
            </a:r>
            <a:r>
              <a:rPr lang="zh-CN" altLang="en-US" sz="2400"/>
              <a:t>更推荐使用生成器对象的</a:t>
            </a:r>
            <a:r>
              <a:rPr lang="zh-CN" altLang="en-US" sz="2400">
                <a:solidFill>
                  <a:srgbClr val="FF0000"/>
                </a:solidFill>
              </a:rPr>
              <a:t>__next__()</a:t>
            </a:r>
            <a:r>
              <a:rPr lang="zh-CN" altLang="en-US" sz="2400"/>
              <a:t>方法或者内置函数</a:t>
            </a:r>
            <a:r>
              <a:rPr lang="zh-CN" altLang="en-US" sz="2400">
                <a:solidFill>
                  <a:srgbClr val="FF0000"/>
                </a:solidFill>
              </a:rPr>
              <a:t>next()</a:t>
            </a:r>
            <a:r>
              <a:rPr lang="zh-CN" altLang="en-US" sz="2400"/>
              <a:t>进行遍历，或者直接使用</a:t>
            </a:r>
            <a:r>
              <a:rPr lang="zh-CN" altLang="en-US" sz="2400">
                <a:solidFill>
                  <a:srgbClr val="FF0000"/>
                </a:solidFill>
              </a:rPr>
              <a:t>for循环</a:t>
            </a:r>
            <a:r>
              <a:rPr lang="zh-CN" altLang="en-US" sz="2400"/>
              <a:t>来遍历其中的元素。但是不管用哪种方法访问其元素，只能从前往后正向访问每个元素，</a:t>
            </a:r>
            <a:r>
              <a:rPr lang="zh-CN" altLang="en-US" sz="2400">
                <a:solidFill>
                  <a:srgbClr val="FF0000"/>
                </a:solidFill>
              </a:rPr>
              <a:t>没有任何方法可以再次访问已访问过的元素</a:t>
            </a:r>
            <a:r>
              <a:rPr lang="zh-CN" altLang="en-US" sz="2400"/>
              <a:t>，也</a:t>
            </a:r>
            <a:r>
              <a:rPr lang="zh-CN" altLang="en-US" sz="2400">
                <a:solidFill>
                  <a:srgbClr val="FF0000"/>
                </a:solidFill>
              </a:rPr>
              <a:t>不支持使用下标访问其中的元素</a:t>
            </a:r>
            <a:r>
              <a:rPr lang="zh-CN" altLang="en-US" sz="2400"/>
              <a:t>。当所有元素访问结束以后，如果需要重新访问其中的元素，必须重新创建该生成器对象，enumerate、filter、map、zip等其他迭代器对象也具有同样的特点。</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3.2.3  生成器推导式</a:t>
            </a:r>
            <a:endParaRPr lang="zh-CN" altLang="en-US"/>
          </a:p>
        </p:txBody>
      </p:sp>
      <p:sp>
        <p:nvSpPr>
          <p:cNvPr id="3" name="内容占位符 2"/>
          <p:cNvSpPr>
            <a:spLocks noGrp="1"/>
          </p:cNvSpPr>
          <p:nvPr>
            <p:ph idx="1"/>
          </p:nvPr>
        </p:nvSpPr>
        <p:spPr>
          <a:xfrm>
            <a:off x="838200" y="1321435"/>
            <a:ext cx="10515600" cy="5035550"/>
          </a:xfrm>
        </p:spPr>
        <p:txBody>
          <a:bodyPr>
            <a:normAutofit/>
          </a:bodyPr>
          <a:p>
            <a:pPr defTabSz="914400">
              <a:lnSpc>
                <a:spcPct val="130000"/>
              </a:lnSpc>
              <a:spcBef>
                <a:spcPct val="0"/>
              </a:spcBef>
              <a:buSzPct val="90000"/>
              <a:buFont typeface="Wingdings" panose="05000000000000000000" charset="0"/>
              <a:buChar char="§"/>
            </a:pPr>
            <a:r>
              <a:rPr lang="zh-CN" altLang="en-US" sz="2400">
                <a:latin typeface="宋体" panose="02010600030101010101" pitchFamily="2" charset="-122"/>
                <a:sym typeface="+mn-ea"/>
              </a:rPr>
              <a:t>使用生成器对象</a:t>
            </a:r>
            <a:r>
              <a:rPr lang="en-US" altLang="zh-CN" sz="2400">
                <a:latin typeface="宋体" panose="02010600030101010101" pitchFamily="2" charset="-122"/>
                <a:sym typeface="+mn-ea"/>
              </a:rPr>
              <a:t>__next__()</a:t>
            </a:r>
            <a:r>
              <a:rPr lang="zh-CN" altLang="en-US" sz="2400">
                <a:latin typeface="宋体" panose="02010600030101010101" pitchFamily="2" charset="-122"/>
                <a:sym typeface="+mn-ea"/>
              </a:rPr>
              <a:t>方法或内置函数</a:t>
            </a:r>
            <a:r>
              <a:rPr lang="en-US" altLang="zh-CN" sz="2400">
                <a:latin typeface="宋体" panose="02010600030101010101" pitchFamily="2" charset="-122"/>
                <a:sym typeface="+mn-ea"/>
              </a:rPr>
              <a:t>next()</a:t>
            </a:r>
            <a:r>
              <a:rPr lang="zh-CN" altLang="en-US" sz="2400">
                <a:latin typeface="宋体" panose="02010600030101010101" pitchFamily="2" charset="-122"/>
                <a:sym typeface="+mn-ea"/>
              </a:rPr>
              <a:t>进行遍历</a:t>
            </a:r>
            <a:endParaRPr lang="en-US" altLang="zh-CN" sz="2400"/>
          </a:p>
          <a:p>
            <a:pPr defTabSz="914400">
              <a:lnSpc>
                <a:spcPct val="80000"/>
              </a:lnSpc>
              <a:spcBef>
                <a:spcPct val="0"/>
              </a:spcBef>
              <a:buSzPct val="90000"/>
              <a:buFont typeface="Wingdings" panose="05000000000000000000" pitchFamily="2" charset="2"/>
              <a:buNone/>
            </a:pPr>
            <a:r>
              <a:rPr lang="en-US" altLang="zh-CN" sz="2000">
                <a:latin typeface="Consolas" panose="020B0609020204030204" charset="0"/>
                <a:sym typeface="+mn-ea"/>
              </a:rPr>
              <a:t>&gt;&gt;&gt; g = ((i+2)**2 for i in range(10))  # 创建生成器对象</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g</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&lt;generator object &lt;genexpr&gt; at 0x0000000003095200&gt;</a:t>
            </a:r>
            <a:endParaRPr lang="en-US" altLang="zh-CN" sz="20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tuple(g)                           # 将生成器对象转换为元组</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(4, 9, 16, 25, 36, 49, 64, 81, 100, 121)</a:t>
            </a:r>
            <a:endParaRPr lang="en-US" altLang="zh-CN" sz="20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list(g)                            # 生成器对象已遍历结束，没有元素了</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 </a:t>
            </a:r>
            <a:endParaRPr lang="en-US" altLang="zh-CN" sz="20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g = ((i+2)**2 for i in range(10))  # 重新创建生成器对象</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g.__next__()        # 使用生成器对象的__next__()方法获取元素</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4</a:t>
            </a:r>
            <a:endParaRPr lang="en-US" altLang="zh-CN" sz="20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g.__next__()        # 获取下一个元素</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9</a:t>
            </a:r>
            <a:endParaRPr lang="en-US" altLang="zh-CN" sz="20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next(g)             # 使用函数next()获取生成器对象中的元素</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16</a:t>
            </a:r>
            <a:endParaRPr lang="zh-CN" altLang="en-US" sz="20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3.2.3  生成器推导式</a:t>
            </a:r>
            <a:endParaRPr lang="zh-CN" altLang="en-US"/>
          </a:p>
        </p:txBody>
      </p:sp>
      <p:sp>
        <p:nvSpPr>
          <p:cNvPr id="3" name="内容占位符 2"/>
          <p:cNvSpPr>
            <a:spLocks noGrp="1"/>
          </p:cNvSpPr>
          <p:nvPr>
            <p:ph idx="1"/>
          </p:nvPr>
        </p:nvSpPr>
        <p:spPr>
          <a:xfrm>
            <a:off x="838200" y="1321435"/>
            <a:ext cx="10515600" cy="5160010"/>
          </a:xfrm>
        </p:spPr>
        <p:txBody>
          <a:bodyPr>
            <a:normAutofit/>
          </a:bodyPr>
          <a:p>
            <a:pPr fontAlgn="base">
              <a:lnSpc>
                <a:spcPct val="120000"/>
              </a:lnSpc>
              <a:spcBef>
                <a:spcPts val="0"/>
              </a:spcBef>
              <a:buFont typeface="Arial" panose="020B0604020202020204" pitchFamily="34" charset="0"/>
              <a:buChar char="•"/>
            </a:pPr>
            <a:r>
              <a:rPr lang="zh-CN" altLang="en-US" sz="2400">
                <a:sym typeface="+mn-ea"/>
              </a:rPr>
              <a:t>使用</a:t>
            </a:r>
            <a:r>
              <a:rPr lang="en-US" altLang="zh-CN" sz="2400">
                <a:sym typeface="+mn-ea"/>
              </a:rPr>
              <a:t>for</a:t>
            </a:r>
            <a:r>
              <a:rPr lang="zh-CN" altLang="en-US" sz="2400">
                <a:sym typeface="+mn-ea"/>
              </a:rPr>
              <a:t>循环直接迭代生成器对象中的元素</a:t>
            </a:r>
            <a:endParaRPr lang="zh-CN" altLang="en-US" sz="2400" strike="noStrike" noProof="1"/>
          </a:p>
          <a:p>
            <a:pPr marL="0" indent="0" fontAlgn="base">
              <a:lnSpc>
                <a:spcPct val="110000"/>
              </a:lnSpc>
              <a:spcBef>
                <a:spcPts val="0"/>
              </a:spcBef>
              <a:buNone/>
            </a:pPr>
            <a:r>
              <a:rPr lang="en-US" sz="2000">
                <a:latin typeface="Consolas" panose="020B0609020204030204" charset="0"/>
                <a:sym typeface="+mn-ea"/>
              </a:rPr>
              <a:t>&gt;&gt;&gt; g = ((i+2)**2 for i in range(10))</a:t>
            </a:r>
            <a:endParaRPr lang="en-US" sz="2000" strike="noStrike" noProof="1">
              <a:latin typeface="Consolas" panose="020B0609020204030204" charset="0"/>
            </a:endParaRPr>
          </a:p>
          <a:p>
            <a:pPr marL="0" indent="0" fontAlgn="base">
              <a:lnSpc>
                <a:spcPct val="110000"/>
              </a:lnSpc>
              <a:spcBef>
                <a:spcPts val="0"/>
              </a:spcBef>
              <a:buNone/>
            </a:pPr>
            <a:r>
              <a:rPr lang="en-US" sz="2000">
                <a:latin typeface="Consolas" panose="020B0609020204030204" charset="0"/>
                <a:sym typeface="+mn-ea"/>
              </a:rPr>
              <a:t>&gt;&gt;&gt; for item in g:</a:t>
            </a:r>
            <a:endParaRPr lang="en-US" sz="2000" strike="noStrike" noProof="1">
              <a:latin typeface="Consolas" panose="020B0609020204030204" charset="0"/>
            </a:endParaRPr>
          </a:p>
          <a:p>
            <a:pPr marL="0" indent="0" fontAlgn="base">
              <a:lnSpc>
                <a:spcPct val="110000"/>
              </a:lnSpc>
              <a:spcBef>
                <a:spcPts val="0"/>
              </a:spcBef>
              <a:buNone/>
            </a:pPr>
            <a:r>
              <a:rPr lang="en-US" sz="2000">
                <a:latin typeface="Consolas" panose="020B0609020204030204" charset="0"/>
                <a:sym typeface="+mn-ea"/>
              </a:rPr>
              <a:t>    print(item, end=' ')</a:t>
            </a:r>
            <a:endParaRPr lang="en-US" sz="2000">
              <a:latin typeface="Consolas" panose="020B0609020204030204" charset="0"/>
              <a:sym typeface="+mn-ea"/>
            </a:endParaRPr>
          </a:p>
          <a:p>
            <a:pPr marL="0" indent="0" fontAlgn="base">
              <a:lnSpc>
                <a:spcPct val="110000"/>
              </a:lnSpc>
              <a:spcBef>
                <a:spcPts val="0"/>
              </a:spcBef>
              <a:buNone/>
            </a:pPr>
            <a:endParaRPr lang="en-US" sz="2000" strike="noStrike" noProof="1">
              <a:latin typeface="Consolas" panose="020B0609020204030204" charset="0"/>
            </a:endParaRPr>
          </a:p>
          <a:p>
            <a:pPr marL="0" indent="0" fontAlgn="base">
              <a:lnSpc>
                <a:spcPct val="110000"/>
              </a:lnSpc>
              <a:spcBef>
                <a:spcPts val="0"/>
              </a:spcBef>
              <a:buNone/>
            </a:pPr>
            <a:r>
              <a:rPr lang="en-US" sz="2000">
                <a:solidFill>
                  <a:srgbClr val="00B0F0"/>
                </a:solidFill>
                <a:latin typeface="Consolas" panose="020B0609020204030204" charset="0"/>
                <a:sym typeface="+mn-ea"/>
              </a:rPr>
              <a:t>4 9 16 25 36 49 64 81 100 121 </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3.3  字典</a:t>
            </a:r>
            <a:endParaRPr lang="zh-CN" altLang="en-US"/>
          </a:p>
        </p:txBody>
      </p:sp>
      <p:sp>
        <p:nvSpPr>
          <p:cNvPr id="3" name="内容占位符 2"/>
          <p:cNvSpPr>
            <a:spLocks noGrp="1"/>
          </p:cNvSpPr>
          <p:nvPr>
            <p:ph idx="1"/>
          </p:nvPr>
        </p:nvSpPr>
        <p:spPr/>
        <p:txBody>
          <a:bodyPr/>
          <a:p>
            <a:pPr fontAlgn="auto">
              <a:lnSpc>
                <a:spcPct val="140000"/>
              </a:lnSpc>
              <a:spcBef>
                <a:spcPts val="0"/>
              </a:spcBef>
            </a:pPr>
            <a:r>
              <a:rPr lang="zh-CN" altLang="en-US" sz="2400"/>
              <a:t>字典（dictionary）是包含若干“键:值”元素的</a:t>
            </a:r>
            <a:r>
              <a:rPr lang="zh-CN" altLang="en-US" sz="2400">
                <a:solidFill>
                  <a:srgbClr val="FF0000"/>
                </a:solidFill>
              </a:rPr>
              <a:t>无序可变容器对象</a:t>
            </a:r>
            <a:r>
              <a:rPr lang="zh-CN" altLang="en-US" sz="2400"/>
              <a:t>，字典中的</a:t>
            </a:r>
            <a:r>
              <a:rPr lang="zh-CN" altLang="en-US" sz="2400">
                <a:solidFill>
                  <a:srgbClr val="FF0000"/>
                </a:solidFill>
              </a:rPr>
              <a:t>每个元素包含用冒号分隔开的“键”和“值”两部分</a:t>
            </a:r>
            <a:r>
              <a:rPr lang="zh-CN" altLang="en-US" sz="2400"/>
              <a:t>，表示一种映射或对应关系，也称关联数组。定义字典时，每个元素的“键”和“值”之间用</a:t>
            </a:r>
            <a:r>
              <a:rPr lang="zh-CN" altLang="en-US" sz="2400">
                <a:solidFill>
                  <a:srgbClr val="FF0000"/>
                </a:solidFill>
              </a:rPr>
              <a:t>冒号</a:t>
            </a:r>
            <a:r>
              <a:rPr lang="zh-CN" altLang="en-US" sz="2400"/>
              <a:t>分隔，不同元素之间用</a:t>
            </a:r>
            <a:r>
              <a:rPr lang="zh-CN" altLang="en-US" sz="2400">
                <a:solidFill>
                  <a:srgbClr val="FF0000"/>
                </a:solidFill>
              </a:rPr>
              <a:t>逗号</a:t>
            </a:r>
            <a:r>
              <a:rPr lang="zh-CN" altLang="en-US" sz="2400"/>
              <a:t>分隔，所有的元素放在一对</a:t>
            </a:r>
            <a:r>
              <a:rPr lang="zh-CN" altLang="en-US" sz="2400">
                <a:solidFill>
                  <a:srgbClr val="FF0000"/>
                </a:solidFill>
              </a:rPr>
              <a:t>大括号</a:t>
            </a:r>
            <a:r>
              <a:rPr lang="zh-CN" altLang="en-US" sz="2400"/>
              <a:t>中。</a:t>
            </a:r>
            <a:endParaRPr lang="zh-CN" altLang="en-US" sz="2400"/>
          </a:p>
          <a:p>
            <a:pPr fontAlgn="auto">
              <a:lnSpc>
                <a:spcPct val="140000"/>
              </a:lnSpc>
              <a:spcBef>
                <a:spcPts val="0"/>
              </a:spcBef>
            </a:pPr>
            <a:r>
              <a:rPr lang="zh-CN" altLang="en-US" sz="2400">
                <a:solidFill>
                  <a:srgbClr val="FF0000"/>
                </a:solidFill>
              </a:rPr>
              <a:t>字典中元素的“键”可以是Python中任意不可变数据</a:t>
            </a:r>
            <a:r>
              <a:rPr lang="zh-CN" altLang="en-US" sz="2400"/>
              <a:t>，例如整数、实数、复数、字符串、元组等类型等可哈希数据，但不能使用列表、集合、字典或其他可变类型对象作为字典的“键”。</a:t>
            </a:r>
            <a:endParaRPr lang="zh-CN" altLang="en-US" sz="2400"/>
          </a:p>
          <a:p>
            <a:pPr fontAlgn="auto">
              <a:lnSpc>
                <a:spcPct val="140000"/>
              </a:lnSpc>
              <a:spcBef>
                <a:spcPts val="0"/>
              </a:spcBef>
            </a:pPr>
            <a:r>
              <a:rPr lang="zh-CN" altLang="en-US" sz="2400">
                <a:solidFill>
                  <a:srgbClr val="FF0000"/>
                </a:solidFill>
              </a:rPr>
              <a:t>字典中的“键”不允许重复</a:t>
            </a:r>
            <a:r>
              <a:rPr lang="zh-CN" altLang="en-US" sz="2400"/>
              <a:t>，“值”可以重复。</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3.3  字典</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5" name="表格 4"/>
          <p:cNvGraphicFramePr/>
          <p:nvPr>
            <p:custDataLst>
              <p:tags r:id="rId1"/>
            </p:custDataLst>
          </p:nvPr>
        </p:nvGraphicFramePr>
        <p:xfrm>
          <a:off x="892175" y="1231265"/>
          <a:ext cx="9371965" cy="5852160"/>
        </p:xfrm>
        <a:graphic>
          <a:graphicData uri="http://schemas.openxmlformats.org/drawingml/2006/table">
            <a:tbl>
              <a:tblPr firstRow="1" bandRow="1">
                <a:tableStyleId>{5940675A-B579-460E-94D1-54222C63F5DA}</a:tableStyleId>
              </a:tblPr>
              <a:tblGrid>
                <a:gridCol w="2802255"/>
                <a:gridCol w="6569710"/>
              </a:tblGrid>
              <a:tr h="241300">
                <a:tc>
                  <a:txBody>
                    <a:bodyPr/>
                    <a:p>
                      <a:pPr indent="0" algn="ctr">
                        <a:buNone/>
                      </a:pPr>
                      <a:r>
                        <a:rPr lang="en-US" sz="1600" b="1">
                          <a:latin typeface="Consolas" panose="020B0609020204030204" charset="0"/>
                          <a:cs typeface="Consolas" panose="020B0609020204030204" charset="0"/>
                        </a:rPr>
                        <a:t>方法</a:t>
                      </a:r>
                      <a:endParaRPr lang="en-US" altLang="en-US" sz="1600" b="1">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Consolas" panose="020B0609020204030204" charset="0"/>
                          <a:cs typeface="Consolas" panose="020B0609020204030204" charset="0"/>
                        </a:rPr>
                        <a:t>功能描述</a:t>
                      </a:r>
                      <a:endParaRPr lang="en-US" altLang="en-US" sz="1600" b="1">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buNone/>
                      </a:pPr>
                      <a:r>
                        <a:rPr lang="en-US" sz="1600" b="0">
                          <a:latin typeface="Consolas" panose="020B0609020204030204" charset="0"/>
                          <a:cs typeface="Consolas" panose="020B0609020204030204" charset="0"/>
                        </a:rPr>
                        <a:t>clear()</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不接收参数，删除当前字典对象中的所有元素，没有返回值</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buNone/>
                      </a:pPr>
                      <a:r>
                        <a:rPr lang="en-US" sz="1600" b="0">
                          <a:latin typeface="Consolas" panose="020B0609020204030204" charset="0"/>
                          <a:cs typeface="Consolas" panose="020B0609020204030204" charset="0"/>
                        </a:rPr>
                        <a:t>copy()</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anose="02010600030101010101" pitchFamily="2" charset="-122"/>
                          <a:ea typeface="宋体" panose="02010600030101010101" pitchFamily="2" charset="-122"/>
                          <a:cs typeface="宋体" panose="02010600030101010101" pitchFamily="2" charset="-122"/>
                        </a:rPr>
                        <a:t>不接收参数，返回当前字典的浅复制</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buNone/>
                      </a:pPr>
                      <a:r>
                        <a:rPr lang="en-US" sz="1600" b="0">
                          <a:latin typeface="Consolas" panose="020B0609020204030204" charset="0"/>
                          <a:cs typeface="Consolas" panose="020B0609020204030204" charset="0"/>
                        </a:rPr>
                        <a:t>fromkeys(iterable,</a:t>
                      </a:r>
                      <a:endParaRPr lang="en-US" sz="1600" b="0">
                        <a:latin typeface="Consolas" panose="020B0609020204030204" charset="0"/>
                        <a:cs typeface="Consolas" panose="020B0609020204030204" charset="0"/>
                      </a:endParaRPr>
                    </a:p>
                    <a:p>
                      <a:pPr indent="0">
                        <a:buNone/>
                      </a:pPr>
                      <a:r>
                        <a:rPr lang="en-US" sz="1600" b="0">
                          <a:latin typeface="Consolas" panose="020B0609020204030204" charset="0"/>
                          <a:cs typeface="Consolas" panose="020B0609020204030204" charset="0"/>
                        </a:rPr>
                        <a:t>         value=None,/)</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以参数iterable中的元素为“键”、以参数value为“值”创建并返回字典对象。字典中所有元素的“值”</a:t>
                      </a:r>
                      <a:r>
                        <a:rPr lang="en-US" sz="1600" b="0">
                          <a:latin typeface="宋体" panose="02010600030101010101" pitchFamily="2" charset="-122"/>
                          <a:ea typeface="宋体" panose="02010600030101010101" pitchFamily="2" charset="-122"/>
                          <a:cs typeface="宋体" panose="02010600030101010101" pitchFamily="2" charset="-122"/>
                        </a:rPr>
                        <a:t>的引用</a:t>
                      </a:r>
                      <a:r>
                        <a:rPr lang="en-US" sz="1600" b="0">
                          <a:latin typeface="Consolas" panose="020B0609020204030204" charset="0"/>
                          <a:cs typeface="Consolas" panose="020B0609020204030204" charset="0"/>
                        </a:rPr>
                        <a:t>都一样，要么是None，要么</a:t>
                      </a:r>
                      <a:r>
                        <a:rPr lang="en-US" sz="1600" b="0">
                          <a:latin typeface="宋体" panose="02010600030101010101" pitchFamily="2" charset="-122"/>
                          <a:ea typeface="宋体" panose="02010600030101010101" pitchFamily="2" charset="-122"/>
                          <a:cs typeface="宋体" panose="02010600030101010101" pitchFamily="2" charset="-122"/>
                        </a:rPr>
                        <a:t>全部引用参数</a:t>
                      </a:r>
                      <a:r>
                        <a:rPr lang="en-US" sz="1600" b="0">
                          <a:latin typeface="Consolas" panose="020B0609020204030204" charset="0"/>
                          <a:cs typeface="Consolas" panose="020B0609020204030204" charset="0"/>
                        </a:rPr>
                        <a:t>value指定的值</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buNone/>
                      </a:pPr>
                      <a:r>
                        <a:rPr lang="en-US" sz="1600" b="0">
                          <a:latin typeface="Consolas" panose="020B0609020204030204" charset="0"/>
                          <a:cs typeface="Consolas" panose="020B0609020204030204" charset="0"/>
                        </a:rPr>
                        <a:t>get(key,</a:t>
                      </a:r>
                      <a:endParaRPr lang="en-US" sz="1600" b="0">
                        <a:latin typeface="Consolas" panose="020B0609020204030204" charset="0"/>
                        <a:cs typeface="Consolas" panose="020B0609020204030204" charset="0"/>
                      </a:endParaRPr>
                    </a:p>
                    <a:p>
                      <a:pPr indent="0">
                        <a:buNone/>
                      </a:pPr>
                      <a:r>
                        <a:rPr lang="en-US" sz="1600" b="0">
                          <a:latin typeface="Consolas" panose="020B0609020204030204" charset="0"/>
                          <a:cs typeface="Consolas" panose="020B0609020204030204" charset="0"/>
                        </a:rPr>
                        <a:t>    default=None,/)</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返回当前字典对象中以参数key为“键”对应的元素的“值”，如果当前字典对象中没有以key为“键”的元素，返回</a:t>
                      </a:r>
                      <a:r>
                        <a:rPr lang="en-US" sz="1600" b="0">
                          <a:latin typeface="宋体" panose="02010600030101010101" pitchFamily="2" charset="-122"/>
                          <a:ea typeface="宋体" panose="02010600030101010101" pitchFamily="2" charset="-122"/>
                          <a:cs typeface="宋体" panose="02010600030101010101" pitchFamily="2" charset="-122"/>
                        </a:rPr>
                        <a:t>参数</a:t>
                      </a:r>
                      <a:r>
                        <a:rPr lang="en-US" sz="1600" b="0">
                          <a:latin typeface="Consolas" panose="020B0609020204030204" charset="0"/>
                          <a:cs typeface="Consolas" panose="020B0609020204030204" charset="0"/>
                        </a:rPr>
                        <a:t>default的值</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buNone/>
                      </a:pPr>
                      <a:r>
                        <a:rPr lang="en-US" sz="1600" b="0">
                          <a:latin typeface="Consolas" panose="020B0609020204030204" charset="0"/>
                          <a:cs typeface="Consolas" panose="020B0609020204030204" charset="0"/>
                        </a:rPr>
                        <a:t>items()</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不接收参数，返回包含当前字典对象中所有元素的dict_items对象，其中每个元素形式为元组(key,value)</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buNone/>
                      </a:pPr>
                      <a:r>
                        <a:rPr lang="en-US" sz="1600" b="0">
                          <a:latin typeface="Consolas" panose="020B0609020204030204" charset="0"/>
                          <a:cs typeface="Consolas" panose="020B0609020204030204" charset="0"/>
                        </a:rPr>
                        <a:t>keys()</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不接收参数，返回当前字典对象中所有的“键”，结果为dict_keys类型的可迭代对象，可以和集合进行并集、交集、差集等运算</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buNone/>
                      </a:pPr>
                      <a:r>
                        <a:rPr lang="en-US" sz="1600" b="0">
                          <a:latin typeface="Consolas" panose="020B0609020204030204" charset="0"/>
                          <a:cs typeface="Consolas" panose="020B0609020204030204" charset="0"/>
                        </a:rPr>
                        <a:t>pop(k[,d])</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删除以k为“键”的元素，返回对应</a:t>
                      </a:r>
                      <a:r>
                        <a:rPr lang="en-US" sz="1600" b="0">
                          <a:latin typeface="宋体" panose="02010600030101010101" pitchFamily="2" charset="-122"/>
                          <a:ea typeface="宋体" panose="02010600030101010101" pitchFamily="2" charset="-122"/>
                          <a:cs typeface="宋体" panose="02010600030101010101" pitchFamily="2" charset="-122"/>
                        </a:rPr>
                        <a:t>元素</a:t>
                      </a:r>
                      <a:r>
                        <a:rPr lang="en-US" sz="1600" b="0">
                          <a:latin typeface="Consolas" panose="020B0609020204030204" charset="0"/>
                          <a:cs typeface="Consolas" panose="020B0609020204030204" charset="0"/>
                        </a:rPr>
                        <a:t>的“值”，如果当前字典中没有以k为“键”的元素，返回参数d，如果没有指定参数d，抛出KeyError异常</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buNone/>
                      </a:pPr>
                      <a:r>
                        <a:rPr lang="en-US" sz="1600" b="0">
                          <a:latin typeface="Consolas" panose="020B0609020204030204" charset="0"/>
                          <a:cs typeface="Consolas" panose="020B0609020204030204" charset="0"/>
                        </a:rPr>
                        <a:t>popitem()</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不接收参数，按LIFO（Last In First Out，后进先出）顺序</a:t>
                      </a:r>
                      <a:r>
                        <a:rPr lang="en-US" sz="1600">
                          <a:latin typeface="Consolas" panose="020B0609020204030204" charset="0"/>
                          <a:cs typeface="Consolas" panose="020B0609020204030204" charset="0"/>
                          <a:sym typeface="+mn-ea"/>
                        </a:rPr>
                        <a:t>删除并</a:t>
                      </a:r>
                      <a:r>
                        <a:rPr lang="en-US" sz="1600" b="0">
                          <a:latin typeface="Consolas" panose="020B0609020204030204" charset="0"/>
                          <a:cs typeface="Consolas" panose="020B0609020204030204" charset="0"/>
                        </a:rPr>
                        <a:t>返回一个元组(key, value)，如果当前字典为空则抛出KeyError异常</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buNone/>
                      </a:pPr>
                      <a:r>
                        <a:rPr lang="en-US" sz="1600" b="0">
                          <a:latin typeface="Consolas" panose="020B0609020204030204" charset="0"/>
                          <a:cs typeface="Consolas" panose="020B0609020204030204" charset="0"/>
                        </a:rPr>
                        <a:t>setdefault(key,</a:t>
                      </a:r>
                      <a:endParaRPr lang="en-US" sz="1600" b="0">
                        <a:latin typeface="Consolas" panose="020B0609020204030204" charset="0"/>
                        <a:cs typeface="Consolas" panose="020B0609020204030204" charset="0"/>
                      </a:endParaRPr>
                    </a:p>
                    <a:p>
                      <a:pPr indent="0">
                        <a:buNone/>
                      </a:pPr>
                      <a:r>
                        <a:rPr lang="en-US" sz="1600" b="0">
                          <a:latin typeface="Consolas" panose="020B0609020204030204" charset="0"/>
                          <a:cs typeface="Consolas" panose="020B0609020204030204" charset="0"/>
                        </a:rPr>
                        <a:t>           default=None,</a:t>
                      </a:r>
                      <a:endParaRPr lang="en-US" sz="1600" b="0">
                        <a:latin typeface="Consolas" panose="020B0609020204030204" charset="0"/>
                        <a:cs typeface="Consolas" panose="020B0609020204030204" charset="0"/>
                      </a:endParaRPr>
                    </a:p>
                    <a:p>
                      <a:pPr indent="0">
                        <a:buNone/>
                      </a:pPr>
                      <a:r>
                        <a:rPr lang="en-US" sz="1600" b="0">
                          <a:latin typeface="Consolas" panose="020B0609020204030204" charset="0"/>
                          <a:cs typeface="Consolas" panose="020B0609020204030204" charset="0"/>
                        </a:rPr>
                        <a:t>           /)</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宋体" panose="02010600030101010101" pitchFamily="2" charset="-122"/>
                          <a:ea typeface="宋体" panose="02010600030101010101" pitchFamily="2" charset="-122"/>
                          <a:cs typeface="宋体" panose="02010600030101010101" pitchFamily="2" charset="-122"/>
                        </a:rPr>
                        <a:t>如果参数key是当前字典的“键”，返回对应的“值”；如果key不是当前字典的“键”，插入元素“key:default”并返回default的值</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buNone/>
                      </a:pPr>
                      <a:r>
                        <a:rPr lang="en-US" sz="1600" b="0">
                          <a:latin typeface="Consolas" panose="020B0609020204030204" charset="0"/>
                          <a:cs typeface="Consolas" panose="020B0609020204030204" charset="0"/>
                        </a:rPr>
                        <a:t>update([E, ]**F)</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使用E和F中的数据更新当前字典对象，**表示参数F只能接收字典或关键参数</a:t>
                      </a:r>
                      <a:r>
                        <a:rPr lang="en-US" sz="1600" b="0">
                          <a:latin typeface="宋体" panose="02010600030101010101" pitchFamily="2" charset="-122"/>
                          <a:ea typeface="宋体" panose="02010600030101010101" pitchFamily="2" charset="-122"/>
                          <a:cs typeface="宋体" panose="02010600030101010101" pitchFamily="2" charset="-122"/>
                        </a:rPr>
                        <a:t>（见5.2.3节）</a:t>
                      </a:r>
                      <a:r>
                        <a:rPr lang="en-US" sz="1600" b="0">
                          <a:latin typeface="Consolas" panose="020B0609020204030204" charset="0"/>
                          <a:cs typeface="Consolas" panose="020B0609020204030204" charset="0"/>
                        </a:rPr>
                        <a:t>，没有返回值</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buNone/>
                      </a:pPr>
                      <a:r>
                        <a:rPr lang="en-US" sz="1600" b="0">
                          <a:latin typeface="Consolas" panose="020B0609020204030204" charset="0"/>
                          <a:cs typeface="Consolas" panose="020B0609020204030204" charset="0"/>
                        </a:rPr>
                        <a:t>values()</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不接收参数，返回包含当前字典对象中所有的“值”的dict_values对象</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3.3.1  字典创建与删除</a:t>
            </a:r>
            <a:endParaRPr lang="zh-CN" altLang="en-US"/>
          </a:p>
        </p:txBody>
      </p:sp>
      <p:sp>
        <p:nvSpPr>
          <p:cNvPr id="3" name="内容占位符 2"/>
          <p:cNvSpPr>
            <a:spLocks noGrp="1"/>
          </p:cNvSpPr>
          <p:nvPr>
            <p:ph idx="1"/>
          </p:nvPr>
        </p:nvSpPr>
        <p:spPr>
          <a:xfrm>
            <a:off x="838200" y="1321435"/>
            <a:ext cx="10515600" cy="5035550"/>
          </a:xfrm>
        </p:spPr>
        <p:txBody>
          <a:bodyPr>
            <a:normAutofit/>
          </a:bodyPr>
          <a:p>
            <a:pPr fontAlgn="auto">
              <a:lnSpc>
                <a:spcPct val="120000"/>
              </a:lnSpc>
              <a:spcBef>
                <a:spcPts val="0"/>
              </a:spcBef>
              <a:buFont typeface="Arial" panose="020B0604020202020204" pitchFamily="34" charset="0"/>
              <a:buChar char="•"/>
            </a:pPr>
            <a:r>
              <a:rPr lang="zh-CN" altLang="en-US" sz="2400"/>
              <a:t>使用赋值运算符“=”将一个字典赋值给一个变量即可创建一个字典变量。</a:t>
            </a:r>
            <a:endParaRPr lang="zh-CN" altLang="en-US" sz="2400"/>
          </a:p>
          <a:p>
            <a:pPr marL="0" indent="0" fontAlgn="auto">
              <a:lnSpc>
                <a:spcPct val="120000"/>
              </a:lnSpc>
              <a:spcBef>
                <a:spcPts val="0"/>
              </a:spcBef>
              <a:buNone/>
            </a:pPr>
            <a:r>
              <a:rPr lang="zh-CN" altLang="en-US" sz="1800">
                <a:latin typeface="Consolas" panose="020B0609020204030204" charset="0"/>
                <a:cs typeface="Consolas" panose="020B0609020204030204" charset="0"/>
              </a:rPr>
              <a:t>&gt;&gt;&gt; aDict = {'server': 'db.diveintopython3.org', 'database': 'mysql'}</a:t>
            </a:r>
            <a:endParaRPr lang="zh-CN" altLang="en-US" sz="1800">
              <a:latin typeface="Consolas" panose="020B0609020204030204" charset="0"/>
              <a:cs typeface="Consolas" panose="020B0609020204030204" charset="0"/>
            </a:endParaRPr>
          </a:p>
          <a:p>
            <a:pPr marL="0" indent="0" fontAlgn="auto">
              <a:lnSpc>
                <a:spcPct val="120000"/>
              </a:lnSpc>
              <a:spcBef>
                <a:spcPts val="0"/>
              </a:spcBef>
              <a:buNone/>
            </a:pPr>
            <a:r>
              <a:rPr lang="zh-CN" altLang="en-US" sz="1800">
                <a:latin typeface="Consolas" panose="020B0609020204030204" charset="0"/>
                <a:cs typeface="Consolas" panose="020B0609020204030204" charset="0"/>
              </a:rPr>
              <a:t>&gt;&gt;&gt; data = {'国家': ['富强', '民主', '文明', '和谐'],</a:t>
            </a:r>
            <a:endParaRPr lang="zh-CN" altLang="en-US" sz="1800">
              <a:latin typeface="Consolas" panose="020B0609020204030204" charset="0"/>
              <a:cs typeface="Consolas" panose="020B0609020204030204" charset="0"/>
            </a:endParaRPr>
          </a:p>
          <a:p>
            <a:pPr marL="0" indent="0" fontAlgn="auto">
              <a:lnSpc>
                <a:spcPct val="120000"/>
              </a:lnSpc>
              <a:spcBef>
                <a:spcPts val="0"/>
              </a:spcBef>
              <a:buNone/>
            </a:pPr>
            <a:r>
              <a:rPr lang="zh-CN" altLang="en-US" sz="1800">
                <a:latin typeface="Consolas" panose="020B0609020204030204" charset="0"/>
                <a:cs typeface="Consolas" panose="020B0609020204030204" charset="0"/>
              </a:rPr>
              <a:t>            '社会': ['自由', '平等', '公正', '法治</a:t>
            </a:r>
            <a:r>
              <a:rPr lang="zh-CN" altLang="en-US" sz="1800">
                <a:latin typeface="Consolas" panose="020B0609020204030204" charset="0"/>
                <a:cs typeface="Consolas" panose="020B0609020204030204" charset="0"/>
              </a:rPr>
              <a:t>'],</a:t>
            </a:r>
            <a:endParaRPr lang="zh-CN" altLang="en-US" sz="1800">
              <a:latin typeface="Consolas" panose="020B0609020204030204" charset="0"/>
              <a:cs typeface="Consolas" panose="020B0609020204030204" charset="0"/>
            </a:endParaRPr>
          </a:p>
          <a:p>
            <a:pPr marL="0" indent="0" fontAlgn="auto">
              <a:lnSpc>
                <a:spcPct val="120000"/>
              </a:lnSpc>
              <a:spcBef>
                <a:spcPts val="0"/>
              </a:spcBef>
              <a:buNone/>
            </a:pPr>
            <a:r>
              <a:rPr lang="zh-CN" altLang="en-US" sz="1800">
                <a:latin typeface="Consolas" panose="020B0609020204030204" charset="0"/>
                <a:cs typeface="Consolas" panose="020B0609020204030204" charset="0"/>
              </a:rPr>
              <a:t>            '公民': ['爱国', '敬业', '诚信', '友善']}</a:t>
            </a:r>
            <a:endParaRPr lang="zh-CN" altLang="en-US" sz="1800">
              <a:latin typeface="Consolas" panose="020B0609020204030204" charset="0"/>
              <a:cs typeface="Consolas" panose="020B0609020204030204" charset="0"/>
            </a:endParaRPr>
          </a:p>
          <a:p>
            <a:pPr fontAlgn="auto">
              <a:lnSpc>
                <a:spcPct val="120000"/>
              </a:lnSpc>
              <a:spcBef>
                <a:spcPts val="0"/>
              </a:spcBef>
              <a:buFont typeface="Arial" panose="020B0604020202020204" pitchFamily="34" charset="0"/>
              <a:buChar char="•"/>
            </a:pPr>
            <a:r>
              <a:rPr lang="zh-CN" altLang="en-US" sz="2400"/>
              <a:t>也可以使用内置类dict以不同形式创建字典。</a:t>
            </a:r>
            <a:endParaRPr lang="zh-CN" altLang="en-US" sz="2400"/>
          </a:p>
          <a:p>
            <a:pPr marL="0" indent="0" fontAlgn="auto">
              <a:lnSpc>
                <a:spcPct val="120000"/>
              </a:lnSpc>
              <a:spcBef>
                <a:spcPts val="0"/>
              </a:spcBef>
              <a:buNone/>
            </a:pPr>
            <a:r>
              <a:rPr lang="zh-CN" altLang="en-US" sz="1800">
                <a:latin typeface="Consolas" panose="020B0609020204030204" charset="0"/>
                <a:cs typeface="Consolas" panose="020B0609020204030204" charset="0"/>
              </a:rPr>
              <a:t>&gt;&gt;&gt; x = dict()                               # 空字典</a:t>
            </a:r>
            <a:endParaRPr lang="zh-CN" altLang="en-US" sz="1800">
              <a:latin typeface="Consolas" panose="020B0609020204030204" charset="0"/>
              <a:cs typeface="Consolas" panose="020B0609020204030204" charset="0"/>
            </a:endParaRPr>
          </a:p>
          <a:p>
            <a:pPr marL="0" indent="0" fontAlgn="auto">
              <a:lnSpc>
                <a:spcPct val="120000"/>
              </a:lnSpc>
              <a:spcBef>
                <a:spcPts val="0"/>
              </a:spcBef>
              <a:buNone/>
            </a:pPr>
            <a:r>
              <a:rPr lang="zh-CN" altLang="en-US" sz="1800">
                <a:latin typeface="Consolas" panose="020B0609020204030204" charset="0"/>
                <a:cs typeface="Consolas" panose="020B0609020204030204" charset="0"/>
              </a:rPr>
              <a:t>&gt;&gt;&gt; type(x)                                  # 查看对象类型</a:t>
            </a:r>
            <a:endParaRPr lang="zh-CN" altLang="en-US" sz="1800">
              <a:latin typeface="Consolas" panose="020B0609020204030204" charset="0"/>
              <a:cs typeface="Consolas" panose="020B0609020204030204" charset="0"/>
            </a:endParaRPr>
          </a:p>
          <a:p>
            <a:pPr marL="0" indent="0" fontAlgn="auto">
              <a:lnSpc>
                <a:spcPct val="120000"/>
              </a:lnSpc>
              <a:spcBef>
                <a:spcPts val="0"/>
              </a:spcBef>
              <a:buNone/>
            </a:pPr>
            <a:r>
              <a:rPr lang="zh-CN" altLang="en-US" sz="1800">
                <a:solidFill>
                  <a:srgbClr val="00B0F0"/>
                </a:solidFill>
                <a:latin typeface="Consolas" panose="020B0609020204030204" charset="0"/>
                <a:cs typeface="Consolas" panose="020B0609020204030204" charset="0"/>
              </a:rPr>
              <a:t>&lt;class 'dict'&gt;</a:t>
            </a:r>
            <a:endParaRPr lang="zh-CN" altLang="en-US" sz="1800">
              <a:solidFill>
                <a:srgbClr val="00B0F0"/>
              </a:solidFill>
              <a:latin typeface="Consolas" panose="020B0609020204030204" charset="0"/>
              <a:cs typeface="Consolas" panose="020B0609020204030204" charset="0"/>
            </a:endParaRPr>
          </a:p>
          <a:p>
            <a:pPr marL="0" indent="0" fontAlgn="auto">
              <a:lnSpc>
                <a:spcPct val="120000"/>
              </a:lnSpc>
              <a:spcBef>
                <a:spcPts val="0"/>
              </a:spcBef>
              <a:buNone/>
            </a:pPr>
            <a:r>
              <a:rPr lang="zh-CN" altLang="en-US" sz="1800">
                <a:latin typeface="Consolas" panose="020B0609020204030204" charset="0"/>
                <a:cs typeface="Consolas" panose="020B0609020204030204" charset="0"/>
              </a:rPr>
              <a:t>&gt;&gt;&gt; x = {}                                   # 空字典</a:t>
            </a:r>
            <a:endParaRPr lang="zh-CN" altLang="en-US" sz="1800">
              <a:latin typeface="Consolas" panose="020B0609020204030204" charset="0"/>
              <a:cs typeface="Consolas" panose="020B0609020204030204" charset="0"/>
            </a:endParaRPr>
          </a:p>
          <a:p>
            <a:pPr marL="0" indent="0" fontAlgn="auto">
              <a:lnSpc>
                <a:spcPct val="120000"/>
              </a:lnSpc>
              <a:spcBef>
                <a:spcPts val="0"/>
              </a:spcBef>
              <a:buNone/>
            </a:pPr>
            <a:r>
              <a:rPr lang="zh-CN" altLang="en-US" sz="1800">
                <a:latin typeface="Consolas" panose="020B0609020204030204" charset="0"/>
                <a:cs typeface="Consolas" panose="020B0609020204030204" charset="0"/>
              </a:rPr>
              <a:t>&gt;&gt;&gt; keys = ['a', 'b', 'c', 'd']</a:t>
            </a:r>
            <a:endParaRPr lang="zh-CN" altLang="en-US" sz="1800">
              <a:latin typeface="Consolas" panose="020B0609020204030204" charset="0"/>
              <a:cs typeface="Consolas" panose="020B0609020204030204" charset="0"/>
            </a:endParaRPr>
          </a:p>
          <a:p>
            <a:pPr marL="0" indent="0" fontAlgn="auto">
              <a:lnSpc>
                <a:spcPct val="120000"/>
              </a:lnSpc>
              <a:spcBef>
                <a:spcPts val="0"/>
              </a:spcBef>
              <a:buNone/>
            </a:pPr>
            <a:r>
              <a:rPr lang="zh-CN" altLang="en-US" sz="1800">
                <a:latin typeface="Consolas" panose="020B0609020204030204" charset="0"/>
                <a:cs typeface="Consolas" panose="020B0609020204030204" charset="0"/>
              </a:rPr>
              <a:t>&gt;&gt;&gt; values = [1, 2, 3, 4]</a:t>
            </a:r>
            <a:endParaRPr lang="zh-CN" altLang="en-US" sz="1800">
              <a:latin typeface="Consolas" panose="020B0609020204030204" charset="0"/>
              <a:cs typeface="Consolas" panose="020B0609020204030204" charset="0"/>
            </a:endParaRPr>
          </a:p>
          <a:p>
            <a:pPr marL="0" indent="0" fontAlgn="auto">
              <a:lnSpc>
                <a:spcPct val="120000"/>
              </a:lnSpc>
              <a:spcBef>
                <a:spcPts val="0"/>
              </a:spcBef>
              <a:buNone/>
            </a:pPr>
            <a:r>
              <a:rPr lang="zh-CN" altLang="en-US" sz="1800">
                <a:latin typeface="Consolas" panose="020B0609020204030204" charset="0"/>
                <a:cs typeface="Consolas" panose="020B0609020204030204" charset="0"/>
              </a:rPr>
              <a:t>&gt;&gt;&gt; d = dict(zip(keys, values))  </a:t>
            </a:r>
            <a:r>
              <a:rPr lang="en-US" altLang="zh-CN" sz="1800">
                <a:latin typeface="Consolas" panose="020B0609020204030204" charset="0"/>
                <a:cs typeface="Consolas" panose="020B0609020204030204" charset="0"/>
              </a:rPr>
              <a:t>         </a:t>
            </a:r>
            <a:r>
              <a:rPr lang="zh-CN" altLang="en-US" sz="1800">
                <a:latin typeface="Consolas" panose="020B0609020204030204" charset="0"/>
                <a:cs typeface="Consolas" panose="020B0609020204030204" charset="0"/>
              </a:rPr>
              <a:t>   # 根据已有数据创建字典</a:t>
            </a:r>
            <a:endParaRPr lang="zh-CN" altLang="en-US" sz="1800">
              <a:latin typeface="Consolas" panose="020B0609020204030204" charset="0"/>
              <a:cs typeface="Consolas" panose="020B0609020204030204" charset="0"/>
            </a:endParaRPr>
          </a:p>
          <a:p>
            <a:pPr marL="0" indent="0" fontAlgn="auto">
              <a:lnSpc>
                <a:spcPct val="120000"/>
              </a:lnSpc>
              <a:spcBef>
                <a:spcPts val="0"/>
              </a:spcBef>
              <a:buNone/>
            </a:pPr>
            <a:r>
              <a:rPr lang="zh-CN" altLang="en-US" sz="1800">
                <a:latin typeface="Consolas" panose="020B0609020204030204" charset="0"/>
                <a:cs typeface="Consolas" panose="020B0609020204030204" charset="0"/>
              </a:rPr>
              <a:t>&gt;&gt;&gt; d = dict(name='Dong', age=39)            # 以关键参数的形式创建字典</a:t>
            </a:r>
            <a:endParaRPr lang="zh-CN" altLang="en-US" sz="18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3.3.1  字典创建与删除</a:t>
            </a:r>
            <a:endParaRPr lang="zh-CN" altLang="en-US"/>
          </a:p>
        </p:txBody>
      </p:sp>
      <p:sp>
        <p:nvSpPr>
          <p:cNvPr id="3" name="内容占位符 2"/>
          <p:cNvSpPr>
            <a:spLocks noGrp="1"/>
          </p:cNvSpPr>
          <p:nvPr>
            <p:ph idx="1"/>
          </p:nvPr>
        </p:nvSpPr>
        <p:spPr>
          <a:xfrm>
            <a:off x="838200" y="1321435"/>
            <a:ext cx="10515600" cy="5034915"/>
          </a:xfrm>
        </p:spPr>
        <p:txBody>
          <a:bodyPr>
            <a:normAutofit fontScale="50000"/>
          </a:bodyPr>
          <a:p>
            <a:pPr marL="0" indent="0" fontAlgn="auto">
              <a:lnSpc>
                <a:spcPct val="120000"/>
              </a:lnSpc>
              <a:spcBef>
                <a:spcPts val="0"/>
              </a:spcBef>
              <a:buNone/>
            </a:pPr>
            <a:r>
              <a:rPr lang="zh-CN" altLang="en-US" sz="3200">
                <a:latin typeface="Consolas" panose="020B0609020204030204" charset="0"/>
                <a:cs typeface="Consolas" panose="020B0609020204030204" charset="0"/>
                <a:sym typeface="+mn-ea"/>
              </a:rPr>
              <a:t>&gt;&gt;&gt; dict.fromkeys(['name', 'age', 'sex'])</a:t>
            </a:r>
            <a:r>
              <a:rPr lang="en-US" altLang="zh-CN" sz="3200">
                <a:latin typeface="Consolas" panose="020B0609020204030204" charset="0"/>
                <a:cs typeface="Consolas" panose="020B0609020204030204" charset="0"/>
              </a:rPr>
              <a:t>  </a:t>
            </a:r>
            <a:r>
              <a:rPr lang="zh-CN" altLang="en-US" sz="3200">
                <a:latin typeface="Consolas" panose="020B0609020204030204" charset="0"/>
                <a:cs typeface="Consolas" panose="020B0609020204030204" charset="0"/>
                <a:sym typeface="+mn-ea"/>
              </a:rPr>
              <a:t># 以给定内容为“键”，创建“值”为空的字典</a:t>
            </a:r>
            <a:endParaRPr lang="zh-CN" altLang="en-US" sz="3200">
              <a:latin typeface="Consolas" panose="020B0609020204030204" charset="0"/>
              <a:cs typeface="Consolas" panose="020B0609020204030204" charset="0"/>
            </a:endParaRPr>
          </a:p>
          <a:p>
            <a:pPr marL="0" indent="0" fontAlgn="auto">
              <a:lnSpc>
                <a:spcPct val="120000"/>
              </a:lnSpc>
              <a:spcBef>
                <a:spcPts val="0"/>
              </a:spcBef>
              <a:buNone/>
            </a:pPr>
            <a:r>
              <a:rPr lang="zh-CN" altLang="en-US" sz="3200">
                <a:solidFill>
                  <a:srgbClr val="00B0F0"/>
                </a:solidFill>
                <a:latin typeface="Consolas" panose="020B0609020204030204" charset="0"/>
                <a:cs typeface="Consolas" panose="020B0609020204030204" charset="0"/>
                <a:sym typeface="+mn-ea"/>
              </a:rPr>
              <a:t>{'name': None, 'age': None, 'sex': None}</a:t>
            </a:r>
            <a:endParaRPr lang="zh-CN" altLang="en-US" sz="32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3200">
                <a:latin typeface="Consolas" panose="020B0609020204030204" charset="0"/>
                <a:cs typeface="Consolas" panose="020B0609020204030204" charset="0"/>
              </a:rPr>
              <a:t>&gt;&gt;&gt; dict.fromkeys([3, 5, 7], 666)          # 所有元素的“值”都是666</a:t>
            </a:r>
            <a:endParaRPr lang="zh-CN" altLang="en-US" sz="3200">
              <a:latin typeface="Consolas" panose="020B0609020204030204" charset="0"/>
              <a:cs typeface="Consolas" panose="020B0609020204030204" charset="0"/>
            </a:endParaRPr>
          </a:p>
          <a:p>
            <a:pPr marL="0" indent="0" fontAlgn="auto">
              <a:lnSpc>
                <a:spcPct val="100000"/>
              </a:lnSpc>
              <a:spcBef>
                <a:spcPts val="0"/>
              </a:spcBef>
              <a:buNone/>
            </a:pPr>
            <a:r>
              <a:rPr lang="zh-CN" altLang="en-US" sz="3200">
                <a:solidFill>
                  <a:srgbClr val="00B0F0"/>
                </a:solidFill>
                <a:latin typeface="Consolas" panose="020B0609020204030204" charset="0"/>
                <a:cs typeface="Consolas" panose="020B0609020204030204" charset="0"/>
              </a:rPr>
              <a:t>{3: 666, 5: 666, 7: 666}</a:t>
            </a:r>
            <a:endParaRPr lang="zh-CN" altLang="en-US" sz="32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3200">
                <a:latin typeface="Consolas" panose="020B0609020204030204" charset="0"/>
                <a:cs typeface="Consolas" panose="020B0609020204030204" charset="0"/>
              </a:rPr>
              <a:t>&gt;&gt;&gt; d = dict.fromkeys([3, 5, 7], [])       # 所有元素的“值”引用同一个空列表</a:t>
            </a:r>
            <a:endParaRPr lang="zh-CN" altLang="en-US" sz="3200">
              <a:latin typeface="Consolas" panose="020B0609020204030204" charset="0"/>
              <a:cs typeface="Consolas" panose="020B0609020204030204" charset="0"/>
            </a:endParaRPr>
          </a:p>
          <a:p>
            <a:pPr marL="0" indent="0" fontAlgn="auto">
              <a:lnSpc>
                <a:spcPct val="100000"/>
              </a:lnSpc>
              <a:spcBef>
                <a:spcPts val="0"/>
              </a:spcBef>
              <a:buNone/>
            </a:pPr>
            <a:r>
              <a:rPr lang="zh-CN" altLang="en-US" sz="3200">
                <a:latin typeface="Consolas" panose="020B0609020204030204" charset="0"/>
                <a:cs typeface="Consolas" panose="020B0609020204030204" charset="0"/>
              </a:rPr>
              <a:t>&gt;&gt;&gt; d</a:t>
            </a:r>
            <a:endParaRPr lang="zh-CN" altLang="en-US" sz="3200">
              <a:latin typeface="Consolas" panose="020B0609020204030204" charset="0"/>
              <a:cs typeface="Consolas" panose="020B0609020204030204" charset="0"/>
            </a:endParaRPr>
          </a:p>
          <a:p>
            <a:pPr marL="0" indent="0" fontAlgn="auto">
              <a:lnSpc>
                <a:spcPct val="100000"/>
              </a:lnSpc>
              <a:spcBef>
                <a:spcPts val="0"/>
              </a:spcBef>
              <a:buNone/>
            </a:pPr>
            <a:r>
              <a:rPr lang="zh-CN" altLang="en-US" sz="3200">
                <a:solidFill>
                  <a:srgbClr val="00B0F0"/>
                </a:solidFill>
                <a:latin typeface="Consolas" panose="020B0609020204030204" charset="0"/>
                <a:cs typeface="Consolas" panose="020B0609020204030204" charset="0"/>
              </a:rPr>
              <a:t>{3: [], 5: [], 7: []}</a:t>
            </a:r>
            <a:endParaRPr lang="zh-CN" altLang="en-US" sz="32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3200">
                <a:latin typeface="Consolas" panose="020B0609020204030204" charset="0"/>
                <a:cs typeface="Consolas" panose="020B0609020204030204" charset="0"/>
              </a:rPr>
              <a:t>&gt;&gt;&gt; d[3].append(666)                       # 所有元素的“值”都是一样的</a:t>
            </a:r>
            <a:endParaRPr lang="zh-CN" altLang="en-US" sz="3200">
              <a:latin typeface="Consolas" panose="020B0609020204030204" charset="0"/>
              <a:cs typeface="Consolas" panose="020B0609020204030204" charset="0"/>
            </a:endParaRPr>
          </a:p>
          <a:p>
            <a:pPr marL="0" indent="0" fontAlgn="auto">
              <a:lnSpc>
                <a:spcPct val="100000"/>
              </a:lnSpc>
              <a:spcBef>
                <a:spcPts val="0"/>
              </a:spcBef>
              <a:buNone/>
            </a:pPr>
            <a:r>
              <a:rPr lang="zh-CN" altLang="en-US" sz="3200">
                <a:latin typeface="Consolas" panose="020B0609020204030204" charset="0"/>
                <a:cs typeface="Consolas" panose="020B0609020204030204" charset="0"/>
              </a:rPr>
              <a:t>&gt;&gt;&gt; d</a:t>
            </a:r>
            <a:endParaRPr lang="zh-CN" altLang="en-US" sz="3200">
              <a:latin typeface="Consolas" panose="020B0609020204030204" charset="0"/>
              <a:cs typeface="Consolas" panose="020B0609020204030204" charset="0"/>
            </a:endParaRPr>
          </a:p>
          <a:p>
            <a:pPr marL="0" indent="0" fontAlgn="auto">
              <a:lnSpc>
                <a:spcPct val="100000"/>
              </a:lnSpc>
              <a:spcBef>
                <a:spcPts val="0"/>
              </a:spcBef>
              <a:buNone/>
            </a:pPr>
            <a:r>
              <a:rPr lang="zh-CN" altLang="en-US" sz="3200">
                <a:solidFill>
                  <a:srgbClr val="00B0F0"/>
                </a:solidFill>
                <a:latin typeface="Consolas" panose="020B0609020204030204" charset="0"/>
                <a:cs typeface="Consolas" panose="020B0609020204030204" charset="0"/>
              </a:rPr>
              <a:t>{3: [666], 5: [666], 7: [666]}</a:t>
            </a:r>
            <a:endParaRPr lang="zh-CN" altLang="en-US" sz="32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3200">
                <a:latin typeface="Consolas" panose="020B0609020204030204" charset="0"/>
                <a:cs typeface="Consolas" panose="020B0609020204030204" charset="0"/>
              </a:rPr>
              <a:t>&gt;&gt;&gt; d[3] = 999                             # 修改一个元素“值”的引用</a:t>
            </a:r>
            <a:endParaRPr lang="zh-CN" altLang="en-US" sz="3200">
              <a:latin typeface="Consolas" panose="020B0609020204030204" charset="0"/>
              <a:cs typeface="Consolas" panose="020B0609020204030204" charset="0"/>
            </a:endParaRPr>
          </a:p>
          <a:p>
            <a:pPr marL="0" indent="0" fontAlgn="auto">
              <a:lnSpc>
                <a:spcPct val="100000"/>
              </a:lnSpc>
              <a:spcBef>
                <a:spcPts val="0"/>
              </a:spcBef>
              <a:buNone/>
            </a:pPr>
            <a:r>
              <a:rPr lang="zh-CN" altLang="en-US" sz="3200">
                <a:latin typeface="Consolas" panose="020B0609020204030204" charset="0"/>
                <a:cs typeface="Consolas" panose="020B0609020204030204" charset="0"/>
              </a:rPr>
              <a:t>                                           # 此后和其他的“值”再也没有关系了</a:t>
            </a:r>
            <a:endParaRPr lang="zh-CN" altLang="en-US" sz="3200">
              <a:latin typeface="Consolas" panose="020B0609020204030204" charset="0"/>
              <a:cs typeface="Consolas" panose="020B0609020204030204" charset="0"/>
            </a:endParaRPr>
          </a:p>
          <a:p>
            <a:pPr marL="0" indent="0" fontAlgn="auto">
              <a:lnSpc>
                <a:spcPct val="100000"/>
              </a:lnSpc>
              <a:spcBef>
                <a:spcPts val="0"/>
              </a:spcBef>
              <a:buNone/>
            </a:pPr>
            <a:r>
              <a:rPr lang="zh-CN" altLang="en-US" sz="3200">
                <a:latin typeface="Consolas" panose="020B0609020204030204" charset="0"/>
                <a:cs typeface="Consolas" panose="020B0609020204030204" charset="0"/>
              </a:rPr>
              <a:t>&gt;&gt;&gt; d</a:t>
            </a:r>
            <a:endParaRPr lang="zh-CN" altLang="en-US" sz="3200">
              <a:latin typeface="Consolas" panose="020B0609020204030204" charset="0"/>
              <a:cs typeface="Consolas" panose="020B0609020204030204" charset="0"/>
            </a:endParaRPr>
          </a:p>
          <a:p>
            <a:pPr marL="0" indent="0" fontAlgn="auto">
              <a:lnSpc>
                <a:spcPct val="100000"/>
              </a:lnSpc>
              <a:spcBef>
                <a:spcPts val="0"/>
              </a:spcBef>
              <a:buNone/>
            </a:pPr>
            <a:r>
              <a:rPr lang="zh-CN" altLang="en-US" sz="3200">
                <a:latin typeface="Consolas" panose="020B0609020204030204" charset="0"/>
                <a:cs typeface="Consolas" panose="020B0609020204030204" charset="0"/>
              </a:rPr>
              <a:t>{3: 999, 5: [666], 7: [666]}</a:t>
            </a:r>
            <a:endParaRPr lang="zh-CN" altLang="en-US" sz="3200">
              <a:latin typeface="Consolas" panose="020B0609020204030204" charset="0"/>
              <a:cs typeface="Consolas" panose="020B0609020204030204" charset="0"/>
            </a:endParaRPr>
          </a:p>
          <a:p>
            <a:pPr fontAlgn="auto">
              <a:lnSpc>
                <a:spcPct val="140000"/>
              </a:lnSpc>
              <a:spcBef>
                <a:spcPts val="0"/>
              </a:spcBef>
            </a:pPr>
            <a:r>
              <a:rPr lang="zh-CN" altLang="en-US" sz="4800">
                <a:latin typeface="Consolas" panose="020B0609020204030204" charset="0"/>
                <a:cs typeface="Consolas" panose="020B0609020204030204" charset="0"/>
              </a:rPr>
              <a:t>还可以使用字典推导式来创建字典。</a:t>
            </a:r>
            <a:endParaRPr lang="zh-CN" altLang="en-US" sz="4800">
              <a:latin typeface="Consolas" panose="020B0609020204030204" charset="0"/>
              <a:cs typeface="Consolas" panose="020B0609020204030204" charset="0"/>
            </a:endParaRPr>
          </a:p>
          <a:p>
            <a:pPr fontAlgn="auto">
              <a:lnSpc>
                <a:spcPct val="100000"/>
              </a:lnSpc>
              <a:spcBef>
                <a:spcPts val="0"/>
              </a:spcBef>
              <a:buNone/>
            </a:pPr>
            <a:r>
              <a:rPr lang="zh-CN" altLang="en-US" sz="3200">
                <a:latin typeface="Consolas" panose="020B0609020204030204" charset="0"/>
                <a:cs typeface="Consolas" panose="020B0609020204030204" charset="0"/>
              </a:rPr>
              <a:t>&gt;&gt;&gt; {num: chr(num) for num in range(97, 103)}</a:t>
            </a:r>
            <a:endParaRPr lang="zh-CN" altLang="en-US" sz="3200">
              <a:latin typeface="Consolas" panose="020B0609020204030204" charset="0"/>
              <a:cs typeface="Consolas" panose="020B0609020204030204" charset="0"/>
            </a:endParaRPr>
          </a:p>
          <a:p>
            <a:pPr marL="0" indent="0" fontAlgn="auto">
              <a:lnSpc>
                <a:spcPct val="100000"/>
              </a:lnSpc>
              <a:spcBef>
                <a:spcPts val="0"/>
              </a:spcBef>
              <a:buNone/>
            </a:pPr>
            <a:r>
              <a:rPr lang="zh-CN" altLang="en-US" sz="3200">
                <a:solidFill>
                  <a:srgbClr val="00B0F0"/>
                </a:solidFill>
                <a:latin typeface="Consolas" panose="020B0609020204030204" charset="0"/>
                <a:cs typeface="Consolas" panose="020B0609020204030204" charset="0"/>
              </a:rPr>
              <a:t>{97: 'a', 98: 'b', 99: 'c', 100: 'd', 101: 'e', 102: 'f'}</a:t>
            </a:r>
            <a:endParaRPr lang="zh-CN" altLang="en-US" sz="32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3.3.2  字典元素访问</a:t>
            </a:r>
            <a:endParaRPr lang="zh-CN" altLang="en-US"/>
          </a:p>
        </p:txBody>
      </p:sp>
      <p:sp>
        <p:nvSpPr>
          <p:cNvPr id="3" name="内容占位符 2"/>
          <p:cNvSpPr>
            <a:spLocks noGrp="1"/>
          </p:cNvSpPr>
          <p:nvPr>
            <p:ph idx="1"/>
          </p:nvPr>
        </p:nvSpPr>
        <p:spPr/>
        <p:txBody>
          <a:bodyPr/>
          <a:p>
            <a:pPr fontAlgn="auto">
              <a:lnSpc>
                <a:spcPct val="120000"/>
              </a:lnSpc>
              <a:spcBef>
                <a:spcPts val="0"/>
              </a:spcBef>
              <a:buFont typeface="Arial" panose="020B0604020202020204" pitchFamily="34" charset="0"/>
              <a:buChar char="•"/>
            </a:pPr>
            <a:r>
              <a:rPr lang="zh-CN" altLang="en-US" sz="2400"/>
              <a:t>字典中的每个元素表示一种映射关系或对应关系，根据提供的“键”作为下标就可以访问对应的“值”，如果字典中不存在这个“键”会抛出异常。</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aDict = {'age': 39, 'score': [98, 97], 'name': 'Dong', 'sex': 'male'}</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aDict['age']                     # 指定的“键”存在，返回对应的“值”</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39</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aDict['address']                 # 指定的“键”不存在，抛出异常</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FF0000"/>
                </a:solidFill>
                <a:latin typeface="Consolas" panose="020B0609020204030204" charset="0"/>
                <a:cs typeface="Consolas" panose="020B0609020204030204" charset="0"/>
              </a:rPr>
              <a:t>KeyError: 'address'</a:t>
            </a:r>
            <a:endParaRPr lang="zh-CN" altLang="en-US" sz="2000">
              <a:solidFill>
                <a:srgbClr val="FF000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3.3.2  字典元素访问</a:t>
            </a:r>
            <a:endParaRPr lang="zh-CN" altLang="en-US"/>
          </a:p>
        </p:txBody>
      </p:sp>
      <p:sp>
        <p:nvSpPr>
          <p:cNvPr id="3" name="内容占位符 2"/>
          <p:cNvSpPr>
            <a:spLocks noGrp="1"/>
          </p:cNvSpPr>
          <p:nvPr>
            <p:ph idx="1"/>
          </p:nvPr>
        </p:nvSpPr>
        <p:spPr>
          <a:xfrm>
            <a:off x="838200" y="1321435"/>
            <a:ext cx="10515600" cy="4834890"/>
          </a:xfrm>
        </p:spPr>
        <p:txBody>
          <a:bodyPr>
            <a:normAutofit fontScale="70000"/>
          </a:bodyPr>
          <a:p>
            <a:pPr>
              <a:lnSpc>
                <a:spcPct val="120000"/>
              </a:lnSpc>
            </a:pPr>
            <a:r>
              <a:rPr lang="zh-CN" altLang="en-US" sz="3430"/>
              <a:t>可以使用选择结构或异常处理结构来避免</a:t>
            </a:r>
            <a:r>
              <a:rPr lang="en-US" altLang="zh-CN" sz="3430"/>
              <a:t>“</a:t>
            </a:r>
            <a:r>
              <a:rPr lang="zh-CN" altLang="en-US" sz="3430"/>
              <a:t>键</a:t>
            </a:r>
            <a:r>
              <a:rPr lang="en-US" altLang="zh-CN" sz="3430"/>
              <a:t>”</a:t>
            </a:r>
            <a:r>
              <a:rPr lang="zh-CN" altLang="en-US" sz="3430"/>
              <a:t>不存在时代码崩溃抛出异常。</a:t>
            </a:r>
            <a:endParaRPr lang="zh-CN" altLang="en-US" sz="3430"/>
          </a:p>
          <a:p>
            <a:pPr marL="0" indent="0" fontAlgn="auto">
              <a:lnSpc>
                <a:spcPct val="100000"/>
              </a:lnSpc>
              <a:spcBef>
                <a:spcPts val="0"/>
              </a:spcBef>
              <a:buNone/>
            </a:pPr>
            <a:r>
              <a:rPr lang="zh-CN" altLang="en-US">
                <a:latin typeface="Consolas" panose="020B0609020204030204" charset="0"/>
                <a:cs typeface="Consolas" panose="020B0609020204030204" charset="0"/>
              </a:rPr>
              <a:t>&gt;&gt;&gt; aDict = {'age': 39, 'score': [98, 97], 'name': 'Dong', 'sex': 'male'}</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&gt;&gt;&gt; if 'Age' in aDict:</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en-US" altLang="zh-CN">
                <a:latin typeface="Consolas" panose="020B0609020204030204" charset="0"/>
                <a:cs typeface="Consolas" panose="020B0609020204030204" charset="0"/>
              </a:rPr>
              <a:t>    </a:t>
            </a:r>
            <a:r>
              <a:rPr lang="zh-CN" altLang="en-US">
                <a:latin typeface="Consolas" panose="020B0609020204030204" charset="0"/>
                <a:cs typeface="Consolas" panose="020B0609020204030204" charset="0"/>
              </a:rPr>
              <a:t>print(aDict['Age'])</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else:</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en-US" altLang="zh-CN">
                <a:latin typeface="Consolas" panose="020B0609020204030204" charset="0"/>
                <a:cs typeface="Consolas" panose="020B0609020204030204" charset="0"/>
              </a:rPr>
              <a:t>    </a:t>
            </a:r>
            <a:r>
              <a:rPr lang="zh-CN" altLang="en-US">
                <a:latin typeface="Consolas" panose="020B0609020204030204" charset="0"/>
                <a:cs typeface="Consolas" panose="020B0609020204030204" charset="0"/>
              </a:rPr>
              <a:t>print('Not Exists.')</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solidFill>
                  <a:srgbClr val="00B0F0"/>
                </a:solidFill>
                <a:latin typeface="Consolas" panose="020B0609020204030204" charset="0"/>
                <a:cs typeface="Consolas" panose="020B0609020204030204" charset="0"/>
              </a:rPr>
              <a:t>Not Exists.</a:t>
            </a:r>
            <a:endParaRPr lang="zh-CN" altLang="en-US">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&gt;&gt;&gt; try:</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en-US" altLang="zh-CN">
                <a:latin typeface="Consolas" panose="020B0609020204030204" charset="0"/>
                <a:cs typeface="Consolas" panose="020B0609020204030204" charset="0"/>
              </a:rPr>
              <a:t>    </a:t>
            </a:r>
            <a:r>
              <a:rPr lang="zh-CN" altLang="en-US">
                <a:latin typeface="Consolas" panose="020B0609020204030204" charset="0"/>
                <a:cs typeface="Consolas" panose="020B0609020204030204" charset="0"/>
              </a:rPr>
              <a:t>print(aDict['address'])</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except:</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en-US" altLang="zh-CN">
                <a:latin typeface="Consolas" panose="020B0609020204030204" charset="0"/>
                <a:cs typeface="Consolas" panose="020B0609020204030204" charset="0"/>
              </a:rPr>
              <a:t>    </a:t>
            </a:r>
            <a:r>
              <a:rPr lang="zh-CN" altLang="en-US">
                <a:latin typeface="Consolas" panose="020B0609020204030204" charset="0"/>
                <a:cs typeface="Consolas" panose="020B0609020204030204" charset="0"/>
              </a:rPr>
              <a:t>print('Not Exists.')</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solidFill>
                  <a:srgbClr val="00B0F0"/>
                </a:solidFill>
                <a:latin typeface="Consolas" panose="020B0609020204030204" charset="0"/>
                <a:cs typeface="Consolas" panose="020B0609020204030204" charset="0"/>
              </a:rPr>
              <a:t>Not Exists.</a:t>
            </a:r>
            <a:endParaRPr lang="zh-CN" altLang="en-US">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3.3.2  字典元素访问</a:t>
            </a:r>
            <a:endParaRPr lang="zh-CN" altLang="en-US"/>
          </a:p>
        </p:txBody>
      </p:sp>
      <p:sp>
        <p:nvSpPr>
          <p:cNvPr id="3" name="内容占位符 2"/>
          <p:cNvSpPr>
            <a:spLocks noGrp="1"/>
          </p:cNvSpPr>
          <p:nvPr>
            <p:ph idx="1"/>
          </p:nvPr>
        </p:nvSpPr>
        <p:spPr>
          <a:xfrm>
            <a:off x="838200" y="1321435"/>
            <a:ext cx="10835005" cy="4893310"/>
          </a:xfrm>
        </p:spPr>
        <p:txBody>
          <a:bodyPr>
            <a:normAutofit lnSpcReduction="20000"/>
          </a:bodyPr>
          <a:p>
            <a:pPr fontAlgn="auto">
              <a:lnSpc>
                <a:spcPct val="140000"/>
              </a:lnSpc>
              <a:spcBef>
                <a:spcPts val="0"/>
              </a:spcBef>
              <a:buFont typeface="Arial" panose="020B0604020202020204" pitchFamily="34" charset="0"/>
              <a:buChar char="•"/>
            </a:pPr>
            <a:r>
              <a:rPr lang="zh-CN" altLang="en-US" sz="2400"/>
              <a:t>字典对象提供了一个get()方法用来返回指定“键”对应的“值”，并且允许指定该键不存在时返回特定的“值”。</a:t>
            </a:r>
            <a:endParaRPr lang="zh-CN" altLang="en-US" sz="2400"/>
          </a:p>
          <a:p>
            <a:pPr marL="0" indent="0" fontAlgn="auto">
              <a:lnSpc>
                <a:spcPct val="120000"/>
              </a:lnSpc>
              <a:spcBef>
                <a:spcPts val="0"/>
              </a:spcBef>
              <a:buNone/>
            </a:pPr>
            <a:r>
              <a:rPr lang="zh-CN" altLang="en-US" sz="1800">
                <a:latin typeface="Consolas" panose="020B0609020204030204" charset="0"/>
              </a:rPr>
              <a:t>&gt;&gt;&gt; aDict.get('age')                    # 如果字典中存在该“键”则返回对应的“值”</a:t>
            </a:r>
            <a:endParaRPr lang="zh-CN" altLang="en-US" sz="1800">
              <a:latin typeface="Consolas" panose="020B0609020204030204" charset="0"/>
            </a:endParaRPr>
          </a:p>
          <a:p>
            <a:pPr marL="0" indent="0" fontAlgn="auto">
              <a:lnSpc>
                <a:spcPct val="120000"/>
              </a:lnSpc>
              <a:spcBef>
                <a:spcPts val="0"/>
              </a:spcBef>
              <a:buNone/>
            </a:pPr>
            <a:r>
              <a:rPr lang="zh-CN" altLang="en-US" sz="1800">
                <a:solidFill>
                  <a:srgbClr val="00B0F0"/>
                </a:solidFill>
                <a:latin typeface="Consolas" panose="020B0609020204030204" charset="0"/>
              </a:rPr>
              <a:t>39</a:t>
            </a:r>
            <a:endParaRPr lang="zh-CN" altLang="en-US" sz="1800">
              <a:solidFill>
                <a:srgbClr val="00B0F0"/>
              </a:solidFill>
              <a:latin typeface="Consolas" panose="020B0609020204030204" charset="0"/>
            </a:endParaRPr>
          </a:p>
          <a:p>
            <a:pPr marL="0" indent="0" fontAlgn="auto">
              <a:lnSpc>
                <a:spcPct val="120000"/>
              </a:lnSpc>
              <a:spcBef>
                <a:spcPts val="0"/>
              </a:spcBef>
              <a:buNone/>
            </a:pPr>
            <a:r>
              <a:rPr lang="zh-CN" altLang="en-US" sz="1800">
                <a:latin typeface="Consolas" panose="020B0609020204030204" charset="0"/>
              </a:rPr>
              <a:t>&gt;&gt;&gt; aDict.get('address', 'Not Exists.') # 指定的“键”不存在时返回指定的默认值</a:t>
            </a:r>
            <a:endParaRPr lang="zh-CN" altLang="en-US" sz="1800">
              <a:latin typeface="Consolas" panose="020B0609020204030204" charset="0"/>
            </a:endParaRPr>
          </a:p>
          <a:p>
            <a:pPr marL="0" indent="0" fontAlgn="auto">
              <a:lnSpc>
                <a:spcPct val="120000"/>
              </a:lnSpc>
              <a:spcBef>
                <a:spcPts val="0"/>
              </a:spcBef>
              <a:buNone/>
            </a:pPr>
            <a:r>
              <a:rPr lang="zh-CN" altLang="en-US" sz="1800">
                <a:solidFill>
                  <a:srgbClr val="00B0F0"/>
                </a:solidFill>
                <a:latin typeface="Consolas" panose="020B0609020204030204" charset="0"/>
              </a:rPr>
              <a:t>'Not Exists.'</a:t>
            </a:r>
            <a:endParaRPr lang="zh-CN" altLang="en-US" sz="1800">
              <a:solidFill>
                <a:srgbClr val="00B0F0"/>
              </a:solidFill>
              <a:latin typeface="Consolas" panose="020B0609020204030204" charset="0"/>
            </a:endParaRPr>
          </a:p>
          <a:p>
            <a:pPr fontAlgn="auto">
              <a:lnSpc>
                <a:spcPct val="140000"/>
              </a:lnSpc>
              <a:spcBef>
                <a:spcPts val="0"/>
              </a:spcBef>
            </a:pPr>
            <a:r>
              <a:rPr lang="zh-CN" altLang="en-US" sz="2400">
                <a:sym typeface="+mn-ea"/>
              </a:rPr>
              <a:t>使用字典对象的items()方法可以返回字典的键、值对，keys()方法可以返回字典的键，values()方法可以返回字典的值。</a:t>
            </a:r>
            <a:endParaRPr lang="zh-CN" altLang="en-US" sz="2400">
              <a:sym typeface="+mn-ea"/>
            </a:endParaRPr>
          </a:p>
          <a:p>
            <a:pPr marL="0" indent="0" fontAlgn="auto">
              <a:lnSpc>
                <a:spcPct val="110000"/>
              </a:lnSpc>
              <a:spcBef>
                <a:spcPts val="0"/>
              </a:spcBef>
              <a:buNone/>
            </a:pPr>
            <a:r>
              <a:rPr lang="zh-CN" altLang="en-US" sz="1800">
                <a:latin typeface="Consolas" panose="020B0609020204030204" charset="0"/>
              </a:rPr>
              <a:t>&gt;&gt;&gt; aDict = {'age': 39, 'score': [98, 97], 'name': 'Dong', 'sex': 'male'}</a:t>
            </a:r>
            <a:endParaRPr lang="zh-CN" altLang="en-US" sz="1800">
              <a:latin typeface="Consolas" panose="020B0609020204030204" charset="0"/>
            </a:endParaRPr>
          </a:p>
          <a:p>
            <a:pPr marL="0" algn="l" fontAlgn="auto">
              <a:lnSpc>
                <a:spcPct val="110000"/>
              </a:lnSpc>
              <a:spcBef>
                <a:spcPts val="0"/>
              </a:spcBef>
              <a:buClrTx/>
              <a:buSzTx/>
              <a:buNone/>
            </a:pPr>
            <a:r>
              <a:rPr lang="zh-CN" altLang="en-US" sz="1800">
                <a:latin typeface="Consolas" panose="020B0609020204030204" charset="0"/>
                <a:sym typeface="+mn-ea"/>
              </a:rPr>
              <a:t>&gt;&gt;&gt; aDict.items()</a:t>
            </a:r>
            <a:endParaRPr lang="zh-CN" altLang="en-US" sz="1800">
              <a:latin typeface="Consolas" panose="020B0609020204030204" charset="0"/>
            </a:endParaRPr>
          </a:p>
          <a:p>
            <a:pPr marL="0" indent="0" fontAlgn="auto">
              <a:lnSpc>
                <a:spcPct val="110000"/>
              </a:lnSpc>
              <a:spcBef>
                <a:spcPts val="0"/>
              </a:spcBef>
              <a:buNone/>
            </a:pPr>
            <a:r>
              <a:rPr lang="zh-CN" altLang="en-US" sz="1800">
                <a:solidFill>
                  <a:srgbClr val="00B0F0"/>
                </a:solidFill>
                <a:latin typeface="Consolas" panose="020B0609020204030204" charset="0"/>
                <a:cs typeface="Consolas" panose="020B0609020204030204" charset="0"/>
                <a:sym typeface="+mn-ea"/>
              </a:rPr>
              <a:t>dict_items([('age', 39), ('score', [98, 97]), ('name', 'Dong'), ('sex', 'male')])</a:t>
            </a:r>
            <a:endParaRPr lang="zh-CN" altLang="en-US" sz="1800">
              <a:solidFill>
                <a:srgbClr val="00B0F0"/>
              </a:solidFill>
              <a:latin typeface="Consolas" panose="020B0609020204030204" charset="0"/>
              <a:cs typeface="Consolas" panose="020B0609020204030204" charset="0"/>
            </a:endParaRPr>
          </a:p>
          <a:p>
            <a:pPr marL="0" indent="0" fontAlgn="auto">
              <a:lnSpc>
                <a:spcPct val="110000"/>
              </a:lnSpc>
              <a:spcBef>
                <a:spcPts val="0"/>
              </a:spcBef>
              <a:buNone/>
            </a:pPr>
            <a:r>
              <a:rPr lang="zh-CN" altLang="en-US" sz="1800">
                <a:latin typeface="Consolas" panose="020B0609020204030204" charset="0"/>
              </a:rPr>
              <a:t>&gt;&gt;&gt; aDict.keys()</a:t>
            </a:r>
            <a:endParaRPr lang="zh-CN" altLang="en-US" sz="1800">
              <a:latin typeface="Consolas" panose="020B0609020204030204" charset="0"/>
            </a:endParaRPr>
          </a:p>
          <a:p>
            <a:pPr marL="0" indent="0" fontAlgn="auto">
              <a:lnSpc>
                <a:spcPct val="110000"/>
              </a:lnSpc>
              <a:spcBef>
                <a:spcPts val="0"/>
              </a:spcBef>
              <a:buNone/>
            </a:pPr>
            <a:r>
              <a:rPr lang="zh-CN" altLang="en-US" sz="1800">
                <a:solidFill>
                  <a:srgbClr val="00B0F0"/>
                </a:solidFill>
                <a:latin typeface="Consolas" panose="020B0609020204030204" charset="0"/>
                <a:cs typeface="Consolas" panose="020B0609020204030204" charset="0"/>
              </a:rPr>
              <a:t>dict_keys(['age', 'score', 'name', 'sex'])</a:t>
            </a:r>
            <a:endParaRPr lang="zh-CN" altLang="en-US" sz="1800">
              <a:solidFill>
                <a:srgbClr val="00B0F0"/>
              </a:solidFill>
              <a:latin typeface="Consolas" panose="020B0609020204030204" charset="0"/>
              <a:cs typeface="Consolas" panose="020B0609020204030204" charset="0"/>
            </a:endParaRPr>
          </a:p>
          <a:p>
            <a:pPr marL="0" algn="l" fontAlgn="auto">
              <a:lnSpc>
                <a:spcPct val="110000"/>
              </a:lnSpc>
              <a:spcBef>
                <a:spcPts val="0"/>
              </a:spcBef>
              <a:buClrTx/>
              <a:buSzTx/>
              <a:buNone/>
            </a:pPr>
            <a:r>
              <a:rPr lang="zh-CN" altLang="en-US" sz="1800">
                <a:latin typeface="Consolas" panose="020B0609020204030204" charset="0"/>
              </a:rPr>
              <a:t>&gt;&gt;&gt; aDict.values()</a:t>
            </a:r>
            <a:endParaRPr lang="zh-CN" altLang="en-US" sz="1800">
              <a:latin typeface="Consolas" panose="020B0609020204030204" charset="0"/>
            </a:endParaRPr>
          </a:p>
          <a:p>
            <a:pPr marL="0" indent="0" fontAlgn="auto">
              <a:lnSpc>
                <a:spcPct val="110000"/>
              </a:lnSpc>
              <a:spcBef>
                <a:spcPts val="0"/>
              </a:spcBef>
              <a:buNone/>
            </a:pPr>
            <a:r>
              <a:rPr lang="zh-CN" altLang="en-US" sz="1800">
                <a:solidFill>
                  <a:srgbClr val="00B0F0"/>
                </a:solidFill>
                <a:latin typeface="Consolas" panose="020B0609020204030204" charset="0"/>
                <a:cs typeface="Consolas" panose="020B0609020204030204" charset="0"/>
              </a:rPr>
              <a:t>dict_values([39, [98, 97], 'Dong', 'male'])</a:t>
            </a:r>
            <a:endParaRPr lang="zh-CN" altLang="en-US" sz="1800">
              <a:solidFill>
                <a:srgbClr val="00B0F0"/>
              </a:solidFill>
              <a:latin typeface="Consolas" panose="020B0609020204030204" charset="0"/>
              <a:cs typeface="Consolas" panose="020B0609020204030204" charset="0"/>
            </a:endParaRPr>
          </a:p>
          <a:p>
            <a:pPr marL="0" algn="l" fontAlgn="auto">
              <a:lnSpc>
                <a:spcPct val="100000"/>
              </a:lnSpc>
              <a:spcBef>
                <a:spcPts val="0"/>
              </a:spcBef>
              <a:buClrTx/>
              <a:buSzTx/>
              <a:buNone/>
            </a:pPr>
            <a:endParaRPr lang="zh-CN" altLang="en-US" sz="18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3.3.3  元素添加、修改与删除</a:t>
            </a:r>
            <a:endParaRPr lang="zh-CN" altLang="en-US"/>
          </a:p>
        </p:txBody>
      </p:sp>
      <p:sp>
        <p:nvSpPr>
          <p:cNvPr id="3" name="内容占位符 2"/>
          <p:cNvSpPr>
            <a:spLocks noGrp="1"/>
          </p:cNvSpPr>
          <p:nvPr>
            <p:ph idx="1"/>
          </p:nvPr>
        </p:nvSpPr>
        <p:spPr/>
        <p:txBody>
          <a:bodyPr>
            <a:normAutofit/>
          </a:bodyPr>
          <a:p>
            <a:pPr>
              <a:lnSpc>
                <a:spcPct val="120000"/>
              </a:lnSpc>
              <a:buFont typeface="Arial" panose="020B0604020202020204" pitchFamily="34" charset="0"/>
              <a:buChar char="•"/>
            </a:pPr>
            <a:r>
              <a:rPr lang="zh-CN" altLang="en-US" sz="2400"/>
              <a:t>当以指定“键”为下标为字典元素赋值时，有两种含义：</a:t>
            </a:r>
            <a:endParaRPr lang="zh-CN" altLang="en-US" sz="2400"/>
          </a:p>
          <a:p>
            <a:pPr marL="0" indent="0">
              <a:lnSpc>
                <a:spcPct val="120000"/>
              </a:lnSpc>
              <a:buFont typeface="Arial" panose="020B0604020202020204" pitchFamily="34" charset="0"/>
              <a:buNone/>
            </a:pPr>
            <a:r>
              <a:rPr lang="zh-CN" altLang="en-US" sz="2400"/>
              <a:t>1）若指定</a:t>
            </a:r>
            <a:r>
              <a:rPr lang="zh-CN" altLang="en-US" sz="2400"/>
              <a:t>的“键”存在，表示修改该“键”对应的值；</a:t>
            </a:r>
            <a:endParaRPr lang="zh-CN" altLang="en-US" sz="2400"/>
          </a:p>
          <a:p>
            <a:pPr marL="0" indent="0">
              <a:lnSpc>
                <a:spcPct val="120000"/>
              </a:lnSpc>
              <a:buFont typeface="Arial" panose="020B0604020202020204" pitchFamily="34" charset="0"/>
              <a:buNone/>
            </a:pPr>
            <a:r>
              <a:rPr lang="zh-CN" altLang="en-US" sz="2400"/>
              <a:t>2）若指定的</a:t>
            </a:r>
            <a:r>
              <a:rPr lang="en-US" altLang="zh-CN" sz="2400"/>
              <a:t>“</a:t>
            </a:r>
            <a:r>
              <a:rPr lang="zh-CN" altLang="en-US" sz="2400"/>
              <a:t>键</a:t>
            </a:r>
            <a:r>
              <a:rPr lang="en-US" altLang="zh-CN" sz="2400"/>
              <a:t>”</a:t>
            </a:r>
            <a:r>
              <a:rPr lang="zh-CN" altLang="en-US" sz="2400"/>
              <a:t>不存在，表示添加一个新的“键:值”对，也就是添加一个新元素。</a:t>
            </a:r>
            <a:endParaRPr lang="zh-CN" altLang="en-US" sz="2400"/>
          </a:p>
          <a:p>
            <a:pPr marL="0" indent="0" fontAlgn="auto">
              <a:lnSpc>
                <a:spcPct val="100000"/>
              </a:lnSpc>
              <a:spcBef>
                <a:spcPts val="0"/>
              </a:spcBef>
              <a:buNone/>
            </a:pPr>
            <a:r>
              <a:rPr lang="zh-CN" altLang="en-US" sz="2000">
                <a:latin typeface="Consolas" panose="020B0609020204030204" charset="0"/>
              </a:rPr>
              <a:t>&gt;&gt;&gt; aDict = {'age': 35, 'name': 'Dong', 'sex': 'male'}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aDict['age'] = 39                  # 修改元素值</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aDict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{'age': 39, 'name': 'Dong', 'sex': 'male'}</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aDict['address'] = 'SDIBT'         # 添加新元素</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aDict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{'age': 39, 'name': 'Dong', 'sex': 'male', 'address': 'SDIBT'}</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3.3.3  元素添加、修改与删除</a:t>
            </a:r>
            <a:endParaRPr lang="zh-CN" altLang="en-US"/>
          </a:p>
        </p:txBody>
      </p:sp>
      <p:sp>
        <p:nvSpPr>
          <p:cNvPr id="3" name="内容占位符 2"/>
          <p:cNvSpPr>
            <a:spLocks noGrp="1"/>
          </p:cNvSpPr>
          <p:nvPr>
            <p:ph idx="1"/>
          </p:nvPr>
        </p:nvSpPr>
        <p:spPr>
          <a:xfrm>
            <a:off x="838200" y="1321435"/>
            <a:ext cx="11057255" cy="4639945"/>
          </a:xfrm>
        </p:spPr>
        <p:txBody>
          <a:bodyPr/>
          <a:p>
            <a:pPr fontAlgn="auto">
              <a:lnSpc>
                <a:spcPct val="150000"/>
              </a:lnSpc>
              <a:buFont typeface="Arial" panose="020B0604020202020204" pitchFamily="34" charset="0"/>
              <a:buChar char="•"/>
            </a:pPr>
            <a:r>
              <a:rPr lang="zh-CN" altLang="en-US" sz="2400"/>
              <a:t>使用字典对象的update()方法可以将另一个字典的“键:值”元素一次性全部添加到当前字典对象</a:t>
            </a:r>
            <a:r>
              <a:rPr lang="zh-CN" altLang="en-US" sz="2400"/>
              <a:t>中，如果两个字典中存在相同的“键”，则以另一个字典中的“值”为准。</a:t>
            </a:r>
            <a:endParaRPr lang="zh-CN" altLang="en-US" sz="2400"/>
          </a:p>
          <a:p>
            <a:pPr marL="0" indent="0">
              <a:buNone/>
            </a:pPr>
            <a:r>
              <a:rPr lang="zh-CN" altLang="en-US" sz="1800">
                <a:latin typeface="Consolas" panose="020B0609020204030204" charset="0"/>
              </a:rPr>
              <a:t>&gt;&gt;&gt; aDict = {'age': 37, 'score': [98, 97], 'name': 'Dong', 'sex': 'male'}</a:t>
            </a:r>
            <a:endParaRPr lang="zh-CN" altLang="en-US" sz="1800">
              <a:latin typeface="Consolas" panose="020B0609020204030204" charset="0"/>
            </a:endParaRPr>
          </a:p>
          <a:p>
            <a:pPr marL="0" indent="0">
              <a:buNone/>
            </a:pPr>
            <a:r>
              <a:rPr lang="zh-CN" altLang="en-US" sz="1800">
                <a:latin typeface="Consolas" panose="020B0609020204030204" charset="0"/>
              </a:rPr>
              <a:t>&gt;&gt;&gt; aDict.update({'a':97, 'age':39})  </a:t>
            </a:r>
            <a:r>
              <a:rPr lang="en-US" altLang="zh-CN" sz="1800">
                <a:latin typeface="Consolas" panose="020B0609020204030204" charset="0"/>
              </a:rPr>
              <a:t>  </a:t>
            </a:r>
            <a:r>
              <a:rPr lang="zh-CN" altLang="en-US" sz="1800">
                <a:latin typeface="Consolas" panose="020B0609020204030204" charset="0"/>
              </a:rPr>
              <a:t># 修改’age’键的值，同时添加新元素’a’:97</a:t>
            </a:r>
            <a:endParaRPr lang="zh-CN" altLang="en-US" sz="1800">
              <a:latin typeface="Consolas" panose="020B0609020204030204" charset="0"/>
            </a:endParaRPr>
          </a:p>
          <a:p>
            <a:pPr marL="0" indent="0">
              <a:buNone/>
            </a:pPr>
            <a:r>
              <a:rPr lang="zh-CN" altLang="en-US" sz="1800">
                <a:latin typeface="Consolas" panose="020B0609020204030204" charset="0"/>
              </a:rPr>
              <a:t>&gt;&gt;&gt; aDict</a:t>
            </a:r>
            <a:endParaRPr lang="zh-CN" altLang="en-US" sz="1800">
              <a:latin typeface="Consolas" panose="020B0609020204030204" charset="0"/>
            </a:endParaRPr>
          </a:p>
          <a:p>
            <a:pPr marL="0" indent="0">
              <a:buNone/>
            </a:pPr>
            <a:r>
              <a:rPr lang="zh-CN" altLang="en-US" sz="1800">
                <a:solidFill>
                  <a:srgbClr val="00B0F0"/>
                </a:solidFill>
                <a:latin typeface="Consolas" panose="020B0609020204030204" charset="0"/>
              </a:rPr>
              <a:t>{'age': 39, 'score': [98, 97], 'name': 'Dong', 'sex': 'male', 'a': 97}</a:t>
            </a:r>
            <a:endParaRPr lang="zh-CN" altLang="en-US" sz="18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3.3.3  元素添加、修改与删除</a:t>
            </a:r>
            <a:endParaRPr lang="zh-CN" altLang="en-US"/>
          </a:p>
        </p:txBody>
      </p:sp>
      <p:sp>
        <p:nvSpPr>
          <p:cNvPr id="3" name="内容占位符 2"/>
          <p:cNvSpPr>
            <a:spLocks noGrp="1"/>
          </p:cNvSpPr>
          <p:nvPr>
            <p:ph idx="1"/>
          </p:nvPr>
        </p:nvSpPr>
        <p:spPr/>
        <p:txBody>
          <a:bodyPr>
            <a:normAutofit/>
          </a:bodyPr>
          <a:p>
            <a:pPr fontAlgn="auto">
              <a:lnSpc>
                <a:spcPct val="120000"/>
              </a:lnSpc>
              <a:spcBef>
                <a:spcPts val="0"/>
              </a:spcBef>
              <a:buFont typeface="Arial" panose="020B0604020202020204" pitchFamily="34" charset="0"/>
              <a:buChar char="•"/>
            </a:pPr>
            <a:r>
              <a:rPr lang="zh-CN" altLang="en-US" sz="2400"/>
              <a:t>如果需要删除字典中指定的元素，可以使用del命令。</a:t>
            </a:r>
            <a:endParaRPr lang="zh-CN" altLang="en-US" sz="2400"/>
          </a:p>
          <a:p>
            <a:pPr marL="0" indent="0" fontAlgn="auto">
              <a:lnSpc>
                <a:spcPct val="100000"/>
              </a:lnSpc>
              <a:spcBef>
                <a:spcPts val="0"/>
              </a:spcBef>
              <a:buNone/>
            </a:pPr>
            <a:r>
              <a:rPr lang="zh-CN" altLang="en-US" sz="2000">
                <a:latin typeface="Consolas" panose="020B0609020204030204" charset="0"/>
              </a:rPr>
              <a:t>&gt;&gt;&gt; del aDict['age']               # 删除字典元素</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aDict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{'score': [98, 97], 'name': 'Dong', 'sex': 'male', 'a': 97}</a:t>
            </a:r>
            <a:endParaRPr lang="zh-CN" altLang="en-US" sz="2000">
              <a:solidFill>
                <a:srgbClr val="00B0F0"/>
              </a:solidFill>
              <a:latin typeface="Consolas" panose="020B0609020204030204" charset="0"/>
            </a:endParaRPr>
          </a:p>
          <a:p>
            <a:pPr fontAlgn="auto">
              <a:lnSpc>
                <a:spcPct val="120000"/>
              </a:lnSpc>
              <a:spcBef>
                <a:spcPts val="0"/>
              </a:spcBef>
              <a:buFont typeface="Arial" panose="020B0604020202020204" pitchFamily="34" charset="0"/>
              <a:buChar char="•"/>
            </a:pPr>
            <a:r>
              <a:rPr lang="zh-CN" altLang="en-US" sz="2400"/>
              <a:t>也可以使用字典对象的pop()和popitem()方法删除元素，例如：</a:t>
            </a:r>
            <a:endParaRPr lang="zh-CN" altLang="en-US" sz="2400"/>
          </a:p>
          <a:p>
            <a:pPr marL="0" indent="0" fontAlgn="auto">
              <a:lnSpc>
                <a:spcPct val="100000"/>
              </a:lnSpc>
              <a:spcBef>
                <a:spcPts val="0"/>
              </a:spcBef>
              <a:buNone/>
            </a:pPr>
            <a:r>
              <a:rPr lang="zh-CN" altLang="en-US" sz="2000">
                <a:latin typeface="Consolas" panose="020B0609020204030204" charset="0"/>
              </a:rPr>
              <a:t>&gt;&gt;&gt; aDict = {'age': 37, 'score': [98, 97], 'name': 'Dong', 'sex': 'male'}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aDict.popitem()</a:t>
            </a:r>
            <a:r>
              <a:rPr lang="en-US" altLang="zh-CN" sz="2000">
                <a:latin typeface="Consolas" panose="020B0609020204030204" charset="0"/>
              </a:rPr>
              <a:t>                # </a:t>
            </a:r>
            <a:r>
              <a:rPr lang="zh-CN" altLang="en-US" sz="2000">
                <a:latin typeface="Consolas" panose="020B0609020204030204" charset="0"/>
              </a:rPr>
              <a:t>以</a:t>
            </a:r>
            <a:r>
              <a:rPr lang="en-US" altLang="zh-CN" sz="2000">
                <a:latin typeface="Consolas" panose="020B0609020204030204" charset="0"/>
              </a:rPr>
              <a:t>LIFO</a:t>
            </a:r>
            <a:r>
              <a:rPr lang="zh-CN" altLang="en-US" sz="2000">
                <a:latin typeface="Consolas" panose="020B0609020204030204" charset="0"/>
              </a:rPr>
              <a:t>顺序删除并返回一个</a:t>
            </a:r>
            <a:r>
              <a:rPr lang="zh-CN" altLang="en-US" sz="2000">
                <a:latin typeface="Consolas" panose="020B0609020204030204" charset="0"/>
              </a:rPr>
              <a:t>元素</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('sex', 'male')</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aDict.pop('age')</a:t>
            </a:r>
            <a:r>
              <a:rPr lang="en-US" altLang="zh-CN" sz="2000">
                <a:latin typeface="Consolas" panose="020B0609020204030204" charset="0"/>
              </a:rPr>
              <a:t>               # </a:t>
            </a:r>
            <a:r>
              <a:rPr lang="zh-CN" altLang="en-US" sz="2000">
                <a:latin typeface="Consolas" panose="020B0609020204030204" charset="0"/>
              </a:rPr>
              <a:t>删除指定的</a:t>
            </a:r>
            <a:r>
              <a:rPr lang="en-US" altLang="zh-CN" sz="2000">
                <a:latin typeface="Consolas" panose="020B0609020204030204" charset="0"/>
              </a:rPr>
              <a:t>“</a:t>
            </a:r>
            <a:r>
              <a:rPr lang="zh-CN" altLang="en-US" sz="2000">
                <a:latin typeface="Consolas" panose="020B0609020204030204" charset="0"/>
              </a:rPr>
              <a:t>键</a:t>
            </a:r>
            <a:r>
              <a:rPr lang="en-US" altLang="zh-CN" sz="2000">
                <a:latin typeface="Consolas" panose="020B0609020204030204" charset="0"/>
              </a:rPr>
              <a:t>”</a:t>
            </a:r>
            <a:r>
              <a:rPr lang="zh-CN" altLang="en-US" sz="2000">
                <a:latin typeface="Consolas" panose="020B0609020204030204" charset="0"/>
              </a:rPr>
              <a:t>，返回对应的</a:t>
            </a:r>
            <a:r>
              <a:rPr lang="en-US" altLang="zh-CN" sz="2000">
                <a:latin typeface="Consolas" panose="020B0609020204030204" charset="0"/>
              </a:rPr>
              <a:t>“</a:t>
            </a:r>
            <a:r>
              <a:rPr lang="zh-CN" altLang="en-US" sz="2000">
                <a:latin typeface="Consolas" panose="020B0609020204030204" charset="0"/>
              </a:rPr>
              <a:t>值</a:t>
            </a:r>
            <a:r>
              <a:rPr lang="en-US" altLang="zh-CN" sz="2000">
                <a:latin typeface="Consolas" panose="020B0609020204030204" charset="0"/>
              </a:rPr>
              <a: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37</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aDict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{'score': [98, 97], 'name': 'Dong'}</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3.3.3  元素添加、修改与删除</a:t>
            </a:r>
            <a:endParaRPr lang="zh-CN" altLang="en-US"/>
          </a:p>
        </p:txBody>
      </p:sp>
      <p:sp>
        <p:nvSpPr>
          <p:cNvPr id="3" name="内容占位符 2"/>
          <p:cNvSpPr>
            <a:spLocks noGrp="1"/>
          </p:cNvSpPr>
          <p:nvPr>
            <p:ph idx="1"/>
          </p:nvPr>
        </p:nvSpPr>
        <p:spPr>
          <a:xfrm>
            <a:off x="838200" y="1321435"/>
            <a:ext cx="10924540" cy="4639945"/>
          </a:xfrm>
        </p:spPr>
        <p:txBody>
          <a:bodyPr>
            <a:normAutofit/>
          </a:bodyPr>
          <a:p>
            <a:pPr defTabSz="914400">
              <a:lnSpc>
                <a:spcPct val="130000"/>
              </a:lnSpc>
              <a:spcBef>
                <a:spcPts val="200"/>
              </a:spcBef>
              <a:buSzPct val="90000"/>
              <a:buFont typeface="Wingdings" panose="05000000000000000000" charset="0"/>
              <a:buChar char="§"/>
            </a:pPr>
            <a:r>
              <a:rPr lang="zh-CN" altLang="en-GB" sz="2400" b="1" dirty="0">
                <a:latin typeface="宋体" panose="02010600030101010101" pitchFamily="2" charset="-122"/>
                <a:sym typeface="+mn-ea"/>
              </a:rPr>
              <a:t>应用：</a:t>
            </a:r>
            <a:r>
              <a:rPr lang="en-GB" altLang="en-US" sz="2400" dirty="0">
                <a:latin typeface="宋体" panose="02010600030101010101" pitchFamily="2" charset="-122"/>
                <a:sym typeface="+mn-ea"/>
              </a:rPr>
              <a:t>首先生成包含1000个随机字符的字符串，然后统计每个字符的出现次数。</a:t>
            </a:r>
            <a:endParaRPr lang="en-GB" altLang="en-US" sz="2400" dirty="0">
              <a:latin typeface="宋体" panose="02010600030101010101" pitchFamily="2" charset="-122"/>
            </a:endParaRPr>
          </a:p>
          <a:p>
            <a:pPr defTabSz="914400">
              <a:lnSpc>
                <a:spcPct val="100000"/>
              </a:lnSpc>
              <a:spcBef>
                <a:spcPts val="200"/>
              </a:spcBef>
              <a:buSzPct val="90000"/>
              <a:buFont typeface="Wingdings" panose="05000000000000000000" pitchFamily="2" charset="2"/>
              <a:buNone/>
            </a:pPr>
            <a:r>
              <a:rPr lang="zh-CN" altLang="en-US" sz="2000">
                <a:latin typeface="Consolas" panose="020B0609020204030204" charset="0"/>
                <a:cs typeface="Consolas" panose="020B0609020204030204" charset="0"/>
              </a:rPr>
              <a:t>import string</a:t>
            </a:r>
            <a:endParaRPr lang="zh-CN" altLang="en-US" sz="2000">
              <a:latin typeface="Consolas" panose="020B0609020204030204" charset="0"/>
              <a:cs typeface="Consolas" panose="020B0609020204030204" charset="0"/>
            </a:endParaRPr>
          </a:p>
          <a:p>
            <a:pPr defTabSz="914400">
              <a:lnSpc>
                <a:spcPct val="100000"/>
              </a:lnSpc>
              <a:spcBef>
                <a:spcPts val="200"/>
              </a:spcBef>
              <a:buSzPct val="90000"/>
              <a:buFont typeface="Wingdings" panose="05000000000000000000" pitchFamily="2" charset="2"/>
              <a:buNone/>
            </a:pPr>
            <a:r>
              <a:rPr lang="zh-CN" altLang="en-US" sz="2000">
                <a:latin typeface="Consolas" panose="020B0609020204030204" charset="0"/>
                <a:cs typeface="Consolas" panose="020B0609020204030204" charset="0"/>
              </a:rPr>
              <a:t>from random import choices</a:t>
            </a:r>
            <a:endParaRPr lang="zh-CN" altLang="en-US" sz="2000">
              <a:latin typeface="Consolas" panose="020B0609020204030204" charset="0"/>
              <a:cs typeface="Consolas" panose="020B0609020204030204" charset="0"/>
            </a:endParaRPr>
          </a:p>
          <a:p>
            <a:pPr defTabSz="914400">
              <a:lnSpc>
                <a:spcPct val="100000"/>
              </a:lnSpc>
              <a:spcBef>
                <a:spcPts val="200"/>
              </a:spcBef>
              <a:buSzPct val="90000"/>
              <a:buFont typeface="Wingdings" panose="05000000000000000000" pitchFamily="2" charset="2"/>
              <a:buNone/>
            </a:pPr>
            <a:endParaRPr lang="zh-CN" altLang="en-US" sz="2000">
              <a:latin typeface="Consolas" panose="020B0609020204030204" charset="0"/>
              <a:cs typeface="Consolas" panose="020B0609020204030204" charset="0"/>
            </a:endParaRPr>
          </a:p>
          <a:p>
            <a:pPr defTabSz="914400">
              <a:lnSpc>
                <a:spcPct val="100000"/>
              </a:lnSpc>
              <a:spcBef>
                <a:spcPts val="200"/>
              </a:spcBef>
              <a:buSzPct val="90000"/>
              <a:buFont typeface="Wingdings" panose="05000000000000000000" pitchFamily="2" charset="2"/>
              <a:buNone/>
            </a:pPr>
            <a:r>
              <a:rPr lang="zh-CN" altLang="en-US" sz="2000">
                <a:latin typeface="Consolas" panose="020B0609020204030204" charset="0"/>
                <a:cs typeface="Consolas" panose="020B0609020204030204" charset="0"/>
              </a:rPr>
              <a:t>x = string.ascii_letters + string.digits + string.punctuation</a:t>
            </a:r>
            <a:endParaRPr lang="zh-CN" altLang="en-US" sz="2000">
              <a:latin typeface="Consolas" panose="020B0609020204030204" charset="0"/>
              <a:cs typeface="Consolas" panose="020B0609020204030204" charset="0"/>
            </a:endParaRPr>
          </a:p>
          <a:p>
            <a:pPr defTabSz="914400">
              <a:lnSpc>
                <a:spcPct val="100000"/>
              </a:lnSpc>
              <a:spcBef>
                <a:spcPts val="200"/>
              </a:spcBef>
              <a:buSzPct val="90000"/>
              <a:buFont typeface="Wingdings" panose="05000000000000000000" pitchFamily="2" charset="2"/>
              <a:buNone/>
            </a:pPr>
            <a:r>
              <a:rPr lang="zh-CN" altLang="en-US" sz="2000">
                <a:latin typeface="Consolas" panose="020B0609020204030204" charset="0"/>
                <a:cs typeface="Consolas" panose="020B0609020204030204" charset="0"/>
              </a:rPr>
              <a:t>y = ''.join(choices(x, k=1000))</a:t>
            </a:r>
            <a:endParaRPr lang="zh-CN" altLang="en-US" sz="2000">
              <a:latin typeface="Consolas" panose="020B0609020204030204" charset="0"/>
              <a:cs typeface="Consolas" panose="020B0609020204030204" charset="0"/>
            </a:endParaRPr>
          </a:p>
          <a:p>
            <a:pPr defTabSz="914400">
              <a:lnSpc>
                <a:spcPct val="100000"/>
              </a:lnSpc>
              <a:spcBef>
                <a:spcPts val="200"/>
              </a:spcBef>
              <a:buSzPct val="90000"/>
              <a:buFont typeface="Wingdings" panose="05000000000000000000" pitchFamily="2" charset="2"/>
              <a:buNone/>
            </a:pPr>
            <a:r>
              <a:rPr lang="zh-CN" altLang="en-US" sz="2000">
                <a:latin typeface="Consolas" panose="020B0609020204030204" charset="0"/>
                <a:cs typeface="Consolas" panose="020B0609020204030204" charset="0"/>
              </a:rPr>
              <a:t>d = dict()                  # 使用字典保存每个字符出现次数</a:t>
            </a:r>
            <a:endParaRPr lang="zh-CN" altLang="en-US" sz="2000">
              <a:latin typeface="Consolas" panose="020B0609020204030204" charset="0"/>
              <a:cs typeface="Consolas" panose="020B0609020204030204" charset="0"/>
            </a:endParaRPr>
          </a:p>
          <a:p>
            <a:pPr defTabSz="914400">
              <a:lnSpc>
                <a:spcPct val="100000"/>
              </a:lnSpc>
              <a:spcBef>
                <a:spcPts val="200"/>
              </a:spcBef>
              <a:buSzPct val="90000"/>
              <a:buFont typeface="Wingdings" panose="05000000000000000000" pitchFamily="2" charset="2"/>
              <a:buNone/>
            </a:pPr>
            <a:r>
              <a:rPr lang="zh-CN" altLang="en-US" sz="2000">
                <a:latin typeface="Consolas" panose="020B0609020204030204" charset="0"/>
                <a:cs typeface="Consolas" panose="020B0609020204030204" charset="0"/>
              </a:rPr>
              <a:t>for ch in y:</a:t>
            </a:r>
            <a:endParaRPr lang="zh-CN" altLang="en-US" sz="2000">
              <a:latin typeface="Consolas" panose="020B0609020204030204" charset="0"/>
              <a:cs typeface="Consolas" panose="020B0609020204030204" charset="0"/>
            </a:endParaRPr>
          </a:p>
          <a:p>
            <a:pPr defTabSz="914400">
              <a:lnSpc>
                <a:spcPct val="100000"/>
              </a:lnSpc>
              <a:spcBef>
                <a:spcPts val="200"/>
              </a:spcBef>
              <a:buSzPct val="90000"/>
              <a:buFont typeface="Wingdings" panose="05000000000000000000" pitchFamily="2" charset="2"/>
              <a:buNone/>
            </a:pPr>
            <a:r>
              <a:rPr lang="zh-CN" altLang="en-US" sz="2000">
                <a:latin typeface="Consolas" panose="020B0609020204030204" charset="0"/>
                <a:cs typeface="Consolas" panose="020B0609020204030204" charset="0"/>
              </a:rPr>
              <a:t>    d[ch] = d.get(ch, 0) + 1</a:t>
            </a:r>
            <a:endParaRPr lang="zh-CN" altLang="en-US" sz="2000">
              <a:latin typeface="Consolas" panose="020B0609020204030204" charset="0"/>
              <a:cs typeface="Consolas" panose="020B0609020204030204" charset="0"/>
            </a:endParaRPr>
          </a:p>
          <a:p>
            <a:pPr defTabSz="914400">
              <a:lnSpc>
                <a:spcPct val="100000"/>
              </a:lnSpc>
              <a:spcBef>
                <a:spcPts val="200"/>
              </a:spcBef>
              <a:buSzPct val="90000"/>
              <a:buFont typeface="Wingdings" panose="05000000000000000000" pitchFamily="2" charset="2"/>
              <a:buNone/>
            </a:pPr>
            <a:r>
              <a:rPr lang="zh-CN" altLang="en-US" sz="2000">
                <a:latin typeface="Consolas" panose="020B0609020204030204" charset="0"/>
                <a:cs typeface="Consolas" panose="020B0609020204030204" charset="0"/>
              </a:rPr>
              <a:t>print(d)</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3.3.4  标准库collections中与字典有关的类</a:t>
            </a:r>
            <a:endParaRPr lang="zh-CN" altLang="en-US"/>
          </a:p>
        </p:txBody>
      </p:sp>
      <p:sp>
        <p:nvSpPr>
          <p:cNvPr id="3" name="内容占位符 2"/>
          <p:cNvSpPr>
            <a:spLocks noGrp="1"/>
          </p:cNvSpPr>
          <p:nvPr>
            <p:ph idx="1"/>
          </p:nvPr>
        </p:nvSpPr>
        <p:spPr/>
        <p:txBody>
          <a:bodyPr>
            <a:normAutofit/>
          </a:bodyPr>
          <a:p>
            <a:pPr marL="0" indent="0">
              <a:buNone/>
            </a:pPr>
            <a:r>
              <a:rPr lang="zh-CN" altLang="en-US" sz="2400"/>
              <a:t>（1）OrderedDict类</a:t>
            </a:r>
            <a:endParaRPr lang="zh-CN" altLang="en-US" sz="2400"/>
          </a:p>
          <a:p>
            <a:pPr marL="0" indent="0">
              <a:lnSpc>
                <a:spcPct val="110000"/>
              </a:lnSpc>
              <a:buNone/>
            </a:pPr>
            <a:r>
              <a:rPr lang="zh-CN" altLang="en-US" sz="2400"/>
              <a:t>Python内置字典dict是无序的，如果确实需要一个可以记住并</a:t>
            </a:r>
            <a:r>
              <a:rPr lang="zh-CN" altLang="en-US" sz="2400"/>
              <a:t>依赖元素插入顺序的字典，可以使用collections.OrderedDict。</a:t>
            </a:r>
            <a:endParaRPr lang="zh-CN" altLang="en-US" sz="2400"/>
          </a:p>
          <a:p>
            <a:pPr marL="0" indent="0">
              <a:buNone/>
            </a:pPr>
            <a:r>
              <a:rPr lang="zh-CN" altLang="en-US" sz="2000">
                <a:latin typeface="Consolas" panose="020B0609020204030204" charset="0"/>
              </a:rPr>
              <a:t>&gt;&gt;&gt; import collections</a:t>
            </a:r>
            <a:endParaRPr lang="zh-CN" altLang="en-US" sz="2000">
              <a:latin typeface="Consolas" panose="020B0609020204030204" charset="0"/>
            </a:endParaRPr>
          </a:p>
          <a:p>
            <a:pPr marL="0" indent="0">
              <a:buNone/>
            </a:pPr>
            <a:r>
              <a:rPr lang="zh-CN" altLang="en-US" sz="2000">
                <a:latin typeface="Consolas" panose="020B0609020204030204" charset="0"/>
              </a:rPr>
              <a:t>&gt;&gt;&gt; x = collections.OrderedDict()     # 有序字典</a:t>
            </a:r>
            <a:endParaRPr lang="zh-CN" altLang="en-US" sz="2000">
              <a:latin typeface="Consolas" panose="020B0609020204030204" charset="0"/>
            </a:endParaRPr>
          </a:p>
          <a:p>
            <a:pPr marL="0" indent="0">
              <a:buNone/>
            </a:pPr>
            <a:r>
              <a:rPr lang="zh-CN" altLang="en-US" sz="2000">
                <a:latin typeface="Consolas" panose="020B0609020204030204" charset="0"/>
              </a:rPr>
              <a:t>&gt;&gt;&gt; x['a'] = 3</a:t>
            </a:r>
            <a:endParaRPr lang="zh-CN" altLang="en-US" sz="2000">
              <a:latin typeface="Consolas" panose="020B0609020204030204" charset="0"/>
            </a:endParaRPr>
          </a:p>
          <a:p>
            <a:pPr marL="0" indent="0">
              <a:buNone/>
            </a:pPr>
            <a:r>
              <a:rPr lang="zh-CN" altLang="en-US" sz="2000">
                <a:latin typeface="Consolas" panose="020B0609020204030204" charset="0"/>
              </a:rPr>
              <a:t>&gt;&gt;&gt; x['b'] = 5</a:t>
            </a:r>
            <a:endParaRPr lang="zh-CN" altLang="en-US" sz="2000">
              <a:latin typeface="Consolas" panose="020B0609020204030204" charset="0"/>
            </a:endParaRPr>
          </a:p>
          <a:p>
            <a:pPr marL="0" indent="0">
              <a:buNone/>
            </a:pPr>
            <a:r>
              <a:rPr lang="zh-CN" altLang="en-US" sz="2000">
                <a:latin typeface="Consolas" panose="020B0609020204030204" charset="0"/>
              </a:rPr>
              <a:t>&gt;&gt;&gt; x['c'] = 8</a:t>
            </a:r>
            <a:endParaRPr lang="zh-CN" altLang="en-US" sz="2000">
              <a:latin typeface="Consolas" panose="020B0609020204030204" charset="0"/>
            </a:endParaRPr>
          </a:p>
          <a:p>
            <a:pPr marL="0" indent="0">
              <a:buNone/>
            </a:pPr>
            <a:r>
              <a:rPr lang="zh-CN" altLang="en-US" sz="2000">
                <a:latin typeface="Consolas" panose="020B0609020204030204" charset="0"/>
              </a:rPr>
              <a:t>&gt;&gt;&gt; x</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OrderedDict([('a', 3), ('b', 5), ('c', 8)])</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3.3.4  标准库collections中与字典有关的类</a:t>
            </a:r>
            <a:endParaRPr lang="zh-CN" altLang="en-US"/>
          </a:p>
        </p:txBody>
      </p:sp>
      <p:sp>
        <p:nvSpPr>
          <p:cNvPr id="3" name="内容占位符 2"/>
          <p:cNvSpPr>
            <a:spLocks noGrp="1"/>
          </p:cNvSpPr>
          <p:nvPr>
            <p:ph idx="1"/>
          </p:nvPr>
        </p:nvSpPr>
        <p:spPr/>
        <p:txBody>
          <a:bodyPr>
            <a:normAutofit/>
          </a:bodyPr>
          <a:p>
            <a:pPr marL="0" indent="0" fontAlgn="auto">
              <a:lnSpc>
                <a:spcPct val="100000"/>
              </a:lnSpc>
              <a:spcBef>
                <a:spcPts val="0"/>
              </a:spcBef>
              <a:buNone/>
            </a:pPr>
            <a:r>
              <a:rPr lang="zh-CN" altLang="en-US" sz="2400"/>
              <a:t>（2）defaultdict类</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import string</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from random import choices</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from collections import defaultdict</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x = string.ascii_letters + string.digits + string.punctuation</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z = ''.join(choices(x, k=1000))</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frequences = defaultdict(int)           # 所有值默认为0</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for item in z:</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frequences[item] += 1               # 修改每个字符的频次</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print(frequences.items())</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3.3.4  标准库collections中与字典有关的类</a:t>
            </a:r>
            <a:endParaRPr lang="zh-CN" altLang="en-US"/>
          </a:p>
        </p:txBody>
      </p:sp>
      <p:sp>
        <p:nvSpPr>
          <p:cNvPr id="3" name="内容占位符 2"/>
          <p:cNvSpPr>
            <a:spLocks noGrp="1"/>
          </p:cNvSpPr>
          <p:nvPr>
            <p:ph idx="1"/>
          </p:nvPr>
        </p:nvSpPr>
        <p:spPr/>
        <p:txBody>
          <a:bodyPr>
            <a:normAutofit/>
          </a:bodyPr>
          <a:p>
            <a:pPr marL="0" indent="0" fontAlgn="auto">
              <a:lnSpc>
                <a:spcPct val="100000"/>
              </a:lnSpc>
              <a:spcBef>
                <a:spcPts val="0"/>
              </a:spcBef>
              <a:buNone/>
            </a:pPr>
            <a:r>
              <a:rPr lang="zh-CN" altLang="en-US" sz="2400"/>
              <a:t>（3）Counter类</a:t>
            </a:r>
            <a:endParaRPr lang="zh-CN" altLang="en-US" sz="2400"/>
          </a:p>
          <a:p>
            <a:pPr marL="0" indent="0" fontAlgn="auto">
              <a:lnSpc>
                <a:spcPct val="100000"/>
              </a:lnSpc>
              <a:spcBef>
                <a:spcPts val="0"/>
              </a:spcBef>
              <a:buNone/>
            </a:pPr>
            <a:r>
              <a:rPr lang="zh-CN" altLang="en-US" sz="2400"/>
              <a:t>对于频次统计的问题，使用collections模块的Counter类可以更加快速地实现这个功能，并且能够提供更多的功能，例如查找出现次数最多的元素。</a:t>
            </a:r>
            <a:endParaRPr lang="zh-CN" altLang="en-US" sz="2400"/>
          </a:p>
          <a:p>
            <a:pPr marL="0" indent="0" fontAlgn="auto">
              <a:lnSpc>
                <a:spcPct val="100000"/>
              </a:lnSpc>
              <a:spcBef>
                <a:spcPts val="0"/>
              </a:spcBef>
              <a:buNone/>
            </a:pPr>
            <a:r>
              <a:rPr lang="zh-CN" altLang="en-US" sz="2000">
                <a:latin typeface="Consolas" panose="020B0609020204030204" charset="0"/>
              </a:rPr>
              <a:t>import string</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from random import choices</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from collections import Counter</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x = string.ascii_letters + string.digits + string.punctuation</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z = ''.join(choices(x, k=1000))</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frequences = Counter(z)</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print(frequences.items())</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print(frequences.most_common(1))   # 出现次数最多的1个字符及其频率</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print(frequences.most_common(3))   # 出现次数最多的前3个字符及其频率</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3.4  集合</a:t>
            </a:r>
            <a:endParaRPr lang="zh-CN" altLang="en-US"/>
          </a:p>
        </p:txBody>
      </p:sp>
      <p:sp>
        <p:nvSpPr>
          <p:cNvPr id="3" name="内容占位符 2"/>
          <p:cNvSpPr>
            <a:spLocks noGrp="1"/>
          </p:cNvSpPr>
          <p:nvPr>
            <p:ph idx="1"/>
          </p:nvPr>
        </p:nvSpPr>
        <p:spPr/>
        <p:txBody>
          <a:bodyPr/>
          <a:p>
            <a:pPr fontAlgn="auto">
              <a:lnSpc>
                <a:spcPct val="150000"/>
              </a:lnSpc>
            </a:pPr>
            <a:r>
              <a:rPr lang="zh-CN" altLang="en-US" sz="2400"/>
              <a:t>集合（set）属于Python</a:t>
            </a:r>
            <a:r>
              <a:rPr lang="zh-CN" altLang="en-US" sz="2400">
                <a:solidFill>
                  <a:srgbClr val="FF0000"/>
                </a:solidFill>
              </a:rPr>
              <a:t>无序可变容器对象</a:t>
            </a:r>
            <a:r>
              <a:rPr lang="zh-CN" altLang="en-US" sz="2400"/>
              <a:t>，使用一对</a:t>
            </a:r>
            <a:r>
              <a:rPr lang="zh-CN" altLang="en-US" sz="2400">
                <a:solidFill>
                  <a:srgbClr val="FF0000"/>
                </a:solidFill>
              </a:rPr>
              <a:t>大括号</a:t>
            </a:r>
            <a:r>
              <a:rPr lang="zh-CN" altLang="en-US" sz="2400"/>
              <a:t>作为定界符，元素之间使用</a:t>
            </a:r>
            <a:r>
              <a:rPr lang="zh-CN" altLang="en-US" sz="2400">
                <a:solidFill>
                  <a:srgbClr val="FF0000"/>
                </a:solidFill>
              </a:rPr>
              <a:t>逗号</a:t>
            </a:r>
            <a:r>
              <a:rPr lang="zh-CN" altLang="en-US" sz="2400"/>
              <a:t>分隔，同一个集合内的每个元素都是唯一的，</a:t>
            </a:r>
            <a:r>
              <a:rPr lang="zh-CN" altLang="en-US" sz="2400">
                <a:solidFill>
                  <a:srgbClr val="FF0000"/>
                </a:solidFill>
              </a:rPr>
              <a:t>元素之间不重复</a:t>
            </a:r>
            <a:r>
              <a:rPr lang="zh-CN" altLang="en-US" sz="2400"/>
              <a:t>。</a:t>
            </a:r>
            <a:endParaRPr lang="zh-CN" altLang="en-US" sz="2400"/>
          </a:p>
          <a:p>
            <a:pPr fontAlgn="auto">
              <a:lnSpc>
                <a:spcPct val="150000"/>
              </a:lnSpc>
            </a:pPr>
            <a:r>
              <a:rPr lang="zh-CN" altLang="en-US" sz="2400"/>
              <a:t>集合中只能包含数字、字符串、元组等</a:t>
            </a:r>
            <a:r>
              <a:rPr lang="zh-CN" altLang="en-US" sz="2400">
                <a:solidFill>
                  <a:srgbClr val="FF0000"/>
                </a:solidFill>
              </a:rPr>
              <a:t>不可变类型</a:t>
            </a:r>
            <a:r>
              <a:rPr lang="zh-CN" altLang="en-US" sz="2400"/>
              <a:t>（或者说可哈希）的数据，不能以任何</a:t>
            </a:r>
            <a:r>
              <a:rPr lang="zh-CN" altLang="en-US" sz="2400"/>
              <a:t>形式包含列表、字典、集合等可变类型的数据。</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3.4.1  集合对象的创建与删除</a:t>
            </a:r>
            <a:endParaRPr lang="zh-CN" altLang="en-US"/>
          </a:p>
        </p:txBody>
      </p:sp>
      <p:sp>
        <p:nvSpPr>
          <p:cNvPr id="3" name="内容占位符 2"/>
          <p:cNvSpPr>
            <a:spLocks noGrp="1"/>
          </p:cNvSpPr>
          <p:nvPr>
            <p:ph idx="1"/>
          </p:nvPr>
        </p:nvSpPr>
        <p:spPr>
          <a:xfrm>
            <a:off x="838200" y="1321435"/>
            <a:ext cx="10515600" cy="4944745"/>
          </a:xfrm>
        </p:spPr>
        <p:txBody>
          <a:bodyPr>
            <a:normAutofit lnSpcReduction="20000"/>
          </a:bodyPr>
          <a:p>
            <a:pPr fontAlgn="auto">
              <a:lnSpc>
                <a:spcPct val="100000"/>
              </a:lnSpc>
              <a:spcBef>
                <a:spcPts val="0"/>
              </a:spcBef>
              <a:buFont typeface="Arial" panose="020B0604020202020204" pitchFamily="34" charset="0"/>
              <a:buChar char="•"/>
            </a:pPr>
            <a:r>
              <a:rPr lang="zh-CN" altLang="en-US" sz="2400"/>
              <a:t>直接将集合</a:t>
            </a:r>
            <a:r>
              <a:rPr lang="zh-CN" altLang="en-US" sz="2400"/>
              <a:t>字面值赋值给变量即可创建一个集合对象。</a:t>
            </a:r>
            <a:endParaRPr lang="zh-CN" altLang="en-US" sz="2400"/>
          </a:p>
          <a:p>
            <a:pPr marL="0" indent="0" fontAlgn="auto">
              <a:lnSpc>
                <a:spcPct val="100000"/>
              </a:lnSpc>
              <a:spcBef>
                <a:spcPts val="600"/>
              </a:spcBef>
              <a:buNone/>
            </a:pPr>
            <a:r>
              <a:rPr lang="zh-CN" altLang="en-US" sz="2000">
                <a:latin typeface="Consolas" panose="020B0609020204030204" charset="0"/>
              </a:rPr>
              <a:t>&gt;&gt;&gt; a = {3, 5}                         # 创建集合对象</a:t>
            </a:r>
            <a:endParaRPr lang="zh-CN" altLang="en-US" sz="2000">
              <a:latin typeface="Consolas" panose="020B0609020204030204" charset="0"/>
            </a:endParaRPr>
          </a:p>
          <a:p>
            <a:pPr marL="0" indent="0" fontAlgn="auto">
              <a:lnSpc>
                <a:spcPct val="100000"/>
              </a:lnSpc>
              <a:spcBef>
                <a:spcPts val="600"/>
              </a:spcBef>
              <a:buNone/>
            </a:pPr>
            <a:r>
              <a:rPr lang="zh-CN" altLang="en-US" sz="2000">
                <a:latin typeface="Consolas" panose="020B0609020204030204" charset="0"/>
              </a:rPr>
              <a:t>&gt;&gt;&gt; type(a)                            # 查看对象类型</a:t>
            </a:r>
            <a:endParaRPr lang="zh-CN" altLang="en-US" sz="2000">
              <a:latin typeface="Consolas" panose="020B0609020204030204" charset="0"/>
            </a:endParaRPr>
          </a:p>
          <a:p>
            <a:pPr marL="0" indent="0" fontAlgn="auto">
              <a:lnSpc>
                <a:spcPct val="100000"/>
              </a:lnSpc>
              <a:spcBef>
                <a:spcPts val="600"/>
              </a:spcBef>
              <a:buNone/>
            </a:pPr>
            <a:r>
              <a:rPr lang="zh-CN" altLang="en-US" sz="2000">
                <a:solidFill>
                  <a:srgbClr val="00B0F0"/>
                </a:solidFill>
                <a:latin typeface="Consolas" panose="020B0609020204030204" charset="0"/>
              </a:rPr>
              <a:t>&lt;class 'set'&gt;</a:t>
            </a:r>
            <a:endParaRPr lang="zh-CN" altLang="en-US" sz="2000">
              <a:latin typeface="Consolas" panose="020B0609020204030204" charset="0"/>
            </a:endParaRPr>
          </a:p>
          <a:p>
            <a:pPr fontAlgn="auto">
              <a:lnSpc>
                <a:spcPct val="140000"/>
              </a:lnSpc>
              <a:spcBef>
                <a:spcPts val="0"/>
              </a:spcBef>
              <a:buFont typeface="Arial" panose="020B0604020202020204" pitchFamily="34" charset="0"/>
              <a:buChar char="•"/>
            </a:pPr>
            <a:r>
              <a:rPr lang="zh-CN" altLang="en-US" sz="2400"/>
              <a:t>也可以使用函数set()函数将列表、元组、字符串、range对象或</a:t>
            </a:r>
            <a:r>
              <a:rPr lang="zh-CN" altLang="en-US" sz="2400"/>
              <a:t>其他有限长度的可迭代对象转换为集合，并自动去除重复</a:t>
            </a:r>
            <a:r>
              <a:rPr lang="zh-CN" altLang="en-US" sz="2400"/>
              <a:t>元素；如果原</a:t>
            </a:r>
            <a:r>
              <a:rPr lang="zh-CN" altLang="en-US" sz="2400"/>
              <a:t>可迭代对象中有不可哈希的值，无法转换成为集合，抛出异常。</a:t>
            </a:r>
            <a:endParaRPr lang="zh-CN" altLang="en-US" sz="2400"/>
          </a:p>
          <a:p>
            <a:pPr marL="0" indent="0" fontAlgn="auto">
              <a:lnSpc>
                <a:spcPct val="100000"/>
              </a:lnSpc>
              <a:spcBef>
                <a:spcPts val="0"/>
              </a:spcBef>
              <a:buNone/>
            </a:pPr>
            <a:r>
              <a:rPr lang="zh-CN" altLang="en-US" sz="2000">
                <a:latin typeface="Consolas" panose="020B0609020204030204" charset="0"/>
              </a:rPr>
              <a:t>&gt;&gt;&gt; a_set = set(range(8, 14))                     # 把range对象转换为集合</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a_set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{8, 9, 10, 11, 12, 13}</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b_set = set([0, 1, 2, 3, 0, 1, 2, 3, 7, 8])   # 转换时自动去掉重复元素</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b_set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{0, 1, 2, 3, 7, 8}</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 = set()                                     # 空集合</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3.4.1  集合对象的创建与删除</a:t>
            </a:r>
            <a:endParaRPr lang="zh-CN" altLang="en-US"/>
          </a:p>
        </p:txBody>
      </p:sp>
      <p:sp>
        <p:nvSpPr>
          <p:cNvPr id="3" name="内容占位符 2"/>
          <p:cNvSpPr>
            <a:spLocks noGrp="1"/>
          </p:cNvSpPr>
          <p:nvPr>
            <p:ph idx="1"/>
          </p:nvPr>
        </p:nvSpPr>
        <p:spPr/>
        <p:txBody>
          <a:bodyPr>
            <a:normAutofit lnSpcReduction="10000"/>
          </a:bodyPr>
          <a:p>
            <a:r>
              <a:rPr lang="zh-CN" altLang="en-US" sz="2400"/>
              <a:t>还可以使用集合推导式创建集合。</a:t>
            </a:r>
            <a:endParaRPr lang="zh-CN" altLang="en-US" sz="2400"/>
          </a:p>
          <a:p>
            <a:pPr marL="0" indent="0">
              <a:buNone/>
            </a:pPr>
            <a:r>
              <a:rPr lang="zh-CN" altLang="en-US" sz="2000">
                <a:latin typeface="Consolas" panose="020B0609020204030204" charset="0"/>
                <a:cs typeface="Consolas" panose="020B0609020204030204" charset="0"/>
              </a:rPr>
              <a:t>&gt;&gt;&gt; {x.strip() for x in (' he  ', 'she ', '  I')}</a:t>
            </a:r>
            <a:endParaRPr lang="zh-CN" altLang="en-US" sz="2000">
              <a:latin typeface="Consolas" panose="020B0609020204030204" charset="0"/>
              <a:cs typeface="Consolas" panose="020B0609020204030204" charset="0"/>
            </a:endParaRPr>
          </a:p>
          <a:p>
            <a:pPr marL="0" indent="0">
              <a:buNone/>
            </a:pPr>
            <a:r>
              <a:rPr lang="zh-CN" altLang="en-US" sz="2000">
                <a:solidFill>
                  <a:srgbClr val="00B0F0"/>
                </a:solidFill>
                <a:latin typeface="Consolas" panose="020B0609020204030204" charset="0"/>
                <a:cs typeface="Consolas" panose="020B0609020204030204" charset="0"/>
              </a:rPr>
              <a:t>{'he', 'she', 'I'}</a:t>
            </a:r>
            <a:endParaRPr lang="zh-CN" altLang="en-US" sz="2000">
              <a:solidFill>
                <a:srgbClr val="00B0F0"/>
              </a:solidFill>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rPr>
              <a:t>&gt;&gt;&gt; from random import randint</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rPr>
              <a:t>&gt;&gt;&gt; x = {randint(1,500) for _ in range(50)}</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rPr>
              <a:t>&gt;&gt;&gt; len(x)</a:t>
            </a:r>
            <a:endParaRPr lang="zh-CN" altLang="en-US" sz="2000">
              <a:latin typeface="Consolas" panose="020B0609020204030204" charset="0"/>
              <a:cs typeface="Consolas" panose="020B0609020204030204" charset="0"/>
            </a:endParaRPr>
          </a:p>
          <a:p>
            <a:pPr marL="0" indent="0">
              <a:buNone/>
            </a:pPr>
            <a:r>
              <a:rPr lang="zh-CN" altLang="en-US" sz="2000">
                <a:solidFill>
                  <a:srgbClr val="00B0F0"/>
                </a:solidFill>
                <a:latin typeface="Consolas" panose="020B0609020204030204" charset="0"/>
                <a:cs typeface="Consolas" panose="020B0609020204030204" charset="0"/>
              </a:rPr>
              <a:t>47</a:t>
            </a:r>
            <a:endParaRPr lang="zh-CN" altLang="en-US" sz="2000">
              <a:solidFill>
                <a:srgbClr val="00B0F0"/>
              </a:solidFill>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rPr>
              <a:t>&gt;&gt;&gt; {str(x) for x in range(10)}</a:t>
            </a:r>
            <a:endParaRPr lang="zh-CN" altLang="en-US" sz="2000">
              <a:latin typeface="Consolas" panose="020B0609020204030204" charset="0"/>
              <a:cs typeface="Consolas" panose="020B0609020204030204" charset="0"/>
            </a:endParaRPr>
          </a:p>
          <a:p>
            <a:pPr marL="0" indent="0">
              <a:buNone/>
            </a:pPr>
            <a:r>
              <a:rPr lang="zh-CN" altLang="en-US" sz="2000">
                <a:solidFill>
                  <a:srgbClr val="00B0F0"/>
                </a:solidFill>
                <a:latin typeface="Consolas" panose="020B0609020204030204" charset="0"/>
                <a:cs typeface="Consolas" panose="020B0609020204030204" charset="0"/>
              </a:rPr>
              <a:t>{'6', '5', '8', '1', '4', '0', '9', '2', '3', '7'}</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3.4.2  集合操作与运算</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5" name="表格 4"/>
          <p:cNvGraphicFramePr/>
          <p:nvPr>
            <p:custDataLst>
              <p:tags r:id="rId1"/>
            </p:custDataLst>
          </p:nvPr>
        </p:nvGraphicFramePr>
        <p:xfrm>
          <a:off x="892810" y="1308735"/>
          <a:ext cx="9431020" cy="4984750"/>
        </p:xfrm>
        <a:graphic>
          <a:graphicData uri="http://schemas.openxmlformats.org/drawingml/2006/table">
            <a:tbl>
              <a:tblPr firstRow="1" bandRow="1">
                <a:tableStyleId>{5940675A-B579-460E-94D1-54222C63F5DA}</a:tableStyleId>
              </a:tblPr>
              <a:tblGrid>
                <a:gridCol w="2599055"/>
                <a:gridCol w="6831965"/>
              </a:tblGrid>
              <a:tr h="156210">
                <a:tc>
                  <a:txBody>
                    <a:bodyPr/>
                    <a:p>
                      <a:pPr indent="0" algn="ctr">
                        <a:buNone/>
                      </a:pPr>
                      <a:r>
                        <a:rPr lang="en-US" sz="1400" b="1">
                          <a:latin typeface="Consolas" panose="020B0609020204030204" charset="0"/>
                          <a:cs typeface="Consolas" panose="020B0609020204030204" charset="0"/>
                        </a:rPr>
                        <a:t>方法</a:t>
                      </a:r>
                      <a:endParaRPr lang="en-US" altLang="en-US" sz="1400" b="1">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1">
                          <a:latin typeface="Consolas" panose="020B0609020204030204" charset="0"/>
                          <a:cs typeface="Consolas" panose="020B0609020204030204" charset="0"/>
                        </a:rPr>
                        <a:t>功能描述</a:t>
                      </a:r>
                      <a:endParaRPr lang="en-US" altLang="en-US" sz="1400" b="1">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2935">
                <a:tc>
                  <a:txBody>
                    <a:bodyPr/>
                    <a:p>
                      <a:pPr indent="0">
                        <a:buNone/>
                      </a:pPr>
                      <a:r>
                        <a:rPr lang="en-US" sz="1400" b="0">
                          <a:latin typeface="Consolas" panose="020B0609020204030204" charset="0"/>
                          <a:cs typeface="Consolas" panose="020B0609020204030204" charset="0"/>
                        </a:rPr>
                        <a:t>add(...)</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往当前集合中增加一个可哈希元素，如果集合中已经存在该元素，直接忽略该操作，如果参数不可哈希，抛出TypeError异常并提示参数不可哈希。该方法直接修改当前集合，没有返回值</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55575">
                <a:tc>
                  <a:txBody>
                    <a:bodyPr/>
                    <a:p>
                      <a:pPr indent="0">
                        <a:buNone/>
                      </a:pPr>
                      <a:r>
                        <a:rPr lang="en-US" sz="1400" b="0">
                          <a:latin typeface="Consolas" panose="020B0609020204030204" charset="0"/>
                          <a:cs typeface="Consolas" panose="020B0609020204030204" charset="0"/>
                        </a:rPr>
                        <a:t>clear()</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删除当前集合对象中所有元素，没有返回值</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67360">
                <a:tc>
                  <a:txBody>
                    <a:bodyPr/>
                    <a:p>
                      <a:pPr indent="0">
                        <a:buNone/>
                      </a:pPr>
                      <a:r>
                        <a:rPr lang="en-US" sz="1400" b="0">
                          <a:latin typeface="Consolas" panose="020B0609020204030204" charset="0"/>
                          <a:cs typeface="Consolas" panose="020B0609020204030204" charset="0"/>
                        </a:rPr>
                        <a:t>difference(...)</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接收一个或多个集合（或其他可迭代对象），返回当前集合对象与所有参数对象的差集，不对当前集合做任何修改，功能类似于差集运算符“-”</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67360">
                <a:tc>
                  <a:txBody>
                    <a:bodyPr/>
                    <a:p>
                      <a:pPr indent="0">
                        <a:buNone/>
                      </a:pPr>
                      <a:r>
                        <a:rPr lang="en-US" sz="1400" b="0">
                          <a:latin typeface="Consolas" panose="020B0609020204030204" charset="0"/>
                          <a:cs typeface="Consolas" panose="020B0609020204030204" charset="0"/>
                        </a:rPr>
                        <a:t>difference_update(...)</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接收一个或多个集合（或其他可迭代对象），从当前集合中删除所有参数对象中的元素，对当前集合进行更新，该方法没有返回值，功能类似于运算符“-=”</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66725">
                <a:tc>
                  <a:txBody>
                    <a:bodyPr/>
                    <a:p>
                      <a:pPr indent="0">
                        <a:buNone/>
                      </a:pPr>
                      <a:r>
                        <a:rPr lang="en-US" sz="1400" b="0">
                          <a:latin typeface="Consolas" panose="020B0609020204030204" charset="0"/>
                          <a:cs typeface="Consolas" panose="020B0609020204030204" charset="0"/>
                        </a:rPr>
                        <a:t>discard(...) </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接收一个可哈希对象作为参数，从当前集合中删除该元素，如果参数元素不在当前集合中则忽略该操作。该方法直接修改当前集合，没有返回值</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67995">
                <a:tc>
                  <a:txBody>
                    <a:bodyPr/>
                    <a:p>
                      <a:pPr indent="0">
                        <a:buNone/>
                      </a:pPr>
                      <a:r>
                        <a:rPr lang="en-US" sz="1400" b="0">
                          <a:latin typeface="Consolas" panose="020B0609020204030204" charset="0"/>
                          <a:cs typeface="Consolas" panose="020B0609020204030204" charset="0"/>
                        </a:rPr>
                        <a:t>intersection(...)</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接收一个或多个集合对象（或其他可迭代对象），返回当前集合与所有参数对象的交集，不对当前集合做任何修改，功能类似于运算符“&amp;”</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67360">
                <a:tc>
                  <a:txBody>
                    <a:bodyPr/>
                    <a:p>
                      <a:pPr indent="0">
                        <a:buNone/>
                      </a:pPr>
                      <a:r>
                        <a:rPr lang="en-US" sz="1400" b="0">
                          <a:latin typeface="Consolas" panose="020B0609020204030204" charset="0"/>
                          <a:cs typeface="Consolas" panose="020B0609020204030204" charset="0"/>
                        </a:rPr>
                        <a:t>intersection_update(...)</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接收一个或多个集合（或其他可迭代对象），使用当前集合与所有参数对象的交集更新当前集合对象，没有返回值，功能类似于运算符“&amp;=”</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1150">
                <a:tc>
                  <a:txBody>
                    <a:bodyPr/>
                    <a:p>
                      <a:pPr indent="0">
                        <a:buNone/>
                      </a:pPr>
                      <a:r>
                        <a:rPr lang="en-US" sz="1400" b="0">
                          <a:latin typeface="Consolas" panose="020B0609020204030204" charset="0"/>
                          <a:cs typeface="Consolas" panose="020B0609020204030204" charset="0"/>
                        </a:rPr>
                        <a:t>pop()</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不接收参数，删除并返回当前集合中的任意一个元素，如果当前集合为空则抛出KeyError异常</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67995">
                <a:tc>
                  <a:txBody>
                    <a:bodyPr/>
                    <a:p>
                      <a:pPr indent="0">
                        <a:buNone/>
                      </a:pPr>
                      <a:r>
                        <a:rPr lang="en-US" sz="1400" b="0">
                          <a:latin typeface="Consolas" panose="020B0609020204030204" charset="0"/>
                          <a:cs typeface="Consolas" panose="020B0609020204030204" charset="0"/>
                        </a:rPr>
                        <a:t>remove(...)</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从当前集合中删除参数指定的元素，如果参数指定的元素不在集合中就抛出KeyError异常，该方法直接修改当前集合，没有返回值</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66725">
                <a:tc>
                  <a:txBody>
                    <a:bodyPr/>
                    <a:p>
                      <a:pPr indent="0">
                        <a:buNone/>
                      </a:pPr>
                      <a:r>
                        <a:rPr lang="en-US" sz="1400" b="0">
                          <a:latin typeface="Consolas" panose="020B0609020204030204" charset="0"/>
                          <a:cs typeface="Consolas" panose="020B0609020204030204" charset="0"/>
                        </a:rPr>
                        <a:t>union(...)</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接收一个或多个集合（或其他可迭代对象），返回当前集合与所有参数对象的并集，不对当前集合做任何修改，功能类似于并集运算符“|”</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67360">
                <a:tc>
                  <a:txBody>
                    <a:bodyPr/>
                    <a:p>
                      <a:pPr indent="0">
                        <a:buNone/>
                      </a:pPr>
                      <a:r>
                        <a:rPr lang="en-US" sz="1400" b="0">
                          <a:latin typeface="Consolas" panose="020B0609020204030204" charset="0"/>
                          <a:cs typeface="Consolas" panose="020B0609020204030204" charset="0"/>
                        </a:rPr>
                        <a:t>update(...)</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400" b="0">
                          <a:latin typeface="Consolas" panose="020B0609020204030204" charset="0"/>
                          <a:cs typeface="Consolas" panose="020B0609020204030204" charset="0"/>
                        </a:rPr>
                        <a:t>接收一个或多个集合（或其他可迭代对象），把参数对象中所有元素添加到当前集合对象中，没有返回值，功能类似于运算符“|=”</a:t>
                      </a:r>
                      <a:endParaRPr lang="en-US" altLang="en-US" sz="14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3.4.2  集合操作与运算</a:t>
            </a:r>
            <a:endParaRPr lang="zh-CN" altLang="en-US"/>
          </a:p>
        </p:txBody>
      </p:sp>
      <p:sp>
        <p:nvSpPr>
          <p:cNvPr id="3" name="内容占位符 2"/>
          <p:cNvSpPr>
            <a:spLocks noGrp="1"/>
          </p:cNvSpPr>
          <p:nvPr>
            <p:ph idx="1"/>
          </p:nvPr>
        </p:nvSpPr>
        <p:spPr/>
        <p:txBody>
          <a:bodyPr>
            <a:normAutofit lnSpcReduction="10000"/>
          </a:bodyPr>
          <a:p>
            <a:pPr marL="0" indent="0" fontAlgn="auto">
              <a:lnSpc>
                <a:spcPct val="140000"/>
              </a:lnSpc>
              <a:spcBef>
                <a:spcPts val="0"/>
              </a:spcBef>
              <a:buNone/>
            </a:pPr>
            <a:r>
              <a:rPr lang="zh-CN" altLang="en-US" sz="2400"/>
              <a:t>（1）集合元素增加与删除</a:t>
            </a:r>
            <a:endParaRPr lang="zh-CN" altLang="en-US" sz="2400"/>
          </a:p>
          <a:p>
            <a:pPr fontAlgn="auto">
              <a:lnSpc>
                <a:spcPct val="140000"/>
              </a:lnSpc>
              <a:spcBef>
                <a:spcPts val="0"/>
              </a:spcBef>
              <a:buFont typeface="Arial" panose="020B0604020202020204" pitchFamily="34" charset="0"/>
              <a:buChar char="•"/>
            </a:pPr>
            <a:r>
              <a:rPr lang="zh-CN" altLang="en-US" sz="2400"/>
              <a:t>使用集合对象的add()方法可以增加新元素，如果该元素已存在则忽略该操作，不会抛出异常；</a:t>
            </a:r>
            <a:endParaRPr lang="zh-CN" altLang="en-US" sz="2400"/>
          </a:p>
          <a:p>
            <a:pPr fontAlgn="auto">
              <a:lnSpc>
                <a:spcPct val="140000"/>
              </a:lnSpc>
              <a:spcBef>
                <a:spcPts val="0"/>
              </a:spcBef>
              <a:buFont typeface="Arial" panose="020B0604020202020204" pitchFamily="34" charset="0"/>
              <a:buChar char="•"/>
            </a:pPr>
            <a:r>
              <a:rPr lang="zh-CN" altLang="en-US" sz="2400"/>
              <a:t>update()方法用于合并另外一个或多个</a:t>
            </a:r>
            <a:r>
              <a:rPr lang="zh-CN" altLang="en-US" sz="2400"/>
              <a:t>集合中的元素到当前集合中，并自动去除重复元素；</a:t>
            </a:r>
            <a:endParaRPr lang="zh-CN" altLang="en-US" sz="2400"/>
          </a:p>
          <a:p>
            <a:pPr marL="0" indent="0" fontAlgn="auto">
              <a:lnSpc>
                <a:spcPct val="100000"/>
              </a:lnSpc>
              <a:spcBef>
                <a:spcPts val="0"/>
              </a:spcBef>
              <a:buNone/>
            </a:pPr>
            <a:r>
              <a:rPr lang="zh-CN" altLang="en-US" sz="2000">
                <a:latin typeface="Consolas" panose="020B0609020204030204" charset="0"/>
              </a:rPr>
              <a:t>&gt;&gt;&gt; s = {1, 2, 3}</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s.add(3)                          # 添加元素，重复元素自动忽略</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s</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 2, 3}</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s.update({3,4})                   # 更新当前字典，自动忽略重复的元素</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s</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 2, 3, 4}</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3.4.2  集合操作与运算</a:t>
            </a:r>
            <a:endParaRPr lang="zh-CN" altLang="en-US"/>
          </a:p>
        </p:txBody>
      </p:sp>
      <p:sp>
        <p:nvSpPr>
          <p:cNvPr id="3" name="内容占位符 2"/>
          <p:cNvSpPr>
            <a:spLocks noGrp="1"/>
          </p:cNvSpPr>
          <p:nvPr>
            <p:ph idx="1"/>
          </p:nvPr>
        </p:nvSpPr>
        <p:spPr>
          <a:xfrm>
            <a:off x="838200" y="1321435"/>
            <a:ext cx="10515600" cy="4844415"/>
          </a:xfrm>
        </p:spPr>
        <p:txBody>
          <a:bodyPr>
            <a:normAutofit fontScale="90000"/>
          </a:bodyPr>
          <a:p>
            <a:pPr fontAlgn="auto">
              <a:lnSpc>
                <a:spcPct val="130000"/>
              </a:lnSpc>
              <a:spcBef>
                <a:spcPts val="0"/>
              </a:spcBef>
              <a:buFont typeface="Arial" panose="020B0604020202020204" pitchFamily="34" charset="0"/>
              <a:buChar char="•"/>
            </a:pPr>
            <a:r>
              <a:rPr lang="zh-CN" altLang="en-US" sz="2400"/>
              <a:t>pop()方法用于随机删除并返回集合中的一个元素，如果集合为空则抛出异常；</a:t>
            </a:r>
            <a:endParaRPr lang="zh-CN" altLang="en-US" sz="2400"/>
          </a:p>
          <a:p>
            <a:pPr fontAlgn="auto">
              <a:lnSpc>
                <a:spcPct val="130000"/>
              </a:lnSpc>
              <a:spcBef>
                <a:spcPts val="0"/>
              </a:spcBef>
              <a:buFont typeface="Arial" panose="020B0604020202020204" pitchFamily="34" charset="0"/>
              <a:buChar char="•"/>
            </a:pPr>
            <a:r>
              <a:rPr lang="zh-CN" altLang="en-US" sz="2400"/>
              <a:t>remove()方法用于删除集合中的元素，如果指定元素不存在则抛出异常；</a:t>
            </a:r>
            <a:endParaRPr lang="zh-CN" altLang="en-US" sz="2400"/>
          </a:p>
          <a:p>
            <a:pPr fontAlgn="auto">
              <a:lnSpc>
                <a:spcPct val="130000"/>
              </a:lnSpc>
              <a:spcBef>
                <a:spcPts val="0"/>
              </a:spcBef>
              <a:buFont typeface="Arial" panose="020B0604020202020204" pitchFamily="34" charset="0"/>
              <a:buChar char="•"/>
            </a:pPr>
            <a:r>
              <a:rPr lang="zh-CN" altLang="en-US" sz="2400"/>
              <a:t>discard()用于从集合中删除一个特定元素，如果元素不在集合中则忽略该操作；</a:t>
            </a:r>
            <a:endParaRPr lang="zh-CN" altLang="en-US" sz="2400"/>
          </a:p>
          <a:p>
            <a:pPr fontAlgn="auto">
              <a:lnSpc>
                <a:spcPct val="130000"/>
              </a:lnSpc>
              <a:spcBef>
                <a:spcPts val="0"/>
              </a:spcBef>
              <a:buFont typeface="Arial" panose="020B0604020202020204" pitchFamily="34" charset="0"/>
              <a:buChar char="•"/>
            </a:pPr>
            <a:r>
              <a:rPr lang="zh-CN" altLang="en-US" sz="2400"/>
              <a:t>clear()方法清空集合删除所有元素。</a:t>
            </a:r>
            <a:endParaRPr lang="zh-CN" altLang="en-US" sz="2400"/>
          </a:p>
          <a:p>
            <a:pPr marL="0" indent="0" fontAlgn="auto">
              <a:lnSpc>
                <a:spcPct val="110000"/>
              </a:lnSpc>
              <a:spcBef>
                <a:spcPts val="0"/>
              </a:spcBef>
              <a:buNone/>
            </a:pPr>
            <a:r>
              <a:rPr lang="zh-CN" altLang="en-US" sz="2000">
                <a:latin typeface="Consolas" panose="020B0609020204030204" charset="0"/>
              </a:rPr>
              <a:t>&gt;&gt;&gt; s.discard(5)                     # 删除元素，不存在则忽略该操作</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s</a:t>
            </a:r>
            <a:endParaRPr lang="zh-CN" altLang="en-US" sz="2000">
              <a:latin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rPr>
              <a:t>{1, 2, 3, 4}</a:t>
            </a:r>
            <a:endParaRPr lang="zh-CN" altLang="en-US" sz="2000">
              <a:solidFill>
                <a:srgbClr val="00B0F0"/>
              </a:solidFill>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s.remove(5)                      # 删除元素，不存在就抛出异常</a:t>
            </a:r>
            <a:endParaRPr lang="zh-CN" altLang="en-US" sz="2000">
              <a:latin typeface="Consolas" panose="020B0609020204030204" charset="0"/>
            </a:endParaRPr>
          </a:p>
          <a:p>
            <a:pPr marL="0" indent="0" fontAlgn="auto">
              <a:lnSpc>
                <a:spcPct val="110000"/>
              </a:lnSpc>
              <a:spcBef>
                <a:spcPts val="0"/>
              </a:spcBef>
              <a:buNone/>
            </a:pPr>
            <a:r>
              <a:rPr lang="zh-CN" altLang="en-US" sz="2000">
                <a:solidFill>
                  <a:srgbClr val="FF0000"/>
                </a:solidFill>
                <a:latin typeface="Consolas" panose="020B0609020204030204" charset="0"/>
              </a:rPr>
              <a:t>KeyError: 5</a:t>
            </a:r>
            <a:endParaRPr lang="zh-CN" altLang="en-US" sz="2000">
              <a:solidFill>
                <a:srgbClr val="FF0000"/>
              </a:solidFill>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s.pop()                          # 删除并返回一个元素</a:t>
            </a:r>
            <a:endParaRPr lang="zh-CN" altLang="en-US" sz="2000">
              <a:latin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rPr>
              <a:t>1</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3.4.2  集合操作与运算</a:t>
            </a:r>
            <a:endParaRPr lang="zh-CN" altLang="en-US"/>
          </a:p>
        </p:txBody>
      </p:sp>
      <p:sp>
        <p:nvSpPr>
          <p:cNvPr id="3" name="内容占位符 2"/>
          <p:cNvSpPr>
            <a:spLocks noGrp="1"/>
          </p:cNvSpPr>
          <p:nvPr>
            <p:ph idx="1"/>
          </p:nvPr>
        </p:nvSpPr>
        <p:spPr>
          <a:xfrm>
            <a:off x="838200" y="1321435"/>
            <a:ext cx="10515600" cy="5269865"/>
          </a:xfrm>
        </p:spPr>
        <p:txBody>
          <a:bodyPr>
            <a:normAutofit fontScale="85000"/>
          </a:bodyPr>
          <a:p>
            <a:pPr marL="0" indent="0" fontAlgn="auto">
              <a:lnSpc>
                <a:spcPct val="100000"/>
              </a:lnSpc>
              <a:spcBef>
                <a:spcPts val="0"/>
              </a:spcBef>
              <a:buNone/>
            </a:pPr>
            <a:r>
              <a:rPr lang="zh-CN" altLang="en-US"/>
              <a:t>（2）集合运算</a:t>
            </a:r>
            <a:endParaRPr lang="zh-CN" altLang="en-US"/>
          </a:p>
          <a:p>
            <a:pPr marL="0" indent="0" fontAlgn="auto">
              <a:lnSpc>
                <a:spcPct val="100000"/>
              </a:lnSpc>
              <a:spcBef>
                <a:spcPts val="0"/>
              </a:spcBef>
              <a:buNone/>
            </a:pPr>
            <a:r>
              <a:rPr lang="zh-CN" altLang="en-US" sz="2000">
                <a:latin typeface="Consolas" panose="020B0609020204030204" charset="0"/>
              </a:rPr>
              <a:t>&gt;&gt;&gt; a_set = set([8, 9, 10, 11, 12, 13])</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b_set = {0, 1, 2, 3, 7, 8}</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a_set | b_set                 </a:t>
            </a:r>
            <a:r>
              <a:rPr lang="en-US" altLang="zh-CN" sz="2000">
                <a:latin typeface="Consolas" panose="020B0609020204030204" charset="0"/>
              </a:rPr>
              <a:t>    </a:t>
            </a:r>
            <a:r>
              <a:rPr lang="zh-CN" altLang="en-US" sz="2000">
                <a:latin typeface="Consolas" panose="020B0609020204030204" charset="0"/>
              </a:rPr>
              <a:t>    # 并集</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{0, 1, 2, 3, 7, 8, 9, 10, 11, 12, 13}</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a_set.union(b_set)              </a:t>
            </a:r>
            <a:r>
              <a:rPr lang="en-US" altLang="zh-CN" sz="2000">
                <a:latin typeface="Consolas" panose="020B0609020204030204" charset="0"/>
              </a:rPr>
              <a:t>    </a:t>
            </a:r>
            <a:r>
              <a:rPr lang="zh-CN" altLang="en-US" sz="2000">
                <a:latin typeface="Consolas" panose="020B0609020204030204" charset="0"/>
              </a:rPr>
              <a:t>  # 并集</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{0, 1, 2, 3, 7, 8, 9, 10, 11, 12, 13}</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a_set &amp; b_set                  </a:t>
            </a:r>
            <a:r>
              <a:rPr lang="en-US" altLang="zh-CN" sz="2000">
                <a:latin typeface="Consolas" panose="020B0609020204030204" charset="0"/>
              </a:rPr>
              <a:t>    </a:t>
            </a:r>
            <a:r>
              <a:rPr lang="zh-CN" altLang="en-US" sz="2000">
                <a:latin typeface="Consolas" panose="020B0609020204030204" charset="0"/>
              </a:rPr>
              <a:t>   # 交集</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{8}</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a_set.intersection(b_set)      </a:t>
            </a:r>
            <a:r>
              <a:rPr lang="en-US" altLang="zh-CN" sz="2000">
                <a:latin typeface="Consolas" panose="020B0609020204030204" charset="0"/>
              </a:rPr>
              <a:t>    </a:t>
            </a:r>
            <a:r>
              <a:rPr lang="zh-CN" altLang="en-US" sz="2000">
                <a:latin typeface="Consolas" panose="020B0609020204030204" charset="0"/>
              </a:rPr>
              <a:t>   # 交集</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{8}</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a_set.difference(b_set)        </a:t>
            </a:r>
            <a:r>
              <a:rPr lang="en-US" altLang="zh-CN" sz="2000">
                <a:latin typeface="Consolas" panose="020B0609020204030204" charset="0"/>
              </a:rPr>
              <a:t>    </a:t>
            </a:r>
            <a:r>
              <a:rPr lang="zh-CN" altLang="en-US" sz="2000">
                <a:latin typeface="Consolas" panose="020B0609020204030204" charset="0"/>
              </a:rPr>
              <a:t>   # 差集</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{9, 10, 11, 12, 13}</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a_set - b_set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{9, 10, 11, 12, 13}</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a_set.symmetric_difference(b_set) # 对称差集</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{0, 1, 2, 3, 7, 9, 10, 11, 12, 13}</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a_set ^ b_set</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{0, 1, 2, 3, 7, 9, 10, 11, 12, 13}</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3.4.2  集合操作与运算</a:t>
            </a:r>
            <a:endParaRPr lang="zh-CN" altLang="en-US"/>
          </a:p>
        </p:txBody>
      </p:sp>
      <p:sp>
        <p:nvSpPr>
          <p:cNvPr id="3" name="内容占位符 2"/>
          <p:cNvSpPr>
            <a:spLocks noGrp="1"/>
          </p:cNvSpPr>
          <p:nvPr>
            <p:ph idx="1"/>
          </p:nvPr>
        </p:nvSpPr>
        <p:spPr/>
        <p:txBody>
          <a:bodyPr>
            <a:normAutofit/>
          </a:bodyPr>
          <a:p>
            <a:pPr marL="0" indent="0" fontAlgn="auto">
              <a:lnSpc>
                <a:spcPct val="100000"/>
              </a:lnSpc>
              <a:spcBef>
                <a:spcPts val="0"/>
              </a:spcBef>
              <a:buNone/>
            </a:pPr>
            <a:r>
              <a:rPr lang="zh-CN" altLang="en-US" sz="2000">
                <a:latin typeface="Consolas" panose="020B0609020204030204" charset="0"/>
              </a:rPr>
              <a:t>&gt;&gt;&gt; x = {1, 2, 3}</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y = {1, 2, 5}</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z = {1, 2, 3, 4}</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 &lt; y                             # 比较集合大小/包含关系</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False</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 &lt; z                             # 真子集</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True</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y &lt; z</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False</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{1, 2, 3} &lt;= {1, 2, 3}            # 子集</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True</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3.4.</a:t>
            </a:r>
            <a:r>
              <a:rPr lang="en-US" altLang="zh-CN"/>
              <a:t>3</a:t>
            </a:r>
            <a:r>
              <a:rPr lang="zh-CN" altLang="en-US"/>
              <a:t>  集合应用案例</a:t>
            </a:r>
            <a:endParaRPr lang="zh-CN" altLang="en-US"/>
          </a:p>
        </p:txBody>
      </p:sp>
      <p:sp>
        <p:nvSpPr>
          <p:cNvPr id="3" name="内容占位符 2"/>
          <p:cNvSpPr>
            <a:spLocks noGrp="1"/>
          </p:cNvSpPr>
          <p:nvPr>
            <p:ph idx="1"/>
          </p:nvPr>
        </p:nvSpPr>
        <p:spPr>
          <a:xfrm>
            <a:off x="838200" y="1321435"/>
            <a:ext cx="10515600" cy="4918075"/>
          </a:xfrm>
        </p:spPr>
        <p:txBody>
          <a:bodyPr>
            <a:normAutofit/>
          </a:bodyPr>
          <a:p>
            <a:pPr indent="-228600" fontAlgn="auto">
              <a:lnSpc>
                <a:spcPct val="120000"/>
              </a:lnSpc>
              <a:spcBef>
                <a:spcPts val="0"/>
              </a:spcBef>
              <a:buFont typeface="Arial" panose="020B0604020202020204" pitchFamily="34" charset="0"/>
              <a:buChar char="•"/>
            </a:pPr>
            <a:r>
              <a:rPr lang="zh-CN" altLang="en-US" sz="2400"/>
              <a:t>可以使用集合</a:t>
            </a:r>
            <a:r>
              <a:rPr lang="zh-CN" altLang="en-US" sz="2400">
                <a:solidFill>
                  <a:srgbClr val="FF0000"/>
                </a:solidFill>
              </a:rPr>
              <a:t>快速提取序列中单一元素</a:t>
            </a:r>
            <a:r>
              <a:rPr lang="zh-CN" altLang="en-US" sz="2400"/>
              <a:t>，即提取出序列中所有不重复元素。如果使用传统方式的话，需要编写下面的代码：</a:t>
            </a:r>
            <a:endParaRPr lang="zh-CN" altLang="en-US" sz="2400"/>
          </a:p>
          <a:p>
            <a:pPr marL="0" indent="0" fontAlgn="auto">
              <a:lnSpc>
                <a:spcPct val="100000"/>
              </a:lnSpc>
              <a:spcBef>
                <a:spcPts val="0"/>
              </a:spcBef>
              <a:buNone/>
            </a:pPr>
            <a:r>
              <a:rPr lang="zh-CN" altLang="en-US" sz="2000">
                <a:latin typeface="Consolas" panose="020B0609020204030204" charset="0"/>
              </a:rPr>
              <a:t>&gt;&gt;&gt; import random</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生成100个介于0到9999之间的随机数，可以使用</a:t>
            </a:r>
            <a:r>
              <a:rPr lang="en-US" altLang="zh-CN" sz="2000">
                <a:latin typeface="Consolas" panose="020B0609020204030204" charset="0"/>
              </a:rPr>
              <a:t>random.choices()</a:t>
            </a:r>
            <a:r>
              <a:rPr lang="zh-CN" altLang="en-US" sz="2000">
                <a:latin typeface="Consolas" panose="020B0609020204030204" charset="0"/>
              </a:rPr>
              <a:t>函数改写</a:t>
            </a:r>
            <a:r>
              <a:rPr lang="zh-CN" altLang="en-US" sz="2000">
                <a:latin typeface="Consolas" panose="020B0609020204030204" charset="0"/>
              </a:rPr>
              <a:t>代码</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listRandom = [random.choice(range(10000)) for i in range(100)] </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noRepeat = []</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for i in listRandom :</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if i not in noRepeat :</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noRepeat.append(i)</a:t>
            </a:r>
            <a:endParaRPr lang="zh-CN" altLang="en-US" sz="2000">
              <a:latin typeface="Consolas" panose="020B0609020204030204" charset="0"/>
            </a:endParaRPr>
          </a:p>
          <a:p>
            <a:pPr indent="-228600" fontAlgn="auto">
              <a:lnSpc>
                <a:spcPct val="120000"/>
              </a:lnSpc>
              <a:spcBef>
                <a:spcPts val="0"/>
              </a:spcBef>
              <a:buFont typeface="Arial" panose="020B0604020202020204" pitchFamily="34" charset="0"/>
              <a:buChar char="•"/>
            </a:pPr>
            <a:r>
              <a:rPr lang="zh-CN" altLang="en-US" sz="2400"/>
              <a:t>如果使用集合的话，只需要下面这么一行代码就可以了。</a:t>
            </a:r>
            <a:endParaRPr lang="zh-CN" altLang="en-US" sz="2400"/>
          </a:p>
          <a:p>
            <a:pPr marL="0" indent="0" fontAlgn="auto">
              <a:lnSpc>
                <a:spcPct val="120000"/>
              </a:lnSpc>
              <a:spcBef>
                <a:spcPts val="0"/>
              </a:spcBef>
              <a:buNone/>
            </a:pPr>
            <a:r>
              <a:rPr lang="zh-CN" altLang="en-US" sz="2000">
                <a:latin typeface="Consolas" panose="020B0609020204030204" charset="0"/>
              </a:rPr>
              <a:t>&gt;&gt;&gt; newSet = set(listRandom)</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a:t>
            </a:r>
            <a:r>
              <a:rPr lang="en-US" altLang="zh-CN">
                <a:sym typeface="+mn-ea"/>
              </a:rPr>
              <a:t>3</a:t>
            </a:r>
            <a:r>
              <a:rPr lang="zh-CN" altLang="en-US">
                <a:sym typeface="+mn-ea"/>
              </a:rPr>
              <a:t>  集合应用案例</a:t>
            </a:r>
            <a:endParaRPr lang="zh-CN" altLang="en-US"/>
          </a:p>
        </p:txBody>
      </p:sp>
      <p:sp>
        <p:nvSpPr>
          <p:cNvPr id="3" name="内容占位符 2"/>
          <p:cNvSpPr>
            <a:spLocks noGrp="1"/>
          </p:cNvSpPr>
          <p:nvPr>
            <p:ph idx="1"/>
          </p:nvPr>
        </p:nvSpPr>
        <p:spPr>
          <a:xfrm>
            <a:off x="838200" y="1361440"/>
            <a:ext cx="10515600" cy="4639945"/>
          </a:xfrm>
        </p:spPr>
        <p:txBody>
          <a:bodyPr>
            <a:normAutofit/>
          </a:bodyPr>
          <a:p>
            <a:pPr>
              <a:lnSpc>
                <a:spcPct val="120000"/>
              </a:lnSpc>
              <a:buFont typeface="Arial" panose="020B0604020202020204" pitchFamily="34" charset="0"/>
              <a:buChar char="•"/>
            </a:pPr>
            <a:r>
              <a:rPr lang="zh-CN" altLang="en-US" sz="2400" b="1"/>
              <a:t>应用：</a:t>
            </a:r>
            <a:r>
              <a:rPr lang="zh-CN" altLang="en-US" sz="2400"/>
              <a:t>返回指定范围内一定数量的不重复数字。实际开发时应优先考虑使用标准库函数</a:t>
            </a:r>
            <a:r>
              <a:rPr lang="en-US" altLang="zh-CN" sz="2400"/>
              <a:t>random.sample()</a:t>
            </a:r>
            <a:r>
              <a:rPr lang="zh-CN" altLang="en-US" sz="2400"/>
              <a: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import random</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def randomNumbers(number, start, end):</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data = set()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while len(data)</a:t>
            </a:r>
            <a:r>
              <a:rPr lang="en-US" altLang="zh-CN" sz="2000">
                <a:latin typeface="Consolas" panose="020B0609020204030204" charset="0"/>
              </a:rPr>
              <a:t> </a:t>
            </a:r>
            <a:r>
              <a:rPr lang="zh-CN" altLang="en-US" sz="2000">
                <a:latin typeface="Consolas" panose="020B0609020204030204" charset="0"/>
              </a:rPr>
              <a:t>&lt;</a:t>
            </a:r>
            <a:r>
              <a:rPr lang="en-US" altLang="zh-CN" sz="2000">
                <a:latin typeface="Consolas" panose="020B0609020204030204" charset="0"/>
              </a:rPr>
              <a:t> </a:t>
            </a:r>
            <a:r>
              <a:rPr lang="zh-CN" altLang="en-US" sz="2000">
                <a:latin typeface="Consolas" panose="020B0609020204030204" charset="0"/>
              </a:rPr>
              <a:t>number:</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element = random.randint(start, end)</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data.add(element)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return data</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a:t>
            </a:r>
            <a:r>
              <a:rPr lang="en-US" altLang="zh-CN">
                <a:sym typeface="+mn-ea"/>
              </a:rPr>
              <a:t>3</a:t>
            </a:r>
            <a:r>
              <a:rPr lang="zh-CN" altLang="en-US">
                <a:sym typeface="+mn-ea"/>
              </a:rPr>
              <a:t>  集合应用案例</a:t>
            </a:r>
            <a:endParaRPr lang="zh-CN" altLang="en-US"/>
          </a:p>
        </p:txBody>
      </p:sp>
      <p:sp>
        <p:nvSpPr>
          <p:cNvPr id="3" name="内容占位符 2"/>
          <p:cNvSpPr>
            <a:spLocks noGrp="1"/>
          </p:cNvSpPr>
          <p:nvPr>
            <p:ph idx="1"/>
          </p:nvPr>
        </p:nvSpPr>
        <p:spPr>
          <a:xfrm>
            <a:off x="838200" y="1401445"/>
            <a:ext cx="10515600" cy="4639945"/>
          </a:xfrm>
        </p:spPr>
        <p:txBody>
          <a:bodyPr>
            <a:normAutofit lnSpcReduction="20000"/>
          </a:bodyPr>
          <a:p>
            <a:pPr fontAlgn="auto">
              <a:lnSpc>
                <a:spcPct val="150000"/>
              </a:lnSpc>
              <a:spcBef>
                <a:spcPts val="0"/>
              </a:spcBef>
              <a:buFont typeface="Arial" panose="020B0604020202020204" pitchFamily="34" charset="0"/>
              <a:buChar char="•"/>
            </a:pPr>
            <a:r>
              <a:rPr lang="zh-CN" altLang="en-US" sz="2400" b="1"/>
              <a:t>应用：</a:t>
            </a:r>
            <a:r>
              <a:rPr lang="zh-CN" altLang="en-US" sz="2400"/>
              <a:t>下面两段代码用来测试指定列表中是否包含非法数据，很明显第二段使用集合的代码更高效一些。</a:t>
            </a:r>
            <a:r>
              <a:rPr lang="zh-CN" altLang="en-US" sz="2400">
                <a:hlinkClick r:id="rId1" action="ppaction://hlinkfile"/>
              </a:rPr>
              <a:t>code\3.4.3_1.py</a:t>
            </a:r>
            <a:endParaRPr lang="zh-CN" altLang="en-US" sz="2400"/>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import random</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lstColor = ('red', 'green', 'blue')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colors = [random.choice(lstColor) for i in range(10000)]</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for item in colors:                # 遍历列表中的元素并逐个判断</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if item not in lstColor:</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print('error:', item)</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break</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if (set(colors)-set(lstColor)):    # 转换为集合之后再比较</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a:t>
            </a:r>
            <a:r>
              <a:rPr lang="en-US" altLang="zh-CN" sz="2000">
                <a:latin typeface="Consolas" panose="020B0609020204030204" charset="0"/>
              </a:rPr>
              <a:t>                                  # </a:t>
            </a:r>
            <a:r>
              <a:rPr lang="zh-CN" altLang="en-US" sz="2000">
                <a:latin typeface="Consolas" panose="020B0609020204030204" charset="0"/>
              </a:rPr>
              <a:t>等价于</a:t>
            </a:r>
            <a:r>
              <a:rPr lang="en-US" altLang="zh-CN" sz="2000">
                <a:latin typeface="Consolas" panose="020B0609020204030204" charset="0"/>
              </a:rPr>
              <a:t>set(colors)&gt;set(lstColor)</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print('error')</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a:t>
            </a:r>
            <a:r>
              <a:rPr lang="en-US" altLang="zh-CN">
                <a:sym typeface="+mn-ea"/>
              </a:rPr>
              <a:t>3</a:t>
            </a:r>
            <a:r>
              <a:rPr lang="zh-CN" altLang="en-US">
                <a:sym typeface="+mn-ea"/>
              </a:rPr>
              <a:t>  集合应用案例</a:t>
            </a:r>
            <a:endParaRPr lang="zh-CN" altLang="en-US"/>
          </a:p>
        </p:txBody>
      </p:sp>
      <p:sp>
        <p:nvSpPr>
          <p:cNvPr id="3" name="内容占位符 2"/>
          <p:cNvSpPr>
            <a:spLocks noGrp="1"/>
          </p:cNvSpPr>
          <p:nvPr>
            <p:ph idx="1"/>
          </p:nvPr>
        </p:nvSpPr>
        <p:spPr/>
        <p:txBody>
          <a:bodyPr/>
          <a:p>
            <a:pPr fontAlgn="auto">
              <a:lnSpc>
                <a:spcPct val="150000"/>
              </a:lnSpc>
            </a:pPr>
            <a:r>
              <a:rPr lang="zh-CN" altLang="en-US" sz="2400" b="1">
                <a:sym typeface="+mn-ea"/>
              </a:rPr>
              <a:t>应用：</a:t>
            </a:r>
            <a:r>
              <a:rPr lang="zh-CN" altLang="en-US" sz="2400">
                <a:sym typeface="+mn-ea"/>
              </a:rPr>
              <a:t>假设已有若干用户名字及其喜欢的电影清单，现有某用户，已看过并喜欢一些电影，现在想找个新电影看看，又不知道看什么好。</a:t>
            </a:r>
            <a:endParaRPr lang="zh-CN" altLang="en-US" sz="2400">
              <a:sym typeface="+mn-ea"/>
            </a:endParaRPr>
          </a:p>
          <a:p>
            <a:pPr>
              <a:lnSpc>
                <a:spcPct val="150000"/>
              </a:lnSpc>
              <a:spcBef>
                <a:spcPct val="0"/>
              </a:spcBef>
            </a:pPr>
            <a:r>
              <a:rPr lang="zh-CN" altLang="en-US" sz="2400">
                <a:solidFill>
                  <a:srgbClr val="FF0000"/>
                </a:solidFill>
                <a:sym typeface="+mn-ea"/>
              </a:rPr>
              <a:t>思路：</a:t>
            </a:r>
            <a:r>
              <a:rPr lang="zh-CN" altLang="en-US" sz="2400">
                <a:sym typeface="+mn-ea"/>
              </a:rPr>
              <a:t>根据已有数据，查找与该用户爱好最相似的用户，也就是看过并喜欢的电影与该用户最接近，然后从那个用户喜欢的电影中选取一个当前用户还没看过的电影，进行推荐。</a:t>
            </a:r>
            <a:endParaRPr lang="zh-CN" altLang="en-US" sz="2400">
              <a:sym typeface="+mn-ea"/>
            </a:endParaRPr>
          </a:p>
          <a:p>
            <a:pPr marL="0" indent="0">
              <a:lnSpc>
                <a:spcPct val="150000"/>
              </a:lnSpc>
              <a:spcBef>
                <a:spcPct val="0"/>
              </a:spcBef>
              <a:buNone/>
            </a:pPr>
            <a:r>
              <a:rPr lang="zh-CN" altLang="en-US" sz="2400">
                <a:hlinkClick r:id="rId1" action="ppaction://hlinkfile"/>
              </a:rPr>
              <a:t>code\3.4.3_2.py</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a:t>
            </a:r>
            <a:r>
              <a:rPr lang="en-US" altLang="zh-CN">
                <a:sym typeface="+mn-ea"/>
              </a:rPr>
              <a:t>3</a:t>
            </a:r>
            <a:r>
              <a:rPr lang="zh-CN" altLang="en-US">
                <a:sym typeface="+mn-ea"/>
              </a:rPr>
              <a:t>  集合应用案例</a:t>
            </a:r>
            <a:endParaRPr lang="zh-CN" altLang="en-US"/>
          </a:p>
        </p:txBody>
      </p:sp>
      <p:sp>
        <p:nvSpPr>
          <p:cNvPr id="3" name="内容占位符 2"/>
          <p:cNvSpPr>
            <a:spLocks noGrp="1"/>
          </p:cNvSpPr>
          <p:nvPr>
            <p:ph idx="1"/>
          </p:nvPr>
        </p:nvSpPr>
        <p:spPr>
          <a:xfrm>
            <a:off x="838200" y="1321435"/>
            <a:ext cx="10882630" cy="4639945"/>
          </a:xfrm>
        </p:spPr>
        <p:txBody>
          <a:bodyPr>
            <a:normAutofit/>
          </a:bodyPr>
          <a:p>
            <a:pPr marL="0" indent="0" fontAlgn="auto">
              <a:lnSpc>
                <a:spcPct val="100000"/>
              </a:lnSpc>
              <a:spcBef>
                <a:spcPts val="0"/>
              </a:spcBef>
              <a:buNone/>
            </a:pPr>
            <a:r>
              <a:rPr lang="zh-CN" altLang="en-US" sz="2000">
                <a:latin typeface="Consolas" panose="020B0609020204030204" charset="0"/>
                <a:sym typeface="+mn-ea"/>
              </a:rPr>
              <a:t>from random import randrange</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其他用户喜欢看的电影清单</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data = {'user'+str(i):{'film'+str(randrange(1, 10))\</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for j in range(randrange(15))}\</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for i in range(10)}</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待测用户曾经看过并感觉不错的电影</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user = {'film1', 'film2', 'film3'}</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查找与待测用户最相似的用户和Ta喜欢看的电影</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similarUser, films = max(data.items(), key=lambda item: len(item[1]&amp;user))</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a:t>
            </a:r>
            <a:r>
              <a:rPr lang="en-US" altLang="zh-CN">
                <a:sym typeface="+mn-ea"/>
              </a:rPr>
              <a:t>3</a:t>
            </a:r>
            <a:r>
              <a:rPr lang="zh-CN" altLang="en-US">
                <a:sym typeface="+mn-ea"/>
              </a:rPr>
              <a:t>  集合应用案例</a:t>
            </a:r>
            <a:endParaRPr lang="zh-CN" altLang="en-US"/>
          </a:p>
        </p:txBody>
      </p:sp>
      <p:sp>
        <p:nvSpPr>
          <p:cNvPr id="3" name="内容占位符 2"/>
          <p:cNvSpPr>
            <a:spLocks noGrp="1"/>
          </p:cNvSpPr>
          <p:nvPr>
            <p:ph idx="1"/>
          </p:nvPr>
        </p:nvSpPr>
        <p:spPr/>
        <p:txBody>
          <a:bodyPr/>
          <a:p>
            <a:pPr marL="0" indent="0">
              <a:spcBef>
                <a:spcPts val="600"/>
              </a:spcBef>
              <a:buNone/>
            </a:pPr>
            <a:r>
              <a:rPr lang="zh-CN" altLang="en-US" sz="2000">
                <a:latin typeface="Consolas" panose="020B0609020204030204" charset="0"/>
                <a:sym typeface="+mn-ea"/>
              </a:rPr>
              <a:t>print('历史数据：')</a:t>
            </a:r>
            <a:endParaRPr lang="zh-CN" altLang="en-US" sz="2000">
              <a:latin typeface="Consolas" panose="020B0609020204030204" charset="0"/>
            </a:endParaRPr>
          </a:p>
          <a:p>
            <a:pPr marL="0" indent="0">
              <a:spcBef>
                <a:spcPts val="600"/>
              </a:spcBef>
              <a:buNone/>
            </a:pPr>
            <a:r>
              <a:rPr lang="zh-CN" altLang="en-US" sz="2000">
                <a:latin typeface="Consolas" panose="020B0609020204030204" charset="0"/>
                <a:sym typeface="+mn-ea"/>
              </a:rPr>
              <a:t>for u, f in data.items():</a:t>
            </a:r>
            <a:endParaRPr lang="zh-CN" altLang="en-US" sz="2000">
              <a:latin typeface="Consolas" panose="020B0609020204030204" charset="0"/>
            </a:endParaRPr>
          </a:p>
          <a:p>
            <a:pPr marL="0" indent="0">
              <a:spcBef>
                <a:spcPts val="600"/>
              </a:spcBef>
              <a:buNone/>
            </a:pPr>
            <a:r>
              <a:rPr lang="zh-CN" altLang="en-US" sz="2000">
                <a:latin typeface="Consolas" panose="020B0609020204030204" charset="0"/>
                <a:sym typeface="+mn-ea"/>
              </a:rPr>
              <a:t>    print(u, f, sep=':')</a:t>
            </a:r>
            <a:endParaRPr lang="zh-CN" altLang="en-US" sz="2000">
              <a:latin typeface="Consolas" panose="020B0609020204030204" charset="0"/>
            </a:endParaRPr>
          </a:p>
          <a:p>
            <a:pPr marL="0" indent="0">
              <a:spcBef>
                <a:spcPts val="600"/>
              </a:spcBef>
              <a:buNone/>
            </a:pPr>
            <a:r>
              <a:rPr lang="zh-CN" altLang="en-US" sz="2000">
                <a:latin typeface="Consolas" panose="020B0609020204030204" charset="0"/>
                <a:sym typeface="+mn-ea"/>
              </a:rPr>
              <a:t>print('和您最相似的用户是：', similarUser)</a:t>
            </a:r>
            <a:endParaRPr lang="zh-CN" altLang="en-US" sz="2000">
              <a:latin typeface="Consolas" panose="020B0609020204030204" charset="0"/>
            </a:endParaRPr>
          </a:p>
          <a:p>
            <a:pPr marL="0" indent="0">
              <a:spcBef>
                <a:spcPts val="600"/>
              </a:spcBef>
              <a:buNone/>
            </a:pPr>
            <a:r>
              <a:rPr lang="zh-CN" altLang="en-US" sz="2000">
                <a:latin typeface="Consolas" panose="020B0609020204030204" charset="0"/>
                <a:sym typeface="+mn-ea"/>
              </a:rPr>
              <a:t>print('Ta最喜欢看的电影是：', films)</a:t>
            </a:r>
            <a:endParaRPr lang="zh-CN" altLang="en-US" sz="2000">
              <a:latin typeface="Consolas" panose="020B0609020204030204" charset="0"/>
            </a:endParaRPr>
          </a:p>
          <a:p>
            <a:pPr marL="0" indent="0">
              <a:spcBef>
                <a:spcPts val="600"/>
              </a:spcBef>
              <a:buNone/>
            </a:pPr>
            <a:r>
              <a:rPr lang="zh-CN" altLang="en-US" sz="2000">
                <a:latin typeface="Consolas" panose="020B0609020204030204" charset="0"/>
                <a:sym typeface="+mn-ea"/>
              </a:rPr>
              <a:t>print('Ta看过的电影中您还没看过的有：', films-user)</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a:t>
            </a:r>
            <a:r>
              <a:rPr lang="en-US" altLang="zh-CN">
                <a:sym typeface="+mn-ea"/>
              </a:rPr>
              <a:t>3</a:t>
            </a:r>
            <a:r>
              <a:rPr lang="zh-CN" altLang="en-US">
                <a:sym typeface="+mn-ea"/>
              </a:rPr>
              <a:t>  集合应用案例</a:t>
            </a:r>
            <a:endParaRPr lang="zh-CN" altLang="en-US"/>
          </a:p>
        </p:txBody>
      </p:sp>
      <p:sp>
        <p:nvSpPr>
          <p:cNvPr id="3" name="内容占位符 2"/>
          <p:cNvSpPr>
            <a:spLocks noGrp="1"/>
          </p:cNvSpPr>
          <p:nvPr>
            <p:ph idx="1"/>
          </p:nvPr>
        </p:nvSpPr>
        <p:spPr>
          <a:xfrm>
            <a:off x="838200" y="1321435"/>
            <a:ext cx="11111230" cy="4639945"/>
          </a:xfrm>
        </p:spPr>
        <p:txBody>
          <a:bodyPr>
            <a:normAutofit/>
          </a:bodyPr>
          <a:p>
            <a:pPr>
              <a:spcBef>
                <a:spcPct val="0"/>
              </a:spcBef>
            </a:pPr>
            <a:r>
              <a:rPr lang="zh-CN" altLang="en-US" sz="2400" b="1">
                <a:latin typeface="Consolas" panose="020B0609020204030204" charset="0"/>
                <a:sym typeface="+mn-ea"/>
              </a:rPr>
              <a:t>补充例题：</a:t>
            </a:r>
            <a:r>
              <a:rPr lang="zh-CN" altLang="en-US" sz="2400">
                <a:latin typeface="Consolas" panose="020B0609020204030204" charset="0"/>
                <a:sym typeface="+mn-ea"/>
              </a:rPr>
              <a:t>过滤无效书评。</a:t>
            </a:r>
            <a:r>
              <a:rPr lang="zh-CN" altLang="en-US" sz="2400">
                <a:latin typeface="Consolas" panose="020B0609020204030204" charset="0"/>
                <a:sym typeface="+mn-ea"/>
                <a:hlinkClick r:id="rId1" action="ppaction://hlinkfile"/>
              </a:rPr>
              <a:t>code\3.4.3_3.py</a:t>
            </a:r>
            <a:endParaRPr lang="zh-CN" altLang="en-US" sz="2400">
              <a:latin typeface="Consolas" panose="020B0609020204030204" charset="0"/>
              <a:sym typeface="+mn-ea"/>
            </a:endParaRPr>
          </a:p>
          <a:p>
            <a:pPr marL="0" indent="0">
              <a:lnSpc>
                <a:spcPct val="100000"/>
              </a:lnSpc>
              <a:spcBef>
                <a:spcPct val="0"/>
              </a:spcBef>
              <a:buNone/>
            </a:pPr>
            <a:r>
              <a:rPr lang="zh-CN" altLang="en-US" sz="1800">
                <a:latin typeface="Consolas" panose="020B0609020204030204" charset="0"/>
                <a:sym typeface="+mn-ea"/>
              </a:rPr>
              <a:t>comments = ['这是一本非常好的书，作者用心了',</a:t>
            </a:r>
            <a:r>
              <a:rPr lang="en-US" altLang="zh-CN" sz="1800">
                <a:latin typeface="Consolas" panose="020B0609020204030204" charset="0"/>
              </a:rPr>
              <a:t> </a:t>
            </a:r>
            <a:r>
              <a:rPr lang="zh-CN" altLang="en-US" sz="1800">
                <a:latin typeface="Consolas" panose="020B0609020204030204" charset="0"/>
                <a:sym typeface="+mn-ea"/>
              </a:rPr>
              <a:t>'作者大大辛苦了',</a:t>
            </a:r>
            <a:endParaRPr lang="zh-CN" altLang="en-US" sz="1800">
              <a:latin typeface="Consolas" panose="020B0609020204030204" charset="0"/>
            </a:endParaRPr>
          </a:p>
          <a:p>
            <a:pPr marL="0" indent="0">
              <a:lnSpc>
                <a:spcPct val="100000"/>
              </a:lnSpc>
              <a:spcBef>
                <a:spcPct val="0"/>
              </a:spcBef>
              <a:buNone/>
            </a:pPr>
            <a:r>
              <a:rPr lang="zh-CN" altLang="en-US" sz="1800">
                <a:latin typeface="Consolas" panose="020B0609020204030204" charset="0"/>
                <a:sym typeface="+mn-ea"/>
              </a:rPr>
              <a:t>            '好书，感谢作者提供了这么多的好案例',</a:t>
            </a:r>
            <a:endParaRPr lang="zh-CN" altLang="en-US" sz="1800">
              <a:latin typeface="Consolas" panose="020B0609020204030204" charset="0"/>
            </a:endParaRPr>
          </a:p>
          <a:p>
            <a:pPr marL="0" indent="0">
              <a:lnSpc>
                <a:spcPct val="100000"/>
              </a:lnSpc>
              <a:spcBef>
                <a:spcPct val="0"/>
              </a:spcBef>
              <a:buNone/>
            </a:pPr>
            <a:r>
              <a:rPr lang="zh-CN" altLang="en-US" sz="1800">
                <a:latin typeface="Consolas" panose="020B0609020204030204" charset="0"/>
                <a:sym typeface="+mn-ea"/>
              </a:rPr>
              <a:t>            '书在运输的路上破损了，我好悲伤。。。',</a:t>
            </a:r>
            <a:r>
              <a:rPr lang="en-US" altLang="zh-CN" sz="1800">
                <a:latin typeface="Consolas" panose="020B0609020204030204" charset="0"/>
              </a:rPr>
              <a:t> </a:t>
            </a:r>
            <a:r>
              <a:rPr lang="zh-CN" altLang="en-US" sz="1800">
                <a:latin typeface="Consolas" panose="020B0609020204030204" charset="0"/>
                <a:sym typeface="+mn-ea"/>
              </a:rPr>
              <a:t>'为啥我买的书上有菜汤。。。。',</a:t>
            </a:r>
            <a:endParaRPr lang="zh-CN" altLang="en-US" sz="1800">
              <a:latin typeface="Consolas" panose="020B0609020204030204" charset="0"/>
            </a:endParaRPr>
          </a:p>
          <a:p>
            <a:pPr marL="0" indent="0">
              <a:lnSpc>
                <a:spcPct val="100000"/>
              </a:lnSpc>
              <a:spcBef>
                <a:spcPct val="0"/>
              </a:spcBef>
              <a:buNone/>
            </a:pPr>
            <a:r>
              <a:rPr lang="zh-CN" altLang="en-US" sz="1800">
                <a:latin typeface="Consolas" panose="020B0609020204030204" charset="0"/>
                <a:sym typeface="+mn-ea"/>
              </a:rPr>
              <a:t>            '啊啊啊啊啊啊，我怎么才发现这么好的书啊，相见恨晚',</a:t>
            </a:r>
            <a:endParaRPr lang="zh-CN" altLang="en-US" sz="1800">
              <a:latin typeface="Consolas" panose="020B0609020204030204" charset="0"/>
            </a:endParaRPr>
          </a:p>
          <a:p>
            <a:pPr marL="0" indent="0">
              <a:lnSpc>
                <a:spcPct val="100000"/>
              </a:lnSpc>
              <a:spcBef>
                <a:spcPct val="0"/>
              </a:spcBef>
              <a:buNone/>
            </a:pPr>
            <a:r>
              <a:rPr lang="zh-CN" altLang="en-US" sz="1800">
                <a:latin typeface="Consolas" panose="020B0609020204030204" charset="0"/>
                <a:sym typeface="+mn-ea"/>
              </a:rPr>
              <a:t>            '书的质量有问题啊，怎么会开胶呢？？？？？？',</a:t>
            </a:r>
            <a:endParaRPr lang="zh-CN" altLang="en-US" sz="1800">
              <a:latin typeface="Consolas" panose="020B0609020204030204" charset="0"/>
            </a:endParaRPr>
          </a:p>
          <a:p>
            <a:pPr marL="0" indent="0">
              <a:lnSpc>
                <a:spcPct val="100000"/>
              </a:lnSpc>
              <a:spcBef>
                <a:spcPct val="0"/>
              </a:spcBef>
              <a:buNone/>
            </a:pPr>
            <a:r>
              <a:rPr lang="zh-CN" altLang="en-US" sz="1800">
                <a:latin typeface="Consolas" panose="020B0609020204030204" charset="0"/>
                <a:sym typeface="+mn-ea"/>
              </a:rPr>
              <a:t>            '好好好好好好好好好好好',</a:t>
            </a:r>
            <a:endParaRPr lang="zh-CN" altLang="en-US" sz="1800">
              <a:latin typeface="Consolas" panose="020B0609020204030204" charset="0"/>
            </a:endParaRPr>
          </a:p>
          <a:p>
            <a:pPr marL="0" indent="0">
              <a:lnSpc>
                <a:spcPct val="100000"/>
              </a:lnSpc>
              <a:spcBef>
                <a:spcPct val="0"/>
              </a:spcBef>
              <a:buNone/>
            </a:pPr>
            <a:r>
              <a:rPr lang="zh-CN" altLang="en-US" sz="1800">
                <a:latin typeface="Consolas" panose="020B0609020204030204" charset="0"/>
                <a:sym typeface="+mn-ea"/>
              </a:rPr>
              <a:t>            '好难啊看不懂好难啊看不懂好难啊看不懂',</a:t>
            </a:r>
            <a:r>
              <a:rPr lang="en-US" altLang="zh-CN" sz="1800">
                <a:latin typeface="Consolas" panose="020B0609020204030204" charset="0"/>
              </a:rPr>
              <a:t> </a:t>
            </a:r>
            <a:r>
              <a:rPr lang="zh-CN" altLang="en-US" sz="1800">
                <a:latin typeface="Consolas" panose="020B0609020204030204" charset="0"/>
                <a:sym typeface="+mn-ea"/>
              </a:rPr>
              <a:t>'书的内容很充实',</a:t>
            </a:r>
            <a:endParaRPr lang="zh-CN" altLang="en-US" sz="1800">
              <a:latin typeface="Consolas" panose="020B0609020204030204" charset="0"/>
            </a:endParaRPr>
          </a:p>
          <a:p>
            <a:pPr marL="0" indent="0">
              <a:lnSpc>
                <a:spcPct val="100000"/>
              </a:lnSpc>
              <a:spcBef>
                <a:spcPct val="0"/>
              </a:spcBef>
              <a:buNone/>
            </a:pPr>
            <a:r>
              <a:rPr lang="zh-CN" altLang="en-US" sz="1800">
                <a:latin typeface="Consolas" panose="020B0609020204030204" charset="0"/>
                <a:sym typeface="+mn-ea"/>
              </a:rPr>
              <a:t>            '你的书上好多代码啊，不过想想也是，编程的书嘛，肯定代码多一些',</a:t>
            </a:r>
            <a:endParaRPr lang="zh-CN" altLang="en-US" sz="1800">
              <a:latin typeface="Consolas" panose="020B0609020204030204" charset="0"/>
            </a:endParaRPr>
          </a:p>
          <a:p>
            <a:pPr marL="0" indent="0">
              <a:lnSpc>
                <a:spcPct val="100000"/>
              </a:lnSpc>
              <a:spcBef>
                <a:spcPct val="0"/>
              </a:spcBef>
              <a:buNone/>
            </a:pPr>
            <a:r>
              <a:rPr lang="zh-CN" altLang="en-US" sz="1800">
                <a:latin typeface="Consolas" panose="020B0609020204030204" charset="0"/>
                <a:sym typeface="+mn-ea"/>
              </a:rPr>
              <a:t>            '书很不错!!一级棒!!买书就上当当，正版，价格又实惠，让人放心!!! ',</a:t>
            </a:r>
            <a:endParaRPr lang="zh-CN" altLang="en-US" sz="1800">
              <a:latin typeface="Consolas" panose="020B0609020204030204" charset="0"/>
            </a:endParaRPr>
          </a:p>
          <a:p>
            <a:pPr marL="0" indent="0">
              <a:lnSpc>
                <a:spcPct val="100000"/>
              </a:lnSpc>
              <a:spcBef>
                <a:spcPct val="0"/>
              </a:spcBef>
              <a:buNone/>
            </a:pPr>
            <a:r>
              <a:rPr lang="zh-CN" altLang="en-US" sz="1800">
                <a:latin typeface="Consolas" panose="020B0609020204030204" charset="0"/>
                <a:sym typeface="+mn-ea"/>
              </a:rPr>
              <a:t>            '无意中来到你小铺就淘到心意的宝贝，心情不错! ',</a:t>
            </a:r>
            <a:endParaRPr lang="zh-CN" altLang="en-US" sz="1800">
              <a:latin typeface="Consolas" panose="020B0609020204030204" charset="0"/>
            </a:endParaRPr>
          </a:p>
          <a:p>
            <a:pPr marL="0" indent="0">
              <a:lnSpc>
                <a:spcPct val="100000"/>
              </a:lnSpc>
              <a:spcBef>
                <a:spcPct val="0"/>
              </a:spcBef>
              <a:buNone/>
            </a:pPr>
            <a:r>
              <a:rPr lang="zh-CN" altLang="en-US" sz="1800">
                <a:latin typeface="Consolas" panose="020B0609020204030204" charset="0"/>
                <a:sym typeface="+mn-ea"/>
              </a:rPr>
              <a:t>            '送给朋友的、很不错',</a:t>
            </a:r>
            <a:endParaRPr lang="zh-CN" altLang="en-US" sz="1800">
              <a:latin typeface="Consolas" panose="020B0609020204030204" charset="0"/>
            </a:endParaRPr>
          </a:p>
          <a:p>
            <a:pPr marL="0" indent="0">
              <a:lnSpc>
                <a:spcPct val="100000"/>
              </a:lnSpc>
              <a:spcBef>
                <a:spcPct val="0"/>
              </a:spcBef>
              <a:buNone/>
            </a:pPr>
            <a:r>
              <a:rPr lang="zh-CN" altLang="en-US" sz="1800">
                <a:latin typeface="Consolas" panose="020B0609020204030204" charset="0"/>
                <a:sym typeface="+mn-ea"/>
              </a:rPr>
              <a:t>            '这是一本好书，讲解内容深入浅出又清晰明了，推荐给所有喜欢阅读的朋友同好们。']</a:t>
            </a:r>
            <a:endParaRPr lang="zh-CN" altLang="en-US" sz="1800">
              <a:latin typeface="Consolas" panose="020B0609020204030204" charset="0"/>
            </a:endParaRPr>
          </a:p>
          <a:p>
            <a:pPr marL="0" indent="0">
              <a:buNone/>
            </a:pPr>
            <a:endParaRPr lang="zh-CN" altLang="en-US" sz="18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a:t>
            </a:r>
            <a:r>
              <a:rPr lang="en-US" altLang="zh-CN">
                <a:sym typeface="+mn-ea"/>
              </a:rPr>
              <a:t>3</a:t>
            </a:r>
            <a:r>
              <a:rPr lang="zh-CN" altLang="en-US">
                <a:sym typeface="+mn-ea"/>
              </a:rPr>
              <a:t>  集合应用案例</a:t>
            </a:r>
            <a:endParaRPr lang="zh-CN" altLang="en-US"/>
          </a:p>
        </p:txBody>
      </p:sp>
      <p:sp>
        <p:nvSpPr>
          <p:cNvPr id="3" name="内容占位符 2"/>
          <p:cNvSpPr>
            <a:spLocks noGrp="1"/>
          </p:cNvSpPr>
          <p:nvPr>
            <p:ph idx="1"/>
          </p:nvPr>
        </p:nvSpPr>
        <p:spPr/>
        <p:txBody>
          <a:bodyPr>
            <a:normAutofit/>
          </a:bodyPr>
          <a:p>
            <a:pPr marL="0" indent="0">
              <a:buNone/>
            </a:pPr>
            <a:r>
              <a:rPr lang="zh-CN" altLang="en-US" sz="2000">
                <a:latin typeface="Consolas" panose="020B0609020204030204" charset="0"/>
                <a:cs typeface="Consolas" panose="020B0609020204030204" charset="0"/>
                <a:sym typeface="+mn-ea"/>
              </a:rPr>
              <a:t>rule = lambda s:</a:t>
            </a:r>
            <a:r>
              <a:rPr lang="en-US" altLang="zh-CN" sz="2000">
                <a:latin typeface="Consolas" panose="020B0609020204030204" charset="0"/>
                <a:cs typeface="Consolas" panose="020B0609020204030204" charset="0"/>
                <a:sym typeface="+mn-ea"/>
              </a:rPr>
              <a:t> </a:t>
            </a:r>
            <a:r>
              <a:rPr lang="zh-CN" altLang="en-US" sz="2000">
                <a:latin typeface="Consolas" panose="020B0609020204030204" charset="0"/>
                <a:cs typeface="Consolas" panose="020B0609020204030204" charset="0"/>
                <a:sym typeface="+mn-ea"/>
              </a:rPr>
              <a:t>len(set(s))/len(s)</a:t>
            </a:r>
            <a:r>
              <a:rPr lang="en-US" altLang="zh-CN" sz="2000">
                <a:latin typeface="Consolas" panose="020B0609020204030204" charset="0"/>
                <a:cs typeface="Consolas" panose="020B0609020204030204" charset="0"/>
                <a:sym typeface="+mn-ea"/>
              </a:rPr>
              <a:t> </a:t>
            </a:r>
            <a:r>
              <a:rPr lang="zh-CN" altLang="en-US" sz="2000">
                <a:latin typeface="Consolas" panose="020B0609020204030204" charset="0"/>
                <a:cs typeface="Consolas" panose="020B0609020204030204" charset="0"/>
                <a:sym typeface="+mn-ea"/>
              </a:rPr>
              <a:t>&gt;</a:t>
            </a:r>
            <a:r>
              <a:rPr lang="en-US" altLang="zh-CN" sz="2000">
                <a:latin typeface="Consolas" panose="020B0609020204030204" charset="0"/>
                <a:cs typeface="Consolas" panose="020B0609020204030204" charset="0"/>
                <a:sym typeface="+mn-ea"/>
              </a:rPr>
              <a:t> </a:t>
            </a:r>
            <a:r>
              <a:rPr lang="zh-CN" altLang="en-US" sz="2000">
                <a:latin typeface="Consolas" panose="020B0609020204030204" charset="0"/>
                <a:cs typeface="Consolas" panose="020B0609020204030204" charset="0"/>
                <a:sym typeface="+mn-ea"/>
              </a:rPr>
              <a:t>0.5</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sym typeface="+mn-ea"/>
              </a:rPr>
              <a:t>result = filter(rule, comments)</a:t>
            </a:r>
            <a:endParaRPr lang="zh-CN" altLang="en-US" sz="2000">
              <a:latin typeface="Consolas" panose="020B0609020204030204" charset="0"/>
              <a:cs typeface="Consolas" panose="020B0609020204030204" charset="0"/>
            </a:endParaRPr>
          </a:p>
          <a:p>
            <a:pPr marL="0" indent="0">
              <a:buNone/>
            </a:pP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sym typeface="+mn-ea"/>
              </a:rPr>
              <a:t>print('原始书评：')</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sym typeface="+mn-ea"/>
              </a:rPr>
              <a:t>for comment in comments:</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sym typeface="+mn-ea"/>
              </a:rPr>
              <a:t>    print(comment)</a:t>
            </a:r>
            <a:endParaRPr lang="zh-CN" altLang="en-US" sz="2000">
              <a:latin typeface="Consolas" panose="020B0609020204030204" charset="0"/>
              <a:cs typeface="Consolas" panose="020B0609020204030204" charset="0"/>
            </a:endParaRPr>
          </a:p>
          <a:p>
            <a:pPr marL="0" indent="0">
              <a:buNone/>
            </a:pP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sym typeface="+mn-ea"/>
              </a:rPr>
              <a:t>print('='*30)</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sym typeface="+mn-ea"/>
              </a:rPr>
              <a:t>print('过滤后的书评：')</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sym typeface="+mn-ea"/>
              </a:rPr>
              <a:t>for comment in result:</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sym typeface="+mn-ea"/>
              </a:rPr>
              <a:t>    print(comment)</a:t>
            </a:r>
            <a:endParaRPr lang="zh-CN" altLang="en-US" sz="2000">
              <a:latin typeface="Consolas" panose="020B0609020204030204" charset="0"/>
              <a:cs typeface="Consolas" panose="020B0609020204030204" charset="0"/>
            </a:endParaRPr>
          </a:p>
          <a:p>
            <a:pPr marL="0" indent="0">
              <a:buNone/>
            </a:pP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pic>
        <p:nvPicPr>
          <p:cNvPr id="134146" name="图片 3"/>
          <p:cNvPicPr>
            <a:picLocks noChangeAspect="1"/>
          </p:cNvPicPr>
          <p:nvPr/>
        </p:nvPicPr>
        <p:blipFill>
          <a:blip r:embed="rId1"/>
          <a:stretch>
            <a:fillRect/>
          </a:stretch>
        </p:blipFill>
        <p:spPr>
          <a:xfrm>
            <a:off x="4894357" y="2233561"/>
            <a:ext cx="5499268" cy="3873780"/>
          </a:xfrm>
          <a:prstGeom prst="rect">
            <a:avLst/>
          </a:prstGeom>
          <a:noFill/>
          <a:ln w="9525">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3.4.</a:t>
            </a:r>
            <a:r>
              <a:rPr lang="en-US" altLang="zh-CN">
                <a:sym typeface="+mn-ea"/>
              </a:rPr>
              <a:t>3</a:t>
            </a:r>
            <a:r>
              <a:rPr lang="zh-CN" altLang="en-US">
                <a:sym typeface="+mn-ea"/>
              </a:rPr>
              <a:t>  集合应用案例</a:t>
            </a:r>
            <a:endParaRPr lang="zh-CN" altLang="en-US"/>
          </a:p>
        </p:txBody>
      </p:sp>
      <p:sp>
        <p:nvSpPr>
          <p:cNvPr id="3" name="内容占位符 2"/>
          <p:cNvSpPr>
            <a:spLocks noGrp="1"/>
          </p:cNvSpPr>
          <p:nvPr>
            <p:ph idx="1"/>
          </p:nvPr>
        </p:nvSpPr>
        <p:spPr/>
        <p:txBody>
          <a:bodyPr/>
          <a:p>
            <a:r>
              <a:rPr lang="zh-CN" altLang="en-US" sz="2400" b="1"/>
              <a:t>补充例题：</a:t>
            </a:r>
            <a:r>
              <a:rPr lang="zh-CN" altLang="en-US" sz="2400"/>
              <a:t>借助于集合实现频次统计。不推荐这种用法，效率</a:t>
            </a:r>
            <a:r>
              <a:rPr lang="zh-CN" altLang="en-US" sz="2400"/>
              <a:t>较低。</a:t>
            </a:r>
            <a:endParaRPr lang="zh-CN" altLang="en-US" sz="2400"/>
          </a:p>
          <a:p>
            <a:pPr marL="0" indent="0">
              <a:buNone/>
            </a:pPr>
            <a:r>
              <a:rPr lang="zh-CN" altLang="en-US" sz="2000">
                <a:latin typeface="Consolas" panose="020B0609020204030204" charset="0"/>
                <a:cs typeface="Consolas" panose="020B0609020204030204" charset="0"/>
              </a:rPr>
              <a:t>from string import ascii_letters</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rPr>
              <a:t>from random import choices</a:t>
            </a:r>
            <a:endParaRPr lang="zh-CN" altLang="en-US" sz="2000">
              <a:latin typeface="Consolas" panose="020B0609020204030204" charset="0"/>
              <a:cs typeface="Consolas" panose="020B0609020204030204" charset="0"/>
            </a:endParaRPr>
          </a:p>
          <a:p>
            <a:pPr marL="0" indent="0">
              <a:buNone/>
            </a:pP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rPr>
              <a:t>s = ''.join(choices(ascii_letters, k=1000))</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rPr>
              <a:t>freq = {ch:s.count(ch) for ch in set(s)}</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rPr>
              <a:t>print(freq)</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3.5  序列解包</a:t>
            </a:r>
            <a:endParaRPr lang="zh-CN" altLang="en-US"/>
          </a:p>
        </p:txBody>
      </p:sp>
      <p:sp>
        <p:nvSpPr>
          <p:cNvPr id="3" name="内容占位符 2"/>
          <p:cNvSpPr>
            <a:spLocks noGrp="1"/>
          </p:cNvSpPr>
          <p:nvPr>
            <p:ph idx="1"/>
          </p:nvPr>
        </p:nvSpPr>
        <p:spPr/>
        <p:txBody>
          <a:bodyPr/>
          <a:p>
            <a:pPr>
              <a:buFont typeface="Arial" panose="020B0604020202020204" pitchFamily="34" charset="0"/>
              <a:buChar char="•"/>
            </a:pPr>
            <a:r>
              <a:rPr lang="zh-CN" altLang="en-US" sz="2400"/>
              <a:t>使用序列解包</a:t>
            </a:r>
            <a:r>
              <a:rPr lang="zh-CN" altLang="en-US" sz="2400">
                <a:sym typeface="+mn-ea"/>
              </a:rPr>
              <a:t>可以</a:t>
            </a:r>
            <a:r>
              <a:rPr lang="zh-CN" altLang="en-US" sz="2400"/>
              <a:t>对多个变量</a:t>
            </a:r>
            <a:r>
              <a:rPr lang="zh-CN" altLang="en-US" sz="2400">
                <a:solidFill>
                  <a:srgbClr val="FF0000"/>
                </a:solidFill>
              </a:rPr>
              <a:t>同时</a:t>
            </a:r>
            <a:r>
              <a:rPr lang="zh-CN" altLang="en-US" sz="2400"/>
              <a:t>赋值。</a:t>
            </a:r>
            <a:endParaRPr lang="zh-CN" altLang="en-US" sz="2400"/>
          </a:p>
          <a:p>
            <a:pPr marL="0" indent="0">
              <a:buNone/>
            </a:pPr>
            <a:r>
              <a:rPr lang="zh-CN" altLang="en-US" sz="2000">
                <a:latin typeface="Consolas" panose="020B0609020204030204" charset="0"/>
              </a:rPr>
              <a:t>&gt;&gt;&gt; x, y, z = 1, 2, 3                   # 多个变量同时赋值</a:t>
            </a:r>
            <a:endParaRPr lang="zh-CN" altLang="en-US" sz="2000">
              <a:latin typeface="Consolas" panose="020B0609020204030204" charset="0"/>
            </a:endParaRPr>
          </a:p>
          <a:p>
            <a:pPr marL="0" indent="0">
              <a:buNone/>
            </a:pPr>
            <a:r>
              <a:rPr lang="zh-CN" altLang="en-US" sz="2000">
                <a:latin typeface="Consolas" panose="020B0609020204030204" charset="0"/>
              </a:rPr>
              <a:t>&gt;&gt;&gt; v_tuple = (False, 3.5, 'exp')</a:t>
            </a:r>
            <a:endParaRPr lang="zh-CN" altLang="en-US" sz="2000">
              <a:latin typeface="Consolas" panose="020B0609020204030204" charset="0"/>
            </a:endParaRPr>
          </a:p>
          <a:p>
            <a:pPr marL="0" indent="0">
              <a:buNone/>
            </a:pPr>
            <a:r>
              <a:rPr lang="zh-CN" altLang="en-US" sz="2000">
                <a:latin typeface="Consolas" panose="020B0609020204030204" charset="0"/>
              </a:rPr>
              <a:t>&gt;&gt;&gt; (x, y, z) = v_tuple</a:t>
            </a:r>
            <a:endParaRPr lang="zh-CN" altLang="en-US" sz="2000">
              <a:latin typeface="Consolas" panose="020B0609020204030204" charset="0"/>
            </a:endParaRPr>
          </a:p>
          <a:p>
            <a:pPr marL="0" indent="0">
              <a:buNone/>
            </a:pPr>
            <a:r>
              <a:rPr lang="zh-CN" altLang="en-US" sz="2000">
                <a:latin typeface="Consolas" panose="020B0609020204030204" charset="0"/>
              </a:rPr>
              <a:t>&gt;&gt;&gt; x, y, z = v_tuple</a:t>
            </a:r>
            <a:endParaRPr lang="zh-CN" altLang="en-US" sz="2000">
              <a:latin typeface="Consolas" panose="020B0609020204030204" charset="0"/>
            </a:endParaRPr>
          </a:p>
          <a:p>
            <a:pPr marL="0" indent="0">
              <a:buNone/>
            </a:pPr>
            <a:r>
              <a:rPr lang="en-US" altLang="zh-CN" sz="2000">
                <a:latin typeface="Consolas" panose="020B0609020204030204" charset="0"/>
              </a:rPr>
              <a:t>&gt;&gt;&gt; x, y = y, x                         # </a:t>
            </a:r>
            <a:r>
              <a:rPr lang="zh-CN" altLang="en-US" sz="2000">
                <a:latin typeface="Consolas" panose="020B0609020204030204" charset="0"/>
              </a:rPr>
              <a:t>交换两个变量的值</a:t>
            </a:r>
            <a:endParaRPr lang="zh-CN" altLang="en-US" sz="2000">
              <a:latin typeface="Consolas" panose="020B0609020204030204" charset="0"/>
            </a:endParaRPr>
          </a:p>
          <a:p>
            <a:pPr marL="0" indent="0">
              <a:buNone/>
            </a:pPr>
            <a:r>
              <a:rPr lang="zh-CN" altLang="en-US" sz="2000">
                <a:latin typeface="Consolas" panose="020B0609020204030204" charset="0"/>
              </a:rPr>
              <a:t>&gt;&gt;&gt; x, y, z = range(3)                  # 可以对range对象进行序列解包</a:t>
            </a:r>
            <a:endParaRPr lang="zh-CN" altLang="en-US" sz="2000">
              <a:latin typeface="Consolas" panose="020B0609020204030204" charset="0"/>
            </a:endParaRPr>
          </a:p>
          <a:p>
            <a:pPr marL="0" indent="0">
              <a:buNone/>
            </a:pPr>
            <a:r>
              <a:rPr lang="zh-CN" altLang="en-US" sz="2000">
                <a:latin typeface="Consolas" panose="020B0609020204030204" charset="0"/>
              </a:rPr>
              <a:t>&gt;&gt;&gt; x, y, z = iter([1, 2, 3])           # 使用迭代器对象进行序列解包</a:t>
            </a:r>
            <a:endParaRPr lang="zh-CN" altLang="en-US" sz="2000">
              <a:latin typeface="Consolas" panose="020B0609020204030204" charset="0"/>
            </a:endParaRPr>
          </a:p>
          <a:p>
            <a:pPr marL="0" indent="0">
              <a:buNone/>
            </a:pPr>
            <a:r>
              <a:rPr lang="zh-CN" altLang="en-US" sz="2000">
                <a:latin typeface="Consolas" panose="020B0609020204030204" charset="0"/>
              </a:rPr>
              <a:t>&gt;&gt;&gt; x, y, z = map(str, range(3))        # 使用可迭代的map对象进行序列解包</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3.5  序列解包</a:t>
            </a:r>
            <a:endParaRPr lang="zh-CN" altLang="en-US"/>
          </a:p>
        </p:txBody>
      </p:sp>
      <p:sp>
        <p:nvSpPr>
          <p:cNvPr id="3" name="内容占位符 2"/>
          <p:cNvSpPr>
            <a:spLocks noGrp="1"/>
          </p:cNvSpPr>
          <p:nvPr>
            <p:ph idx="1"/>
          </p:nvPr>
        </p:nvSpPr>
        <p:spPr/>
        <p:txBody>
          <a:bodyPr>
            <a:normAutofit lnSpcReduction="20000"/>
          </a:bodyPr>
          <a:p>
            <a:pPr marL="0" indent="0" fontAlgn="auto">
              <a:lnSpc>
                <a:spcPct val="110000"/>
              </a:lnSpc>
              <a:spcBef>
                <a:spcPts val="0"/>
              </a:spcBef>
              <a:buNone/>
            </a:pPr>
            <a:r>
              <a:rPr lang="zh-CN" altLang="en-US" sz="2000">
                <a:latin typeface="Consolas" panose="020B0609020204030204" charset="0"/>
              </a:rPr>
              <a:t>&gt;&gt;&gt; a = [1, 2, 3]</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b, c, d = a                        # 列表也支持序列解包的用法</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x, y, z = sorted([1, 3, 2])        # sorted()函数返回排序后的列表</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s = {'a':1, 'b':2, 'c':3}</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b, c, d = s.items()</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b</a:t>
            </a:r>
            <a:endParaRPr lang="zh-CN" altLang="en-US" sz="2000">
              <a:latin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rPr>
              <a:t>('a', 1)</a:t>
            </a:r>
            <a:endParaRPr lang="zh-CN" altLang="en-US" sz="2000">
              <a:solidFill>
                <a:srgbClr val="00B0F0"/>
              </a:solidFill>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b, c, d = s                        # 使用字典时不用太多考虑元素的顺序</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b</a:t>
            </a:r>
            <a:endParaRPr lang="zh-CN" altLang="en-US" sz="2000">
              <a:latin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rPr>
              <a:t>'a'</a:t>
            </a:r>
            <a:endParaRPr lang="zh-CN" altLang="en-US" sz="2000">
              <a:solidFill>
                <a:srgbClr val="00B0F0"/>
              </a:solidFill>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b, c, d = s.values()</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print(b, c, d)</a:t>
            </a:r>
            <a:endParaRPr lang="zh-CN" altLang="en-US" sz="2000">
              <a:latin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rPr>
              <a:t>1 2 3</a:t>
            </a:r>
            <a:endParaRPr lang="zh-CN" altLang="en-US" sz="2000">
              <a:solidFill>
                <a:srgbClr val="00B0F0"/>
              </a:solidFill>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a, b, c = 'ABC'                    # 字符串也支持序列解包</a:t>
            </a:r>
            <a:endParaRPr lang="zh-CN" altLang="en-US" sz="2000">
              <a:latin typeface="Consolas" panose="020B0609020204030204" charset="0"/>
            </a:endParaRPr>
          </a:p>
          <a:p>
            <a:pPr marL="0" indent="0" fontAlgn="auto">
              <a:lnSpc>
                <a:spcPct val="110000"/>
              </a:lnSpc>
              <a:spcBef>
                <a:spcPts val="0"/>
              </a:spcBef>
              <a:buNone/>
            </a:pPr>
            <a:r>
              <a:rPr lang="zh-CN" altLang="en-US" sz="2000">
                <a:latin typeface="Consolas" panose="020B0609020204030204" charset="0"/>
              </a:rPr>
              <a:t>&gt;&gt;&gt; print(a, b, c)</a:t>
            </a:r>
            <a:endParaRPr lang="zh-CN" altLang="en-US" sz="2000">
              <a:latin typeface="Consolas" panose="020B0609020204030204" charset="0"/>
            </a:endParaRPr>
          </a:p>
          <a:p>
            <a:pPr marL="0" indent="0" fontAlgn="auto">
              <a:lnSpc>
                <a:spcPct val="110000"/>
              </a:lnSpc>
              <a:spcBef>
                <a:spcPts val="0"/>
              </a:spcBef>
              <a:buNone/>
            </a:pPr>
            <a:r>
              <a:rPr lang="zh-CN" altLang="en-US" sz="2000">
                <a:solidFill>
                  <a:srgbClr val="00B0F0"/>
                </a:solidFill>
                <a:latin typeface="Consolas" panose="020B0609020204030204" charset="0"/>
              </a:rPr>
              <a:t>A B C</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3.5  序列解包</a:t>
            </a:r>
            <a:endParaRPr lang="zh-CN" altLang="en-US"/>
          </a:p>
        </p:txBody>
      </p:sp>
      <p:sp>
        <p:nvSpPr>
          <p:cNvPr id="3" name="内容占位符 2"/>
          <p:cNvSpPr>
            <a:spLocks noGrp="1"/>
          </p:cNvSpPr>
          <p:nvPr>
            <p:ph idx="1"/>
          </p:nvPr>
        </p:nvSpPr>
        <p:spPr/>
        <p:txBody>
          <a:bodyPr/>
          <a:p>
            <a:pPr>
              <a:buFont typeface="Arial" panose="020B0604020202020204" pitchFamily="34" charset="0"/>
              <a:buChar char="•"/>
            </a:pPr>
            <a:r>
              <a:rPr lang="zh-CN" altLang="en-US" sz="2400"/>
              <a:t>使用序列解包可以很方便地同时遍历多个序列。</a:t>
            </a:r>
            <a:endParaRPr lang="zh-CN" altLang="en-US" sz="2400"/>
          </a:p>
          <a:p>
            <a:pPr marL="0" indent="0">
              <a:buNone/>
            </a:pPr>
            <a:r>
              <a:rPr lang="zh-CN" altLang="en-US" sz="2000">
                <a:latin typeface="Consolas" panose="020B0609020204030204" charset="0"/>
              </a:rPr>
              <a:t>&gt;&gt;&gt; keys = ['a', 'b', 'c', 'd']</a:t>
            </a:r>
            <a:endParaRPr lang="zh-CN" altLang="en-US" sz="2000">
              <a:latin typeface="Consolas" panose="020B0609020204030204" charset="0"/>
            </a:endParaRPr>
          </a:p>
          <a:p>
            <a:pPr marL="0" indent="0">
              <a:buNone/>
            </a:pPr>
            <a:r>
              <a:rPr lang="zh-CN" altLang="en-US" sz="2000">
                <a:latin typeface="Consolas" panose="020B0609020204030204" charset="0"/>
              </a:rPr>
              <a:t>&gt;&gt;&gt; values = [1, 2, 3, 4]</a:t>
            </a:r>
            <a:endParaRPr lang="zh-CN" altLang="en-US" sz="2000">
              <a:latin typeface="Consolas" panose="020B0609020204030204" charset="0"/>
            </a:endParaRPr>
          </a:p>
          <a:p>
            <a:pPr marL="0" indent="0">
              <a:buNone/>
            </a:pPr>
            <a:r>
              <a:rPr lang="zh-CN" altLang="en-US" sz="2000">
                <a:latin typeface="Consolas" panose="020B0609020204030204" charset="0"/>
              </a:rPr>
              <a:t>&gt;&gt;&gt; for k, v in zip(keys, values):</a:t>
            </a:r>
            <a:endParaRPr lang="zh-CN" altLang="en-US" sz="2000">
              <a:latin typeface="Consolas" panose="020B0609020204030204" charset="0"/>
            </a:endParaRPr>
          </a:p>
          <a:p>
            <a:pPr marL="0" indent="0">
              <a:buNone/>
            </a:pPr>
            <a:r>
              <a:rPr lang="zh-CN" altLang="en-US" sz="2000">
                <a:latin typeface="Consolas" panose="020B0609020204030204" charset="0"/>
              </a:rPr>
              <a:t>    print(k, v)</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a 1</a:t>
            </a:r>
            <a:endParaRPr lang="zh-CN" altLang="en-US" sz="2000">
              <a:solidFill>
                <a:srgbClr val="00B0F0"/>
              </a:solidFill>
              <a:latin typeface="Consolas" panose="020B0609020204030204" charset="0"/>
            </a:endParaRPr>
          </a:p>
          <a:p>
            <a:pPr marL="0" indent="0">
              <a:buNone/>
            </a:pPr>
            <a:r>
              <a:rPr lang="zh-CN" altLang="en-US" sz="2000">
                <a:solidFill>
                  <a:srgbClr val="00B0F0"/>
                </a:solidFill>
                <a:latin typeface="Consolas" panose="020B0609020204030204" charset="0"/>
              </a:rPr>
              <a:t>b 2</a:t>
            </a:r>
            <a:endParaRPr lang="zh-CN" altLang="en-US" sz="2000">
              <a:solidFill>
                <a:srgbClr val="00B0F0"/>
              </a:solidFill>
              <a:latin typeface="Consolas" panose="020B0609020204030204" charset="0"/>
            </a:endParaRPr>
          </a:p>
          <a:p>
            <a:pPr marL="0" indent="0">
              <a:buNone/>
            </a:pPr>
            <a:r>
              <a:rPr lang="zh-CN" altLang="en-US" sz="2000">
                <a:solidFill>
                  <a:srgbClr val="00B0F0"/>
                </a:solidFill>
                <a:latin typeface="Consolas" panose="020B0609020204030204" charset="0"/>
              </a:rPr>
              <a:t>c 3</a:t>
            </a:r>
            <a:endParaRPr lang="zh-CN" altLang="en-US" sz="2000">
              <a:solidFill>
                <a:srgbClr val="00B0F0"/>
              </a:solidFill>
              <a:latin typeface="Consolas" panose="020B0609020204030204" charset="0"/>
            </a:endParaRPr>
          </a:p>
          <a:p>
            <a:pPr marL="0" indent="0">
              <a:buNone/>
            </a:pPr>
            <a:r>
              <a:rPr lang="zh-CN" altLang="en-US" sz="2000">
                <a:solidFill>
                  <a:srgbClr val="00B0F0"/>
                </a:solidFill>
                <a:latin typeface="Consolas" panose="020B0609020204030204" charset="0"/>
              </a:rPr>
              <a:t>d 4</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3.5  序列解包</a:t>
            </a:r>
            <a:endParaRPr lang="zh-CN" altLang="en-US"/>
          </a:p>
        </p:txBody>
      </p:sp>
      <p:sp>
        <p:nvSpPr>
          <p:cNvPr id="3" name="内容占位符 2"/>
          <p:cNvSpPr>
            <a:spLocks noGrp="1"/>
          </p:cNvSpPr>
          <p:nvPr>
            <p:ph idx="1"/>
          </p:nvPr>
        </p:nvSpPr>
        <p:spPr/>
        <p:txBody>
          <a:bodyPr/>
          <a:p>
            <a:pPr>
              <a:lnSpc>
                <a:spcPct val="120000"/>
              </a:lnSpc>
              <a:buFont typeface="Arial" panose="020B0604020202020204" pitchFamily="34" charset="0"/>
              <a:buChar char="•"/>
            </a:pPr>
            <a:r>
              <a:rPr lang="zh-CN" altLang="en-US" sz="2400"/>
              <a:t>对内置函数enumerate()返回的迭代对象进行遍历：</a:t>
            </a:r>
            <a:endParaRPr lang="zh-CN" altLang="en-US" sz="2400"/>
          </a:p>
          <a:p>
            <a:pPr marL="0" indent="0" fontAlgn="auto">
              <a:lnSpc>
                <a:spcPct val="100000"/>
              </a:lnSpc>
              <a:spcBef>
                <a:spcPts val="0"/>
              </a:spcBef>
              <a:buNone/>
            </a:pPr>
            <a:r>
              <a:rPr lang="zh-CN" altLang="en-US" sz="2000">
                <a:latin typeface="Consolas" panose="020B0609020204030204" charset="0"/>
              </a:rPr>
              <a:t>&gt;&gt;&gt; x = ['a', 'b', 'c']</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for i, v in enumerate(x):</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print('The value on position {0} is {1}'.format(i,v))</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The value on position 0 is a</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The value on position 1 is b</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The value on position 2 is c</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for index, (first, second) in enumerate(zip('abc','ABC')):</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print(index, first, second)</a:t>
            </a:r>
            <a:endParaRPr lang="zh-CN" altLang="en-US" sz="2000">
              <a:latin typeface="Consolas" panose="020B0609020204030204" charset="0"/>
            </a:endParaRPr>
          </a:p>
          <a:p>
            <a:pPr marL="0" indent="0" fontAlgn="auto">
              <a:lnSpc>
                <a:spcPct val="100000"/>
              </a:lnSpc>
              <a:spcBef>
                <a:spcPts val="0"/>
              </a:spcBef>
              <a:buNone/>
            </a:pP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0 a A</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 b B</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2 c C</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3.5  序列解包</a:t>
            </a:r>
            <a:endParaRPr lang="zh-CN" altLang="en-US"/>
          </a:p>
        </p:txBody>
      </p:sp>
      <p:sp>
        <p:nvSpPr>
          <p:cNvPr id="3" name="内容占位符 2"/>
          <p:cNvSpPr>
            <a:spLocks noGrp="1"/>
          </p:cNvSpPr>
          <p:nvPr>
            <p:ph idx="1"/>
          </p:nvPr>
        </p:nvSpPr>
        <p:spPr/>
        <p:txBody>
          <a:bodyPr/>
          <a:p>
            <a:pPr>
              <a:lnSpc>
                <a:spcPct val="100000"/>
              </a:lnSpc>
              <a:buFont typeface="Arial" panose="020B0604020202020204" pitchFamily="34" charset="0"/>
              <a:buChar char="•"/>
            </a:pPr>
            <a:r>
              <a:rPr lang="zh-CN" altLang="en-US" sz="2400"/>
              <a:t>使用序列解包遍历字典元素：</a:t>
            </a:r>
            <a:endParaRPr lang="zh-CN" altLang="en-US" sz="2400"/>
          </a:p>
          <a:p>
            <a:pPr marL="0" indent="0">
              <a:buNone/>
            </a:pPr>
            <a:r>
              <a:rPr lang="zh-CN" altLang="en-US" sz="2000">
                <a:latin typeface="Consolas" panose="020B0609020204030204" charset="0"/>
              </a:rPr>
              <a:t>&gt;&gt;&gt; s = {'a':1, 'b':2, 'c':3}</a:t>
            </a:r>
            <a:endParaRPr lang="zh-CN" altLang="en-US" sz="2000">
              <a:latin typeface="Consolas" panose="020B0609020204030204" charset="0"/>
            </a:endParaRPr>
          </a:p>
          <a:p>
            <a:pPr marL="0" indent="0">
              <a:buNone/>
            </a:pPr>
            <a:r>
              <a:rPr lang="zh-CN" altLang="en-US" sz="2000">
                <a:latin typeface="Consolas" panose="020B0609020204030204" charset="0"/>
              </a:rPr>
              <a:t>&gt;&gt;&gt; for k, v in s.items():        # 字典中每个元素包含“键”和“值”两部分</a:t>
            </a:r>
            <a:endParaRPr lang="zh-CN" altLang="en-US" sz="2000">
              <a:latin typeface="Consolas" panose="020B0609020204030204" charset="0"/>
            </a:endParaRPr>
          </a:p>
          <a:p>
            <a:pPr marL="0" indent="0">
              <a:buNone/>
            </a:pPr>
            <a:r>
              <a:rPr lang="zh-CN" altLang="en-US" sz="2000">
                <a:latin typeface="Consolas" panose="020B0609020204030204" charset="0"/>
              </a:rPr>
              <a:t>    print(k, v)</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a 1</a:t>
            </a:r>
            <a:endParaRPr lang="zh-CN" altLang="en-US" sz="2000">
              <a:solidFill>
                <a:srgbClr val="00B0F0"/>
              </a:solidFill>
              <a:latin typeface="Consolas" panose="020B0609020204030204" charset="0"/>
            </a:endParaRPr>
          </a:p>
          <a:p>
            <a:pPr marL="0" indent="0">
              <a:buNone/>
            </a:pPr>
            <a:r>
              <a:rPr lang="zh-CN" altLang="en-US" sz="2000">
                <a:solidFill>
                  <a:srgbClr val="00B0F0"/>
                </a:solidFill>
                <a:latin typeface="Consolas" panose="020B0609020204030204" charset="0"/>
              </a:rPr>
              <a:t>c 3</a:t>
            </a:r>
            <a:endParaRPr lang="zh-CN" altLang="en-US" sz="2000">
              <a:solidFill>
                <a:srgbClr val="00B0F0"/>
              </a:solidFill>
              <a:latin typeface="Consolas" panose="020B0609020204030204" charset="0"/>
            </a:endParaRPr>
          </a:p>
          <a:p>
            <a:pPr marL="0" indent="0">
              <a:buNone/>
            </a:pPr>
            <a:r>
              <a:rPr lang="zh-CN" altLang="en-US" sz="2000">
                <a:solidFill>
                  <a:srgbClr val="00B0F0"/>
                </a:solidFill>
                <a:latin typeface="Consolas" panose="020B0609020204030204" charset="0"/>
              </a:rPr>
              <a:t>b 2</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KSO_WM_UNIT_TABLE_BEAUTIFY" val="smartTable{31dd1ebe-7205-4b42-a021-398eecc1df8f}"/>
  <p:tag name="TABLE_ENDDRAG_ORIGIN_RECT" val="741*425"/>
  <p:tag name="TABLE_ENDDRAG_RECT" val="75*87*741*425"/>
</p:tagLst>
</file>

<file path=ppt/tags/tag2.xml><?xml version="1.0" encoding="utf-8"?>
<p:tagLst xmlns:p="http://schemas.openxmlformats.org/presentationml/2006/main">
  <p:tag name="KSO_WM_UNIT_TABLE_BEAUTIFY" val="smartTable{bafd67ae-aa68-4501-bd6e-4bb663353c17}"/>
</p:tagLst>
</file>

<file path=ppt/tags/tag3.xml><?xml version="1.0" encoding="utf-8"?>
<p:tagLst xmlns:p="http://schemas.openxmlformats.org/presentationml/2006/main">
  <p:tag name="KSO_WM_UNIT_TABLE_BEAUTIFY" val="smartTable{fc4e30d3-4349-45d5-974c-3a8d238c6c6b}"/>
  <p:tag name="TABLE_ENDDRAG_ORIGIN_RECT" val="742*392"/>
  <p:tag name="TABLE_ENDDRAG_RECT" val="70*103*742*392"/>
</p:tagLst>
</file>

<file path=ppt/tags/tag4.xml><?xml version="1.0" encoding="utf-8"?>
<p:tagLst xmlns:p="http://schemas.openxmlformats.org/presentationml/2006/main">
  <p:tag name="KSO_WPP_MARK_KEY" val="06a98355-0d4a-44fb-8316-9dc8d76e0ffd"/>
  <p:tag name="COMMONDATA" val="eyJoZGlkIjoiZWMwMWVkZjUwNGEzMTlmNGFmZGY4NzhhZDIwNTc5Zm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31298</Words>
  <Application>WPS 演示</Application>
  <PresentationFormat>宽屏</PresentationFormat>
  <Paragraphs>1463</Paragraphs>
  <Slides>92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92</vt:i4>
      </vt:variant>
    </vt:vector>
  </HeadingPairs>
  <TitlesOfParts>
    <vt:vector size="104" baseType="lpstr">
      <vt:lpstr>Arial</vt:lpstr>
      <vt:lpstr>宋体</vt:lpstr>
      <vt:lpstr>Wingdings</vt:lpstr>
      <vt:lpstr>Calibri</vt:lpstr>
      <vt:lpstr>Times New Roman</vt:lpstr>
      <vt:lpstr>Consolas</vt:lpstr>
      <vt:lpstr>Calibri Light</vt:lpstr>
      <vt:lpstr>微软雅黑</vt:lpstr>
      <vt:lpstr>Arial Unicode MS</vt:lpstr>
      <vt:lpstr>Wingdings</vt:lpstr>
      <vt:lpstr>Calibri</vt:lpstr>
      <vt:lpstr>Office 主题</vt:lpstr>
      <vt:lpstr>第3章  Python可迭代对象</vt:lpstr>
      <vt:lpstr>第3章  Python可迭代对象</vt:lpstr>
      <vt:lpstr>第3章  Python可迭代对象</vt:lpstr>
      <vt:lpstr>3.1  列表</vt:lpstr>
      <vt:lpstr>3.1  列表</vt:lpstr>
      <vt:lpstr>3.1  列表</vt:lpstr>
      <vt:lpstr>3.1.1  列表创建与删除</vt:lpstr>
      <vt:lpstr>3.1.1  列表创建与删除</vt:lpstr>
      <vt:lpstr>3.1.1  列表创建与删除</vt:lpstr>
      <vt:lpstr>3.1.2  列表元素访问</vt:lpstr>
      <vt:lpstr>3.1.3  列表常用方法</vt:lpstr>
      <vt:lpstr>3.1.3  列表常用方法</vt:lpstr>
      <vt:lpstr>3.1.3  列表常用方法</vt:lpstr>
      <vt:lpstr>3.1.3  列表常用方法</vt:lpstr>
      <vt:lpstr>3.1.3  列表常用方法</vt:lpstr>
      <vt:lpstr>3.1.3  列表常用方法</vt:lpstr>
      <vt:lpstr>3.1.3  列表常用方法</vt:lpstr>
      <vt:lpstr>3.1.3  列表常用方法</vt:lpstr>
      <vt:lpstr>3.1.3  列表常用方法</vt:lpstr>
      <vt:lpstr>3.1.4  列表对象支持的运算符</vt:lpstr>
      <vt:lpstr>3.1.4  列表对象支持的运算符</vt:lpstr>
      <vt:lpstr>3.1.4  列表对象支持的运算符</vt:lpstr>
      <vt:lpstr>3.1.5  内置函数对列表的操作</vt:lpstr>
      <vt:lpstr>3.1.5  内置函数对列表的操作</vt:lpstr>
      <vt:lpstr>3.1.5  内置函数对列表的操作</vt:lpstr>
      <vt:lpstr>3.1.6  列表推导式语法与应用</vt:lpstr>
      <vt:lpstr>3.1.6  列表推导式语法与应用</vt:lpstr>
      <vt:lpstr>3.1.6  列表推导式语法与应用</vt:lpstr>
      <vt:lpstr>3.1.6  列表推导式语法与应用</vt:lpstr>
      <vt:lpstr>3.1.6  列表推导式语法与应用</vt:lpstr>
      <vt:lpstr>3.1.6  列表推导式语法与应用</vt:lpstr>
      <vt:lpstr>3.1.6  列表推导式语法与应用</vt:lpstr>
      <vt:lpstr>3.1.6  列表推导式语法与应用</vt:lpstr>
      <vt:lpstr>3.1.6  列表推导式语法与应用</vt:lpstr>
      <vt:lpstr>3.1.6  列表推导式语法与应用</vt:lpstr>
      <vt:lpstr>3.1.6  列表推导式语法与应用</vt:lpstr>
      <vt:lpstr>3.1.6  列表推导式语法与应用</vt:lpstr>
      <vt:lpstr>3.1.7  切片操作的强大功能</vt:lpstr>
      <vt:lpstr>3.1.7  切片操作的强大功能</vt:lpstr>
      <vt:lpstr>3.1.7  切片操作的强大功能</vt:lpstr>
      <vt:lpstr>3.1.7  切片操作的强大功能</vt:lpstr>
      <vt:lpstr>3.1.7  切片操作的强大功能</vt:lpstr>
      <vt:lpstr>3.1.7  切片操作的强大功能</vt:lpstr>
      <vt:lpstr>3.1.7  切片操作的强大功能</vt:lpstr>
      <vt:lpstr>3.1.7  切片操作的强大功能</vt:lpstr>
      <vt:lpstr>3.2  元组</vt:lpstr>
      <vt:lpstr>3.2.1  元组创建与元素访问</vt:lpstr>
      <vt:lpstr>3.2.1  元组创建与元素访问</vt:lpstr>
      <vt:lpstr>3.2.1  元组创建与元素访问</vt:lpstr>
      <vt:lpstr>3.2.2  元组与列表的异同点</vt:lpstr>
      <vt:lpstr>3.2.2  元组与列表的异同点</vt:lpstr>
      <vt:lpstr>3.2.2  元组与列表的异同点</vt:lpstr>
      <vt:lpstr>3.2.3  生成器表达式</vt:lpstr>
      <vt:lpstr>3.2.3  生成器推导式</vt:lpstr>
      <vt:lpstr>3.2.3  生成器推导式</vt:lpstr>
      <vt:lpstr>3.2.3  生成器推导式</vt:lpstr>
      <vt:lpstr>3.3  字典</vt:lpstr>
      <vt:lpstr>3.3  字典</vt:lpstr>
      <vt:lpstr>3.3.1  字典创建与删除</vt:lpstr>
      <vt:lpstr>3.3.1  字典创建与删除</vt:lpstr>
      <vt:lpstr>3.3.2  字典元素访问</vt:lpstr>
      <vt:lpstr>3.3.2  字典元素访问</vt:lpstr>
      <vt:lpstr>3.3.2  字典元素访问</vt:lpstr>
      <vt:lpstr>3.3.3  元素添加、修改与删除</vt:lpstr>
      <vt:lpstr>3.3.3  元素添加、修改与删除</vt:lpstr>
      <vt:lpstr>3.3.3  元素添加、修改与删除</vt:lpstr>
      <vt:lpstr>3.3.3  元素添加、修改与删除</vt:lpstr>
      <vt:lpstr>3.3.4  标准库collections中与字典有关的类</vt:lpstr>
      <vt:lpstr>3.3.4  标准库collections中与字典有关的类</vt:lpstr>
      <vt:lpstr>3.3.4  标准库collections中与字典有关的类</vt:lpstr>
      <vt:lpstr>3.4  集合</vt:lpstr>
      <vt:lpstr>3.4.1  集合对象的创建与删除</vt:lpstr>
      <vt:lpstr>3.4.1  集合对象的创建与删除</vt:lpstr>
      <vt:lpstr>3.4.2  集合操作与运算</vt:lpstr>
      <vt:lpstr>3.4.2  集合操作与运算</vt:lpstr>
      <vt:lpstr>3.4.2  集合操作与运算</vt:lpstr>
      <vt:lpstr>3.4.2  集合操作与运算</vt:lpstr>
      <vt:lpstr>3.4.2  集合操作与运算</vt:lpstr>
      <vt:lpstr>3.4.3  集合应用案例</vt:lpstr>
      <vt:lpstr>3.4.3  集合应用案例</vt:lpstr>
      <vt:lpstr>3.4.3  集合应用案例</vt:lpstr>
      <vt:lpstr>3.4.3  集合应用案例</vt:lpstr>
      <vt:lpstr>3.4.3  集合应用案例</vt:lpstr>
      <vt:lpstr>3.4.3  集合应用案例</vt:lpstr>
      <vt:lpstr>3.4.3  集合应用案例</vt:lpstr>
      <vt:lpstr>3.4.3  集合应用案例</vt:lpstr>
      <vt:lpstr>3.4.3  集合应用案例</vt:lpstr>
      <vt:lpstr>3.5  序列解包</vt:lpstr>
      <vt:lpstr>3.5  序列解包</vt:lpstr>
      <vt:lpstr>3.5  序列解包</vt:lpstr>
      <vt:lpstr>3.5  序列解包</vt:lpstr>
      <vt:lpstr>3.5  序列解包</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dc:creator>
  <cp:lastModifiedBy>Yawen</cp:lastModifiedBy>
  <cp:revision>509</cp:revision>
  <dcterms:created xsi:type="dcterms:W3CDTF">2015-05-05T08:02:00Z</dcterms:created>
  <dcterms:modified xsi:type="dcterms:W3CDTF">2025-03-09T12:11:15Z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6E973CE0701A43588CE3B86CD6D08EA6_13</vt:lpwstr>
  </property>
</Properties>
</file>