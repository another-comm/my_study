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68" r:id="rId4"/>
    <p:sldId id="319" r:id="rId5"/>
    <p:sldId id="320" r:id="rId6"/>
    <p:sldId id="321" r:id="rId7"/>
    <p:sldId id="263" r:id="rId8"/>
    <p:sldId id="370" r:id="rId9"/>
    <p:sldId id="371" r:id="rId10"/>
    <p:sldId id="372" r:id="rId11"/>
    <p:sldId id="264" r:id="rId12"/>
    <p:sldId id="369" r:id="rId13"/>
    <p:sldId id="373" r:id="rId14"/>
    <p:sldId id="374" r:id="rId15"/>
    <p:sldId id="265" r:id="rId16"/>
    <p:sldId id="375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83" r:id="rId25"/>
    <p:sldId id="384" r:id="rId26"/>
    <p:sldId id="385" r:id="rId27"/>
    <p:sldId id="441" r:id="rId28"/>
    <p:sldId id="386" r:id="rId29"/>
    <p:sldId id="387" r:id="rId30"/>
    <p:sldId id="388" r:id="rId31"/>
    <p:sldId id="389" r:id="rId32"/>
    <p:sldId id="390" r:id="rId33"/>
    <p:sldId id="391" r:id="rId34"/>
    <p:sldId id="392" r:id="rId35"/>
    <p:sldId id="267" r:id="rId36"/>
    <p:sldId id="442" r:id="rId37"/>
    <p:sldId id="443" r:id="rId38"/>
    <p:sldId id="278" r:id="rId39"/>
    <p:sldId id="445" r:id="rId40"/>
    <p:sldId id="446" r:id="rId41"/>
    <p:sldId id="279" r:id="rId42"/>
    <p:sldId id="444" r:id="rId43"/>
    <p:sldId id="447" r:id="rId44"/>
    <p:sldId id="448" r:id="rId45"/>
    <p:sldId id="449" r:id="rId46"/>
    <p:sldId id="280" r:id="rId47"/>
    <p:sldId id="450" r:id="rId48"/>
    <p:sldId id="281" r:id="rId49"/>
    <p:sldId id="452" r:id="rId50"/>
    <p:sldId id="451" r:id="rId51"/>
    <p:sldId id="453" r:id="rId52"/>
    <p:sldId id="454" r:id="rId53"/>
    <p:sldId id="268" r:id="rId54"/>
    <p:sldId id="455" r:id="rId55"/>
    <p:sldId id="456" r:id="rId56"/>
    <p:sldId id="457" r:id="rId57"/>
    <p:sldId id="458" r:id="rId58"/>
    <p:sldId id="269" r:id="rId59"/>
    <p:sldId id="459" r:id="rId60"/>
    <p:sldId id="469" r:id="rId61"/>
    <p:sldId id="461" r:id="rId62"/>
    <p:sldId id="460" r:id="rId63"/>
    <p:sldId id="462" r:id="rId64"/>
    <p:sldId id="270" r:id="rId65"/>
    <p:sldId id="271" r:id="rId66"/>
    <p:sldId id="463" r:id="rId67"/>
    <p:sldId id="464" r:id="rId68"/>
    <p:sldId id="465" r:id="rId69"/>
    <p:sldId id="466" r:id="rId70"/>
    <p:sldId id="467" r:id="rId71"/>
    <p:sldId id="468" r:id="rId72"/>
    <p:sldId id="272" r:id="rId73"/>
    <p:sldId id="470" r:id="rId74"/>
    <p:sldId id="471" r:id="rId75"/>
    <p:sldId id="472" r:id="rId76"/>
    <p:sldId id="473" r:id="rId77"/>
    <p:sldId id="474" r:id="rId78"/>
    <p:sldId id="476" r:id="rId79"/>
    <p:sldId id="475" r:id="rId80"/>
    <p:sldId id="283" r:id="rId81"/>
    <p:sldId id="284" r:id="rId82"/>
    <p:sldId id="285" r:id="rId83"/>
    <p:sldId id="286" r:id="rId84"/>
    <p:sldId id="287" r:id="rId85"/>
    <p:sldId id="288" r:id="rId86"/>
    <p:sldId id="289" r:id="rId87"/>
    <p:sldId id="290" r:id="rId88"/>
    <p:sldId id="291" r:id="rId89"/>
    <p:sldId id="292" r:id="rId90"/>
    <p:sldId id="293" r:id="rId91"/>
    <p:sldId id="294" r:id="rId92"/>
    <p:sldId id="295" r:id="rId93"/>
    <p:sldId id="296" r:id="rId94"/>
    <p:sldId id="297" r:id="rId95"/>
    <p:sldId id="298" r:id="rId96"/>
    <p:sldId id="299" r:id="rId97"/>
    <p:sldId id="300" r:id="rId98"/>
    <p:sldId id="301" r:id="rId99"/>
    <p:sldId id="302" r:id="rId100"/>
    <p:sldId id="303" r:id="rId101"/>
    <p:sldId id="304" r:id="rId102"/>
    <p:sldId id="305" r:id="rId103"/>
    <p:sldId id="306" r:id="rId104"/>
    <p:sldId id="307" r:id="rId105"/>
    <p:sldId id="308" r:id="rId106"/>
    <p:sldId id="525" r:id="rId107"/>
    <p:sldId id="526" r:id="rId108"/>
    <p:sldId id="527" r:id="rId109"/>
    <p:sldId id="529" r:id="rId110"/>
    <p:sldId id="310" r:id="rId111"/>
    <p:sldId id="528" r:id="rId112"/>
    <p:sldId id="311" r:id="rId113"/>
    <p:sldId id="530" r:id="rId114"/>
    <p:sldId id="313" r:id="rId115"/>
    <p:sldId id="314" r:id="rId116"/>
    <p:sldId id="315" r:id="rId117"/>
  </p:sldIdLst>
  <p:sldSz cx="9144000" cy="6858000" type="screen4x3"/>
  <p:notesSz cx="6858000" cy="9144000"/>
  <p:custDataLst>
    <p:tags r:id="rId1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43" y="3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3DB369-2E8E-4BB7-837E-4F4559E61E73}" type="datetimeFigureOut">
              <a:rPr lang="zh-CN" altLang="en-US" smtClean="0"/>
              <a:t>2022/10/8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C8FB2E6-9082-4B21-AFF2-F1FFF6FA17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B369-2E8E-4BB7-837E-4F4559E61E73}" type="datetimeFigureOut">
              <a:rPr lang="zh-CN" altLang="en-US" smtClean="0"/>
              <a:t>2022/10/8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B2E6-9082-4B21-AFF2-F1FFF6FA178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B369-2E8E-4BB7-837E-4F4559E61E73}" type="datetimeFigureOut">
              <a:rPr lang="zh-CN" altLang="en-US" smtClean="0"/>
              <a:t>2022/10/8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B2E6-9082-4B21-AFF2-F1FFF6FA178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B369-2E8E-4BB7-837E-4F4559E61E73}" type="datetimeFigureOut">
              <a:rPr lang="zh-CN" altLang="en-US" smtClean="0"/>
              <a:t>2022/10/8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B2E6-9082-4B21-AFF2-F1FFF6FA178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B369-2E8E-4BB7-837E-4F4559E61E73}" type="datetimeFigureOut">
              <a:rPr lang="zh-CN" altLang="en-US" smtClean="0"/>
              <a:t>2022/10/8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B2E6-9082-4B21-AFF2-F1FFF6FA17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B369-2E8E-4BB7-837E-4F4559E61E73}" type="datetimeFigureOut">
              <a:rPr lang="zh-CN" altLang="en-US" smtClean="0"/>
              <a:t>2022/10/8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B2E6-9082-4B21-AFF2-F1FFF6FA178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B369-2E8E-4BB7-837E-4F4559E61E73}" type="datetimeFigureOut">
              <a:rPr lang="zh-CN" altLang="en-US" smtClean="0"/>
              <a:t>2022/10/8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B2E6-9082-4B21-AFF2-F1FFF6FA17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D53DB369-2E8E-4BB7-837E-4F4559E61E73}" type="datetimeFigureOut">
              <a:rPr lang="zh-CN" altLang="en-US" smtClean="0"/>
              <a:t>2022/10/8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B2E6-9082-4B21-AFF2-F1FFF6FA17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3DB369-2E8E-4BB7-837E-4F4559E61E73}" type="datetimeFigureOut">
              <a:rPr lang="zh-CN" altLang="en-US" smtClean="0"/>
              <a:t>2022/10/8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8FB2E6-9082-4B21-AFF2-F1FFF6FA178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/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B369-2E8E-4BB7-837E-4F4559E61E73}" type="datetimeFigureOut">
              <a:rPr lang="zh-CN" altLang="en-US" smtClean="0"/>
              <a:t>2022/10/8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B2E6-9082-4B21-AFF2-F1FFF6FA17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B369-2E8E-4BB7-837E-4F4559E61E73}" type="datetimeFigureOut">
              <a:rPr lang="zh-CN" altLang="en-US" smtClean="0"/>
              <a:t>2022/10/8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B2E6-9082-4B21-AFF2-F1FFF6FA17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任意多边形 11"/>
          <p:cNvSpPr/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D53DB369-2E8E-4BB7-837E-4F4559E61E73}" type="datetimeFigureOut">
              <a:rPr lang="zh-CN" altLang="en-US" smtClean="0"/>
              <a:t>2022/10/8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5C8FB2E6-9082-4B21-AFF2-F1FFF6FA17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anose="05040102010807070707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 panose="05020102010507070707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MySQL</a:t>
            </a:r>
            <a:r>
              <a:rPr lang="zh-CN" altLang="en-US" dirty="0" smtClean="0"/>
              <a:t>应用教程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第五章 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数据查询操作管理</a:t>
            </a:r>
          </a:p>
          <a:p>
            <a:r>
              <a:rPr lang="zh-CN" altLang="en-US" dirty="0" smtClean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单表查询</a:t>
            </a:r>
            <a:endParaRPr lang="en-US" altLang="zh-CN" dirty="0" smtClean="0"/>
          </a:p>
          <a:p>
            <a:r>
              <a:rPr lang="zh-CN" altLang="en-US" dirty="0" smtClean="0"/>
              <a:t>多表查询</a:t>
            </a:r>
          </a:p>
          <a:p>
            <a:r>
              <a:rPr lang="zh-CN" altLang="en-US" smtClean="0"/>
              <a:t>子查询（嵌</a:t>
            </a:r>
            <a:r>
              <a:rPr lang="zh-CN" altLang="en-US" dirty="0" smtClean="0"/>
              <a:t>套</a:t>
            </a:r>
            <a:r>
              <a:rPr lang="zh-CN" altLang="en-US" smtClean="0"/>
              <a:t>查</a:t>
            </a:r>
            <a:r>
              <a:rPr lang="zh-CN" altLang="en-US" smtClean="0"/>
              <a:t>询）</a:t>
            </a:r>
            <a:endParaRPr lang="en-US" altLang="zh-CN" dirty="0" smtClean="0"/>
          </a:p>
          <a:p>
            <a:r>
              <a:rPr lang="zh-CN" altLang="en-US" dirty="0" smtClean="0"/>
              <a:t>特殊形式查询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内容提要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5.1 </a:t>
            </a:r>
            <a:r>
              <a:rPr lang="zh-CN" altLang="en-US"/>
              <a:t>单表查询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SELECT </a:t>
            </a:r>
            <a:r>
              <a:rPr lang="zh-CN" altLang="en-US"/>
              <a:t>[ALL|DISTINCT] &lt;目标列表达式&gt;[,&lt;目标列表达式&gt;] …</a:t>
            </a:r>
          </a:p>
          <a:p>
            <a:r>
              <a:rPr lang="zh-CN" altLang="en-US">
                <a:solidFill>
                  <a:srgbClr val="0000FF"/>
                </a:solidFill>
              </a:rPr>
              <a:t>FROM</a:t>
            </a:r>
            <a:r>
              <a:rPr lang="zh-CN" altLang="en-US"/>
              <a:t> &lt;表名或视图名&gt;[,&lt;表名或视图名&gt; ]</a:t>
            </a:r>
          </a:p>
          <a:p>
            <a:r>
              <a:rPr lang="zh-CN" altLang="en-US"/>
              <a:t>[ </a:t>
            </a:r>
            <a:r>
              <a:rPr lang="zh-CN" altLang="en-US">
                <a:solidFill>
                  <a:srgbClr val="0000FF"/>
                </a:solidFill>
              </a:rPr>
              <a:t>WHERE </a:t>
            </a:r>
            <a:r>
              <a:rPr lang="zh-CN" altLang="en-US"/>
              <a:t>&lt;条件表达式&gt; ]</a:t>
            </a:r>
          </a:p>
          <a:p>
            <a:r>
              <a:rPr lang="zh-CN" altLang="en-US"/>
              <a:t>[ </a:t>
            </a:r>
            <a:r>
              <a:rPr lang="zh-CN" altLang="en-US">
                <a:solidFill>
                  <a:srgbClr val="0000FF"/>
                </a:solidFill>
              </a:rPr>
              <a:t>GROUP BY </a:t>
            </a:r>
            <a:r>
              <a:rPr lang="zh-CN" altLang="en-US"/>
              <a:t>&lt;列名&gt; [ </a:t>
            </a:r>
            <a:r>
              <a:rPr lang="zh-CN" altLang="en-US">
                <a:solidFill>
                  <a:srgbClr val="0000FF"/>
                </a:solidFill>
              </a:rPr>
              <a:t>HAVING</a:t>
            </a:r>
            <a:r>
              <a:rPr lang="zh-CN" altLang="en-US"/>
              <a:t> &lt;条件表达式&gt; ] ]</a:t>
            </a:r>
          </a:p>
          <a:p>
            <a:r>
              <a:rPr lang="zh-CN" altLang="en-US"/>
              <a:t>[ </a:t>
            </a:r>
            <a:r>
              <a:rPr lang="zh-CN" altLang="en-US">
                <a:solidFill>
                  <a:srgbClr val="0000FF"/>
                </a:solidFill>
              </a:rPr>
              <a:t>ORDER BY </a:t>
            </a:r>
            <a:r>
              <a:rPr lang="zh-CN" altLang="en-US"/>
              <a:t>&lt;列名&gt; [</a:t>
            </a:r>
            <a:r>
              <a:rPr lang="zh-CN" altLang="en-US">
                <a:solidFill>
                  <a:srgbClr val="0000FF"/>
                </a:solidFill>
              </a:rPr>
              <a:t> ASC|DESC </a:t>
            </a:r>
            <a:r>
              <a:rPr lang="zh-CN" altLang="en-US"/>
              <a:t>] ];</a:t>
            </a:r>
          </a:p>
          <a:p>
            <a:r>
              <a:rPr lang="en-US" altLang="zh-CN" dirty="0" smtClean="0">
                <a:sym typeface="+mn-ea"/>
              </a:rPr>
              <a:t>[</a:t>
            </a:r>
            <a:r>
              <a:rPr lang="en-US" altLang="zh-CN" dirty="0" smtClean="0">
                <a:solidFill>
                  <a:srgbClr val="0000FF"/>
                </a:solidFill>
                <a:sym typeface="+mn-ea"/>
              </a:rPr>
              <a:t>LIMIT</a:t>
            </a:r>
            <a:r>
              <a:rPr lang="en-US" altLang="zh-CN" dirty="0" smtClean="0">
                <a:sym typeface="+mn-ea"/>
              </a:rPr>
              <a:t> </a:t>
            </a:r>
            <a:r>
              <a:rPr lang="zh-CN" altLang="en-US" dirty="0" smtClean="0">
                <a:sym typeface="+mn-ea"/>
              </a:rPr>
              <a:t>限制结果集的显示条数</a:t>
            </a:r>
            <a:r>
              <a:rPr lang="en-US" altLang="zh-CN" dirty="0" smtClean="0">
                <a:sym typeface="+mn-ea"/>
              </a:rPr>
              <a:t>] </a:t>
            </a:r>
            <a:endParaRPr lang="zh-CN" altLang="en-US" dirty="0"/>
          </a:p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查询记录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查询记录（续）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979712" y="2276872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 </a:t>
            </a:r>
            <a:r>
              <a:rPr lang="en-US" altLang="zh-CN"/>
              <a:t>SELECT</a:t>
            </a:r>
            <a:r>
              <a:rPr lang="zh-CN" altLang="en-US"/>
              <a:t>子句：指定要显示的属性列  </a:t>
            </a:r>
            <a:r>
              <a:rPr lang="en-US" altLang="zh-CN"/>
              <a:t>FROM</a:t>
            </a:r>
            <a:r>
              <a:rPr lang="zh-CN" altLang="en-US"/>
              <a:t>子句：指定查询对象（基本表或视图）  </a:t>
            </a:r>
            <a:r>
              <a:rPr lang="en-US" altLang="zh-CN"/>
              <a:t>WHERE</a:t>
            </a:r>
            <a:r>
              <a:rPr lang="zh-CN" altLang="en-US"/>
              <a:t>子句：指定查询条件  </a:t>
            </a:r>
            <a:r>
              <a:rPr lang="en-US" altLang="zh-CN"/>
              <a:t>GROUP BY</a:t>
            </a:r>
            <a:r>
              <a:rPr lang="zh-CN" altLang="en-US"/>
              <a:t>子句：对查询结果按指定列的值分组，该属性列值相 等的元组为一个组。通常会在每组中作用聚集函数。  </a:t>
            </a:r>
            <a:r>
              <a:rPr lang="en-US" altLang="zh-CN"/>
              <a:t>HAVING</a:t>
            </a:r>
            <a:r>
              <a:rPr lang="zh-CN" altLang="en-US"/>
              <a:t>短语：只有满足指定条件的组才予以输出  </a:t>
            </a:r>
            <a:r>
              <a:rPr lang="en-US" altLang="zh-CN"/>
              <a:t>ORDER BY</a:t>
            </a:r>
            <a:r>
              <a:rPr lang="zh-CN" altLang="en-US"/>
              <a:t>子句：对查询结果表按指定列值的升序或降序排序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57200" y="1484784"/>
          <a:ext cx="8136904" cy="453662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136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825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altLang="zh-CN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mtClean="0"/>
                        <a:t>SELECT</a:t>
                      </a:r>
                      <a:r>
                        <a:rPr lang="zh-CN" altLang="en-US" smtClean="0"/>
                        <a:t>子句：指定要显示的属性列</a:t>
                      </a:r>
                      <a:endParaRPr lang="en-US" altLang="zh-CN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mtClean="0"/>
                        <a:t>FROM</a:t>
                      </a:r>
                      <a:r>
                        <a:rPr lang="zh-CN" altLang="en-US" smtClean="0"/>
                        <a:t>子句：指定查询对象（基本表或视图） </a:t>
                      </a:r>
                      <a:endParaRPr lang="en-US" altLang="zh-CN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mtClean="0"/>
                        <a:t>WHERE</a:t>
                      </a:r>
                      <a:r>
                        <a:rPr lang="zh-CN" altLang="en-US" smtClean="0"/>
                        <a:t>子句：指定查询条件 </a:t>
                      </a:r>
                      <a:endParaRPr lang="en-US" altLang="zh-CN" smtClean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573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altLang="zh-CN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mtClean="0"/>
                        <a:t>GROUP BY</a:t>
                      </a:r>
                      <a:r>
                        <a:rPr lang="zh-CN" altLang="en-US" smtClean="0"/>
                        <a:t>子句：对查询结果按指定列的值分组，该属性列值相等的元组为一个组。通常会在每组中作用聚集函数。</a:t>
                      </a:r>
                      <a:endParaRPr lang="en-US" altLang="zh-CN" smtClean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mtClean="0"/>
                        <a:t>HAVING</a:t>
                      </a:r>
                      <a:r>
                        <a:rPr lang="zh-CN" altLang="en-US" smtClean="0"/>
                        <a:t>短语：只有满足指定条件的组才予以输出。 </a:t>
                      </a:r>
                      <a:endParaRPr lang="en-US" altLang="zh-CN" smtClean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mtClean="0"/>
                        <a:t> </a:t>
                      </a:r>
                      <a:endParaRPr lang="zh-CN" altLang="en-US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25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endParaRPr lang="en-US" altLang="zh-CN" smtClean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zh-CN" smtClean="0"/>
                        <a:t>ORDER BY</a:t>
                      </a:r>
                      <a:r>
                        <a:rPr lang="zh-CN" altLang="en-US" smtClean="0"/>
                        <a:t>子句：对查询结果表按指定列值的升序或降序排序</a:t>
                      </a:r>
                    </a:p>
                    <a:p>
                      <a:endParaRPr lang="zh-CN" altLang="en-US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14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altLang="zh-CN" smtClean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mtClean="0">
                          <a:solidFill>
                            <a:schemeClr val="tx1"/>
                          </a:solidFill>
                          <a:sym typeface="+mn-ea"/>
                        </a:rPr>
                        <a:t>LIMIT</a:t>
                      </a:r>
                      <a:r>
                        <a:rPr lang="en-US" altLang="zh-CN" smtClean="0">
                          <a:sym typeface="+mn-ea"/>
                        </a:rPr>
                        <a:t> </a:t>
                      </a:r>
                      <a:r>
                        <a:rPr lang="zh-CN" altLang="en-US" smtClean="0">
                          <a:sym typeface="+mn-ea"/>
                        </a:rPr>
                        <a:t>限制结果集的显示条数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600093"/>
            <a:ext cx="2330757" cy="205936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6" y="87767"/>
            <a:ext cx="2920398" cy="257169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136" y="3063305"/>
            <a:ext cx="276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SELECT-FROM-WHERE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355219" y="3063305"/>
            <a:ext cx="276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GROUP BY-HAVING</a:t>
            </a:r>
            <a:r>
              <a:rPr lang="zh-CN" altLang="en-US" smtClean="0"/>
              <a:t>配合聚合函数</a:t>
            </a:r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588224" y="918227"/>
          <a:ext cx="22392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Sno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Avg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95001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88.3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95002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85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876256" y="3063305"/>
            <a:ext cx="18229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ORDER </a:t>
            </a:r>
            <a:r>
              <a:rPr lang="en-US" altLang="zh-CN" smtClean="0"/>
              <a:t>BY ASC</a:t>
            </a:r>
            <a:endParaRPr lang="zh-CN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67544" y="3836481"/>
          <a:ext cx="22392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Sno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Avg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95002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85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95001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88.3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827584" y="5517232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mtClean="0">
                <a:sym typeface="+mn-ea"/>
              </a:rPr>
              <a:t>LIMIT 0 1</a:t>
            </a:r>
            <a:endParaRPr lang="zh-CN" altLang="en-US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995936" y="4133837"/>
          <a:ext cx="22392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Sno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Avg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95002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85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上箭头 12"/>
          <p:cNvSpPr/>
          <p:nvPr/>
        </p:nvSpPr>
        <p:spPr>
          <a:xfrm>
            <a:off x="1259632" y="2708920"/>
            <a:ext cx="327513" cy="28803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上箭头 13"/>
          <p:cNvSpPr/>
          <p:nvPr/>
        </p:nvSpPr>
        <p:spPr>
          <a:xfrm>
            <a:off x="4418842" y="2749540"/>
            <a:ext cx="327513" cy="28803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上箭头 14"/>
          <p:cNvSpPr/>
          <p:nvPr/>
        </p:nvSpPr>
        <p:spPr>
          <a:xfrm>
            <a:off x="7707825" y="2695240"/>
            <a:ext cx="327513" cy="28803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上箭头 15"/>
          <p:cNvSpPr/>
          <p:nvPr/>
        </p:nvSpPr>
        <p:spPr>
          <a:xfrm>
            <a:off x="1161393" y="5089445"/>
            <a:ext cx="327513" cy="28803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查询表中所有记录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</a:t>
            </a:r>
            <a:r>
              <a:rPr lang="en-US" altLang="zh-CN" dirty="0" smtClean="0">
                <a:solidFill>
                  <a:srgbClr val="0000FF"/>
                </a:solidFill>
              </a:rPr>
              <a:t>SELECT</a:t>
            </a:r>
            <a:r>
              <a:rPr lang="en-US" altLang="zh-CN" dirty="0" smtClean="0"/>
              <a:t> * </a:t>
            </a:r>
            <a:r>
              <a:rPr lang="en-US" altLang="zh-CN" dirty="0" smtClean="0">
                <a:solidFill>
                  <a:srgbClr val="0000FF"/>
                </a:solidFill>
              </a:rPr>
              <a:t>FROM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tbl_name</a:t>
            </a:r>
            <a:r>
              <a:rPr lang="en-US" altLang="zh-CN" dirty="0" smtClean="0"/>
              <a:t>;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  *所有字段</a:t>
            </a:r>
            <a:endParaRPr lang="en-US" altLang="zh-CN" dirty="0" smtClean="0"/>
          </a:p>
          <a:p>
            <a:endParaRPr lang="en-US" altLang="zh-CN" smtClean="0"/>
          </a:p>
          <a:p>
            <a:r>
              <a:rPr lang="zh-CN" altLang="en-US" smtClean="0"/>
              <a:t>指</a:t>
            </a:r>
            <a:r>
              <a:rPr lang="zh-CN" altLang="en-US" dirty="0" smtClean="0"/>
              <a:t>定字段的信息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  </a:t>
            </a:r>
            <a:r>
              <a:rPr lang="en-US" altLang="zh-CN" dirty="0" smtClean="0">
                <a:solidFill>
                  <a:srgbClr val="0000FF"/>
                </a:solidFill>
              </a:rPr>
              <a:t>SELECT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/>
              <a:t>字段名称</a:t>
            </a:r>
            <a:r>
              <a:rPr lang="en-US" altLang="zh-CN" dirty="0" smtClean="0"/>
              <a:t>,... </a:t>
            </a:r>
            <a:r>
              <a:rPr lang="en-US" altLang="zh-CN" dirty="0" smtClean="0">
                <a:solidFill>
                  <a:srgbClr val="0000FF"/>
                </a:solidFill>
              </a:rPr>
              <a:t>FROM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tbl_name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库名</a:t>
            </a:r>
            <a:r>
              <a:rPr lang="en-US" altLang="zh-CN" dirty="0" smtClean="0"/>
              <a:t>.</a:t>
            </a:r>
            <a:r>
              <a:rPr lang="zh-CN" altLang="en-US" dirty="0" smtClean="0"/>
              <a:t>表名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</a:t>
            </a:r>
            <a:r>
              <a:rPr lang="en-US" altLang="zh-CN" dirty="0" smtClean="0">
                <a:solidFill>
                  <a:srgbClr val="0000FF"/>
                </a:solidFill>
              </a:rPr>
              <a:t>SELECT </a:t>
            </a:r>
            <a:r>
              <a:rPr lang="zh-CN" altLang="en-US" dirty="0" smtClean="0"/>
              <a:t>字段名称</a:t>
            </a:r>
            <a:r>
              <a:rPr lang="en-US" altLang="zh-CN" dirty="0" smtClean="0"/>
              <a:t>,... </a:t>
            </a:r>
            <a:r>
              <a:rPr lang="en-US" altLang="zh-CN" dirty="0" smtClean="0">
                <a:solidFill>
                  <a:srgbClr val="0000FF"/>
                </a:solidFill>
              </a:rPr>
              <a:t>FROM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db_name.tbl_name</a:t>
            </a:r>
            <a:r>
              <a:rPr lang="en-US" altLang="zh-CN" dirty="0" smtClean="0"/>
              <a:t>;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一、不带条件查询记录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-815" t="2224" r="3880" b="-2224"/>
          <a:stretch>
            <a:fillRect/>
          </a:stretch>
        </p:blipFill>
        <p:spPr>
          <a:xfrm>
            <a:off x="251460" y="1988820"/>
            <a:ext cx="8535670" cy="32270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7360" y="476885"/>
            <a:ext cx="782701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400"/>
              <a:t>例</a:t>
            </a:r>
            <a:r>
              <a:rPr lang="en-US" altLang="zh-CN" sz="2400"/>
              <a:t>1 </a:t>
            </a:r>
            <a:r>
              <a:rPr lang="zh-CN" altLang="en-US" sz="2400"/>
              <a:t>查询表中所有记录</a:t>
            </a:r>
          </a:p>
          <a:p>
            <a:pPr algn="l"/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 </a:t>
            </a:r>
            <a:r>
              <a:rPr lang="zh-CN" altLang="en-US" sz="2400">
                <a:solidFill>
                  <a:schemeClr val="tx1"/>
                </a:solidFill>
              </a:rPr>
              <a:t>*</a:t>
            </a:r>
            <a:r>
              <a:rPr lang="zh-CN" altLang="en-US" sz="2400">
                <a:solidFill>
                  <a:srgbClr val="0000FF"/>
                </a:solidFill>
              </a:rPr>
              <a:t> FROM</a:t>
            </a:r>
            <a:r>
              <a:rPr lang="zh-CN" altLang="en-US" sz="2400"/>
              <a:t> user;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395" y="2004695"/>
            <a:ext cx="4293235" cy="43453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39115" y="332740"/>
            <a:ext cx="761111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2 </a:t>
            </a:r>
            <a:r>
              <a:rPr lang="zh-CN" altLang="en-US" sz="2400"/>
              <a:t>查询指定字段username,addr,age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username,addr,age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9214" b="4382"/>
          <a:stretch>
            <a:fillRect/>
          </a:stretch>
        </p:blipFill>
        <p:spPr>
          <a:xfrm>
            <a:off x="827405" y="2084070"/>
            <a:ext cx="7905750" cy="42697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5650" y="476885"/>
            <a:ext cx="78276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3</a:t>
            </a:r>
            <a:r>
              <a:rPr lang="zh-CN" altLang="en-US" sz="2400"/>
              <a:t> 查询mysql数据库下user表中的所有记录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* </a:t>
            </a:r>
            <a:r>
              <a:rPr lang="en-US" altLang="zh-CN" sz="2400"/>
              <a:t>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</a:t>
            </a:r>
            <a:r>
              <a:rPr lang="en-US" altLang="zh-CN" sz="2400"/>
              <a:t> </a:t>
            </a:r>
            <a:r>
              <a:rPr lang="zh-CN" altLang="en-US" sz="2400"/>
              <a:t>mysql.user;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给字段起别名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</a:t>
            </a:r>
            <a:r>
              <a:rPr lang="en-US" altLang="zh-CN" dirty="0" smtClean="0">
                <a:solidFill>
                  <a:srgbClr val="0000FF"/>
                </a:solidFill>
              </a:rPr>
              <a:t>SELECT</a:t>
            </a:r>
            <a:r>
              <a:rPr lang="en-US" altLang="zh-CN" dirty="0" smtClean="0"/>
              <a:t> </a:t>
            </a:r>
            <a:r>
              <a:rPr lang="zh-CN" altLang="en-US" dirty="0" smtClean="0"/>
              <a:t>字段名称 </a:t>
            </a:r>
            <a:r>
              <a:rPr lang="en-US" altLang="zh-CN" dirty="0" smtClean="0">
                <a:solidFill>
                  <a:srgbClr val="0000FF"/>
                </a:solidFill>
              </a:rPr>
              <a:t>[AS]</a:t>
            </a:r>
            <a:r>
              <a:rPr lang="en-US" altLang="zh-CN" dirty="0" smtClean="0"/>
              <a:t> </a:t>
            </a:r>
            <a:r>
              <a:rPr lang="zh-CN" altLang="en-US" dirty="0" smtClean="0"/>
              <a:t>别名名称</a:t>
            </a:r>
            <a:r>
              <a:rPr lang="en-US" altLang="zh-CN" dirty="0" smtClean="0"/>
              <a:t>,... </a:t>
            </a:r>
            <a:r>
              <a:rPr lang="en-US" altLang="zh-CN" dirty="0" smtClean="0">
                <a:solidFill>
                  <a:srgbClr val="0000FF"/>
                </a:solidFill>
              </a:rPr>
              <a:t>FROM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db_name.tbl_name</a:t>
            </a:r>
            <a:r>
              <a:rPr lang="en-US" altLang="zh-CN" dirty="0" smtClean="0"/>
              <a:t>; </a:t>
            </a:r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给数据表起别名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</a:t>
            </a:r>
            <a:r>
              <a:rPr lang="en-US" altLang="zh-CN" dirty="0" smtClean="0">
                <a:solidFill>
                  <a:srgbClr val="0000FF"/>
                </a:solidFill>
              </a:rPr>
              <a:t>SELECT</a:t>
            </a:r>
            <a:r>
              <a:rPr lang="en-US" altLang="zh-CN" dirty="0" smtClean="0"/>
              <a:t> </a:t>
            </a:r>
            <a:r>
              <a:rPr lang="zh-CN" altLang="en-US" dirty="0" smtClean="0"/>
              <a:t>字段名称 </a:t>
            </a:r>
            <a:r>
              <a:rPr lang="en-US" altLang="zh-CN" dirty="0" smtClean="0"/>
              <a:t>,... </a:t>
            </a:r>
            <a:r>
              <a:rPr lang="en-US" altLang="zh-CN" dirty="0" smtClean="0">
                <a:solidFill>
                  <a:srgbClr val="0000FF"/>
                </a:solidFill>
              </a:rPr>
              <a:t>FROM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tbl_name</a:t>
            </a: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0000FF"/>
                </a:solidFill>
              </a:rPr>
              <a:t>[AS]</a:t>
            </a:r>
            <a:r>
              <a:rPr lang="en-US" altLang="zh-CN" dirty="0" smtClean="0"/>
              <a:t> </a:t>
            </a:r>
            <a:r>
              <a:rPr lang="zh-CN" altLang="en-US" dirty="0" smtClean="0"/>
              <a:t>别名</a:t>
            </a:r>
            <a:r>
              <a:rPr lang="en-US" altLang="zh-CN" dirty="0" smtClean="0"/>
              <a:t>;</a:t>
            </a:r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表名</a:t>
            </a:r>
            <a:r>
              <a:rPr lang="en-US" altLang="zh-CN" dirty="0" smtClean="0"/>
              <a:t>.</a:t>
            </a:r>
            <a:r>
              <a:rPr lang="zh-CN" altLang="en-US" dirty="0" smtClean="0"/>
              <a:t>字段名的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0000FF"/>
                </a:solidFill>
              </a:rPr>
              <a:t> SELECT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tbl_name.col_name</a:t>
            </a:r>
            <a:r>
              <a:rPr lang="en-US" altLang="zh-CN" dirty="0" smtClean="0"/>
              <a:t>,... </a:t>
            </a:r>
            <a:r>
              <a:rPr lang="en-US" altLang="zh-CN" dirty="0" smtClean="0">
                <a:solidFill>
                  <a:srgbClr val="0000FF"/>
                </a:solidFill>
              </a:rPr>
              <a:t>FROM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tbl_name</a:t>
            </a:r>
            <a:r>
              <a:rPr lang="en-US" altLang="zh-CN" dirty="0" smtClean="0"/>
              <a:t>;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一、</a:t>
            </a:r>
            <a:r>
              <a:rPr lang="en-US" altLang="zh-CN" dirty="0" smtClean="0"/>
              <a:t> </a:t>
            </a:r>
            <a:r>
              <a:rPr lang="zh-CN" altLang="en-US" dirty="0" smtClean="0"/>
              <a:t>不带条件查询记录（续）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2132965"/>
            <a:ext cx="4831715" cy="42176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9115" y="404495"/>
            <a:ext cx="830643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4 </a:t>
            </a:r>
            <a:r>
              <a:rPr lang="zh-CN" altLang="en-US" sz="2400"/>
              <a:t>查询user表中的id 编号 username 用户名 sex 性别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 </a:t>
            </a:r>
            <a:r>
              <a:rPr lang="zh-CN" altLang="en-US" sz="2400">
                <a:solidFill>
                  <a:srgbClr val="0000FF"/>
                </a:solidFill>
              </a:rPr>
              <a:t>AS </a:t>
            </a:r>
            <a:r>
              <a:rPr lang="zh-CN" altLang="en-US" sz="2400"/>
              <a:t>'编号',username </a:t>
            </a:r>
            <a:r>
              <a:rPr lang="zh-CN" altLang="en-US" sz="2400">
                <a:solidFill>
                  <a:srgbClr val="0000FF"/>
                </a:solidFill>
              </a:rPr>
              <a:t>AS </a:t>
            </a:r>
            <a:r>
              <a:rPr lang="zh-CN" altLang="en-US" sz="2400"/>
              <a:t>'用户名', sex </a:t>
            </a:r>
            <a:r>
              <a:rPr lang="zh-CN" altLang="en-US" sz="2400">
                <a:solidFill>
                  <a:srgbClr val="0000FF"/>
                </a:solidFill>
              </a:rPr>
              <a:t>AS</a:t>
            </a:r>
            <a:r>
              <a:rPr lang="zh-CN" altLang="en-US" sz="2400"/>
              <a:t> '性别'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630" y="1917065"/>
            <a:ext cx="3110865" cy="44735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99160" y="404495"/>
            <a:ext cx="75355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5 </a:t>
            </a:r>
            <a:r>
              <a:rPr lang="zh-CN" altLang="en-US" sz="2400"/>
              <a:t>给表起别名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 </a:t>
            </a:r>
            <a:r>
              <a:rPr lang="zh-CN" altLang="en-US" sz="2400">
                <a:solidFill>
                  <a:srgbClr val="0000FF"/>
                </a:solidFill>
              </a:rPr>
              <a:t>FROM </a:t>
            </a:r>
            <a:r>
              <a:rPr lang="zh-CN" altLang="en-US" sz="2400"/>
              <a:t>user </a:t>
            </a:r>
            <a:r>
              <a:rPr lang="zh-CN" altLang="en-US" sz="2400">
                <a:solidFill>
                  <a:srgbClr val="0000FF"/>
                </a:solidFill>
              </a:rPr>
              <a:t>AS </a:t>
            </a:r>
            <a:r>
              <a:rPr lang="zh-CN" altLang="en-US" sz="2400"/>
              <a:t>u;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385" y="2637155"/>
            <a:ext cx="3260090" cy="39357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55650" y="404495"/>
            <a:ext cx="800544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6 </a:t>
            </a:r>
            <a:r>
              <a:rPr lang="zh-CN" altLang="en-US" sz="2400"/>
              <a:t>测试表名.字段名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user.id,user.username,user.age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 ;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u.id,u.username,u.addr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 </a:t>
            </a:r>
            <a:r>
              <a:rPr lang="zh-CN" altLang="en-US" sz="2400">
                <a:solidFill>
                  <a:srgbClr val="0000FF"/>
                </a:solidFill>
              </a:rPr>
              <a:t>AS</a:t>
            </a:r>
            <a:r>
              <a:rPr lang="zh-CN" altLang="en-US" sz="2400"/>
              <a:t> u;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dirty="0" smtClean="0"/>
              <a:t>二、带条件查询</a:t>
            </a:r>
            <a:r>
              <a:rPr lang="zh-CN" altLang="en-US" sz="2200" dirty="0" smtClean="0"/>
              <a:t>会筛选出符合条件的记录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27405" y="1124585"/>
          <a:ext cx="7818120" cy="423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5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查询条件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谓词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比较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dirty="0" smtClean="0">
                          <a:sym typeface="+mn-ea"/>
                        </a:rPr>
                        <a:t>&gt;</a:t>
                      </a:r>
                      <a:r>
                        <a:rPr lang="zh-CN" altLang="en-US" dirty="0" smtClean="0">
                          <a:sym typeface="+mn-ea"/>
                        </a:rPr>
                        <a:t>，</a:t>
                      </a:r>
                      <a:r>
                        <a:rPr lang="en-US" altLang="zh-CN" dirty="0" smtClean="0">
                          <a:sym typeface="+mn-ea"/>
                        </a:rPr>
                        <a:t> &gt;=</a:t>
                      </a:r>
                      <a:r>
                        <a:rPr lang="zh-CN" altLang="en-US" dirty="0" smtClean="0">
                          <a:sym typeface="+mn-ea"/>
                        </a:rPr>
                        <a:t>，</a:t>
                      </a:r>
                      <a:r>
                        <a:rPr lang="en-US" altLang="zh-CN" dirty="0" smtClean="0">
                          <a:sym typeface="+mn-ea"/>
                        </a:rPr>
                        <a:t> &lt;</a:t>
                      </a:r>
                      <a:r>
                        <a:rPr lang="zh-CN" altLang="en-US" dirty="0" smtClean="0">
                          <a:sym typeface="+mn-ea"/>
                        </a:rPr>
                        <a:t>，</a:t>
                      </a:r>
                      <a:r>
                        <a:rPr lang="en-US" altLang="zh-CN" dirty="0" smtClean="0">
                          <a:sym typeface="+mn-ea"/>
                        </a:rPr>
                        <a:t> &lt;=</a:t>
                      </a:r>
                      <a:r>
                        <a:rPr lang="zh-CN" altLang="en-US" dirty="0" smtClean="0">
                          <a:sym typeface="+mn-ea"/>
                        </a:rPr>
                        <a:t>，</a:t>
                      </a:r>
                      <a:r>
                        <a:rPr lang="en-US" altLang="zh-CN" dirty="0" smtClean="0">
                          <a:sym typeface="+mn-ea"/>
                        </a:rPr>
                        <a:t> !=</a:t>
                      </a:r>
                      <a:r>
                        <a:rPr lang="zh-CN" altLang="en-US" dirty="0" smtClean="0">
                          <a:sym typeface="+mn-ea"/>
                        </a:rPr>
                        <a:t>，</a:t>
                      </a:r>
                      <a:r>
                        <a:rPr lang="en-US" altLang="zh-CN" dirty="0" smtClean="0">
                          <a:sym typeface="+mn-ea"/>
                        </a:rPr>
                        <a:t> &lt;&gt; </a:t>
                      </a:r>
                      <a:r>
                        <a:rPr lang="zh-CN" altLang="en-US" dirty="0" smtClean="0">
                          <a:sym typeface="+mn-ea"/>
                        </a:rPr>
                        <a:t>，</a:t>
                      </a:r>
                      <a:r>
                        <a:rPr lang="en-US" altLang="zh-CN" dirty="0" smtClean="0">
                          <a:sym typeface="+mn-ea"/>
                        </a:rPr>
                        <a:t>&lt;=&gt;</a:t>
                      </a:r>
                    </a:p>
                    <a:p>
                      <a:pPr algn="l">
                        <a:buNone/>
                      </a:pPr>
                      <a:r>
                        <a:rPr lang="zh-CN" altLang="en-US" sz="1600"/>
                        <a:t>（</a:t>
                      </a:r>
                      <a:r>
                        <a:rPr lang="zh-CN" altLang="en-US" sz="1600">
                          <a:solidFill>
                            <a:srgbClr val="FF0000"/>
                          </a:solidFill>
                        </a:rPr>
                        <a:t>注意：</a:t>
                      </a:r>
                      <a:r>
                        <a:rPr lang="en-US" altLang="zh-CN" sz="1600" dirty="0" smtClean="0">
                          <a:sym typeface="+mn-ea"/>
                        </a:rPr>
                        <a:t> &lt;=&gt; </a:t>
                      </a:r>
                      <a:r>
                        <a:rPr lang="zh-CN" altLang="en-US" sz="1600" dirty="0" smtClean="0">
                          <a:sym typeface="+mn-ea"/>
                        </a:rPr>
                        <a:t>和 </a:t>
                      </a:r>
                      <a:r>
                        <a:rPr lang="en-US" altLang="zh-CN" sz="1600" dirty="0" smtClean="0">
                          <a:sym typeface="+mn-ea"/>
                        </a:rPr>
                        <a:t>=</a:t>
                      </a:r>
                      <a:r>
                        <a:rPr lang="zh-CN" altLang="en-US" sz="1600" dirty="0" smtClean="0">
                          <a:sym typeface="+mn-ea"/>
                        </a:rPr>
                        <a:t>的区别</a:t>
                      </a:r>
                      <a:r>
                        <a:rPr lang="en-US" altLang="zh-CN" sz="1600" dirty="0" smtClean="0">
                          <a:sym typeface="+mn-ea"/>
                        </a:rPr>
                        <a:t> &lt;=&gt;</a:t>
                      </a:r>
                      <a:r>
                        <a:rPr lang="zh-CN" altLang="en-US" sz="1600" dirty="0" smtClean="0">
                          <a:sym typeface="+mn-ea"/>
                        </a:rPr>
                        <a:t>可以检测</a:t>
                      </a:r>
                      <a:r>
                        <a:rPr lang="en-US" altLang="zh-CN" sz="1600" dirty="0" smtClean="0">
                          <a:sym typeface="+mn-ea"/>
                        </a:rPr>
                        <a:t>NULL</a:t>
                      </a:r>
                      <a:r>
                        <a:rPr lang="zh-CN" altLang="en-US" sz="1600" dirty="0" smtClean="0">
                          <a:sym typeface="+mn-ea"/>
                        </a:rPr>
                        <a:t>值）</a:t>
                      </a:r>
                      <a:endParaRPr lang="en-US" altLang="zh-CN" sz="1600" dirty="0" smtClean="0"/>
                    </a:p>
                    <a:p>
                      <a:pPr algn="l">
                        <a:buNone/>
                      </a:pPr>
                      <a:endParaRPr lang="zh-CN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确定范围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 smtClean="0">
                          <a:sym typeface="+mn-ea"/>
                        </a:rPr>
                        <a:t> [NOT] BETWEEN ... AND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确定集合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 smtClean="0">
                          <a:sym typeface="+mn-ea"/>
                        </a:rPr>
                        <a:t> [NOT] IN(</a:t>
                      </a:r>
                      <a:r>
                        <a:rPr lang="zh-CN" altLang="en-US" dirty="0" smtClean="0">
                          <a:sym typeface="+mn-ea"/>
                        </a:rPr>
                        <a:t>值</a:t>
                      </a:r>
                      <a:r>
                        <a:rPr lang="en-US" altLang="zh-CN" dirty="0" smtClean="0">
                          <a:sym typeface="+mn-ea"/>
                        </a:rPr>
                        <a:t>,...)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1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字符匹配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4205" indent="-514350">
                        <a:buNone/>
                      </a:pPr>
                      <a:r>
                        <a:rPr lang="en-US" altLang="zh-CN" dirty="0" smtClean="0">
                          <a:sym typeface="+mn-ea"/>
                        </a:rPr>
                        <a:t>[NOT] LIKE</a:t>
                      </a:r>
                    </a:p>
                    <a:p>
                      <a:pPr marL="624205" indent="-514350">
                        <a:buNone/>
                      </a:pPr>
                      <a:r>
                        <a:rPr lang="en-US" altLang="zh-CN" dirty="0" smtClean="0">
                          <a:sym typeface="+mn-ea"/>
                        </a:rPr>
                        <a:t>%:</a:t>
                      </a:r>
                      <a:r>
                        <a:rPr lang="zh-CN" altLang="en-US" dirty="0" smtClean="0">
                          <a:sym typeface="+mn-ea"/>
                        </a:rPr>
                        <a:t>任意长度的字符串，</a:t>
                      </a:r>
                    </a:p>
                    <a:p>
                      <a:pPr marL="624205" indent="-514350">
                        <a:buNone/>
                      </a:pPr>
                      <a:r>
                        <a:rPr lang="en-US" altLang="zh-CN" smtClean="0">
                          <a:sym typeface="+mn-ea"/>
                        </a:rPr>
                        <a:t>_:</a:t>
                      </a:r>
                      <a:r>
                        <a:rPr lang="zh-CN" altLang="en-US" smtClean="0">
                          <a:sym typeface="+mn-ea"/>
                        </a:rPr>
                        <a:t>指定长度为</a:t>
                      </a:r>
                      <a:r>
                        <a:rPr lang="en-US" altLang="zh-CN" smtClean="0">
                          <a:sym typeface="+mn-ea"/>
                        </a:rPr>
                        <a:t>1</a:t>
                      </a:r>
                      <a:r>
                        <a:rPr lang="zh-CN" altLang="en-US" smtClean="0">
                          <a:sym typeface="+mn-ea"/>
                        </a:rPr>
                        <a:t>的</a:t>
                      </a:r>
                      <a:r>
                        <a:rPr lang="zh-CN" altLang="en-US" dirty="0" smtClean="0">
                          <a:sym typeface="+mn-ea"/>
                        </a:rPr>
                        <a:t>字符串</a:t>
                      </a:r>
                      <a:endParaRPr lang="zh-CN" altLang="en-US" dirty="0" smtClean="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空值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 smtClean="0">
                          <a:sym typeface="+mn-ea"/>
                        </a:rPr>
                        <a:t>IS [NOT] NULL</a:t>
                      </a:r>
                      <a:endParaRPr lang="en-US" altLang="zh-CN" dirty="0" smtClean="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多重条件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AND ,OR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2924810"/>
            <a:ext cx="5048250" cy="18478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55650" y="692785"/>
            <a:ext cx="78911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6 </a:t>
            </a:r>
            <a:r>
              <a:rPr lang="zh-CN" altLang="en-US" sz="2400"/>
              <a:t>  查询id,username,age id=5的用户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  <a:r>
              <a:rPr lang="en-US" altLang="zh-CN" sz="2400"/>
              <a:t>  </a:t>
            </a:r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id=5;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11637"/>
          <a:stretch>
            <a:fillRect/>
          </a:stretch>
        </p:blipFill>
        <p:spPr>
          <a:xfrm>
            <a:off x="1259205" y="3429000"/>
            <a:ext cx="6027420" cy="19989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15695" y="116840"/>
            <a:ext cx="559181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例</a:t>
            </a:r>
            <a:r>
              <a:rPr lang="en-US" altLang="zh-CN"/>
              <a:t>7 </a:t>
            </a:r>
            <a:r>
              <a:rPr lang="zh-CN" altLang="en-US"/>
              <a:t>查询用户userDesc 为NULL的用户</a:t>
            </a:r>
          </a:p>
          <a:p>
            <a:endParaRPr lang="zh-CN" altLang="en-US"/>
          </a:p>
          <a:p>
            <a:r>
              <a:rPr lang="zh-CN" altLang="en-US">
                <a:solidFill>
                  <a:srgbClr val="0000FF"/>
                </a:solidFill>
              </a:rPr>
              <a:t>SELECT</a:t>
            </a:r>
            <a:r>
              <a:rPr lang="zh-CN" altLang="en-US"/>
              <a:t> id,username,age,userDesc </a:t>
            </a:r>
            <a:r>
              <a:rPr lang="zh-CN" altLang="en-US">
                <a:solidFill>
                  <a:srgbClr val="0000FF"/>
                </a:solidFill>
              </a:rPr>
              <a:t>FROM</a:t>
            </a:r>
            <a:r>
              <a:rPr lang="zh-CN" altLang="en-US"/>
              <a:t> user</a:t>
            </a:r>
          </a:p>
          <a:p>
            <a:r>
              <a:rPr lang="zh-CN" altLang="en-US">
                <a:solidFill>
                  <a:srgbClr val="0000FF"/>
                </a:solidFill>
              </a:rPr>
              <a:t>WHERE</a:t>
            </a:r>
            <a:r>
              <a:rPr lang="zh-CN" altLang="en-US"/>
              <a:t> userDesc=NULL;</a:t>
            </a:r>
            <a:r>
              <a:rPr lang="zh-CN" altLang="en-US">
                <a:solidFill>
                  <a:srgbClr val="FF0000"/>
                </a:solidFill>
              </a:rPr>
              <a:t>(错误)</a:t>
            </a:r>
          </a:p>
          <a:p>
            <a:endParaRPr lang="zh-CN" altLang="en-US"/>
          </a:p>
          <a:p>
            <a:r>
              <a:rPr lang="zh-CN" altLang="en-US">
                <a:solidFill>
                  <a:srgbClr val="0000FF"/>
                </a:solidFill>
              </a:rPr>
              <a:t>SELECT </a:t>
            </a:r>
            <a:r>
              <a:rPr lang="zh-CN" altLang="en-US"/>
              <a:t>id,username,age,userDesc </a:t>
            </a:r>
            <a:r>
              <a:rPr lang="zh-CN" altLang="en-US">
                <a:solidFill>
                  <a:srgbClr val="0000FF"/>
                </a:solidFill>
              </a:rPr>
              <a:t>FROM</a:t>
            </a:r>
            <a:r>
              <a:rPr lang="zh-CN" altLang="en-US"/>
              <a:t> user</a:t>
            </a:r>
          </a:p>
          <a:p>
            <a:r>
              <a:rPr lang="zh-CN" altLang="en-US">
                <a:solidFill>
                  <a:srgbClr val="0000FF"/>
                </a:solidFill>
              </a:rPr>
              <a:t>WHERE</a:t>
            </a:r>
            <a:r>
              <a:rPr lang="zh-CN" altLang="en-US"/>
              <a:t> userDesc</a:t>
            </a:r>
            <a:r>
              <a:rPr lang="zh-CN" altLang="en-US">
                <a:solidFill>
                  <a:srgbClr val="0000FF"/>
                </a:solidFill>
              </a:rPr>
              <a:t>&lt;=&gt;NULL</a:t>
            </a:r>
            <a:r>
              <a:rPr lang="zh-CN" altLang="en-US"/>
              <a:t>;</a:t>
            </a:r>
          </a:p>
          <a:p>
            <a:endParaRPr lang="zh-CN" altLang="en-US"/>
          </a:p>
          <a:p>
            <a:r>
              <a:rPr lang="zh-CN" altLang="en-US">
                <a:solidFill>
                  <a:srgbClr val="0000FF"/>
                </a:solidFill>
              </a:rPr>
              <a:t>SELECT</a:t>
            </a:r>
            <a:r>
              <a:rPr lang="zh-CN" altLang="en-US"/>
              <a:t> id,username,age,userDesc </a:t>
            </a:r>
            <a:r>
              <a:rPr lang="zh-CN" altLang="en-US">
                <a:solidFill>
                  <a:srgbClr val="0000FF"/>
                </a:solidFill>
              </a:rPr>
              <a:t>FROM</a:t>
            </a:r>
            <a:r>
              <a:rPr lang="zh-CN" altLang="en-US"/>
              <a:t> user</a:t>
            </a:r>
          </a:p>
          <a:p>
            <a:r>
              <a:rPr lang="zh-CN" altLang="en-US">
                <a:solidFill>
                  <a:srgbClr val="0000FF"/>
                </a:solidFill>
              </a:rPr>
              <a:t>WHERE</a:t>
            </a:r>
            <a:r>
              <a:rPr lang="zh-CN" altLang="en-US"/>
              <a:t> userDesc  </a:t>
            </a:r>
            <a:r>
              <a:rPr lang="zh-CN" altLang="en-US">
                <a:solidFill>
                  <a:srgbClr val="0000FF"/>
                </a:solidFill>
              </a:rPr>
              <a:t>IS NULL</a:t>
            </a:r>
            <a:r>
              <a:rPr lang="zh-CN" altLang="en-US"/>
              <a:t>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r="5338"/>
          <a:stretch>
            <a:fillRect/>
          </a:stretch>
        </p:blipFill>
        <p:spPr>
          <a:xfrm>
            <a:off x="1547495" y="1988820"/>
            <a:ext cx="6463665" cy="39903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7405" y="260985"/>
            <a:ext cx="774446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8 </a:t>
            </a:r>
            <a:r>
              <a:rPr lang="zh-CN" altLang="en-US" sz="2400"/>
              <a:t> IS [NOT] NULL检测NULL值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id,username,age,userDesc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userDesc </a:t>
            </a:r>
            <a:r>
              <a:rPr lang="zh-CN" altLang="en-US" sz="2400">
                <a:solidFill>
                  <a:srgbClr val="0000FF"/>
                </a:solidFill>
              </a:rPr>
              <a:t>IS NOT NULL</a:t>
            </a:r>
            <a:r>
              <a:rPr lang="zh-CN" altLang="en-US" sz="2400"/>
              <a:t>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" y="2708910"/>
            <a:ext cx="7541895" cy="29902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51865" y="260985"/>
            <a:ext cx="724027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9 </a:t>
            </a:r>
            <a:r>
              <a:rPr lang="zh-CN" altLang="en-US" sz="2400"/>
              <a:t>测试范围BETWEEN AND</a:t>
            </a:r>
          </a:p>
          <a:p>
            <a:r>
              <a:rPr lang="en-US" altLang="zh-CN" sz="2400"/>
              <a:t>      </a:t>
            </a:r>
            <a:r>
              <a:rPr lang="zh-CN" altLang="en-US" sz="2400"/>
              <a:t>查询年龄在18~30之间的用户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id,username,age,sex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age </a:t>
            </a:r>
            <a:r>
              <a:rPr lang="zh-CN" altLang="en-US" sz="2400">
                <a:solidFill>
                  <a:srgbClr val="0000FF"/>
                </a:solidFill>
              </a:rPr>
              <a:t>BETWEEN</a:t>
            </a:r>
            <a:r>
              <a:rPr lang="zh-CN" altLang="en-US" sz="2400"/>
              <a:t> 18 </a:t>
            </a:r>
            <a:r>
              <a:rPr lang="zh-CN" altLang="en-US" sz="2400">
                <a:solidFill>
                  <a:srgbClr val="0000FF"/>
                </a:solidFill>
              </a:rPr>
              <a:t>AND</a:t>
            </a:r>
            <a:r>
              <a:rPr lang="zh-CN" altLang="en-US" sz="2400"/>
              <a:t> 30;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2061210"/>
            <a:ext cx="7872095" cy="37103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2610" y="332740"/>
            <a:ext cx="818197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10</a:t>
            </a:r>
            <a:r>
              <a:rPr lang="zh-CN" altLang="en-US" sz="2400"/>
              <a:t> 查询薪水在10000~50000之间的用户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id,username,age,salary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salary </a:t>
            </a:r>
            <a:r>
              <a:rPr lang="zh-CN" altLang="en-US" sz="2400">
                <a:solidFill>
                  <a:srgbClr val="0000FF"/>
                </a:solidFill>
              </a:rPr>
              <a:t>BETWEEN</a:t>
            </a:r>
            <a:r>
              <a:rPr lang="zh-CN" altLang="en-US" sz="2400"/>
              <a:t> 10000 </a:t>
            </a:r>
            <a:r>
              <a:rPr lang="zh-CN" altLang="en-US" sz="2400">
                <a:solidFill>
                  <a:srgbClr val="0000FF"/>
                </a:solidFill>
              </a:rPr>
              <a:t>AND</a:t>
            </a:r>
            <a:r>
              <a:rPr lang="zh-CN" altLang="en-US" sz="2400"/>
              <a:t> 50000;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12036"/>
          <a:stretch>
            <a:fillRect/>
          </a:stretch>
        </p:blipFill>
        <p:spPr>
          <a:xfrm>
            <a:off x="611505" y="2277110"/>
            <a:ext cx="7263130" cy="32404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1505" y="476885"/>
            <a:ext cx="751967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ym typeface="+mn-ea"/>
              </a:rPr>
              <a:t>例</a:t>
            </a:r>
            <a:r>
              <a:rPr lang="en-US" altLang="zh-CN" sz="2400">
                <a:sym typeface="+mn-ea"/>
              </a:rPr>
              <a:t>11</a:t>
            </a:r>
            <a:r>
              <a:rPr lang="zh-CN" altLang="en-US" sz="2400">
                <a:sym typeface="+mn-ea"/>
              </a:rPr>
              <a:t> 查询薪水不在10000~50000之间的用户</a:t>
            </a:r>
            <a:endParaRPr lang="zh-CN" altLang="en-US" sz="2400"/>
          </a:p>
          <a:p>
            <a:endParaRPr lang="zh-CN" altLang="en-US" sz="2400">
              <a:solidFill>
                <a:srgbClr val="0000FF"/>
              </a:solidFill>
            </a:endParaRPr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id,username,age,salary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salary </a:t>
            </a:r>
            <a:r>
              <a:rPr lang="zh-CN" altLang="en-US" sz="2400">
                <a:solidFill>
                  <a:srgbClr val="0000FF"/>
                </a:solidFill>
              </a:rPr>
              <a:t>NOT BETWEEN</a:t>
            </a:r>
            <a:r>
              <a:rPr lang="zh-CN" altLang="en-US" sz="2400"/>
              <a:t> 10000 </a:t>
            </a:r>
            <a:r>
              <a:rPr lang="zh-CN" altLang="en-US" sz="2400">
                <a:solidFill>
                  <a:srgbClr val="0000FF"/>
                </a:solidFill>
              </a:rPr>
              <a:t>AND </a:t>
            </a:r>
            <a:r>
              <a:rPr lang="zh-CN" altLang="en-US" sz="2400"/>
              <a:t>50000;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05" y="2853055"/>
            <a:ext cx="6666865" cy="32232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5650" y="548640"/>
            <a:ext cx="779653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ym typeface="+mn-ea"/>
              </a:rPr>
              <a:t>例</a:t>
            </a:r>
            <a:r>
              <a:rPr lang="en-US" altLang="zh-CN" sz="2400">
                <a:sym typeface="+mn-ea"/>
              </a:rPr>
              <a:t>12 </a:t>
            </a:r>
            <a:r>
              <a:rPr lang="zh-CN" altLang="en-US" sz="2400">
                <a:sym typeface="+mn-ea"/>
              </a:rPr>
              <a:t>测试指定集合 IN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        </a:t>
            </a:r>
            <a:r>
              <a:rPr lang="zh-CN" altLang="en-US" sz="2400">
                <a:sym typeface="+mn-ea"/>
              </a:rPr>
              <a:t>-- 查询编号为1,3,5,7,9的用户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  <a:sym typeface="+mn-ea"/>
              </a:rPr>
              <a:t>SELECT</a:t>
            </a:r>
            <a:r>
              <a:rPr lang="zh-CN" altLang="en-US" sz="2400">
                <a:sym typeface="+mn-ea"/>
              </a:rPr>
              <a:t> id,username,age </a:t>
            </a:r>
            <a:r>
              <a:rPr lang="zh-CN" altLang="en-US" sz="2400">
                <a:solidFill>
                  <a:srgbClr val="0000FF"/>
                </a:solidFill>
                <a:sym typeface="+mn-ea"/>
              </a:rPr>
              <a:t>FROM</a:t>
            </a:r>
            <a:r>
              <a:rPr lang="zh-CN" altLang="en-US" sz="2400">
                <a:sym typeface="+mn-ea"/>
              </a:rPr>
              <a:t> user</a:t>
            </a:r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  <a:sym typeface="+mn-ea"/>
              </a:rPr>
              <a:t>WHERE</a:t>
            </a:r>
            <a:r>
              <a:rPr lang="zh-CN" altLang="en-US" sz="2400">
                <a:sym typeface="+mn-ea"/>
              </a:rPr>
              <a:t> id </a:t>
            </a:r>
            <a:r>
              <a:rPr lang="zh-CN" altLang="en-US" sz="2400">
                <a:solidFill>
                  <a:srgbClr val="0000FF"/>
                </a:solidFill>
                <a:sym typeface="+mn-ea"/>
              </a:rPr>
              <a:t>IN</a:t>
            </a:r>
            <a:r>
              <a:rPr lang="zh-CN" altLang="en-US" sz="2400">
                <a:sym typeface="+mn-ea"/>
              </a:rPr>
              <a:t>(1,3,5,7,9);</a:t>
            </a:r>
            <a:endParaRPr lang="zh-CN" altLang="en-US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15" y="2637155"/>
            <a:ext cx="8237220" cy="24415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5015" y="260985"/>
            <a:ext cx="7561580" cy="1845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zh-CN" altLang="en-US"/>
          </a:p>
          <a:p>
            <a:r>
              <a:rPr lang="zh-CN" altLang="en-US" sz="2400"/>
              <a:t>例</a:t>
            </a:r>
            <a:r>
              <a:rPr lang="en-US" altLang="zh-CN" sz="2400"/>
              <a:t>13</a:t>
            </a:r>
            <a:r>
              <a:rPr lang="zh-CN" altLang="en-US" sz="2400"/>
              <a:t> 查询用户名为</a:t>
            </a:r>
            <a:r>
              <a:rPr lang="zh-CN" altLang="en-US" sz="2400">
                <a:sym typeface="+mn-ea"/>
              </a:rPr>
              <a:t>'king','queen','lily','rose'的用户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 </a:t>
            </a:r>
            <a:r>
              <a:rPr lang="zh-CN" altLang="en-US" sz="2400"/>
              <a:t>id,username,age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username </a:t>
            </a:r>
            <a:r>
              <a:rPr lang="zh-CN" altLang="en-US" sz="2400">
                <a:solidFill>
                  <a:srgbClr val="0000FF"/>
                </a:solidFill>
              </a:rPr>
              <a:t>IN</a:t>
            </a:r>
            <a:r>
              <a:rPr lang="zh-CN" altLang="en-US" sz="2400"/>
              <a:t>('king','queen','lily','rose');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r="7629"/>
          <a:stretch>
            <a:fillRect/>
          </a:stretch>
        </p:blipFill>
        <p:spPr>
          <a:xfrm>
            <a:off x="1259205" y="2132965"/>
            <a:ext cx="6141085" cy="36753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6425" y="404495"/>
            <a:ext cx="776287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14 </a:t>
            </a:r>
            <a:r>
              <a:rPr lang="zh-CN" altLang="en-US" sz="2400"/>
              <a:t>测试逻辑运算符</a:t>
            </a:r>
          </a:p>
          <a:p>
            <a:r>
              <a:rPr lang="en-US" altLang="zh-CN" sz="2400"/>
              <a:t>        </a:t>
            </a:r>
            <a:r>
              <a:rPr lang="zh-CN" altLang="en-US" sz="2400"/>
              <a:t>-- 查询性别为男并且年龄&gt;=20的用户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id,username,age,sex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sex='男' </a:t>
            </a:r>
            <a:r>
              <a:rPr lang="zh-CN" altLang="en-US" sz="2400">
                <a:solidFill>
                  <a:srgbClr val="0000FF"/>
                </a:solidFill>
              </a:rPr>
              <a:t>AND</a:t>
            </a:r>
            <a:r>
              <a:rPr lang="zh-CN" altLang="en-US" sz="2400"/>
              <a:t> age&gt;=20;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27405" y="404495"/>
            <a:ext cx="697039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15 </a:t>
            </a:r>
            <a:r>
              <a:rPr lang="zh-CN" altLang="en-US" sz="2400"/>
              <a:t>查询年龄在5到30岁之间的男性用户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id,username,age,sex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</a:t>
            </a:r>
            <a:r>
              <a:rPr lang="en-US" altLang="zh-CN" sz="2400" smtClean="0"/>
              <a:t>age</a:t>
            </a:r>
            <a:r>
              <a:rPr lang="zh-CN" altLang="en-US" sz="2400" smtClean="0"/>
              <a:t>&gt;</a:t>
            </a:r>
            <a:r>
              <a:rPr lang="zh-CN" altLang="en-US" sz="2400"/>
              <a:t>=5 </a:t>
            </a:r>
            <a:r>
              <a:rPr lang="zh-CN" altLang="en-US" sz="2400">
                <a:solidFill>
                  <a:srgbClr val="0000FF"/>
                </a:solidFill>
              </a:rPr>
              <a:t>AND</a:t>
            </a:r>
            <a:r>
              <a:rPr lang="zh-CN" altLang="en-US" sz="2400"/>
              <a:t> age&lt;=30 </a:t>
            </a:r>
            <a:r>
              <a:rPr lang="zh-CN" altLang="en-US" sz="2400">
                <a:solidFill>
                  <a:srgbClr val="0000FF"/>
                </a:solidFill>
              </a:rPr>
              <a:t>AND</a:t>
            </a:r>
            <a:r>
              <a:rPr lang="zh-CN" altLang="en-US" sz="2400"/>
              <a:t> sex='男';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75" y="2492896"/>
            <a:ext cx="6449325" cy="284837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" y="2690495"/>
            <a:ext cx="8554085" cy="14770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2900" y="116840"/>
            <a:ext cx="78765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练习</a:t>
            </a:r>
            <a:r>
              <a:rPr lang="en-US" altLang="zh-CN" sz="2400"/>
              <a:t> </a:t>
            </a:r>
            <a:r>
              <a:rPr lang="zh-CN" altLang="en-US" sz="2400"/>
              <a:t>查询薪水范围在60000~10000并且性别为男 addr='北京'</a:t>
            </a:r>
          </a:p>
          <a:p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251460" y="1196975"/>
            <a:ext cx="80587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sym typeface="+mn-ea"/>
              </a:rPr>
              <a:t>SELECT</a:t>
            </a:r>
            <a:r>
              <a:rPr lang="zh-CN" altLang="en-US" sz="2400">
                <a:sym typeface="+mn-ea"/>
              </a:rPr>
              <a:t> id,username,age,sex,salary,addr </a:t>
            </a:r>
            <a:r>
              <a:rPr lang="zh-CN" altLang="en-US" sz="2400">
                <a:solidFill>
                  <a:srgbClr val="0000FF"/>
                </a:solidFill>
                <a:sym typeface="+mn-ea"/>
              </a:rPr>
              <a:t>FROM</a:t>
            </a:r>
            <a:r>
              <a:rPr lang="zh-CN" altLang="en-US" sz="2400">
                <a:sym typeface="+mn-ea"/>
              </a:rPr>
              <a:t> user</a:t>
            </a:r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  <a:sym typeface="+mn-ea"/>
              </a:rPr>
              <a:t>WHERE</a:t>
            </a:r>
            <a:r>
              <a:rPr lang="zh-CN" altLang="en-US" sz="2400">
                <a:sym typeface="+mn-ea"/>
              </a:rPr>
              <a:t> salary </a:t>
            </a:r>
            <a:r>
              <a:rPr lang="zh-CN" altLang="en-US" sz="2400">
                <a:solidFill>
                  <a:srgbClr val="0000FF"/>
                </a:solidFill>
                <a:sym typeface="+mn-ea"/>
              </a:rPr>
              <a:t>BETWEEN</a:t>
            </a:r>
            <a:r>
              <a:rPr lang="zh-CN" altLang="en-US" sz="2400">
                <a:sym typeface="+mn-ea"/>
              </a:rPr>
              <a:t> 60000 </a:t>
            </a:r>
            <a:r>
              <a:rPr lang="zh-CN" altLang="en-US" sz="2400">
                <a:solidFill>
                  <a:srgbClr val="0000FF"/>
                </a:solidFill>
                <a:sym typeface="+mn-ea"/>
              </a:rPr>
              <a:t>AND</a:t>
            </a:r>
            <a:r>
              <a:rPr lang="zh-CN" altLang="en-US" sz="2400">
                <a:sym typeface="+mn-ea"/>
              </a:rPr>
              <a:t> 100000</a:t>
            </a:r>
            <a:r>
              <a:rPr lang="zh-CN" altLang="en-US" sz="2400">
                <a:solidFill>
                  <a:srgbClr val="0000FF"/>
                </a:solidFill>
                <a:sym typeface="+mn-ea"/>
              </a:rPr>
              <a:t> AND </a:t>
            </a:r>
            <a:r>
              <a:rPr lang="zh-CN" altLang="en-US" sz="2400">
                <a:sym typeface="+mn-ea"/>
              </a:rPr>
              <a:t>sex='男' </a:t>
            </a:r>
            <a:r>
              <a:rPr lang="zh-CN" altLang="en-US" sz="2400">
                <a:solidFill>
                  <a:srgbClr val="0000FF"/>
                </a:solidFill>
                <a:sym typeface="+mn-ea"/>
              </a:rPr>
              <a:t>AND</a:t>
            </a:r>
            <a:r>
              <a:rPr lang="zh-CN" altLang="en-US" sz="2400">
                <a:sym typeface="+mn-ea"/>
              </a:rPr>
              <a:t> addr='北京';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2924810"/>
            <a:ext cx="5288280" cy="22713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71550" y="908685"/>
            <a:ext cx="711835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16 </a:t>
            </a:r>
            <a:r>
              <a:rPr lang="zh-CN" altLang="en-US" sz="2400"/>
              <a:t>查询id=1 或者 用户名为queen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id=1 </a:t>
            </a:r>
            <a:r>
              <a:rPr lang="zh-CN" altLang="en-US" sz="2400">
                <a:solidFill>
                  <a:srgbClr val="0000FF"/>
                </a:solidFill>
              </a:rPr>
              <a:t>OR</a:t>
            </a:r>
            <a:r>
              <a:rPr lang="zh-CN" altLang="en-US" sz="2400"/>
              <a:t> username='queen';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1761490"/>
            <a:ext cx="4900295" cy="18840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" y="4791710"/>
            <a:ext cx="5379720" cy="18491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5605" y="476885"/>
            <a:ext cx="73177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17 </a:t>
            </a:r>
            <a:r>
              <a:rPr lang="zh-CN" altLang="en-US" sz="2400"/>
              <a:t>测试模糊查询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  <a:r>
              <a:rPr lang="en-US" altLang="zh-CN" sz="2400"/>
              <a:t>  </a:t>
            </a:r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username='king';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39115" y="3789045"/>
            <a:ext cx="797115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>
                <a:solidFill>
                  <a:schemeClr val="tx1"/>
                </a:solidFill>
              </a:rPr>
              <a:t> id,username,age</a:t>
            </a:r>
            <a:r>
              <a:rPr lang="zh-CN" altLang="en-US" sz="2400">
                <a:solidFill>
                  <a:srgbClr val="0000FF"/>
                </a:solidFill>
              </a:rPr>
              <a:t> FROM </a:t>
            </a:r>
            <a:r>
              <a:rPr lang="zh-CN" altLang="en-US" sz="2400">
                <a:solidFill>
                  <a:schemeClr val="tx1"/>
                </a:solidFill>
              </a:rPr>
              <a:t>user</a:t>
            </a:r>
            <a:r>
              <a:rPr lang="en-US" altLang="zh-CN" sz="2400">
                <a:solidFill>
                  <a:srgbClr val="0000FF"/>
                </a:solidFill>
              </a:rPr>
              <a:t>   </a:t>
            </a:r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username </a:t>
            </a:r>
            <a:r>
              <a:rPr lang="zh-CN" altLang="en-US" sz="2400">
                <a:solidFill>
                  <a:srgbClr val="0000FF"/>
                </a:solidFill>
              </a:rPr>
              <a:t>LIKE</a:t>
            </a:r>
            <a:r>
              <a:rPr lang="zh-CN" altLang="en-US" sz="2400"/>
              <a:t> 'king';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2204720"/>
            <a:ext cx="8221345" cy="33528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1505" y="476885"/>
            <a:ext cx="731647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18 </a:t>
            </a:r>
            <a:r>
              <a:rPr lang="zh-CN" altLang="en-US" sz="2400"/>
              <a:t>要求用户名中包含三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id,username,age,sex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  <a:r>
              <a:rPr lang="en-US" altLang="zh-CN" sz="2400"/>
              <a:t>  </a:t>
            </a:r>
            <a:r>
              <a:rPr lang="zh-CN" altLang="en-US" sz="2400">
                <a:solidFill>
                  <a:srgbClr val="0000FF"/>
                </a:solidFill>
              </a:rPr>
              <a:t>WHERE </a:t>
            </a:r>
            <a:r>
              <a:rPr lang="zh-CN" altLang="en-US" sz="2400"/>
              <a:t>username </a:t>
            </a:r>
            <a:r>
              <a:rPr lang="zh-CN" altLang="en-US" sz="2400">
                <a:solidFill>
                  <a:srgbClr val="0000FF"/>
                </a:solidFill>
              </a:rPr>
              <a:t>LIKE</a:t>
            </a:r>
            <a:r>
              <a:rPr lang="zh-CN" altLang="en-US" sz="2400"/>
              <a:t> '%三%';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2277110"/>
            <a:ext cx="7861300" cy="30778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41350" y="476885"/>
            <a:ext cx="687260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19 </a:t>
            </a:r>
            <a:r>
              <a:rPr lang="zh-CN" altLang="en-US" sz="2400"/>
              <a:t>要求查询出姓张的用户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 </a:t>
            </a:r>
            <a:r>
              <a:rPr lang="zh-CN" altLang="en-US" sz="2400"/>
              <a:t>id,username,age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username </a:t>
            </a:r>
            <a:r>
              <a:rPr lang="zh-CN" altLang="en-US" sz="2400">
                <a:solidFill>
                  <a:srgbClr val="0000FF"/>
                </a:solidFill>
              </a:rPr>
              <a:t>LIKE</a:t>
            </a:r>
            <a:r>
              <a:rPr lang="zh-CN" altLang="en-US" sz="2400"/>
              <a:t> '张%';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" y="2493010"/>
            <a:ext cx="8084820" cy="30575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7360" y="476885"/>
            <a:ext cx="678434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20</a:t>
            </a:r>
            <a:r>
              <a:rPr lang="zh-CN" altLang="en-US" sz="2400"/>
              <a:t> 查询以风结尾的用户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 </a:t>
            </a:r>
            <a:r>
              <a:rPr lang="zh-CN" altLang="en-US" sz="2400"/>
              <a:t>id,username,age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username </a:t>
            </a:r>
            <a:r>
              <a:rPr lang="zh-CN" altLang="en-US" sz="2400">
                <a:solidFill>
                  <a:srgbClr val="0000FF"/>
                </a:solidFill>
              </a:rPr>
              <a:t>LIKE</a:t>
            </a:r>
            <a:r>
              <a:rPr lang="zh-CN" altLang="en-US" sz="2400"/>
              <a:t> '%风';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2348865"/>
            <a:ext cx="8136890" cy="30759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9750" y="332740"/>
            <a:ext cx="767270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21</a:t>
            </a:r>
            <a:r>
              <a:rPr lang="zh-CN" altLang="en-US" sz="2400"/>
              <a:t> 用户名长度为三位的用户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 </a:t>
            </a:r>
            <a:r>
              <a:rPr lang="zh-CN" altLang="en-US" sz="2400"/>
              <a:t>id,username,age,sex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username </a:t>
            </a:r>
            <a:r>
              <a:rPr lang="zh-CN" altLang="en-US" sz="2400">
                <a:solidFill>
                  <a:srgbClr val="0000FF"/>
                </a:solidFill>
              </a:rPr>
              <a:t>LIKE</a:t>
            </a:r>
            <a:r>
              <a:rPr lang="zh-CN" altLang="en-US" sz="2400"/>
              <a:t> '___';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85" y="2637155"/>
            <a:ext cx="7654925" cy="26625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3260" y="692785"/>
            <a:ext cx="695198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22</a:t>
            </a:r>
            <a:r>
              <a:rPr lang="zh-CN" altLang="en-US" sz="2400"/>
              <a:t> 用户名长度为二位，张姓的用户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id,username,age,sex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username </a:t>
            </a:r>
            <a:r>
              <a:rPr lang="zh-CN" altLang="en-US" sz="2400">
                <a:solidFill>
                  <a:srgbClr val="0000FF"/>
                </a:solidFill>
              </a:rPr>
              <a:t>LIKE</a:t>
            </a:r>
            <a:r>
              <a:rPr lang="zh-CN" altLang="en-US" sz="2400"/>
              <a:t> '张_';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70" y="2564765"/>
            <a:ext cx="8169910" cy="29622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7360" y="548640"/>
            <a:ext cx="735774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23</a:t>
            </a:r>
            <a:r>
              <a:rPr lang="zh-CN" altLang="en-US" sz="2400"/>
              <a:t> 用户名长度至少为二位，张姓的用户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 </a:t>
            </a:r>
            <a:r>
              <a:rPr lang="zh-CN" altLang="en-US" sz="2400">
                <a:solidFill>
                  <a:schemeClr val="tx1"/>
                </a:solidFill>
              </a:rPr>
              <a:t>id,username,age,sex</a:t>
            </a:r>
            <a:r>
              <a:rPr lang="zh-CN" altLang="en-US" sz="2400">
                <a:solidFill>
                  <a:srgbClr val="0000FF"/>
                </a:solidFill>
              </a:rPr>
              <a:t> FROM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WHERE</a:t>
            </a:r>
            <a:r>
              <a:rPr lang="zh-CN" altLang="en-US" sz="2400"/>
              <a:t> username </a:t>
            </a:r>
            <a:r>
              <a:rPr lang="zh-CN" altLang="en-US" sz="2400">
                <a:solidFill>
                  <a:srgbClr val="0000FF"/>
                </a:solidFill>
              </a:rPr>
              <a:t>LIKE</a:t>
            </a:r>
            <a:r>
              <a:rPr lang="zh-CN" altLang="en-US" sz="2400"/>
              <a:t> '张_%';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把值相同放到一个组中，最终查询出的结果只会显示组中一条记录。</a:t>
            </a:r>
            <a:endParaRPr lang="en-US" altLang="zh-CN" dirty="0" smtClean="0"/>
          </a:p>
          <a:p>
            <a:r>
              <a:rPr lang="zh-CN" altLang="en-US" dirty="0" smtClean="0"/>
              <a:t>分组配合</a:t>
            </a:r>
            <a:r>
              <a:rPr lang="en-US" altLang="zh-CN" dirty="0" smtClean="0"/>
              <a:t>GROUP_CONCAT()</a:t>
            </a:r>
            <a:r>
              <a:rPr lang="zh-CN" altLang="en-US" dirty="0" smtClean="0"/>
              <a:t>查看组中某个字段的详细信息</a:t>
            </a:r>
            <a:endParaRPr lang="en-US" altLang="zh-CN" dirty="0" smtClean="0"/>
          </a:p>
          <a:p>
            <a:r>
              <a:rPr lang="zh-CN" altLang="en-US" dirty="0" smtClean="0"/>
              <a:t>配合聚合函数使用</a:t>
            </a:r>
            <a:endParaRPr lang="en-US" altLang="zh-CN" dirty="0" smtClean="0"/>
          </a:p>
          <a:p>
            <a:r>
              <a:rPr lang="zh-CN" altLang="en-US" dirty="0" smtClean="0"/>
              <a:t>配合</a:t>
            </a:r>
            <a:r>
              <a:rPr lang="en-US" altLang="zh-CN" dirty="0" smtClean="0"/>
              <a:t>WITH ROLLUP</a:t>
            </a:r>
            <a:r>
              <a:rPr lang="zh-CN" altLang="en-US" dirty="0" smtClean="0"/>
              <a:t>关键使用</a:t>
            </a:r>
            <a:endParaRPr lang="en-US" altLang="zh-CN" dirty="0" smtClean="0"/>
          </a:p>
          <a:p>
            <a:r>
              <a:rPr lang="en-US" altLang="zh-CN" dirty="0" smtClean="0"/>
              <a:t>HAVING</a:t>
            </a:r>
            <a:r>
              <a:rPr lang="zh-CN" altLang="en-US" dirty="0" smtClean="0"/>
              <a:t>子句对分组结果进行二次筛选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三、</a:t>
            </a:r>
            <a:r>
              <a:rPr lang="en-US" altLang="zh-CN" dirty="0" smtClean="0"/>
              <a:t> GROUP BY </a:t>
            </a:r>
            <a:r>
              <a:rPr lang="zh-CN" altLang="en-US" dirty="0" smtClean="0"/>
              <a:t>分组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11505" y="404495"/>
            <a:ext cx="8122920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1</a:t>
            </a:r>
            <a:r>
              <a:rPr lang="zh-CN" altLang="en-US" sz="2400"/>
              <a:t>测试分组</a:t>
            </a:r>
          </a:p>
          <a:p>
            <a:r>
              <a:rPr lang="zh-CN" altLang="en-US" sz="2400"/>
              <a:t>-- 按照性别分组sex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id,username,age,sex</a:t>
            </a:r>
            <a:r>
              <a:rPr lang="zh-CN" altLang="en-US" sz="2400">
                <a:solidFill>
                  <a:srgbClr val="0000FF"/>
                </a:solidFill>
              </a:rPr>
              <a:t> 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GROUP BY</a:t>
            </a:r>
            <a:r>
              <a:rPr lang="zh-CN" altLang="en-US" sz="2400"/>
              <a:t> sex;</a:t>
            </a: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95" y="2061210"/>
            <a:ext cx="5839460" cy="188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95605" y="476885"/>
            <a:ext cx="74815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ym typeface="+mn-ea"/>
              </a:rPr>
              <a:t>例</a:t>
            </a:r>
            <a:r>
              <a:rPr lang="en-US" altLang="zh-CN" sz="2400">
                <a:sym typeface="+mn-ea"/>
              </a:rPr>
              <a:t>2</a:t>
            </a:r>
            <a:r>
              <a:rPr lang="zh-CN" altLang="en-US" sz="2400">
                <a:sym typeface="+mn-ea"/>
              </a:rPr>
              <a:t> 按照addr分组</a:t>
            </a:r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  <a:sym typeface="+mn-ea"/>
              </a:rPr>
              <a:t>SELECT</a:t>
            </a:r>
            <a:r>
              <a:rPr lang="zh-CN" altLang="en-US" sz="2400">
                <a:sym typeface="+mn-ea"/>
              </a:rPr>
              <a:t> username,age,sex,addr </a:t>
            </a:r>
            <a:r>
              <a:rPr lang="zh-CN" altLang="en-US" sz="2400">
                <a:solidFill>
                  <a:srgbClr val="0000FF"/>
                </a:solidFill>
                <a:sym typeface="+mn-ea"/>
              </a:rPr>
              <a:t>FROM</a:t>
            </a:r>
            <a:r>
              <a:rPr lang="zh-CN" altLang="en-US" sz="2400">
                <a:sym typeface="+mn-ea"/>
              </a:rPr>
              <a:t> user</a:t>
            </a:r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  <a:sym typeface="+mn-ea"/>
              </a:rPr>
              <a:t>GROUP BY</a:t>
            </a:r>
            <a:r>
              <a:rPr lang="zh-CN" altLang="en-US" sz="2400">
                <a:sym typeface="+mn-ea"/>
              </a:rPr>
              <a:t> addr;</a:t>
            </a:r>
            <a:endParaRPr lang="zh-CN" altLang="en-US" sz="24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rcRect l="3084"/>
          <a:stretch>
            <a:fillRect/>
          </a:stretch>
        </p:blipFill>
        <p:spPr>
          <a:xfrm>
            <a:off x="1110615" y="2204720"/>
            <a:ext cx="6645275" cy="2346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 smtClean="0"/>
              <a:t>分组配合</a:t>
            </a:r>
            <a:r>
              <a:rPr lang="en-US" altLang="zh-CN" sz="2400" dirty="0" smtClean="0"/>
              <a:t>GROUP_CONCAT()</a:t>
            </a:r>
            <a:r>
              <a:rPr lang="zh-CN" altLang="en-US" sz="2400" dirty="0" smtClean="0"/>
              <a:t>查看组中某个字段的</a:t>
            </a:r>
            <a:r>
              <a:rPr lang="zh-CN" altLang="en-US" dirty="0" smtClean="0"/>
              <a:t>详细信息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4.3.1 GROUP_CONCAT()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9115" y="476885"/>
            <a:ext cx="81432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3 </a:t>
            </a:r>
            <a:r>
              <a:rPr lang="zh-CN" altLang="en-US" sz="2400"/>
              <a:t>按照性别分组，查询组中的用户名有哪些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</a:t>
            </a:r>
            <a:r>
              <a:rPr lang="zh-CN" altLang="en-US" sz="2400">
                <a:solidFill>
                  <a:srgbClr val="0000FF"/>
                </a:solidFill>
              </a:rPr>
              <a:t>GROUP_CONCAT</a:t>
            </a:r>
            <a:r>
              <a:rPr lang="zh-CN" altLang="en-US" sz="2400"/>
              <a:t>(username)</a:t>
            </a:r>
            <a:r>
              <a:rPr lang="en-US" altLang="zh-CN" sz="2400"/>
              <a:t> ,</a:t>
            </a:r>
            <a:r>
              <a:rPr lang="zh-CN" altLang="en-US" sz="2400"/>
              <a:t>addr </a:t>
            </a:r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GROUP BY</a:t>
            </a:r>
            <a:r>
              <a:rPr lang="zh-CN" altLang="en-US" sz="2400"/>
              <a:t> sex;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70" y="1988820"/>
            <a:ext cx="8559165" cy="1962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4970" y="1268730"/>
            <a:ext cx="87064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SELECT </a:t>
            </a:r>
            <a:r>
              <a:rPr lang="en-US" altLang="zh-CN" sz="2400">
                <a:solidFill>
                  <a:schemeClr val="tx1"/>
                </a:solidFill>
              </a:rPr>
              <a:t>username</a:t>
            </a:r>
            <a:r>
              <a:rPr lang="zh-CN" altLang="en-US" sz="2400"/>
              <a:t>,age,sex,</a:t>
            </a:r>
            <a:r>
              <a:rPr lang="zh-CN" altLang="en-US" sz="2400">
                <a:solidFill>
                  <a:srgbClr val="0000FF"/>
                </a:solidFill>
              </a:rPr>
              <a:t>GROUP_CONCAT</a:t>
            </a:r>
            <a:r>
              <a:rPr lang="zh-CN" altLang="en-US" sz="2400"/>
              <a:t>(addr) 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GROUP BY</a:t>
            </a:r>
            <a:r>
              <a:rPr lang="zh-CN" altLang="en-US" sz="2400"/>
              <a:t> sex;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5650" y="764540"/>
            <a:ext cx="607060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>
                <a:sym typeface="+mn-ea"/>
              </a:rPr>
              <a:t>练习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按照性别分组，查询组中的地址有哪些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2708910"/>
            <a:ext cx="8444230" cy="22472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dirty="0" smtClean="0"/>
              <a:t>COUNT()--</a:t>
            </a:r>
            <a:r>
              <a:rPr lang="zh-CN" altLang="en-US" dirty="0" smtClean="0"/>
              <a:t>统计记录总数</a:t>
            </a:r>
          </a:p>
          <a:p>
            <a:pPr marL="624205" indent="-514350">
              <a:buFont typeface="+mj-lt"/>
              <a:buAutoNum type="arabicPeriod"/>
            </a:pPr>
            <a:r>
              <a:rPr lang="zh-CN" altLang="en-US" sz="1800" dirty="0" smtClean="0"/>
              <a:t>   </a:t>
            </a:r>
            <a:r>
              <a:rPr lang="en-US" altLang="zh-CN" sz="1800" dirty="0" smtClean="0"/>
              <a:t>COUNT</a:t>
            </a:r>
            <a:r>
              <a:rPr lang="en-US" altLang="zh-CN" sz="1800" dirty="0"/>
              <a:t>(*)</a:t>
            </a:r>
            <a:r>
              <a:rPr lang="zh-CN" altLang="en-US" sz="1800" dirty="0"/>
              <a:t>会统计</a:t>
            </a:r>
            <a:r>
              <a:rPr lang="en-US" altLang="zh-CN" sz="1800" dirty="0"/>
              <a:t>NULL</a:t>
            </a:r>
            <a:r>
              <a:rPr lang="zh-CN" altLang="en-US" sz="1800" dirty="0"/>
              <a:t>值</a:t>
            </a:r>
            <a:endParaRPr lang="en-US" altLang="zh-CN" sz="1800" dirty="0"/>
          </a:p>
          <a:p>
            <a:pPr marL="624205" indent="-514350">
              <a:buFont typeface="+mj-lt"/>
              <a:buAutoNum type="arabicPeriod"/>
            </a:pPr>
            <a:r>
              <a:rPr lang="zh-CN" altLang="en-US" sz="1800" dirty="0" smtClean="0"/>
              <a:t>   如果写的是</a:t>
            </a:r>
            <a:r>
              <a:rPr lang="en-US" altLang="zh-CN" sz="1800" dirty="0" smtClean="0"/>
              <a:t>COUNT(</a:t>
            </a:r>
            <a:r>
              <a:rPr lang="zh-CN" altLang="en-US" sz="1800" dirty="0" smtClean="0"/>
              <a:t>字段名称</a:t>
            </a:r>
            <a:r>
              <a:rPr lang="en-US" altLang="zh-CN" sz="1800" dirty="0" smtClean="0"/>
              <a:t>)</a:t>
            </a:r>
            <a:r>
              <a:rPr lang="zh-CN" altLang="en-US" sz="1800" dirty="0" smtClean="0"/>
              <a:t>，字段中的值为</a:t>
            </a:r>
            <a:r>
              <a:rPr lang="en-US" altLang="zh-CN" sz="1800" dirty="0" smtClean="0"/>
              <a:t>NULL</a:t>
            </a:r>
            <a:r>
              <a:rPr lang="zh-CN" altLang="en-US" sz="1800" dirty="0" smtClean="0"/>
              <a:t>，不统计进来</a:t>
            </a:r>
            <a:endParaRPr lang="en-US" altLang="zh-CN" sz="1800" dirty="0" smtClean="0"/>
          </a:p>
          <a:p>
            <a:pPr marL="624205" indent="-514350">
              <a:buFont typeface="+mj-lt"/>
              <a:buAutoNum type="arabicPeriod"/>
            </a:pPr>
            <a:r>
              <a:rPr lang="zh-CN" altLang="en-US" sz="1800" dirty="0" smtClean="0"/>
              <a:t>   如果</a:t>
            </a:r>
            <a:r>
              <a:rPr lang="zh-CN" altLang="en-US" sz="1800" dirty="0"/>
              <a:t>写的是</a:t>
            </a:r>
            <a:r>
              <a:rPr lang="en-US" altLang="zh-CN" sz="1800" dirty="0" smtClean="0"/>
              <a:t>COUNT(DISTINCT </a:t>
            </a:r>
            <a:r>
              <a:rPr lang="zh-CN" altLang="en-US" sz="1800" dirty="0" smtClean="0"/>
              <a:t>字段</a:t>
            </a:r>
            <a:r>
              <a:rPr lang="zh-CN" altLang="en-US" sz="1800" dirty="0"/>
              <a:t>名称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zh-CN" altLang="en-US" sz="1800" dirty="0" smtClean="0"/>
              <a:t>字段</a:t>
            </a:r>
            <a:r>
              <a:rPr lang="zh-CN" altLang="en-US" sz="1800" dirty="0"/>
              <a:t>去</a:t>
            </a:r>
            <a:r>
              <a:rPr lang="zh-CN" altLang="en-US" sz="1800" dirty="0" smtClean="0"/>
              <a:t>重后，统计进来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dirty="0" smtClean="0"/>
              <a:t>SUM()--</a:t>
            </a:r>
            <a:r>
              <a:rPr lang="zh-CN" altLang="en-US" dirty="0" smtClean="0"/>
              <a:t>求和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dirty="0" smtClean="0"/>
              <a:t>MAX()--</a:t>
            </a:r>
            <a:r>
              <a:rPr lang="zh-CN" altLang="en-US" dirty="0" smtClean="0"/>
              <a:t>求最大值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dirty="0" smtClean="0"/>
              <a:t>MIN()--</a:t>
            </a:r>
            <a:r>
              <a:rPr lang="zh-CN" altLang="en-US" dirty="0" smtClean="0"/>
              <a:t>求最小值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dirty="0" smtClean="0"/>
              <a:t>AVG()--</a:t>
            </a:r>
            <a:r>
              <a:rPr lang="zh-CN" altLang="en-US" dirty="0" smtClean="0"/>
              <a:t>求平均值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四、</a:t>
            </a:r>
            <a:r>
              <a:rPr lang="en-US" altLang="zh-CN" dirty="0" smtClean="0"/>
              <a:t> </a:t>
            </a:r>
            <a:r>
              <a:rPr lang="zh-CN" altLang="en-US" dirty="0" smtClean="0"/>
              <a:t>配合聚合函数使用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43305" y="260985"/>
            <a:ext cx="670877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4 </a:t>
            </a:r>
            <a:r>
              <a:rPr lang="zh-CN" altLang="en-US" sz="2400"/>
              <a:t>测试COUNT()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SELECT COUNT(</a:t>
            </a:r>
            <a:r>
              <a:rPr lang="zh-CN" altLang="en-US" sz="2400">
                <a:solidFill>
                  <a:schemeClr val="tx1"/>
                </a:solidFill>
              </a:rPr>
              <a:t>*</a:t>
            </a:r>
            <a:r>
              <a:rPr lang="zh-CN" altLang="en-US" sz="2400">
                <a:solidFill>
                  <a:srgbClr val="0000FF"/>
                </a:solidFill>
              </a:rPr>
              <a:t>) FROM</a:t>
            </a:r>
            <a:r>
              <a:rPr lang="zh-CN" altLang="en-US" sz="2400"/>
              <a:t> user;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 COUNT(</a:t>
            </a:r>
            <a:r>
              <a:rPr lang="zh-CN" altLang="en-US" sz="2400">
                <a:solidFill>
                  <a:schemeClr val="tx1"/>
                </a:solidFill>
              </a:rPr>
              <a:t>id</a:t>
            </a:r>
            <a:r>
              <a:rPr lang="zh-CN" altLang="en-US" sz="2400">
                <a:solidFill>
                  <a:srgbClr val="0000FF"/>
                </a:solidFill>
              </a:rPr>
              <a:t>) FROM</a:t>
            </a:r>
            <a:r>
              <a:rPr lang="zh-CN" altLang="en-US" sz="2400"/>
              <a:t> user;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" y="2061210"/>
            <a:ext cx="7477760" cy="3849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99160" y="548640"/>
            <a:ext cx="697992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5 </a:t>
            </a:r>
            <a:r>
              <a:rPr lang="zh-CN" altLang="en-US" sz="2400"/>
              <a:t>按照sex分组，得到用户名详情，并且分别组中的总人数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sex,</a:t>
            </a:r>
            <a:r>
              <a:rPr lang="zh-CN" altLang="en-US" sz="2400">
                <a:solidFill>
                  <a:srgbClr val="0000FF"/>
                </a:solidFill>
              </a:rPr>
              <a:t>GROUP_CONCAT</a:t>
            </a:r>
            <a:r>
              <a:rPr lang="zh-CN" altLang="en-US" sz="2400"/>
              <a:t>(username) </a:t>
            </a:r>
            <a:r>
              <a:rPr lang="zh-CN" altLang="en-US" sz="2400">
                <a:solidFill>
                  <a:srgbClr val="0000FF"/>
                </a:solidFill>
              </a:rPr>
              <a:t>AS </a:t>
            </a:r>
            <a:r>
              <a:rPr lang="zh-CN" altLang="en-US" sz="2400"/>
              <a:t>usersDetail,</a:t>
            </a:r>
            <a:r>
              <a:rPr lang="zh-CN" altLang="en-US" sz="2400">
                <a:solidFill>
                  <a:srgbClr val="0000FF"/>
                </a:solidFill>
              </a:rPr>
              <a:t>COUNT</a:t>
            </a:r>
            <a:r>
              <a:rPr lang="zh-CN" altLang="en-US" sz="2400"/>
              <a:t>(*) </a:t>
            </a:r>
            <a:r>
              <a:rPr lang="zh-CN" altLang="en-US" sz="2400">
                <a:solidFill>
                  <a:srgbClr val="0000FF"/>
                </a:solidFill>
              </a:rPr>
              <a:t>AS</a:t>
            </a:r>
            <a:r>
              <a:rPr lang="zh-CN" altLang="en-US" sz="2400"/>
              <a:t> totalUsers 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GROUP BY</a:t>
            </a:r>
            <a:r>
              <a:rPr lang="zh-CN" altLang="en-US" sz="2400"/>
              <a:t> sex;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3573145"/>
            <a:ext cx="8687435" cy="2031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605" y="476885"/>
            <a:ext cx="767270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</a:t>
            </a:r>
            <a:r>
              <a:rPr lang="en-US" altLang="zh-CN" sz="2000"/>
              <a:t>6</a:t>
            </a:r>
            <a:r>
              <a:rPr lang="zh-CN" altLang="en-US" sz="2000"/>
              <a:t> 按照addr分组，得到用户名的详情，总人数，得到组中年龄的总和，年龄的最大值、最小值、平均值</a:t>
            </a:r>
          </a:p>
          <a:p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SELECT</a:t>
            </a:r>
            <a:r>
              <a:rPr lang="zh-CN" altLang="en-US" sz="2000"/>
              <a:t> addr,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GROUP_CONCAT</a:t>
            </a:r>
            <a:r>
              <a:rPr lang="zh-CN" altLang="en-US" sz="2000"/>
              <a:t>(username)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usersDetail,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COUNT(*) AS</a:t>
            </a:r>
            <a:r>
              <a:rPr lang="zh-CN" altLang="en-US" sz="2000"/>
              <a:t> totalUsers,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SUM</a:t>
            </a:r>
            <a:r>
              <a:rPr lang="zh-CN" altLang="en-US" sz="2000"/>
              <a:t>(age)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sum_age,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MAX</a:t>
            </a:r>
            <a:r>
              <a:rPr lang="zh-CN" altLang="en-US" sz="2000"/>
              <a:t>(age)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max_age,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MIN</a:t>
            </a:r>
            <a:r>
              <a:rPr lang="zh-CN" altLang="en-US" sz="2000"/>
              <a:t>(age)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min_age,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AVG</a:t>
            </a:r>
            <a:r>
              <a:rPr lang="zh-CN" altLang="en-US" sz="2000"/>
              <a:t>(age)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avg_age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 </a:t>
            </a:r>
            <a:r>
              <a:rPr lang="zh-CN" altLang="en-US" sz="2000"/>
              <a:t>user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 BY</a:t>
            </a:r>
            <a:r>
              <a:rPr lang="zh-CN" altLang="en-US" sz="2000"/>
              <a:t> addr;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15" y="4364990"/>
            <a:ext cx="8689340" cy="1336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26440" y="936625"/>
            <a:ext cx="76600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练习 按照sex分组，统计组中总人数、用户名详情，得到薪水总和，薪水最大值、最小值、平均值</a:t>
            </a:r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5650" y="1918970"/>
            <a:ext cx="773684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sym typeface="+mn-ea"/>
              </a:rPr>
              <a:t>SELECT</a:t>
            </a:r>
            <a:r>
              <a:rPr lang="zh-CN" altLang="en-US">
                <a:sym typeface="+mn-ea"/>
              </a:rPr>
              <a:t> sex,</a:t>
            </a:r>
            <a:endParaRPr lang="zh-CN" altLang="en-US"/>
          </a:p>
          <a:p>
            <a:r>
              <a:rPr lang="zh-CN" altLang="en-US">
                <a:solidFill>
                  <a:srgbClr val="0000FF"/>
                </a:solidFill>
                <a:sym typeface="+mn-ea"/>
              </a:rPr>
              <a:t>GROUP_CONCAT</a:t>
            </a:r>
            <a:r>
              <a:rPr lang="zh-CN" altLang="en-US">
                <a:sym typeface="+mn-ea"/>
              </a:rPr>
              <a:t>(username)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 AS</a:t>
            </a:r>
            <a:r>
              <a:rPr lang="zh-CN" altLang="en-US">
                <a:sym typeface="+mn-ea"/>
              </a:rPr>
              <a:t> usersDetail,</a:t>
            </a:r>
            <a:endParaRPr lang="zh-CN" altLang="en-US"/>
          </a:p>
          <a:p>
            <a:r>
              <a:rPr lang="zh-CN" altLang="en-US">
                <a:solidFill>
                  <a:srgbClr val="0000FF"/>
                </a:solidFill>
                <a:sym typeface="+mn-ea"/>
              </a:rPr>
              <a:t>COUNT(*)</a:t>
            </a:r>
            <a:r>
              <a:rPr lang="zh-CN" altLang="en-US">
                <a:sym typeface="+mn-ea"/>
              </a:rPr>
              <a:t> 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AS </a:t>
            </a:r>
            <a:r>
              <a:rPr lang="zh-CN" altLang="en-US">
                <a:sym typeface="+mn-ea"/>
              </a:rPr>
              <a:t>totalUsers,</a:t>
            </a:r>
            <a:endParaRPr lang="zh-CN" altLang="en-US"/>
          </a:p>
          <a:p>
            <a:r>
              <a:rPr lang="zh-CN" altLang="en-US">
                <a:solidFill>
                  <a:srgbClr val="0000FF"/>
                </a:solidFill>
                <a:sym typeface="+mn-ea"/>
              </a:rPr>
              <a:t>SUM</a:t>
            </a:r>
            <a:r>
              <a:rPr lang="zh-CN" altLang="en-US">
                <a:sym typeface="+mn-ea"/>
              </a:rPr>
              <a:t>(salary)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 AS</a:t>
            </a:r>
            <a:r>
              <a:rPr lang="zh-CN" altLang="en-US">
                <a:sym typeface="+mn-ea"/>
              </a:rPr>
              <a:t> sum_salary,</a:t>
            </a:r>
            <a:endParaRPr lang="zh-CN" altLang="en-US"/>
          </a:p>
          <a:p>
            <a:r>
              <a:rPr lang="zh-CN" altLang="en-US">
                <a:solidFill>
                  <a:srgbClr val="0000FF"/>
                </a:solidFill>
                <a:sym typeface="+mn-ea"/>
              </a:rPr>
              <a:t>MAX</a:t>
            </a:r>
            <a:r>
              <a:rPr lang="zh-CN" altLang="en-US">
                <a:sym typeface="+mn-ea"/>
              </a:rPr>
              <a:t>(salary) 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AS</a:t>
            </a:r>
            <a:r>
              <a:rPr lang="zh-CN" altLang="en-US">
                <a:sym typeface="+mn-ea"/>
              </a:rPr>
              <a:t> max_salary,</a:t>
            </a:r>
            <a:endParaRPr lang="zh-CN" altLang="en-US"/>
          </a:p>
          <a:p>
            <a:r>
              <a:rPr lang="zh-CN" altLang="en-US">
                <a:solidFill>
                  <a:srgbClr val="0000FF"/>
                </a:solidFill>
                <a:sym typeface="+mn-ea"/>
              </a:rPr>
              <a:t>MIN</a:t>
            </a:r>
            <a:r>
              <a:rPr lang="zh-CN" altLang="en-US">
                <a:sym typeface="+mn-ea"/>
              </a:rPr>
              <a:t>(salary) 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AS</a:t>
            </a:r>
            <a:r>
              <a:rPr lang="zh-CN" altLang="en-US">
                <a:sym typeface="+mn-ea"/>
              </a:rPr>
              <a:t> min_salary,</a:t>
            </a:r>
            <a:endParaRPr lang="zh-CN" altLang="en-US"/>
          </a:p>
          <a:p>
            <a:r>
              <a:rPr lang="zh-CN" altLang="en-US">
                <a:solidFill>
                  <a:srgbClr val="0000FF"/>
                </a:solidFill>
                <a:sym typeface="+mn-ea"/>
              </a:rPr>
              <a:t>AVG</a:t>
            </a:r>
            <a:r>
              <a:rPr lang="zh-CN" altLang="en-US">
                <a:sym typeface="+mn-ea"/>
              </a:rPr>
              <a:t>(salary) </a:t>
            </a:r>
            <a:r>
              <a:rPr lang="zh-CN" altLang="en-US">
                <a:solidFill>
                  <a:srgbClr val="0000FF"/>
                </a:solidFill>
                <a:sym typeface="+mn-ea"/>
              </a:rPr>
              <a:t>AS</a:t>
            </a:r>
            <a:r>
              <a:rPr lang="zh-CN" altLang="en-US">
                <a:sym typeface="+mn-ea"/>
              </a:rPr>
              <a:t> avg_salary</a:t>
            </a:r>
            <a:endParaRPr lang="zh-CN" altLang="en-US"/>
          </a:p>
          <a:p>
            <a:r>
              <a:rPr lang="zh-CN" altLang="en-US">
                <a:solidFill>
                  <a:srgbClr val="0000FF"/>
                </a:solidFill>
                <a:sym typeface="+mn-ea"/>
              </a:rPr>
              <a:t>FROM</a:t>
            </a:r>
            <a:r>
              <a:rPr lang="zh-CN" altLang="en-US">
                <a:sym typeface="+mn-ea"/>
              </a:rPr>
              <a:t> user</a:t>
            </a:r>
            <a:endParaRPr lang="zh-CN" altLang="en-US"/>
          </a:p>
          <a:p>
            <a:r>
              <a:rPr lang="zh-CN" altLang="en-US">
                <a:solidFill>
                  <a:srgbClr val="0000FF"/>
                </a:solidFill>
                <a:sym typeface="+mn-ea"/>
              </a:rPr>
              <a:t>GROUP BY</a:t>
            </a:r>
            <a:r>
              <a:rPr lang="zh-CN" altLang="en-US">
                <a:sym typeface="+mn-ea"/>
              </a:rPr>
              <a:t> sex;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" y="4869180"/>
            <a:ext cx="8916670" cy="887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配合</a:t>
            </a:r>
            <a:r>
              <a:rPr lang="en-US" altLang="zh-CN" dirty="0" smtClean="0"/>
              <a:t>WITH ROLLUP</a:t>
            </a:r>
            <a:r>
              <a:rPr lang="zh-CN" altLang="en-US" dirty="0" smtClean="0"/>
              <a:t>关键使用</a:t>
            </a:r>
          </a:p>
          <a:p>
            <a:pPr>
              <a:buNone/>
            </a:pPr>
            <a:r>
              <a:rPr lang="en-US" altLang="zh-CN" dirty="0" smtClean="0"/>
              <a:t>   --</a:t>
            </a:r>
            <a:r>
              <a:rPr lang="zh-CN" altLang="en-US" dirty="0" smtClean="0"/>
              <a:t>会在记录末尾添加一条记录，是上面所有记录的总和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五、 </a:t>
            </a:r>
            <a:r>
              <a:rPr lang="en-US" altLang="zh-CN" dirty="0" smtClean="0"/>
              <a:t>WITH ROLLUP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55650" y="908685"/>
            <a:ext cx="767461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例</a:t>
            </a:r>
            <a:r>
              <a:rPr lang="en-US" altLang="zh-CN" sz="2000">
                <a:solidFill>
                  <a:schemeClr val="tx1"/>
                </a:solidFill>
              </a:rPr>
              <a:t>7</a:t>
            </a:r>
            <a:r>
              <a:rPr lang="en-US" altLang="zh-CN" sz="2000">
                <a:solidFill>
                  <a:srgbClr val="0000FF"/>
                </a:solidFill>
              </a:rPr>
              <a:t>  </a:t>
            </a:r>
            <a:r>
              <a:rPr lang="zh-CN" altLang="en-US" sz="2000">
                <a:sym typeface="+mn-ea"/>
              </a:rPr>
              <a:t>按照性别分组，查询组中的用户名有哪些，各组人数多少，并在末尾统计总和</a:t>
            </a:r>
          </a:p>
          <a:p>
            <a:endParaRPr lang="en-US" altLang="zh-CN" sz="2000">
              <a:solidFill>
                <a:srgbClr val="0000FF"/>
              </a:solidFill>
            </a:endParaRPr>
          </a:p>
          <a:p>
            <a:r>
              <a:rPr lang="zh-CN" altLang="en-US" sz="2000">
                <a:solidFill>
                  <a:srgbClr val="0000FF"/>
                </a:solidFill>
              </a:rPr>
              <a:t>SELECT GROUP_CONCAT</a:t>
            </a:r>
            <a:r>
              <a:rPr lang="zh-CN" altLang="en-US" sz="2000"/>
              <a:t>(username)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usersDetail,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COUNT</a:t>
            </a:r>
            <a:r>
              <a:rPr lang="zh-CN" altLang="en-US" sz="2000"/>
              <a:t>(*)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totalUsers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user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 BY</a:t>
            </a:r>
            <a:r>
              <a:rPr lang="zh-CN" altLang="en-US" sz="2000"/>
              <a:t> sex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WITH ROLLUP</a:t>
            </a:r>
            <a:r>
              <a:rPr lang="zh-CN" altLang="en-US" sz="2000"/>
              <a:t>;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70" y="3644900"/>
            <a:ext cx="8656955" cy="1075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HAVING</a:t>
            </a:r>
            <a:r>
              <a:rPr lang="zh-CN" altLang="en-US" dirty="0" smtClean="0"/>
              <a:t>子句对分组结果进行二次筛选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六、</a:t>
            </a:r>
            <a:r>
              <a:rPr lang="en-US" altLang="zh-CN" dirty="0" smtClean="0"/>
              <a:t> HAVING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33425" y="764540"/>
            <a:ext cx="742696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例</a:t>
            </a:r>
            <a:r>
              <a:rPr lang="en-US" altLang="zh-CN" sz="2000">
                <a:solidFill>
                  <a:schemeClr val="tx1"/>
                </a:solidFill>
              </a:rPr>
              <a:t>8-1 </a:t>
            </a:r>
            <a:r>
              <a:rPr lang="zh-CN" altLang="en-US" sz="2000">
                <a:solidFill>
                  <a:schemeClr val="tx1"/>
                </a:solidFill>
              </a:rPr>
              <a:t>按照addr分组，统计总人数</a:t>
            </a:r>
          </a:p>
          <a:p>
            <a:endParaRPr lang="zh-CN" altLang="en-US" sz="2000">
              <a:solidFill>
                <a:schemeClr val="tx1"/>
              </a:solidFill>
            </a:endParaRPr>
          </a:p>
          <a:p>
            <a:r>
              <a:rPr lang="zh-CN" altLang="en-US" sz="2000">
                <a:solidFill>
                  <a:srgbClr val="0000FF"/>
                </a:solidFill>
              </a:rPr>
              <a:t>SELECT </a:t>
            </a:r>
            <a:r>
              <a:rPr lang="zh-CN" altLang="en-US" sz="2000"/>
              <a:t>addr,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GROUP_CONCAT</a:t>
            </a:r>
            <a:r>
              <a:rPr lang="zh-CN" altLang="en-US" sz="2000"/>
              <a:t>(username)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usersDetail,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COUNT</a:t>
            </a:r>
            <a:r>
              <a:rPr lang="zh-CN" altLang="en-US" sz="2000"/>
              <a:t>(*) </a:t>
            </a:r>
            <a:r>
              <a:rPr lang="en-US" altLang="zh-CN" sz="2000"/>
              <a:t>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totalUsers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user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 BY</a:t>
            </a:r>
            <a:r>
              <a:rPr lang="zh-CN" altLang="en-US" sz="2000"/>
              <a:t> addr;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05" y="3573016"/>
            <a:ext cx="6761454" cy="1730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3260" y="548640"/>
            <a:ext cx="719645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</a:t>
            </a:r>
            <a:r>
              <a:rPr lang="en-US" altLang="zh-CN" sz="2000"/>
              <a:t>8-2</a:t>
            </a:r>
            <a:r>
              <a:rPr lang="zh-CN" altLang="en-US" sz="2000"/>
              <a:t> 对于例</a:t>
            </a:r>
            <a:r>
              <a:rPr lang="en-US" altLang="zh-CN" sz="2000"/>
              <a:t>8-1</a:t>
            </a:r>
            <a:r>
              <a:rPr lang="zh-CN" altLang="en-US" sz="2000"/>
              <a:t>分组结果进行二次筛选，条件是组中总人数&gt;=3</a:t>
            </a:r>
          </a:p>
          <a:p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SELECT</a:t>
            </a:r>
            <a:r>
              <a:rPr lang="zh-CN" altLang="en-US" sz="2000"/>
              <a:t> addr,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GROUP_CONCAT</a:t>
            </a:r>
            <a:r>
              <a:rPr lang="zh-CN" altLang="en-US" sz="2000"/>
              <a:t>(username) AS usersDetail,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COUNT</a:t>
            </a:r>
            <a:r>
              <a:rPr lang="zh-CN" altLang="en-US" sz="2000"/>
              <a:t>(*)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totalUsers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user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 BY</a:t>
            </a:r>
            <a:r>
              <a:rPr lang="zh-CN" altLang="en-US" sz="2000"/>
              <a:t> addr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HAVING</a:t>
            </a:r>
            <a:r>
              <a:rPr lang="zh-CN" altLang="en-US" sz="2000"/>
              <a:t> </a:t>
            </a:r>
            <a:r>
              <a:rPr lang="zh-CN" altLang="en-US" sz="2000">
                <a:solidFill>
                  <a:srgbClr val="0000FF"/>
                </a:solidFill>
              </a:rPr>
              <a:t>COUNT</a:t>
            </a:r>
            <a:r>
              <a:rPr lang="zh-CN" altLang="en-US" sz="2000"/>
              <a:t>(*)&gt;=3（</a:t>
            </a:r>
            <a:r>
              <a:rPr lang="zh-CN" altLang="en-US" sz="2000">
                <a:solidFill>
                  <a:srgbClr val="0000FF"/>
                </a:solidFill>
              </a:rPr>
              <a:t>HAVING</a:t>
            </a:r>
            <a:r>
              <a:rPr lang="zh-CN" altLang="en-US" sz="2000"/>
              <a:t> totalUsers&gt;=3）;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" y="3573145"/>
            <a:ext cx="8992870" cy="1712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621030"/>
            <a:ext cx="724154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</a:t>
            </a:r>
            <a:r>
              <a:rPr lang="en-US" altLang="zh-CN" sz="2000"/>
              <a:t>9-1 </a:t>
            </a:r>
            <a:r>
              <a:rPr lang="zh-CN" altLang="en-US" sz="2000"/>
              <a:t>按照addr分组，统计各组人数，薪水总和，最大值，最小值，平均值</a:t>
            </a:r>
          </a:p>
          <a:p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SELECT</a:t>
            </a:r>
            <a:r>
              <a:rPr lang="zh-CN" altLang="en-US" sz="2000"/>
              <a:t> addr,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GROUP_CONCAT</a:t>
            </a:r>
            <a:r>
              <a:rPr lang="zh-CN" altLang="en-US" sz="2000"/>
              <a:t>(username)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usersDetail,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COUNT</a:t>
            </a:r>
            <a:r>
              <a:rPr lang="zh-CN" altLang="en-US" sz="2000"/>
              <a:t>(*)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totalUsers,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SUM</a:t>
            </a:r>
            <a:r>
              <a:rPr lang="zh-CN" altLang="en-US" sz="2000"/>
              <a:t>(salary)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sum_salary,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MAX</a:t>
            </a:r>
            <a:r>
              <a:rPr lang="zh-CN" altLang="en-US" sz="2000"/>
              <a:t>(salary)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max_salary,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MIN</a:t>
            </a:r>
            <a:r>
              <a:rPr lang="zh-CN" altLang="en-US" sz="2000"/>
              <a:t>(salary)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min_salary,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AVG</a:t>
            </a:r>
            <a:r>
              <a:rPr lang="zh-CN" altLang="en-US" sz="2000"/>
              <a:t>(salary)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avg_salary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user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 BY</a:t>
            </a:r>
            <a:r>
              <a:rPr lang="zh-CN" altLang="en-US" sz="2000"/>
              <a:t> addr;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35" y="4364990"/>
            <a:ext cx="8794115" cy="1355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63295" y="771525"/>
            <a:ext cx="689229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</a:t>
            </a:r>
            <a:r>
              <a:rPr lang="en-US" altLang="zh-CN" sz="2000"/>
              <a:t>9-2</a:t>
            </a:r>
            <a:r>
              <a:rPr lang="zh-CN" altLang="en-US" sz="2000"/>
              <a:t> 对</a:t>
            </a:r>
            <a:r>
              <a:rPr lang="en-US" altLang="zh-CN" sz="2000"/>
              <a:t>9-1</a:t>
            </a:r>
            <a:r>
              <a:rPr lang="zh-CN" altLang="en-US" sz="2000"/>
              <a:t>分组进行二次筛选，要求平均薪水&gt;=40000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SELECT</a:t>
            </a:r>
            <a:r>
              <a:rPr lang="zh-CN" altLang="en-US" sz="2000"/>
              <a:t> addr,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GROUP_CONCAT</a:t>
            </a:r>
            <a:r>
              <a:rPr lang="zh-CN" altLang="en-US" sz="2000"/>
              <a:t>(username)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usersDetail,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COUNT</a:t>
            </a:r>
            <a:r>
              <a:rPr lang="zh-CN" altLang="en-US" sz="2000"/>
              <a:t>(*)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totalUsers,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SUM</a:t>
            </a:r>
            <a:r>
              <a:rPr lang="zh-CN" altLang="en-US" sz="2000"/>
              <a:t>(salary)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sum_salary,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MAX</a:t>
            </a:r>
            <a:r>
              <a:rPr lang="zh-CN" altLang="en-US" sz="2000"/>
              <a:t>(salary)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max_salary,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MIN</a:t>
            </a:r>
            <a:r>
              <a:rPr lang="zh-CN" altLang="en-US" sz="2000"/>
              <a:t>(salary)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min_salary,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AVG</a:t>
            </a:r>
            <a:r>
              <a:rPr lang="zh-CN" altLang="en-US" sz="2000"/>
              <a:t>(salary)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avg_salary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user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 BY</a:t>
            </a:r>
            <a:r>
              <a:rPr lang="zh-CN" altLang="en-US" sz="2000"/>
              <a:t> addr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HAVING</a:t>
            </a:r>
            <a:r>
              <a:rPr lang="zh-CN" altLang="en-US" sz="2000"/>
              <a:t> avg_salary&gt;=40000;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" y="4537710"/>
            <a:ext cx="8328660" cy="1018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ORDER BY </a:t>
            </a:r>
            <a:r>
              <a:rPr lang="zh-CN" altLang="en-US" dirty="0" smtClean="0"/>
              <a:t>字段名称 </a:t>
            </a:r>
            <a:r>
              <a:rPr lang="en-US" altLang="zh-CN" dirty="0" smtClean="0"/>
              <a:t>ASC|DESC</a:t>
            </a:r>
            <a:r>
              <a:rPr lang="zh-CN" altLang="en-US" dirty="0" smtClean="0"/>
              <a:t>，默认为</a:t>
            </a:r>
            <a:r>
              <a:rPr lang="en-US" altLang="zh-CN" dirty="0" smtClean="0"/>
              <a:t>ASC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七、</a:t>
            </a:r>
            <a:r>
              <a:rPr lang="en-US" altLang="zh-CN" dirty="0" smtClean="0"/>
              <a:t> ORDER BY </a:t>
            </a:r>
            <a:r>
              <a:rPr lang="zh-CN" altLang="en-US" dirty="0" smtClean="0"/>
              <a:t>排序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12140" y="908685"/>
            <a:ext cx="338074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</a:t>
            </a:r>
            <a:r>
              <a:rPr lang="en-US" altLang="zh-CN" sz="2000"/>
              <a:t>10 </a:t>
            </a:r>
            <a:r>
              <a:rPr lang="zh-CN" altLang="en-US" sz="2000"/>
              <a:t>测试排序</a:t>
            </a:r>
          </a:p>
          <a:p>
            <a:r>
              <a:rPr lang="zh-CN" altLang="en-US" sz="2000"/>
              <a:t>-- 按照id降序排列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SELECT</a:t>
            </a:r>
            <a:r>
              <a:rPr lang="zh-CN" altLang="en-US" sz="2000"/>
              <a:t> id,username,age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user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ORDER BY</a:t>
            </a:r>
            <a:r>
              <a:rPr lang="zh-CN" altLang="en-US" sz="2000"/>
              <a:t> id </a:t>
            </a:r>
            <a:r>
              <a:rPr lang="zh-CN" altLang="en-US" sz="2000">
                <a:solidFill>
                  <a:srgbClr val="0000FF"/>
                </a:solidFill>
              </a:rPr>
              <a:t>DESC</a:t>
            </a:r>
            <a:r>
              <a:rPr lang="zh-CN" altLang="en-US" sz="2000"/>
              <a:t>;</a:t>
            </a:r>
          </a:p>
          <a:p>
            <a:endParaRPr lang="zh-CN" altLang="en-US" sz="2000"/>
          </a:p>
          <a:p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555" y="260985"/>
            <a:ext cx="2315845" cy="30575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2140" y="4149090"/>
            <a:ext cx="303403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ym typeface="+mn-ea"/>
              </a:rPr>
              <a:t>例</a:t>
            </a:r>
            <a:r>
              <a:rPr lang="en-US" altLang="zh-CN" sz="2000">
                <a:sym typeface="+mn-ea"/>
              </a:rPr>
              <a:t>11</a:t>
            </a:r>
            <a:r>
              <a:rPr lang="zh-CN" altLang="en-US" sz="2000">
                <a:sym typeface="+mn-ea"/>
              </a:rPr>
              <a:t> 按照age升序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SELECT</a:t>
            </a:r>
            <a:r>
              <a:rPr lang="zh-CN" altLang="en-US" sz="2000">
                <a:sym typeface="+mn-ea"/>
              </a:rPr>
              <a:t> id,username,age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FROM</a:t>
            </a:r>
            <a:r>
              <a:rPr lang="zh-CN" altLang="en-US" sz="2000">
                <a:sym typeface="+mn-ea"/>
              </a:rPr>
              <a:t> user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ORDER BY</a:t>
            </a:r>
            <a:r>
              <a:rPr lang="zh-CN" altLang="en-US" sz="2000">
                <a:sym typeface="+mn-ea"/>
              </a:rPr>
              <a:t> age ;</a:t>
            </a:r>
            <a:endParaRPr lang="zh-CN" altLang="en-US" sz="20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555" y="3429000"/>
            <a:ext cx="2437130" cy="3089275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3851910" y="1701165"/>
            <a:ext cx="935990" cy="360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3861435" y="4568825"/>
            <a:ext cx="935990" cy="360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548640"/>
            <a:ext cx="602297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</a:t>
            </a:r>
            <a:r>
              <a:rPr lang="en-US" altLang="zh-CN" sz="2000"/>
              <a:t>12</a:t>
            </a:r>
            <a:r>
              <a:rPr lang="zh-CN" altLang="en-US" sz="2000"/>
              <a:t> 按照多个字段排序</a:t>
            </a:r>
          </a:p>
          <a:p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SELECT</a:t>
            </a:r>
            <a:r>
              <a:rPr lang="zh-CN" altLang="en-US" sz="2000"/>
              <a:t> id,username,age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user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ORDER BY</a:t>
            </a:r>
            <a:r>
              <a:rPr lang="zh-CN" altLang="en-US" sz="2000"/>
              <a:t> age </a:t>
            </a:r>
            <a:r>
              <a:rPr lang="zh-CN" altLang="en-US" sz="2000">
                <a:solidFill>
                  <a:srgbClr val="0000FF"/>
                </a:solidFill>
              </a:rPr>
              <a:t>ASC</a:t>
            </a:r>
            <a:r>
              <a:rPr lang="zh-CN" altLang="en-US" sz="2000"/>
              <a:t>,id </a:t>
            </a:r>
            <a:r>
              <a:rPr lang="zh-CN" altLang="en-US" sz="2000">
                <a:solidFill>
                  <a:srgbClr val="0000FF"/>
                </a:solidFill>
              </a:rPr>
              <a:t>ASC</a:t>
            </a:r>
            <a:r>
              <a:rPr lang="zh-CN" altLang="en-US" sz="2000"/>
              <a:t>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2348880"/>
            <a:ext cx="3781425" cy="3947795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1907704" y="4797152"/>
            <a:ext cx="2952328" cy="50405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5605" y="3861435"/>
            <a:ext cx="354520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SELECT</a:t>
            </a:r>
            <a:r>
              <a:rPr lang="zh-CN" altLang="en-US" sz="2000">
                <a:sym typeface="+mn-ea"/>
              </a:rPr>
              <a:t> id,username,age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FROM</a:t>
            </a:r>
            <a:r>
              <a:rPr lang="zh-CN" altLang="en-US" sz="2000">
                <a:sym typeface="+mn-ea"/>
              </a:rPr>
              <a:t> user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WHERE</a:t>
            </a:r>
            <a:r>
              <a:rPr lang="zh-CN" altLang="en-US" sz="2000">
                <a:sym typeface="+mn-ea"/>
              </a:rPr>
              <a:t> age&gt;=30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ORDER BY </a:t>
            </a:r>
            <a:r>
              <a:rPr lang="zh-CN" altLang="en-US" sz="2000">
                <a:sym typeface="+mn-ea"/>
              </a:rPr>
              <a:t>age </a:t>
            </a:r>
            <a:r>
              <a:rPr lang="zh-CN" altLang="en-US" sz="2000">
                <a:solidFill>
                  <a:srgbClr val="0000FF"/>
                </a:solidFill>
                <a:sym typeface="+mn-ea"/>
              </a:rPr>
              <a:t>DESC</a:t>
            </a:r>
            <a:r>
              <a:rPr lang="zh-CN" altLang="en-US" sz="2000">
                <a:sym typeface="+mn-ea"/>
              </a:rPr>
              <a:t>;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8725"/>
          <a:stretch>
            <a:fillRect/>
          </a:stretch>
        </p:blipFill>
        <p:spPr>
          <a:xfrm>
            <a:off x="5363845" y="260985"/>
            <a:ext cx="2703830" cy="2848610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3851910" y="1268730"/>
            <a:ext cx="1080135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r="15983"/>
          <a:stretch>
            <a:fillRect/>
          </a:stretch>
        </p:blipFill>
        <p:spPr>
          <a:xfrm>
            <a:off x="5363845" y="3717290"/>
            <a:ext cx="2707005" cy="2596515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3851910" y="4437380"/>
            <a:ext cx="1080135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5605" y="548640"/>
            <a:ext cx="3350260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ym typeface="+mn-ea"/>
              </a:rPr>
              <a:t>例</a:t>
            </a:r>
            <a:r>
              <a:rPr lang="en-US" altLang="zh-CN" sz="2000">
                <a:sym typeface="+mn-ea"/>
              </a:rPr>
              <a:t>13 </a:t>
            </a:r>
            <a:r>
              <a:rPr lang="zh-CN" altLang="en-US" sz="2000">
                <a:sym typeface="+mn-ea"/>
              </a:rPr>
              <a:t>测试条件+排序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SELECT</a:t>
            </a:r>
            <a:r>
              <a:rPr lang="zh-CN" altLang="en-US" sz="2000">
                <a:sym typeface="+mn-ea"/>
              </a:rPr>
              <a:t> id,username,age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FROM</a:t>
            </a:r>
            <a:r>
              <a:rPr lang="zh-CN" altLang="en-US" sz="2000">
                <a:sym typeface="+mn-ea"/>
              </a:rPr>
              <a:t> user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WHERE</a:t>
            </a:r>
            <a:r>
              <a:rPr lang="zh-CN" altLang="en-US" sz="2000">
                <a:sym typeface="+mn-ea"/>
              </a:rPr>
              <a:t> age&gt;=30;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548640"/>
            <a:ext cx="615886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</a:t>
            </a:r>
            <a:r>
              <a:rPr lang="en-US" altLang="zh-CN" sz="2000"/>
              <a:t>14</a:t>
            </a:r>
            <a:r>
              <a:rPr lang="zh-CN" altLang="en-US" sz="2000"/>
              <a:t> 实现随机记录</a:t>
            </a:r>
          </a:p>
          <a:p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SELECT</a:t>
            </a:r>
            <a:r>
              <a:rPr lang="zh-CN" altLang="en-US" sz="2000"/>
              <a:t> id,username,age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user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ORDER BY RAND()</a:t>
            </a:r>
            <a:r>
              <a:rPr lang="zh-CN" altLang="en-US" sz="2000">
                <a:solidFill>
                  <a:schemeClr val="tx1"/>
                </a:solidFill>
              </a:rPr>
              <a:t>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65" y="2421255"/>
            <a:ext cx="3210560" cy="39693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en-US" altLang="zh-CN" dirty="0" smtClean="0">
                <a:solidFill>
                  <a:srgbClr val="0000FF"/>
                </a:solidFill>
              </a:rPr>
              <a:t>LIMIT</a:t>
            </a:r>
            <a:r>
              <a:rPr lang="en-US" altLang="zh-CN" dirty="0" smtClean="0"/>
              <a:t> row_count</a:t>
            </a:r>
            <a:r>
              <a:rPr lang="zh-CN" altLang="en-US" dirty="0" smtClean="0"/>
              <a:t>；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显示结果集的前几条记录。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en-US" altLang="zh-CN" dirty="0" smtClean="0">
                <a:solidFill>
                  <a:srgbClr val="0000FF"/>
                </a:solidFill>
              </a:rPr>
              <a:t>LIMIT</a:t>
            </a:r>
            <a:r>
              <a:rPr lang="en-US" altLang="zh-CN" dirty="0" smtClean="0"/>
              <a:t> offset </a:t>
            </a:r>
            <a:r>
              <a:rPr lang="zh-CN" altLang="en-US" dirty="0" smtClean="0"/>
              <a:t>，</a:t>
            </a:r>
            <a:r>
              <a:rPr lang="en-US" altLang="zh-CN" dirty="0" smtClean="0"/>
              <a:t>row_count</a:t>
            </a:r>
            <a:r>
              <a:rPr lang="zh-CN" altLang="en-US" dirty="0" smtClean="0"/>
              <a:t>；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记录从</a:t>
            </a:r>
            <a:r>
              <a:rPr lang="en-US" altLang="zh-CN" dirty="0" smtClean="0"/>
              <a:t>offset</a:t>
            </a:r>
            <a:r>
              <a:rPr lang="zh-CN" altLang="en-US" dirty="0" smtClean="0"/>
              <a:t>开始，显示几条记录（</a:t>
            </a:r>
            <a:r>
              <a:rPr lang="en-US" altLang="zh-CN" dirty="0" smtClean="0"/>
              <a:t>offset</a:t>
            </a:r>
            <a:r>
              <a:rPr lang="zh-CN" altLang="en-US" dirty="0" smtClean="0"/>
              <a:t>从</a:t>
            </a:r>
            <a:r>
              <a:rPr lang="en-US" altLang="zh-CN" dirty="0" smtClean="0"/>
              <a:t>0</a:t>
            </a:r>
            <a:r>
              <a:rPr lang="zh-CN" altLang="en-US" dirty="0" smtClean="0"/>
              <a:t>开始）。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八、</a:t>
            </a:r>
            <a:r>
              <a:rPr lang="en-US" altLang="zh-CN" dirty="0" smtClean="0"/>
              <a:t> LIMIT </a:t>
            </a:r>
            <a:r>
              <a:rPr lang="zh-CN" altLang="en-US" dirty="0" smtClean="0"/>
              <a:t>限制结果集显示条数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7013" y="448631"/>
            <a:ext cx="4572000" cy="40626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15 </a:t>
            </a:r>
            <a:r>
              <a:rPr lang="zh-CN" altLang="en-US" sz="2400"/>
              <a:t>测试LIMIT语句</a:t>
            </a:r>
          </a:p>
          <a:p>
            <a:r>
              <a:rPr lang="zh-CN" altLang="en-US" sz="2400"/>
              <a:t>例</a:t>
            </a:r>
            <a:r>
              <a:rPr lang="en-US" altLang="zh-CN" sz="2400"/>
              <a:t>15-1 </a:t>
            </a:r>
            <a:r>
              <a:rPr lang="zh-CN" altLang="en-US" sz="2400"/>
              <a:t>显示结果集的前5条记录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SELECT </a:t>
            </a:r>
            <a:r>
              <a:rPr lang="zh-CN" altLang="en-US" sz="2400"/>
              <a:t>id,username,age,sex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LIMIT</a:t>
            </a:r>
            <a:r>
              <a:rPr lang="zh-CN" altLang="en-US" sz="2400"/>
              <a:t> 5;</a:t>
            </a:r>
          </a:p>
          <a:p>
            <a:endParaRPr lang="zh-CN" altLang="en-US" sz="2400"/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id,username,age,sex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LIMIT</a:t>
            </a:r>
            <a:r>
              <a:rPr lang="zh-CN" altLang="en-US" sz="2400"/>
              <a:t> 0,5;</a:t>
            </a:r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3861048"/>
            <a:ext cx="4608512" cy="26913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3528" y="1052736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/>
              <a:t>例</a:t>
            </a:r>
            <a:r>
              <a:rPr lang="en-US" altLang="zh-CN" sz="2400"/>
              <a:t>15-2 </a:t>
            </a:r>
            <a:r>
              <a:rPr lang="zh-CN" altLang="en-US" sz="2400"/>
              <a:t>显示前3条记录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id,username,age,sex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LIMIT</a:t>
            </a:r>
            <a:r>
              <a:rPr lang="zh-CN" altLang="en-US" sz="2400"/>
              <a:t> 0,3</a:t>
            </a:r>
            <a:r>
              <a:rPr lang="zh-CN" altLang="en-US" sz="2400" smtClean="0"/>
              <a:t>;</a:t>
            </a:r>
            <a:endParaRPr lang="en-US" altLang="zh-CN" sz="2400" smtClean="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例</a:t>
            </a:r>
            <a:r>
              <a:rPr lang="en-US" altLang="zh-CN" sz="2400"/>
              <a:t>15-3 </a:t>
            </a:r>
            <a:r>
              <a:rPr lang="zh-CN" altLang="en-US" sz="2400"/>
              <a:t>显示从第</a:t>
            </a:r>
            <a:r>
              <a:rPr lang="en-US" altLang="zh-CN" sz="2400"/>
              <a:t>4</a:t>
            </a:r>
            <a:r>
              <a:rPr lang="zh-CN" altLang="en-US" sz="2400"/>
              <a:t>条开始的三条记录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SELECT</a:t>
            </a:r>
            <a:r>
              <a:rPr lang="zh-CN" altLang="en-US" sz="2400"/>
              <a:t> id,username,age,sex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FROM</a:t>
            </a:r>
            <a:r>
              <a:rPr lang="zh-CN" altLang="en-US" sz="2400"/>
              <a:t> user</a:t>
            </a:r>
          </a:p>
          <a:p>
            <a:r>
              <a:rPr lang="zh-CN" altLang="en-US" sz="2400">
                <a:solidFill>
                  <a:srgbClr val="0000FF"/>
                </a:solidFill>
              </a:rPr>
              <a:t>LIMIT</a:t>
            </a:r>
            <a:r>
              <a:rPr lang="zh-CN" altLang="en-US" sz="2400"/>
              <a:t> 3,3;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498" y="4221822"/>
            <a:ext cx="3344545" cy="13811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071" y="1268760"/>
            <a:ext cx="3073400" cy="1407795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4631709" y="2060848"/>
            <a:ext cx="720090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4563923" y="5013176"/>
            <a:ext cx="720090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10540" y="621030"/>
            <a:ext cx="814832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</a:t>
            </a:r>
            <a:r>
              <a:rPr lang="en-US" altLang="zh-CN" sz="2000"/>
              <a:t>16 </a:t>
            </a:r>
            <a:r>
              <a:rPr lang="zh-CN" altLang="en-US" sz="2000"/>
              <a:t>更新前3条记录，将age+5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UPDATE</a:t>
            </a:r>
            <a:r>
              <a:rPr lang="zh-CN" altLang="en-US" sz="2000"/>
              <a:t> user </a:t>
            </a:r>
            <a:r>
              <a:rPr lang="zh-CN" altLang="en-US" sz="2000">
                <a:solidFill>
                  <a:srgbClr val="0000FF"/>
                </a:solidFill>
              </a:rPr>
              <a:t>SET</a:t>
            </a:r>
            <a:r>
              <a:rPr lang="zh-CN" altLang="en-US" sz="2000"/>
              <a:t> age=age+5 </a:t>
            </a:r>
            <a:r>
              <a:rPr lang="zh-CN" altLang="en-US" sz="2000">
                <a:solidFill>
                  <a:srgbClr val="0000FF"/>
                </a:solidFill>
              </a:rPr>
              <a:t>LIMIT</a:t>
            </a:r>
            <a:r>
              <a:rPr lang="zh-CN" altLang="en-US" sz="2000"/>
              <a:t> 3;</a:t>
            </a:r>
          </a:p>
          <a:p>
            <a:endParaRPr lang="zh-CN" altLang="en-US" sz="2000"/>
          </a:p>
          <a:p>
            <a:r>
              <a:rPr lang="zh-CN" altLang="en-US" sz="2000"/>
              <a:t>例</a:t>
            </a:r>
            <a:r>
              <a:rPr lang="en-US" altLang="zh-CN" sz="2000"/>
              <a:t>17 </a:t>
            </a:r>
            <a:r>
              <a:rPr lang="zh-CN" altLang="en-US" sz="2000"/>
              <a:t>按照id降序排列，更新前三条记录，将age-10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UPDATE</a:t>
            </a:r>
            <a:r>
              <a:rPr lang="zh-CN" altLang="en-US" sz="2000"/>
              <a:t> user SET age=age-10 </a:t>
            </a:r>
            <a:r>
              <a:rPr lang="zh-CN" altLang="en-US" sz="2000">
                <a:solidFill>
                  <a:srgbClr val="0000FF"/>
                </a:solidFill>
              </a:rPr>
              <a:t>ORDER BY</a:t>
            </a:r>
            <a:r>
              <a:rPr lang="zh-CN" altLang="en-US" sz="2000"/>
              <a:t> id </a:t>
            </a:r>
            <a:r>
              <a:rPr lang="zh-CN" altLang="en-US" sz="2000">
                <a:solidFill>
                  <a:srgbClr val="0000FF"/>
                </a:solidFill>
              </a:rPr>
              <a:t>DESC LIMIT</a:t>
            </a:r>
            <a:r>
              <a:rPr lang="zh-CN" altLang="en-US" sz="2000"/>
              <a:t> 3;</a:t>
            </a:r>
          </a:p>
          <a:p>
            <a:endParaRPr lang="zh-CN" altLang="en-US" sz="2000"/>
          </a:p>
          <a:p>
            <a:r>
              <a:rPr lang="zh-CN" altLang="en-US" sz="2000"/>
              <a:t>例</a:t>
            </a:r>
            <a:r>
              <a:rPr lang="en-US" altLang="zh-CN" sz="2000"/>
              <a:t>18 </a:t>
            </a:r>
            <a:r>
              <a:rPr lang="zh-CN" altLang="en-US" sz="2000"/>
              <a:t>删除前三条记录</a:t>
            </a:r>
          </a:p>
          <a:p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DELETE FROM</a:t>
            </a:r>
            <a:r>
              <a:rPr lang="zh-CN" altLang="en-US" sz="2000"/>
              <a:t> user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LIMIT</a:t>
            </a:r>
            <a:r>
              <a:rPr lang="zh-CN" altLang="en-US" sz="2000"/>
              <a:t> 3;</a:t>
            </a:r>
          </a:p>
          <a:p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DELETE FROM</a:t>
            </a:r>
            <a:r>
              <a:rPr lang="zh-CN" altLang="en-US" sz="2000"/>
              <a:t> user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ORDER BY</a:t>
            </a:r>
            <a:r>
              <a:rPr lang="zh-CN" altLang="en-US" sz="2000"/>
              <a:t> id </a:t>
            </a:r>
            <a:r>
              <a:rPr lang="zh-CN" altLang="en-US" sz="2000">
                <a:solidFill>
                  <a:srgbClr val="0000FF"/>
                </a:solidFill>
              </a:rPr>
              <a:t>DESC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LIMIT</a:t>
            </a:r>
            <a:r>
              <a:rPr lang="zh-CN" altLang="en-US" sz="2000"/>
              <a:t> 3;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r="4968"/>
          <a:stretch>
            <a:fillRect/>
          </a:stretch>
        </p:blipFill>
        <p:spPr>
          <a:xfrm>
            <a:off x="467543" y="5157192"/>
            <a:ext cx="7920881" cy="12178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7450" y="1124585"/>
            <a:ext cx="5868670" cy="4092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</a:rPr>
              <a:t>SELECT</a:t>
            </a:r>
            <a:r>
              <a:rPr lang="zh-CN" altLang="en-US" sz="2000"/>
              <a:t> addr,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GROUP_CONCAT</a:t>
            </a:r>
            <a:r>
              <a:rPr lang="zh-CN" altLang="en-US" sz="2000"/>
              <a:t>(username) </a:t>
            </a:r>
            <a:r>
              <a:rPr lang="zh-CN" altLang="en-US" sz="2000">
                <a:solidFill>
                  <a:srgbClr val="0000FF"/>
                </a:solidFill>
              </a:rPr>
              <a:t>AS </a:t>
            </a:r>
            <a:r>
              <a:rPr lang="zh-CN" altLang="en-US" sz="2000"/>
              <a:t>usersDetail,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COUNT</a:t>
            </a:r>
            <a:r>
              <a:rPr lang="zh-CN" altLang="en-US" sz="2000"/>
              <a:t>(*)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totalUsers,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SUM</a:t>
            </a:r>
            <a:r>
              <a:rPr lang="zh-CN" altLang="en-US" sz="2000"/>
              <a:t>(age)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sum_age,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MAX</a:t>
            </a:r>
            <a:r>
              <a:rPr lang="zh-CN" altLang="en-US" sz="2000"/>
              <a:t>(age)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max_age,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MIN</a:t>
            </a:r>
            <a:r>
              <a:rPr lang="zh-CN" altLang="en-US" sz="2000"/>
              <a:t>(age)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min_age,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AVG</a:t>
            </a:r>
            <a:r>
              <a:rPr lang="zh-CN" altLang="en-US" sz="2000"/>
              <a:t>(age)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avg_age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use</a:t>
            </a:r>
            <a:r>
              <a:rPr lang="zh-CN" altLang="en-US" sz="2000" smtClean="0"/>
              <a:t>r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WHERE</a:t>
            </a:r>
            <a:r>
              <a:rPr lang="zh-CN" altLang="en-US" sz="2000"/>
              <a:t> id&gt;=2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GROUP BY </a:t>
            </a:r>
            <a:r>
              <a:rPr lang="zh-CN" altLang="en-US" sz="2000"/>
              <a:t>addr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HAVING</a:t>
            </a:r>
            <a:r>
              <a:rPr lang="zh-CN" altLang="en-US" sz="2000"/>
              <a:t> totalUsers&gt;=2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ORDER BY</a:t>
            </a:r>
            <a:r>
              <a:rPr lang="zh-CN" altLang="en-US" sz="2000"/>
              <a:t> totalUsers </a:t>
            </a:r>
            <a:r>
              <a:rPr lang="zh-CN" altLang="en-US" sz="2000">
                <a:solidFill>
                  <a:srgbClr val="0000FF"/>
                </a:solidFill>
              </a:rPr>
              <a:t>ASC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LIMIT</a:t>
            </a:r>
            <a:r>
              <a:rPr lang="zh-CN" altLang="en-US" sz="2000"/>
              <a:t> 0,2;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87450" y="404495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</a:t>
            </a:r>
            <a:r>
              <a:rPr lang="en-US" altLang="zh-CN" sz="2000"/>
              <a:t>19 </a:t>
            </a:r>
            <a:r>
              <a:rPr lang="zh-CN" altLang="en-US" sz="2000"/>
              <a:t>测试完整SELECT 语句的形式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>
                <a:sym typeface="+mn-ea"/>
              </a:rPr>
              <a:t>5.2 </a:t>
            </a:r>
            <a:r>
              <a:rPr lang="zh-CN" altLang="en-US" smtClean="0">
                <a:sym typeface="+mn-ea"/>
              </a:rPr>
              <a:t>多表连接查</a:t>
            </a:r>
            <a:r>
              <a:rPr lang="zh-CN" altLang="en-US" dirty="0" smtClean="0">
                <a:sym typeface="+mn-ea"/>
              </a:rPr>
              <a:t>询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内连接的形式</a:t>
            </a:r>
            <a:endParaRPr lang="en-US" altLang="zh-CN" dirty="0" smtClean="0"/>
          </a:p>
          <a:p>
            <a:r>
              <a:rPr lang="zh-CN" altLang="en-US" dirty="0" smtClean="0"/>
              <a:t>外连接的形式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5.2 </a:t>
            </a:r>
            <a:r>
              <a:rPr lang="zh-CN" altLang="en-US" smtClean="0"/>
              <a:t>多表连接查</a:t>
            </a:r>
            <a:r>
              <a:rPr lang="zh-CN" altLang="en-US" dirty="0" smtClean="0"/>
              <a:t>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查询两个表中符合连接条件的记录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SELECT</a:t>
            </a:r>
            <a:r>
              <a:rPr lang="en-US" altLang="zh-CN" dirty="0" smtClean="0"/>
              <a:t> </a:t>
            </a:r>
            <a:r>
              <a:rPr lang="zh-CN" altLang="en-US" dirty="0" smtClean="0"/>
              <a:t>字段名称</a:t>
            </a:r>
            <a:r>
              <a:rPr lang="en-US" altLang="zh-CN" dirty="0" smtClean="0"/>
              <a:t>,... </a:t>
            </a:r>
            <a:r>
              <a:rPr lang="en-US" altLang="zh-CN" dirty="0" smtClean="0">
                <a:solidFill>
                  <a:srgbClr val="0000FF"/>
                </a:solidFill>
              </a:rPr>
              <a:t>FROM</a:t>
            </a:r>
            <a:r>
              <a:rPr lang="en-US" altLang="zh-CN" dirty="0" smtClean="0"/>
              <a:t> tbl_name1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INNER JOIN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/>
              <a:t>tbl_name2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ON</a:t>
            </a:r>
            <a:r>
              <a:rPr lang="en-US" altLang="zh-CN" dirty="0" smtClean="0"/>
              <a:t> </a:t>
            </a:r>
            <a:r>
              <a:rPr lang="zh-CN" altLang="en-US" dirty="0" smtClean="0"/>
              <a:t>连接条件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5.1</a:t>
            </a:r>
            <a:r>
              <a:rPr lang="zh-CN" altLang="en-US" dirty="0" smtClean="0"/>
              <a:t>内连接的形式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105" y="273050"/>
            <a:ext cx="6664325" cy="15633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205" y="2493010"/>
            <a:ext cx="2385695" cy="37865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855" y="2421255"/>
            <a:ext cx="3746500" cy="16471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565" y="4653280"/>
            <a:ext cx="4831715" cy="1460500"/>
          </a:xfrm>
          <a:prstGeom prst="rect">
            <a:avLst/>
          </a:prstGeom>
        </p:spPr>
      </p:pic>
      <p:cxnSp>
        <p:nvCxnSpPr>
          <p:cNvPr id="8" name="曲线连接符 7"/>
          <p:cNvCxnSpPr/>
          <p:nvPr/>
        </p:nvCxnSpPr>
        <p:spPr>
          <a:xfrm rot="10800000" flipV="1">
            <a:off x="1762760" y="620395"/>
            <a:ext cx="4680585" cy="2303145"/>
          </a:xfrm>
          <a:prstGeom prst="curvedConnector3">
            <a:avLst>
              <a:gd name="adj1" fmla="val 49993"/>
            </a:avLst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曲线连接符 8"/>
          <p:cNvCxnSpPr/>
          <p:nvPr/>
        </p:nvCxnSpPr>
        <p:spPr>
          <a:xfrm rot="10800000">
            <a:off x="4859020" y="2997200"/>
            <a:ext cx="2339975" cy="1780540"/>
          </a:xfrm>
          <a:prstGeom prst="curvedConnector3">
            <a:avLst>
              <a:gd name="adj1" fmla="val 49986"/>
            </a:avLst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曲线连接符 9"/>
          <p:cNvCxnSpPr/>
          <p:nvPr/>
        </p:nvCxnSpPr>
        <p:spPr>
          <a:xfrm rot="10800000">
            <a:off x="2051050" y="620395"/>
            <a:ext cx="6152515" cy="4060825"/>
          </a:xfrm>
          <a:prstGeom prst="curvedConnector3">
            <a:avLst>
              <a:gd name="adj1" fmla="val 32624"/>
            </a:avLst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276985" y="2115820"/>
            <a:ext cx="1388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provinces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112895" y="4284980"/>
            <a:ext cx="1388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products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427855" y="1988820"/>
            <a:ext cx="1388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cate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51460" y="764540"/>
            <a:ext cx="1388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admin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3260" y="404495"/>
            <a:ext cx="790765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例1：查询products id productName price --- cate cateName</a:t>
            </a:r>
          </a:p>
          <a:p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SELECT</a:t>
            </a:r>
            <a:r>
              <a:rPr lang="zh-CN" altLang="en-US" sz="2000"/>
              <a:t> p.id, p.productName, p.price, c.cateName 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products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p 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JOIN</a:t>
            </a:r>
            <a:r>
              <a:rPr lang="zh-CN" altLang="en-US" sz="2000"/>
              <a:t> cate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c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ON</a:t>
            </a:r>
            <a:r>
              <a:rPr lang="zh-CN" altLang="en-US" sz="2000"/>
              <a:t> p.cateId = c.id;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25" y="2853055"/>
            <a:ext cx="6842125" cy="251396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1505" y="260985"/>
            <a:ext cx="776732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例2：查询管理员 id username email -- provinces proName</a:t>
            </a:r>
          </a:p>
          <a:p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SELECT</a:t>
            </a:r>
            <a:r>
              <a:rPr lang="zh-CN" altLang="en-US" sz="2000"/>
              <a:t> a.id,a.username,a.email,pro.proName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admin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a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JOIN</a:t>
            </a:r>
            <a:r>
              <a:rPr lang="zh-CN" altLang="en-US" sz="2000"/>
              <a:t> provinces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pro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ON</a:t>
            </a:r>
            <a:r>
              <a:rPr lang="zh-CN" altLang="en-US" sz="2000"/>
              <a:t> a.proId=pro.id;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05" y="2997200"/>
            <a:ext cx="5619750" cy="137414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115" y="332740"/>
            <a:ext cx="6377940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例3：查询 products： id productName price，cate： cateName， admin： username email</a:t>
            </a:r>
          </a:p>
          <a:p>
            <a:r>
              <a:rPr lang="zh-CN" altLang="en-US" sz="2000"/>
              <a:t> 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SELECT</a:t>
            </a:r>
            <a:r>
              <a:rPr lang="zh-CN" altLang="en-US" sz="2000"/>
              <a:t> p.id,p.productName,p.price,c.cateName,a.username,a.email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products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p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JOIN</a:t>
            </a:r>
            <a:r>
              <a:rPr lang="zh-CN" altLang="en-US" sz="2000"/>
              <a:t> cate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c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ON</a:t>
            </a:r>
            <a:r>
              <a:rPr lang="zh-CN" altLang="en-US" sz="2000"/>
              <a:t> p.cateId=c.id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JOIN</a:t>
            </a:r>
            <a:r>
              <a:rPr lang="zh-CN" altLang="en-US" sz="2000"/>
              <a:t> admin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a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ON</a:t>
            </a:r>
            <a:r>
              <a:rPr lang="zh-CN" altLang="en-US" sz="2000"/>
              <a:t>  p.adminId=a.id;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" y="4077335"/>
            <a:ext cx="8104505" cy="18592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8610" y="404495"/>
            <a:ext cx="852678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例4：查询 价格低于1000元商品的products： id productName price</a:t>
            </a:r>
          </a:p>
          <a:p>
            <a:r>
              <a:rPr lang="zh-CN" altLang="en-US" sz="2000"/>
              <a:t> cate： cateName</a:t>
            </a:r>
            <a:r>
              <a:rPr lang="en-US" altLang="zh-CN" sz="2000"/>
              <a:t>  </a:t>
            </a:r>
            <a:r>
              <a:rPr lang="zh-CN" altLang="en-US" sz="2000"/>
              <a:t>admin： username email 按价格的降序排列，并且只显示前两条</a:t>
            </a:r>
          </a:p>
          <a:p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SELECT </a:t>
            </a:r>
            <a:r>
              <a:rPr lang="zh-CN" altLang="en-US" sz="2000"/>
              <a:t>p.id,p.productName,p.price,c.cateName,a.username,a.email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FROM</a:t>
            </a:r>
            <a:r>
              <a:rPr lang="zh-CN" altLang="en-US" sz="2000"/>
              <a:t> products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p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JOIN</a:t>
            </a:r>
            <a:r>
              <a:rPr lang="zh-CN" altLang="en-US" sz="2000"/>
              <a:t> cate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c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ON</a:t>
            </a:r>
            <a:r>
              <a:rPr lang="zh-CN" altLang="en-US" sz="2000"/>
              <a:t> p.cateId=c.id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JOIN</a:t>
            </a:r>
            <a:r>
              <a:rPr lang="zh-CN" altLang="en-US" sz="2000"/>
              <a:t> admin </a:t>
            </a:r>
            <a:r>
              <a:rPr lang="zh-CN" altLang="en-US" sz="2000">
                <a:solidFill>
                  <a:srgbClr val="0000FF"/>
                </a:solidFill>
              </a:rPr>
              <a:t>AS</a:t>
            </a:r>
            <a:r>
              <a:rPr lang="zh-CN" altLang="en-US" sz="2000"/>
              <a:t> a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ON</a:t>
            </a:r>
            <a:r>
              <a:rPr lang="zh-CN" altLang="en-US" sz="2000"/>
              <a:t>  p.adminId=a.id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WHERE</a:t>
            </a:r>
            <a:r>
              <a:rPr lang="zh-CN" altLang="en-US" sz="2000"/>
              <a:t> p.price &lt; 1000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ORDER BY</a:t>
            </a:r>
            <a:r>
              <a:rPr lang="zh-CN" altLang="en-US" sz="2000"/>
              <a:t> p.price</a:t>
            </a:r>
            <a:r>
              <a:rPr lang="zh-CN" altLang="en-US" sz="2000">
                <a:solidFill>
                  <a:srgbClr val="0000FF"/>
                </a:solidFill>
              </a:rPr>
              <a:t> DESC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</a:rPr>
              <a:t>LIMIT </a:t>
            </a:r>
            <a:r>
              <a:rPr lang="zh-CN" altLang="en-US" sz="2000"/>
              <a:t>2 ;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4869180"/>
            <a:ext cx="8183880" cy="139255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0" y="476885"/>
            <a:ext cx="735901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/>
              <a:t>练习：查询products id productName price</a:t>
            </a:r>
          </a:p>
          <a:p>
            <a:r>
              <a:rPr lang="zh-CN" altLang="en-US" sz="2000"/>
              <a:t>-- cate cateName</a:t>
            </a:r>
          </a:p>
          <a:p>
            <a:r>
              <a:rPr lang="zh-CN" altLang="en-US" sz="2000"/>
              <a:t>-- admin username email</a:t>
            </a:r>
          </a:p>
          <a:p>
            <a:r>
              <a:rPr lang="zh-CN" altLang="en-US" sz="2000"/>
              <a:t>-- provinces proName</a:t>
            </a:r>
          </a:p>
          <a:p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1029970" y="1957705"/>
            <a:ext cx="582803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SELECT </a:t>
            </a:r>
            <a:r>
              <a:rPr lang="zh-CN" altLang="en-US" sz="2000">
                <a:sym typeface="+mn-ea"/>
              </a:rPr>
              <a:t>p.id,p.productName,p.price,c.cateName,a.username,a.email,pro.proName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FROM</a:t>
            </a:r>
            <a:r>
              <a:rPr lang="zh-CN" altLang="en-US" sz="2000">
                <a:sym typeface="+mn-ea"/>
              </a:rPr>
              <a:t> products </a:t>
            </a:r>
            <a:r>
              <a:rPr lang="zh-CN" altLang="en-US" sz="2000">
                <a:solidFill>
                  <a:srgbClr val="0000FF"/>
                </a:solidFill>
                <a:sym typeface="+mn-ea"/>
              </a:rPr>
              <a:t>AS</a:t>
            </a:r>
            <a:r>
              <a:rPr lang="zh-CN" altLang="en-US" sz="2000">
                <a:sym typeface="+mn-ea"/>
              </a:rPr>
              <a:t> p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JOIN</a:t>
            </a:r>
            <a:r>
              <a:rPr lang="zh-CN" altLang="en-US" sz="2000">
                <a:sym typeface="+mn-ea"/>
              </a:rPr>
              <a:t> cate </a:t>
            </a:r>
            <a:r>
              <a:rPr lang="zh-CN" altLang="en-US" sz="2000">
                <a:solidFill>
                  <a:srgbClr val="0000FF"/>
                </a:solidFill>
                <a:sym typeface="+mn-ea"/>
              </a:rPr>
              <a:t>AS</a:t>
            </a:r>
            <a:r>
              <a:rPr lang="zh-CN" altLang="en-US" sz="2000">
                <a:sym typeface="+mn-ea"/>
              </a:rPr>
              <a:t> c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ON </a:t>
            </a:r>
            <a:r>
              <a:rPr lang="zh-CN" altLang="en-US" sz="2000">
                <a:sym typeface="+mn-ea"/>
              </a:rPr>
              <a:t>p.cateId=c.id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JOIN</a:t>
            </a:r>
            <a:r>
              <a:rPr lang="zh-CN" altLang="en-US" sz="2000">
                <a:sym typeface="+mn-ea"/>
              </a:rPr>
              <a:t> admin </a:t>
            </a:r>
            <a:r>
              <a:rPr lang="zh-CN" altLang="en-US" sz="2000">
                <a:solidFill>
                  <a:srgbClr val="0000FF"/>
                </a:solidFill>
                <a:sym typeface="+mn-ea"/>
              </a:rPr>
              <a:t>AS</a:t>
            </a:r>
            <a:r>
              <a:rPr lang="zh-CN" altLang="en-US" sz="2000">
                <a:sym typeface="+mn-ea"/>
              </a:rPr>
              <a:t> a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ON</a:t>
            </a:r>
            <a:r>
              <a:rPr lang="zh-CN" altLang="en-US" sz="2000">
                <a:sym typeface="+mn-ea"/>
              </a:rPr>
              <a:t>  p.adminId=a.id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JOIN</a:t>
            </a:r>
            <a:r>
              <a:rPr lang="zh-CN" altLang="en-US" sz="2000">
                <a:sym typeface="+mn-ea"/>
              </a:rPr>
              <a:t> provinces </a:t>
            </a:r>
            <a:r>
              <a:rPr lang="zh-CN" altLang="en-US" sz="2000">
                <a:solidFill>
                  <a:srgbClr val="0000FF"/>
                </a:solidFill>
                <a:sym typeface="+mn-ea"/>
              </a:rPr>
              <a:t>AS</a:t>
            </a:r>
            <a:r>
              <a:rPr lang="zh-CN" altLang="en-US" sz="2000">
                <a:sym typeface="+mn-ea"/>
              </a:rPr>
              <a:t> pro</a:t>
            </a:r>
            <a:endParaRPr lang="zh-CN" altLang="en-US" sz="2000"/>
          </a:p>
          <a:p>
            <a:r>
              <a:rPr lang="zh-CN" altLang="en-US" sz="2000">
                <a:solidFill>
                  <a:srgbClr val="0000FF"/>
                </a:solidFill>
                <a:sym typeface="+mn-ea"/>
              </a:rPr>
              <a:t>ON</a:t>
            </a:r>
            <a:r>
              <a:rPr lang="zh-CN" altLang="en-US" sz="2000">
                <a:sym typeface="+mn-ea"/>
              </a:rPr>
              <a:t> a.proId=pro.id;</a:t>
            </a:r>
            <a:endParaRPr lang="zh-CN" altLang="en-US" sz="20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左外连接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先显示左表中的全部记录，再去右表中查询复合条件的记录，不符合的以</a:t>
            </a:r>
            <a:r>
              <a:rPr lang="en-US" altLang="zh-CN" dirty="0" smtClean="0"/>
              <a:t>NULL</a:t>
            </a:r>
            <a:r>
              <a:rPr lang="zh-CN" altLang="en-US" dirty="0" smtClean="0"/>
              <a:t>代替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SELECT</a:t>
            </a:r>
            <a:r>
              <a:rPr lang="en-US" altLang="zh-CN" dirty="0" smtClean="0"/>
              <a:t> </a:t>
            </a:r>
            <a:r>
              <a:rPr lang="zh-CN" altLang="en-US" dirty="0" smtClean="0"/>
              <a:t>字段名称</a:t>
            </a:r>
            <a:r>
              <a:rPr lang="en-US" altLang="zh-CN" dirty="0" smtClean="0"/>
              <a:t>,... </a:t>
            </a:r>
            <a:r>
              <a:rPr lang="en-US" altLang="zh-CN" dirty="0" smtClean="0">
                <a:solidFill>
                  <a:srgbClr val="0000FF"/>
                </a:solidFill>
              </a:rPr>
              <a:t>FROM</a:t>
            </a:r>
            <a:r>
              <a:rPr lang="en-US" altLang="zh-CN" dirty="0" smtClean="0"/>
              <a:t> tbl_name1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LEFT [OUTER] JOIN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/>
              <a:t>tbl_name2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ON</a:t>
            </a:r>
            <a:r>
              <a:rPr lang="en-US" altLang="zh-CN" dirty="0" smtClean="0"/>
              <a:t> </a:t>
            </a:r>
            <a:r>
              <a:rPr lang="zh-CN" altLang="en-US" dirty="0" smtClean="0"/>
              <a:t>条件</a:t>
            </a:r>
            <a:r>
              <a:rPr lang="en-US" altLang="zh-CN" dirty="0" smtClean="0"/>
              <a:t>;</a:t>
            </a:r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右外连接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先显示右表中的全部记录，再去左表中查询复合条件的记录，不符合的以</a:t>
            </a:r>
            <a:r>
              <a:rPr lang="en-US" altLang="zh-CN" dirty="0" smtClean="0"/>
              <a:t>NULL</a:t>
            </a:r>
            <a:r>
              <a:rPr lang="zh-CN" altLang="en-US" dirty="0" smtClean="0"/>
              <a:t>代替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SELECT</a:t>
            </a:r>
            <a:r>
              <a:rPr lang="en-US" altLang="zh-CN" dirty="0" smtClean="0"/>
              <a:t> </a:t>
            </a:r>
            <a:r>
              <a:rPr lang="zh-CN" altLang="en-US" dirty="0" smtClean="0"/>
              <a:t>字段名称</a:t>
            </a:r>
            <a:r>
              <a:rPr lang="en-US" altLang="zh-CN" dirty="0" smtClean="0"/>
              <a:t>,... </a:t>
            </a:r>
            <a:r>
              <a:rPr lang="en-US" altLang="zh-CN" dirty="0" smtClean="0">
                <a:solidFill>
                  <a:srgbClr val="0000FF"/>
                </a:solidFill>
              </a:rPr>
              <a:t>FROM</a:t>
            </a:r>
            <a:r>
              <a:rPr lang="en-US" altLang="zh-CN" dirty="0" smtClean="0"/>
              <a:t> tbl_name1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 RIGHT [OUTER] JOIN </a:t>
            </a:r>
            <a:r>
              <a:rPr lang="en-US" altLang="zh-CN" dirty="0" smtClean="0"/>
              <a:t>tbl_name2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ON</a:t>
            </a:r>
            <a:r>
              <a:rPr lang="en-US" altLang="zh-CN" dirty="0" smtClean="0"/>
              <a:t> </a:t>
            </a:r>
            <a:r>
              <a:rPr lang="zh-CN" altLang="en-US" dirty="0" smtClean="0"/>
              <a:t>条件</a:t>
            </a:r>
            <a:r>
              <a:rPr lang="en-US" altLang="zh-CN" dirty="0" smtClean="0"/>
              <a:t>;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5.2</a:t>
            </a:r>
            <a:r>
              <a:rPr lang="zh-CN" altLang="en-US" dirty="0" smtClean="0"/>
              <a:t>外连接的形式</a:t>
            </a:r>
            <a:endParaRPr lang="zh-CN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9722" r="21529"/>
          <a:stretch>
            <a:fillRect/>
          </a:stretch>
        </p:blipFill>
        <p:spPr>
          <a:xfrm>
            <a:off x="323528" y="1052736"/>
            <a:ext cx="3168352" cy="56134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75257" y="312405"/>
            <a:ext cx="2808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/>
              <a:t>案例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518" y="1472593"/>
            <a:ext cx="5302061" cy="215827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873" y="4437112"/>
            <a:ext cx="5479881" cy="155347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987824" y="4005064"/>
            <a:ext cx="654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>
                <a:solidFill>
                  <a:srgbClr val="0000FF"/>
                </a:solidFill>
              </a:rPr>
              <a:t>关</a:t>
            </a:r>
            <a:endParaRPr lang="en-US" altLang="zh-CN" smtClean="0">
              <a:solidFill>
                <a:srgbClr val="0000FF"/>
              </a:solidFill>
            </a:endParaRPr>
          </a:p>
          <a:p>
            <a:r>
              <a:rPr lang="zh-CN" altLang="en-US" smtClean="0">
                <a:solidFill>
                  <a:srgbClr val="0000FF"/>
                </a:solidFill>
              </a:rPr>
              <a:t>联</a:t>
            </a:r>
            <a:endParaRPr lang="zh-CN" altLang="en-US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9552" y="260648"/>
            <a:ext cx="82809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/>
              <a:t>-- </a:t>
            </a:r>
            <a:r>
              <a:rPr lang="zh-CN" altLang="en-US" sz="2400"/>
              <a:t>做笛卡尔</a:t>
            </a:r>
            <a:r>
              <a:rPr lang="zh-CN" altLang="en-US" sz="2400" smtClean="0"/>
              <a:t>积</a:t>
            </a:r>
            <a:endParaRPr lang="zh-CN" altLang="en-US" sz="2400"/>
          </a:p>
          <a:p>
            <a:r>
              <a:rPr lang="en-US" altLang="zh-CN" sz="2400">
                <a:solidFill>
                  <a:srgbClr val="0000FF"/>
                </a:solidFill>
              </a:rPr>
              <a:t>SELECT </a:t>
            </a:r>
            <a:r>
              <a:rPr lang="en-US" altLang="zh-CN" sz="2400"/>
              <a:t>emp.id,emp.username,emp.age,dep.id,dep.depName,dep.depDesc </a:t>
            </a:r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emp,dep;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988839"/>
            <a:ext cx="6876764" cy="4761951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9552" y="548680"/>
            <a:ext cx="784887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/>
              <a:t>--</a:t>
            </a:r>
            <a:r>
              <a:rPr lang="zh-CN" altLang="en-US" sz="2400"/>
              <a:t>内连接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</a:t>
            </a:r>
            <a:r>
              <a:rPr lang="en-US" altLang="zh-CN" sz="2400" smtClean="0"/>
              <a:t>e.id,e.username,e.age,d.id,d.depName</a:t>
            </a:r>
            <a:endParaRPr lang="en-US" altLang="zh-CN" sz="2400"/>
          </a:p>
          <a:p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emp </a:t>
            </a:r>
            <a:r>
              <a:rPr lang="en-US" altLang="zh-CN" sz="2400">
                <a:solidFill>
                  <a:srgbClr val="0000FF"/>
                </a:solidFill>
              </a:rPr>
              <a:t>AS </a:t>
            </a:r>
            <a:r>
              <a:rPr lang="en-US" altLang="zh-CN" sz="2400"/>
              <a:t>e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INNER JOIN </a:t>
            </a:r>
            <a:r>
              <a:rPr lang="en-US" altLang="zh-CN" sz="2400"/>
              <a:t>dep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d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ON</a:t>
            </a:r>
            <a:r>
              <a:rPr lang="en-US" altLang="zh-CN" sz="2400"/>
              <a:t> e.depId=d.id;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10264"/>
          <a:stretch>
            <a:fillRect/>
          </a:stretch>
        </p:blipFill>
        <p:spPr>
          <a:xfrm>
            <a:off x="1079612" y="2504433"/>
            <a:ext cx="6768752" cy="4152883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636912"/>
            <a:ext cx="8712532" cy="381642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83568" y="116632"/>
            <a:ext cx="77048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/>
              <a:t>-- </a:t>
            </a:r>
            <a:r>
              <a:rPr lang="zh-CN" altLang="en-US" sz="2400"/>
              <a:t>测试左外连接</a:t>
            </a:r>
          </a:p>
          <a:p>
            <a:r>
              <a:rPr lang="en-US" altLang="zh-CN" sz="2400" smtClean="0">
                <a:solidFill>
                  <a:srgbClr val="0000FF"/>
                </a:solidFill>
              </a:rPr>
              <a:t>SELECT </a:t>
            </a:r>
            <a:r>
              <a:rPr lang="en-US" altLang="zh-CN" sz="2400"/>
              <a:t>e.id,e.username,e.age,d.depName,d.depDesc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emp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e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LEFT OUTER JOIN </a:t>
            </a:r>
            <a:r>
              <a:rPr lang="en-US" altLang="zh-CN" sz="2400"/>
              <a:t>dep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d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ON</a:t>
            </a:r>
            <a:r>
              <a:rPr lang="en-US" altLang="zh-CN" sz="2400"/>
              <a:t> e.depId=d.id;</a:t>
            </a:r>
          </a:p>
        </p:txBody>
      </p:sp>
      <p:sp>
        <p:nvSpPr>
          <p:cNvPr id="4" name="椭圆 3"/>
          <p:cNvSpPr/>
          <p:nvPr/>
        </p:nvSpPr>
        <p:spPr>
          <a:xfrm>
            <a:off x="251520" y="5589240"/>
            <a:ext cx="7200800" cy="50405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404664"/>
            <a:ext cx="77768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/>
              <a:t>-- </a:t>
            </a:r>
            <a:r>
              <a:rPr lang="zh-CN" altLang="en-US" sz="2400"/>
              <a:t>测试右外连接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e.id,e.username,e.age,d.depName,d.depDesc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emp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e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RIGHT JOIN </a:t>
            </a:r>
            <a:r>
              <a:rPr lang="en-US" altLang="zh-CN" sz="2400"/>
              <a:t>dep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d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ON </a:t>
            </a:r>
            <a:r>
              <a:rPr lang="en-US" altLang="zh-CN" sz="2400"/>
              <a:t>e.depId=d.id;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68" y="2852936"/>
            <a:ext cx="8510480" cy="3672408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388768" y="5733256"/>
            <a:ext cx="7711624" cy="43204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mtClean="0">
                <a:sym typeface="+mn-ea"/>
              </a:rPr>
              <a:t>5.3 </a:t>
            </a:r>
            <a:r>
              <a:rPr lang="zh-CN" altLang="en-US" smtClean="0">
                <a:sym typeface="+mn-ea"/>
              </a:rPr>
              <a:t>子查</a:t>
            </a:r>
            <a:r>
              <a:rPr lang="zh-CN" altLang="en-US" dirty="0" smtClean="0">
                <a:sym typeface="+mn-ea"/>
              </a:rPr>
              <a:t>询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772816"/>
            <a:ext cx="6588617" cy="460786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979712" y="692696"/>
            <a:ext cx="63401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/>
              <a:t>案</a:t>
            </a:r>
            <a:r>
              <a:rPr lang="zh-CN" altLang="en-US" sz="4000" smtClean="0"/>
              <a:t>例：学</a:t>
            </a:r>
            <a:r>
              <a:rPr lang="zh-CN" altLang="en-US" sz="4000"/>
              <a:t>生选课关系数据库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8893" y="3562514"/>
            <a:ext cx="3731547" cy="222022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893" y="1417638"/>
            <a:ext cx="3731547" cy="18926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436" y="1417638"/>
            <a:ext cx="2653972" cy="44302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199" y="1298744"/>
            <a:ext cx="8229600" cy="148218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SELECT-FROM-WHERE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语句称为一个查询块 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一个查询块嵌套在另一个查询块的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WHERE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子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句或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HAVING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短语的条件中的查询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称为子查询（嵌套查询）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/>
              <a:t>子查</a:t>
            </a:r>
            <a:r>
              <a:rPr lang="zh-CN" altLang="en-US" sz="4400" smtClean="0"/>
              <a:t>询（嵌套查询）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92" y="3755600"/>
            <a:ext cx="7243815" cy="1243022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  <p:sp>
        <p:nvSpPr>
          <p:cNvPr id="6" name="椭圆形标注 5"/>
          <p:cNvSpPr/>
          <p:nvPr/>
        </p:nvSpPr>
        <p:spPr>
          <a:xfrm>
            <a:off x="2555776" y="2924944"/>
            <a:ext cx="3600400" cy="648072"/>
          </a:xfrm>
          <a:prstGeom prst="wedgeEllipseCallout">
            <a:avLst>
              <a:gd name="adj1" fmla="val -64706"/>
              <a:gd name="adj2" fmla="val 8752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上层查询块：外</a:t>
            </a:r>
            <a:r>
              <a:rPr lang="zh-CN" altLang="en-US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查询</a:t>
            </a:r>
            <a:r>
              <a:rPr lang="en-US" altLang="zh-CN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父查询</a:t>
            </a:r>
            <a:endParaRPr lang="zh-CN" altLang="en-US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椭圆形标注 6"/>
          <p:cNvSpPr/>
          <p:nvPr/>
        </p:nvSpPr>
        <p:spPr>
          <a:xfrm>
            <a:off x="5868144" y="5019718"/>
            <a:ext cx="3168352" cy="824113"/>
          </a:xfrm>
          <a:prstGeom prst="wedgeEllipseCallout">
            <a:avLst>
              <a:gd name="adj1" fmla="val -178778"/>
              <a:gd name="adj2" fmla="val -75557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下层查询块：内</a:t>
            </a:r>
            <a:r>
              <a:rPr lang="zh-CN" altLang="en-US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查询</a:t>
            </a:r>
            <a:r>
              <a:rPr lang="en-US" altLang="zh-CN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子查询</a:t>
            </a:r>
            <a:endParaRPr lang="zh-CN" altLang="en-US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05548" y="5555800"/>
            <a:ext cx="47008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SQL</a:t>
            </a:r>
            <a:r>
              <a:rPr lang="zh-CN" altLang="en-US" sz="2400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语言允许多层嵌套查</a:t>
            </a:r>
            <a:r>
              <a:rPr lang="zh-CN" altLang="en-US" sz="2400" b="1" smtClean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询！</a:t>
            </a:r>
            <a:endParaRPr lang="zh-CN" altLang="en-US" sz="2400" b="1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27992"/>
          </a:xfrm>
        </p:spPr>
        <p:txBody>
          <a:bodyPr>
            <a:normAutofit fontScale="92500"/>
          </a:bodyPr>
          <a:lstStyle/>
          <a:p>
            <a:pPr marL="109855" indent="0">
              <a:buNone/>
            </a:pPr>
            <a:r>
              <a:rPr lang="zh-CN" altLang="en-US" dirty="0"/>
              <a:t>❖</a:t>
            </a:r>
            <a:r>
              <a:rPr lang="zh-CN" altLang="en-US" dirty="0">
                <a:solidFill>
                  <a:srgbClr val="FF0000"/>
                </a:solidFill>
              </a:rPr>
              <a:t>不相关子查询</a:t>
            </a:r>
            <a:r>
              <a:rPr lang="zh-CN" altLang="en-US" dirty="0"/>
              <a:t>： 子查询的查询条件不依赖于父查询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里向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外逐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层处理。即每个子查询在上一级查询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处理之前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求解，子查询的结果用于建立其父查询的查找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条件。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>
              <a:buNone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>
              <a:buNone/>
            </a:pPr>
            <a:r>
              <a:rPr lang="zh-CN" altLang="en-US" dirty="0"/>
              <a:t>❖</a:t>
            </a:r>
            <a:r>
              <a:rPr lang="zh-CN" altLang="en-US" dirty="0">
                <a:solidFill>
                  <a:srgbClr val="FF0000"/>
                </a:solidFill>
              </a:rPr>
              <a:t>相关子查询</a:t>
            </a:r>
            <a:r>
              <a:rPr lang="zh-CN" altLang="en-US" dirty="0"/>
              <a:t>：子查询的查询条件依赖于父查询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首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先取外层查询中表的第一个元组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根据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它与内层查询相关的属</a:t>
            </a:r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性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值处理内层查询，若</a:t>
            </a:r>
            <a:r>
              <a:rPr lang="en-US" altLang="zh-CN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WHERE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子句返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回值为真，则取此元组放入结果表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然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后再取外层表的下一个元组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重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复这一过程，直至外层表全部检查完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止</a:t>
            </a:r>
          </a:p>
          <a:p>
            <a:pPr marL="109855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嵌套查询求解方法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dirty="0" smtClean="0"/>
              <a:t>由</a:t>
            </a:r>
            <a:r>
              <a:rPr lang="en-US" altLang="zh-CN" dirty="0" smtClean="0"/>
              <a:t>IN</a:t>
            </a:r>
            <a:r>
              <a:rPr lang="zh-CN" altLang="en-US" dirty="0" smtClean="0"/>
              <a:t>引发的子查询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dirty="0" smtClean="0"/>
              <a:t>由比较运算符引出子查询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dirty="0"/>
              <a:t>ANY SOME </a:t>
            </a:r>
            <a:r>
              <a:rPr lang="en-US" altLang="zh-CN" dirty="0" smtClean="0"/>
              <a:t>ALL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dirty="0" smtClean="0"/>
              <a:t>由</a:t>
            </a:r>
            <a:r>
              <a:rPr lang="en-US" altLang="zh-CN" dirty="0" smtClean="0"/>
              <a:t>EXISTS</a:t>
            </a:r>
            <a:r>
              <a:rPr lang="zh-CN" altLang="en-US" dirty="0" smtClean="0"/>
              <a:t>引发的子</a:t>
            </a:r>
            <a:r>
              <a:rPr lang="zh-CN" altLang="en-US" smtClean="0"/>
              <a:t>查询</a:t>
            </a:r>
            <a:endParaRPr lang="en-US" altLang="zh-CN" smtClean="0"/>
          </a:p>
          <a:p>
            <a:pPr>
              <a:buFont typeface="Wingdings" panose="05000000000000000000" pitchFamily="2" charset="2"/>
              <a:buChar char="l"/>
            </a:pPr>
            <a:endParaRPr lang="en-US" altLang="zh-CN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mtClean="0"/>
              <a:t>其它：</a:t>
            </a:r>
            <a:endParaRPr lang="en-US" altLang="zh-CN" dirty="0" smtClean="0"/>
          </a:p>
          <a:p>
            <a:pPr marL="624205" indent="-514350">
              <a:buFont typeface="+mj-ea"/>
              <a:buAutoNum type="circleNumDbPlain"/>
            </a:pPr>
            <a:r>
              <a:rPr lang="en-US" altLang="zh-CN" dirty="0"/>
              <a:t>CREATE ... SELECT</a:t>
            </a:r>
          </a:p>
          <a:p>
            <a:pPr marL="624205" indent="-514350">
              <a:buFont typeface="+mj-ea"/>
              <a:buAutoNum type="circleNumDbPlain"/>
            </a:pPr>
            <a:r>
              <a:rPr lang="en-US" altLang="zh-CN" dirty="0" smtClean="0"/>
              <a:t>INSERT ... SELECT</a:t>
            </a:r>
          </a:p>
          <a:p>
            <a:pPr marL="624205" indent="-514350">
              <a:buFont typeface="+mj-ea"/>
              <a:buAutoNum type="circleNumDbPlain"/>
            </a:pPr>
            <a:r>
              <a:rPr lang="en-US" altLang="zh-CN" dirty="0" smtClean="0"/>
              <a:t>CREATE TABLE </a:t>
            </a:r>
            <a:r>
              <a:rPr lang="en-US" altLang="zh-CN" dirty="0" err="1" smtClean="0"/>
              <a:t>tbl_name</a:t>
            </a:r>
            <a:r>
              <a:rPr lang="en-US" altLang="zh-CN" dirty="0" smtClean="0"/>
              <a:t> LIKE </a:t>
            </a:r>
            <a:r>
              <a:rPr lang="en-US" altLang="zh-CN" dirty="0" err="1" smtClean="0"/>
              <a:t>tbl_name</a:t>
            </a:r>
            <a:r>
              <a:rPr lang="en-US" altLang="zh-CN" dirty="0" smtClean="0"/>
              <a:t>;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各类子</a:t>
            </a:r>
            <a:r>
              <a:rPr lang="zh-CN" altLang="en-US"/>
              <a:t>查</a:t>
            </a:r>
            <a:r>
              <a:rPr lang="zh-CN" altLang="en-US" smtClean="0"/>
              <a:t>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2155378"/>
          </a:xfrm>
        </p:spPr>
        <p:txBody>
          <a:bodyPr>
            <a:normAutofit/>
          </a:bodyPr>
          <a:lstStyle/>
          <a:p>
            <a:pPr marL="109855" indent="0">
              <a:buNone/>
            </a:pPr>
            <a:r>
              <a:rPr lang="en-US" altLang="zh-CN" dirty="0" smtClean="0"/>
              <a:t>【</a:t>
            </a:r>
            <a:r>
              <a:rPr lang="zh-CN" altLang="en-US" dirty="0" smtClean="0"/>
              <a:t>例</a:t>
            </a:r>
            <a:r>
              <a:rPr lang="en-US" altLang="zh-CN" smtClean="0"/>
              <a:t>1】</a:t>
            </a:r>
            <a:r>
              <a:rPr lang="zh-CN" altLang="en-US" smtClean="0"/>
              <a:t>查</a:t>
            </a:r>
            <a:r>
              <a:rPr lang="zh-CN" altLang="en-US" dirty="0" smtClean="0"/>
              <a:t>询</a:t>
            </a:r>
            <a:r>
              <a:rPr lang="zh-CN" altLang="en-US" dirty="0"/>
              <a:t>与</a:t>
            </a:r>
            <a:r>
              <a:rPr lang="zh-CN" altLang="en-US" dirty="0" smtClean="0"/>
              <a:t>“张立伟”</a:t>
            </a:r>
            <a:r>
              <a:rPr lang="zh-CN" altLang="en-US" dirty="0"/>
              <a:t>在同一个系学习的学生</a:t>
            </a:r>
            <a:r>
              <a:rPr lang="zh-CN" altLang="en-US" dirty="0" smtClean="0"/>
              <a:t>。此</a:t>
            </a:r>
            <a:r>
              <a:rPr lang="zh-CN" altLang="en-US" dirty="0"/>
              <a:t>查询要求可以分步</a:t>
            </a:r>
            <a:r>
              <a:rPr lang="zh-CN" altLang="en-US" dirty="0" smtClean="0"/>
              <a:t>来完成</a:t>
            </a:r>
            <a:r>
              <a:rPr lang="en-US" altLang="zh-CN" dirty="0" smtClean="0"/>
              <a:t>.</a:t>
            </a:r>
          </a:p>
          <a:p>
            <a:pPr marL="109855" indent="0"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① </a:t>
            </a:r>
            <a:r>
              <a:rPr lang="zh-CN" altLang="en-US" dirty="0">
                <a:latin typeface="+mn-ea"/>
              </a:rPr>
              <a:t>确定“张立伟”所在系名</a:t>
            </a:r>
          </a:p>
          <a:p>
            <a:pPr marL="109855" indent="0">
              <a:buNone/>
            </a:pPr>
            <a:endParaRPr lang="en-US" altLang="zh-CN" dirty="0" smtClean="0">
              <a:latin typeface="+mn-ea"/>
            </a:endParaRPr>
          </a:p>
          <a:p>
            <a:pPr marL="109855" indent="0">
              <a:buNone/>
            </a:pPr>
            <a:endParaRPr lang="en-US" altLang="zh-CN" dirty="0">
              <a:latin typeface="+mn-ea"/>
            </a:endParaRPr>
          </a:p>
          <a:p>
            <a:pPr marL="109855" indent="0">
              <a:buNone/>
            </a:pPr>
            <a:endParaRPr lang="zh-CN" altLang="en-US" dirty="0">
              <a:latin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带有</a:t>
            </a:r>
            <a:r>
              <a:rPr lang="en-US" altLang="zh-CN" dirty="0"/>
              <a:t>IN</a:t>
            </a:r>
            <a:r>
              <a:rPr lang="zh-CN" altLang="en-US" dirty="0"/>
              <a:t>谓词</a:t>
            </a:r>
            <a:r>
              <a:rPr lang="zh-CN" altLang="en-US" dirty="0" smtClean="0"/>
              <a:t>的子查询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421" y="3740829"/>
            <a:ext cx="6765158" cy="195037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97358" y="2996952"/>
            <a:ext cx="70897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DEPT </a:t>
            </a:r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S  </a:t>
            </a:r>
            <a:r>
              <a:rPr lang="en-US" altLang="zh-CN" sz="2400">
                <a:solidFill>
                  <a:srgbClr val="0000FF"/>
                </a:solidFill>
              </a:rPr>
              <a:t>WHERE</a:t>
            </a:r>
            <a:r>
              <a:rPr lang="en-US" altLang="zh-CN" sz="2400"/>
              <a:t> SN='</a:t>
            </a:r>
            <a:r>
              <a:rPr lang="zh-CN" altLang="en-US" sz="2400"/>
              <a:t>张立伟</a:t>
            </a:r>
            <a:r>
              <a:rPr lang="en-US" altLang="zh-CN" sz="2400"/>
              <a:t>';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855" indent="0">
              <a:buNone/>
            </a:pP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② </a:t>
            </a:r>
            <a:r>
              <a:rPr lang="zh-CN" altLang="en-US" smtClean="0">
                <a:latin typeface="+mn-ea"/>
              </a:rPr>
              <a:t>查找所有在</a:t>
            </a:r>
            <a:r>
              <a:rPr lang="en-US" altLang="zh-CN" smtClean="0">
                <a:latin typeface="+mn-ea"/>
              </a:rPr>
              <a:t>IS</a:t>
            </a:r>
            <a:r>
              <a:rPr lang="zh-CN" altLang="en-US" smtClean="0">
                <a:latin typeface="+mn-ea"/>
              </a:rPr>
              <a:t>系学习的学生。 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IN</a:t>
            </a:r>
            <a:r>
              <a:rPr lang="zh-CN" altLang="en-US" dirty="0"/>
              <a:t>谓词的子查询（续）</a:t>
            </a:r>
          </a:p>
        </p:txBody>
      </p:sp>
      <p:sp>
        <p:nvSpPr>
          <p:cNvPr id="6" name="矩形 5"/>
          <p:cNvSpPr/>
          <p:nvPr/>
        </p:nvSpPr>
        <p:spPr>
          <a:xfrm>
            <a:off x="1115616" y="2132856"/>
            <a:ext cx="56166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</a:t>
            </a:r>
            <a:r>
              <a:rPr lang="en-US" altLang="zh-CN" sz="2400" smtClean="0"/>
              <a:t>SNO,SN,DEPT  </a:t>
            </a:r>
            <a:r>
              <a:rPr lang="en-US" altLang="zh-CN" sz="2400" smtClean="0">
                <a:solidFill>
                  <a:srgbClr val="0000FF"/>
                </a:solidFill>
              </a:rPr>
              <a:t>FROM</a:t>
            </a:r>
            <a:r>
              <a:rPr lang="en-US" altLang="zh-CN" sz="2400" smtClean="0"/>
              <a:t> S </a:t>
            </a:r>
            <a:r>
              <a:rPr lang="en-US" altLang="zh-CN" sz="2400" smtClean="0">
                <a:solidFill>
                  <a:srgbClr val="0000FF"/>
                </a:solidFill>
              </a:rPr>
              <a:t>WHERE</a:t>
            </a:r>
            <a:r>
              <a:rPr lang="en-US" altLang="zh-CN" sz="2400" smtClean="0"/>
              <a:t> </a:t>
            </a:r>
            <a:r>
              <a:rPr lang="en-US" altLang="zh-CN" sz="2400"/>
              <a:t>DEPT='IS';</a:t>
            </a:r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r="11387"/>
          <a:stretch>
            <a:fillRect/>
          </a:stretch>
        </p:blipFill>
        <p:spPr>
          <a:xfrm>
            <a:off x="1187624" y="3140968"/>
            <a:ext cx="6624736" cy="25725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855" indent="0">
              <a:buNone/>
            </a:pPr>
            <a:r>
              <a:rPr lang="zh-CN" altLang="en-US" dirty="0"/>
              <a:t>将第一步查询嵌入到第二步查询的条件中 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IN</a:t>
            </a:r>
            <a:r>
              <a:rPr lang="zh-CN" altLang="en-US" dirty="0"/>
              <a:t>谓词的子查询（续）</a:t>
            </a:r>
          </a:p>
        </p:txBody>
      </p:sp>
      <p:sp>
        <p:nvSpPr>
          <p:cNvPr id="5" name="椭圆形标注 4"/>
          <p:cNvSpPr/>
          <p:nvPr/>
        </p:nvSpPr>
        <p:spPr>
          <a:xfrm>
            <a:off x="6948264" y="3068960"/>
            <a:ext cx="1944216" cy="1008112"/>
          </a:xfrm>
          <a:prstGeom prst="wedgeEllipseCallout">
            <a:avLst>
              <a:gd name="adj1" fmla="val -73517"/>
              <a:gd name="adj2" fmla="val -4438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此查询为不相关查询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55576" y="3715046"/>
            <a:ext cx="5040560" cy="224676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>
                <a:latin typeface="华文楷体" panose="02010600040101010101" pitchFamily="2" charset="-122"/>
                <a:ea typeface="华文楷体" panose="02010600040101010101" pitchFamily="2" charset="-122"/>
              </a:rPr>
              <a:t>❖不相关子查询： </a:t>
            </a:r>
            <a:endParaRPr lang="en-US" altLang="zh-CN" sz="200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00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子</a:t>
            </a:r>
            <a:r>
              <a:rPr lang="zh-CN" altLang="en-US" sz="2000">
                <a:latin typeface="华文楷体" panose="02010600040101010101" pitchFamily="2" charset="-122"/>
                <a:ea typeface="华文楷体" panose="02010600040101010101" pitchFamily="2" charset="-122"/>
              </a:rPr>
              <a:t>查询的查询条件不依赖于父查</a:t>
            </a:r>
            <a:r>
              <a:rPr lang="zh-CN" altLang="en-US" sz="200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询</a:t>
            </a:r>
            <a:endParaRPr lang="en-US" altLang="zh-CN" sz="200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0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>
                <a:latin typeface="华文楷体" panose="02010600040101010101" pitchFamily="2" charset="-122"/>
                <a:ea typeface="华文楷体" panose="02010600040101010101" pitchFamily="2" charset="-122"/>
              </a:rPr>
              <a:t>由里向外逐层处理。即每个子查询在上一级查询处理之前求解，子查询的结果用于建立其父查询的查找条件。</a:t>
            </a:r>
          </a:p>
        </p:txBody>
      </p:sp>
      <p:sp>
        <p:nvSpPr>
          <p:cNvPr id="7" name="矩形 6"/>
          <p:cNvSpPr/>
          <p:nvPr/>
        </p:nvSpPr>
        <p:spPr>
          <a:xfrm>
            <a:off x="1043608" y="2013188"/>
            <a:ext cx="59766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</a:rPr>
              <a:t>SELECT </a:t>
            </a:r>
            <a:r>
              <a:rPr lang="en-US" altLang="zh-CN" sz="2000"/>
              <a:t>SNO,SN,DEPT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FROM </a:t>
            </a:r>
            <a:r>
              <a:rPr lang="en-US" altLang="zh-CN" sz="2000"/>
              <a:t>S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WHERE </a:t>
            </a:r>
            <a:r>
              <a:rPr lang="en-US" altLang="zh-CN" sz="2000"/>
              <a:t>DEPT</a:t>
            </a:r>
            <a:r>
              <a:rPr lang="en-US" altLang="zh-CN" sz="2000">
                <a:solidFill>
                  <a:srgbClr val="0000FF"/>
                </a:solidFill>
              </a:rPr>
              <a:t> IN </a:t>
            </a:r>
          </a:p>
          <a:p>
            <a:r>
              <a:rPr lang="en-US" altLang="zh-CN" sz="2000"/>
              <a:t>(SELECT DEPT FROM S  WHERE SN='</a:t>
            </a:r>
            <a:r>
              <a:rPr lang="zh-CN" altLang="en-US" sz="2000"/>
              <a:t>张立伟</a:t>
            </a:r>
            <a:r>
              <a:rPr lang="en-US" altLang="zh-CN" sz="2000"/>
              <a:t>')</a:t>
            </a:r>
            <a:r>
              <a:rPr lang="en-US" altLang="zh-CN" sz="2000">
                <a:solidFill>
                  <a:srgbClr val="0000FF"/>
                </a:solidFill>
              </a:rPr>
              <a:t>;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855" indent="0">
              <a:buNone/>
            </a:pPr>
            <a:r>
              <a:rPr lang="zh-CN" altLang="en-US" dirty="0"/>
              <a:t>用自身连接</a:t>
            </a:r>
            <a:r>
              <a:rPr lang="zh-CN" altLang="en-US" dirty="0" smtClean="0"/>
              <a:t>完成</a:t>
            </a:r>
            <a:r>
              <a:rPr lang="en-US" altLang="zh-CN" dirty="0" smtClean="0"/>
              <a:t>【</a:t>
            </a:r>
            <a:r>
              <a:rPr lang="zh-CN" altLang="en-US" dirty="0" smtClean="0"/>
              <a:t>例 </a:t>
            </a:r>
            <a:r>
              <a:rPr lang="en-US" altLang="zh-CN" dirty="0" smtClean="0"/>
              <a:t>1】</a:t>
            </a:r>
            <a:r>
              <a:rPr lang="zh-CN" altLang="en-US" dirty="0" smtClean="0"/>
              <a:t>查询要求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IN</a:t>
            </a:r>
            <a:r>
              <a:rPr lang="zh-CN" altLang="en-US" dirty="0"/>
              <a:t>谓词的子查询（</a:t>
            </a:r>
            <a:r>
              <a:rPr lang="zh-CN" altLang="en-US" dirty="0" smtClean="0"/>
              <a:t>续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12938" y="2060848"/>
            <a:ext cx="396044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S1.SNO,S1.SN,S1.DEPT 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S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S1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JOIN</a:t>
            </a:r>
            <a:r>
              <a:rPr lang="en-US" altLang="zh-CN" sz="2400"/>
              <a:t> S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S2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ON</a:t>
            </a:r>
            <a:r>
              <a:rPr lang="en-US" altLang="zh-CN" sz="2400"/>
              <a:t> S1.DEPT=S2.DEPT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WHERE</a:t>
            </a:r>
            <a:r>
              <a:rPr lang="en-US" altLang="zh-CN" sz="2400"/>
              <a:t> S2.SN='</a:t>
            </a:r>
            <a:r>
              <a:rPr lang="zh-CN" altLang="en-US" sz="2400"/>
              <a:t>张立伟</a:t>
            </a:r>
            <a:r>
              <a:rPr lang="en-US" altLang="zh-CN" sz="2400"/>
              <a:t>';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r="20070"/>
          <a:stretch>
            <a:fillRect/>
          </a:stretch>
        </p:blipFill>
        <p:spPr>
          <a:xfrm>
            <a:off x="4427984" y="2996952"/>
            <a:ext cx="4351014" cy="34783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4525963"/>
          </a:xfrm>
        </p:spPr>
        <p:txBody>
          <a:bodyPr>
            <a:normAutofit/>
          </a:bodyPr>
          <a:lstStyle/>
          <a:p>
            <a:pPr marL="109855" indent="0">
              <a:buNone/>
            </a:pPr>
            <a:r>
              <a:rPr lang="en-US" altLang="zh-CN" dirty="0"/>
              <a:t>【</a:t>
            </a:r>
            <a:r>
              <a:rPr lang="zh-CN" altLang="en-US" dirty="0" smtClean="0"/>
              <a:t>例</a:t>
            </a:r>
            <a:r>
              <a:rPr lang="en-US" altLang="zh-CN" dirty="0" smtClean="0"/>
              <a:t>2】 </a:t>
            </a:r>
            <a:r>
              <a:rPr lang="zh-CN" altLang="en-US" dirty="0" smtClean="0"/>
              <a:t>查询</a:t>
            </a:r>
            <a:r>
              <a:rPr lang="zh-CN" altLang="en-US" dirty="0"/>
              <a:t>选修了课程名为</a:t>
            </a:r>
            <a:r>
              <a:rPr lang="zh-CN" altLang="en-US" dirty="0" smtClean="0"/>
              <a:t>“数据库”</a:t>
            </a:r>
            <a:r>
              <a:rPr lang="zh-CN" altLang="en-US" dirty="0"/>
              <a:t>的学生学号和姓名 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带有</a:t>
            </a:r>
            <a:r>
              <a:rPr lang="en-US" altLang="zh-CN" dirty="0" smtClean="0"/>
              <a:t>IN</a:t>
            </a:r>
            <a:r>
              <a:rPr lang="zh-CN" altLang="en-US" dirty="0" smtClean="0"/>
              <a:t>谓词的子查询（续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123739" y="5013176"/>
            <a:ext cx="3312368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首先在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关系表中查找课程名为‘数据库’的课程号为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C1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46757" y="3615407"/>
            <a:ext cx="2448272" cy="92333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然后在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SC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关系中查到选修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C1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课程的学生的学号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58233" y="2654930"/>
            <a:ext cx="3312368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最后在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S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关系表中查到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SNO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SN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3059832" y="4581128"/>
            <a:ext cx="1947917" cy="64807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2411760" y="3712918"/>
            <a:ext cx="2595989" cy="364154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2195736" y="2780928"/>
            <a:ext cx="2738974" cy="144016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08947" y="2424276"/>
            <a:ext cx="4572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</a:rPr>
              <a:t>SELECT</a:t>
            </a:r>
            <a:r>
              <a:rPr lang="en-US" altLang="zh-CN" sz="2000"/>
              <a:t> SN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FROM</a:t>
            </a:r>
            <a:r>
              <a:rPr lang="en-US" altLang="zh-CN" sz="2000"/>
              <a:t> S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WHERE</a:t>
            </a:r>
            <a:r>
              <a:rPr lang="en-US" altLang="zh-CN" sz="2000"/>
              <a:t> SNO </a:t>
            </a:r>
            <a:r>
              <a:rPr lang="en-US" altLang="zh-CN" sz="2000">
                <a:solidFill>
                  <a:srgbClr val="0000FF"/>
                </a:solidFill>
              </a:rPr>
              <a:t>IN</a:t>
            </a:r>
          </a:p>
          <a:p>
            <a:r>
              <a:rPr lang="en-US" altLang="zh-CN" sz="2000"/>
              <a:t>  (</a:t>
            </a:r>
            <a:r>
              <a:rPr lang="en-US" altLang="zh-CN" sz="2000">
                <a:solidFill>
                  <a:srgbClr val="0000FF"/>
                </a:solidFill>
              </a:rPr>
              <a:t>SELECT</a:t>
            </a:r>
            <a:r>
              <a:rPr lang="en-US" altLang="zh-CN" sz="2000"/>
              <a:t> SNO</a:t>
            </a:r>
          </a:p>
          <a:p>
            <a:r>
              <a:rPr lang="en-US" altLang="zh-CN" sz="2000"/>
              <a:t>    </a:t>
            </a:r>
            <a:r>
              <a:rPr lang="en-US" altLang="zh-CN" sz="2000">
                <a:solidFill>
                  <a:srgbClr val="0000FF"/>
                </a:solidFill>
              </a:rPr>
              <a:t>FROM</a:t>
            </a:r>
            <a:r>
              <a:rPr lang="en-US" altLang="zh-CN" sz="2000"/>
              <a:t>  SC</a:t>
            </a:r>
          </a:p>
          <a:p>
            <a:r>
              <a:rPr lang="en-US" altLang="zh-CN" sz="2000"/>
              <a:t>    </a:t>
            </a:r>
            <a:r>
              <a:rPr lang="en-US" altLang="zh-CN" sz="2000">
                <a:solidFill>
                  <a:srgbClr val="0000FF"/>
                </a:solidFill>
              </a:rPr>
              <a:t>WHERE</a:t>
            </a:r>
            <a:r>
              <a:rPr lang="en-US" altLang="zh-CN" sz="2000"/>
              <a:t> CNO </a:t>
            </a:r>
            <a:r>
              <a:rPr lang="en-US" altLang="zh-CN" sz="2000">
                <a:solidFill>
                  <a:srgbClr val="0000FF"/>
                </a:solidFill>
              </a:rPr>
              <a:t>IN</a:t>
            </a:r>
          </a:p>
          <a:p>
            <a:r>
              <a:rPr lang="en-US" altLang="zh-CN" sz="2000"/>
              <a:t>        (</a:t>
            </a:r>
            <a:r>
              <a:rPr lang="en-US" altLang="zh-CN" sz="2000">
                <a:solidFill>
                  <a:srgbClr val="0000FF"/>
                </a:solidFill>
              </a:rPr>
              <a:t>SELECT</a:t>
            </a:r>
            <a:r>
              <a:rPr lang="en-US" altLang="zh-CN" sz="2000"/>
              <a:t> CNO</a:t>
            </a:r>
          </a:p>
          <a:p>
            <a:r>
              <a:rPr lang="en-US" altLang="zh-CN" sz="2000"/>
              <a:t>          </a:t>
            </a:r>
            <a:r>
              <a:rPr lang="en-US" altLang="zh-CN" sz="2000">
                <a:solidFill>
                  <a:srgbClr val="0000FF"/>
                </a:solidFill>
              </a:rPr>
              <a:t>FROM</a:t>
            </a:r>
            <a:r>
              <a:rPr lang="en-US" altLang="zh-CN" sz="2000"/>
              <a:t> C</a:t>
            </a:r>
          </a:p>
          <a:p>
            <a:r>
              <a:rPr lang="en-US" altLang="zh-CN" sz="2000"/>
              <a:t>          </a:t>
            </a:r>
            <a:r>
              <a:rPr lang="en-US" altLang="zh-CN" sz="2000">
                <a:solidFill>
                  <a:srgbClr val="0000FF"/>
                </a:solidFill>
              </a:rPr>
              <a:t>WHERE</a:t>
            </a:r>
            <a:r>
              <a:rPr lang="en-US" altLang="zh-CN" sz="2000"/>
              <a:t> CN='</a:t>
            </a:r>
            <a:r>
              <a:rPr lang="zh-CN" altLang="en-US" sz="2000"/>
              <a:t>数据库</a:t>
            </a:r>
            <a:r>
              <a:rPr lang="en-US" altLang="zh-CN" sz="2000"/>
              <a:t>')</a:t>
            </a:r>
          </a:p>
          <a:p>
            <a:r>
              <a:rPr lang="en-US" altLang="zh-CN" sz="2000"/>
              <a:t>  );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651528"/>
          </a:xfrm>
        </p:spPr>
        <p:txBody>
          <a:bodyPr/>
          <a:lstStyle/>
          <a:p>
            <a:r>
              <a:rPr lang="zh-CN" altLang="en-US" dirty="0" smtClean="0"/>
              <a:t>用连接实现</a:t>
            </a:r>
            <a:r>
              <a:rPr lang="en-US" altLang="zh-CN" dirty="0" smtClean="0"/>
              <a:t>【</a:t>
            </a:r>
            <a:r>
              <a:rPr lang="zh-CN" altLang="en-US" dirty="0" smtClean="0"/>
              <a:t>例</a:t>
            </a:r>
            <a:r>
              <a:rPr lang="en-US" altLang="zh-CN" dirty="0" smtClean="0"/>
              <a:t>2】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IN</a:t>
            </a:r>
            <a:r>
              <a:rPr lang="zh-CN" altLang="en-US" dirty="0"/>
              <a:t>谓词的子查询（续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27584" y="2276872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S.SNO,S.SN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S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JOIN</a:t>
            </a:r>
            <a:r>
              <a:rPr lang="en-US" altLang="zh-CN" sz="2400"/>
              <a:t> SC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ON</a:t>
            </a:r>
            <a:r>
              <a:rPr lang="en-US" altLang="zh-CN" sz="2400"/>
              <a:t> S.SNO=SC.SNO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JOIN</a:t>
            </a:r>
            <a:r>
              <a:rPr lang="en-US" altLang="zh-CN" sz="2400"/>
              <a:t> C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ON</a:t>
            </a:r>
            <a:r>
              <a:rPr lang="en-US" altLang="zh-CN" sz="2400"/>
              <a:t> SC.CNO=C.CNO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WHERE</a:t>
            </a:r>
            <a:r>
              <a:rPr lang="en-US" altLang="zh-CN" sz="2400"/>
              <a:t> C.CN='</a:t>
            </a:r>
            <a:r>
              <a:rPr lang="zh-CN" altLang="en-US" sz="2400"/>
              <a:t>数据库</a:t>
            </a:r>
            <a:r>
              <a:rPr lang="en-US" altLang="zh-CN" sz="2400"/>
              <a:t>';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855" indent="0">
              <a:buNone/>
            </a:pPr>
            <a:r>
              <a:rPr lang="zh-CN" altLang="en-US" dirty="0"/>
              <a:t>❖ 当能确切知道内层查询返回单值时，可用比较运 算符（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r>
              <a:rPr lang="en-US" altLang="zh-CN" dirty="0"/>
              <a:t>&lt;</a:t>
            </a:r>
            <a:r>
              <a:rPr lang="zh-CN" altLang="en-US" dirty="0"/>
              <a:t>，</a:t>
            </a:r>
            <a:r>
              <a:rPr lang="en-US" altLang="zh-CN" dirty="0"/>
              <a:t>=</a:t>
            </a:r>
            <a:r>
              <a:rPr lang="zh-CN" altLang="en-US" dirty="0"/>
              <a:t>，</a:t>
            </a:r>
            <a:r>
              <a:rPr lang="en-US" altLang="zh-CN" dirty="0"/>
              <a:t>&gt;=</a:t>
            </a:r>
            <a:r>
              <a:rPr lang="zh-CN" altLang="en-US" dirty="0"/>
              <a:t>，</a:t>
            </a:r>
            <a:r>
              <a:rPr lang="en-US" altLang="zh-CN" dirty="0"/>
              <a:t>&lt;=</a:t>
            </a:r>
            <a:r>
              <a:rPr lang="zh-CN" altLang="en-US" dirty="0"/>
              <a:t>，</a:t>
            </a:r>
            <a:r>
              <a:rPr lang="en-US" altLang="zh-CN" dirty="0"/>
              <a:t>!=</a:t>
            </a:r>
            <a:r>
              <a:rPr lang="zh-CN" altLang="en-US" dirty="0"/>
              <a:t>或</a:t>
            </a:r>
            <a:r>
              <a:rPr lang="en-US" altLang="zh-CN" dirty="0"/>
              <a:t>&lt; &gt;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带有比较运算符的子查询</a:t>
            </a:r>
          </a:p>
        </p:txBody>
      </p:sp>
      <p:sp>
        <p:nvSpPr>
          <p:cNvPr id="5" name="矩形 4"/>
          <p:cNvSpPr/>
          <p:nvPr/>
        </p:nvSpPr>
        <p:spPr>
          <a:xfrm>
            <a:off x="971600" y="2852936"/>
            <a:ext cx="66064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SNO,SN,DEPT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S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WHERE</a:t>
            </a:r>
            <a:r>
              <a:rPr lang="en-US" altLang="zh-CN" sz="2400"/>
              <a:t> DEPT= </a:t>
            </a:r>
          </a:p>
          <a:p>
            <a:r>
              <a:rPr lang="en-US" altLang="zh-CN" sz="2400"/>
              <a:t>(</a:t>
            </a:r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DEPT</a:t>
            </a:r>
            <a:r>
              <a:rPr lang="en-US" altLang="zh-CN" sz="2400">
                <a:solidFill>
                  <a:srgbClr val="0000FF"/>
                </a:solidFill>
              </a:rPr>
              <a:t> FROM </a:t>
            </a:r>
            <a:r>
              <a:rPr lang="en-US" altLang="zh-CN" sz="2400"/>
              <a:t>S  </a:t>
            </a:r>
            <a:r>
              <a:rPr lang="en-US" altLang="zh-CN" sz="2400">
                <a:solidFill>
                  <a:srgbClr val="0000FF"/>
                </a:solidFill>
              </a:rPr>
              <a:t>WHERE</a:t>
            </a:r>
            <a:r>
              <a:rPr lang="en-US" altLang="zh-CN" sz="2400"/>
              <a:t> SN='</a:t>
            </a:r>
            <a:r>
              <a:rPr lang="zh-CN" altLang="en-US" sz="2400"/>
              <a:t>张立伟</a:t>
            </a:r>
            <a:r>
              <a:rPr lang="en-US" altLang="zh-CN" sz="2400"/>
              <a:t>');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95536" y="1268761"/>
            <a:ext cx="8229600" cy="936104"/>
          </a:xfrm>
        </p:spPr>
        <p:txBody>
          <a:bodyPr>
            <a:normAutofit fontScale="92500"/>
          </a:bodyPr>
          <a:lstStyle/>
          <a:p>
            <a:pPr marL="109855" indent="0">
              <a:buNone/>
            </a:pPr>
            <a:r>
              <a:rPr lang="en-US" altLang="zh-CN" dirty="0" smtClean="0"/>
              <a:t>【</a:t>
            </a:r>
            <a:r>
              <a:rPr lang="zh-CN" altLang="en-US" dirty="0" smtClean="0"/>
              <a:t>例</a:t>
            </a:r>
            <a:r>
              <a:rPr lang="en-US" altLang="zh-CN" dirty="0" smtClean="0"/>
              <a:t>3】</a:t>
            </a:r>
            <a:r>
              <a:rPr lang="zh-CN" altLang="en-US" dirty="0"/>
              <a:t>找出每个学生超过他选修课程平均成绩的课程</a:t>
            </a:r>
            <a:r>
              <a:rPr lang="zh-CN" altLang="en-US" dirty="0" smtClean="0"/>
              <a:t>号</a:t>
            </a:r>
            <a:endParaRPr lang="en-US" altLang="zh-CN" dirty="0" smtClean="0"/>
          </a:p>
          <a:p>
            <a:pPr marL="109855" indent="0">
              <a:buNone/>
            </a:pPr>
            <a:r>
              <a:rPr lang="zh-CN" altLang="en-US" smtClean="0"/>
              <a:t> 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带有</a:t>
            </a:r>
            <a:r>
              <a:rPr lang="zh-CN" altLang="en-US" dirty="0"/>
              <a:t>比较运算符的子</a:t>
            </a:r>
            <a:r>
              <a:rPr lang="zh-CN" altLang="en-US" dirty="0" smtClean="0"/>
              <a:t>查询（续）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39552" y="3962544"/>
            <a:ext cx="158417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相关子查询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1259632" y="3334438"/>
            <a:ext cx="648072" cy="52661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203848" y="4023601"/>
            <a:ext cx="5832648" cy="258532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❖相关子查询：子查询的查询条件依赖于父查</a:t>
            </a:r>
            <a:r>
              <a:rPr lang="zh-CN" altLang="en-US" b="1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询</a:t>
            </a:r>
            <a:endParaRPr lang="en-US" altLang="zh-CN" b="1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首先取外层查询中表的第一个元组，根据它与内层查询相关的属性值处理内层查询，若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WHERE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子句返回值为真，则取此元组放入结果</a:t>
            </a:r>
            <a:r>
              <a:rPr lang="zh-CN" altLang="en-US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表</a:t>
            </a:r>
            <a:endParaRPr lang="en-US" altLang="zh-CN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然后再取外层表的下一个元</a:t>
            </a:r>
            <a:r>
              <a:rPr lang="zh-CN" altLang="en-US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组</a:t>
            </a:r>
            <a:endParaRPr lang="en-US" altLang="zh-CN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重复这一过程，直至外层表全部检查完为止</a:t>
            </a:r>
          </a:p>
        </p:txBody>
      </p:sp>
      <p:sp>
        <p:nvSpPr>
          <p:cNvPr id="6" name="矩形 5"/>
          <p:cNvSpPr/>
          <p:nvPr/>
        </p:nvSpPr>
        <p:spPr>
          <a:xfrm>
            <a:off x="1835696" y="1747227"/>
            <a:ext cx="568863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</a:rPr>
              <a:t>SELECT</a:t>
            </a:r>
            <a:r>
              <a:rPr lang="en-US" altLang="zh-CN" sz="2000"/>
              <a:t> SNO,CNO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FROM</a:t>
            </a:r>
            <a:r>
              <a:rPr lang="en-US" altLang="zh-CN" sz="2000"/>
              <a:t> SC </a:t>
            </a:r>
            <a:r>
              <a:rPr lang="en-US" altLang="zh-CN" sz="2000">
                <a:solidFill>
                  <a:srgbClr val="0000FF"/>
                </a:solidFill>
              </a:rPr>
              <a:t>AS</a:t>
            </a:r>
            <a:r>
              <a:rPr lang="en-US" altLang="zh-CN" sz="2000"/>
              <a:t> x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WHERE</a:t>
            </a:r>
            <a:r>
              <a:rPr lang="en-US" altLang="zh-CN" sz="2000"/>
              <a:t> SCORE&gt;=</a:t>
            </a:r>
          </a:p>
          <a:p>
            <a:r>
              <a:rPr lang="en-US" altLang="zh-CN" sz="2000"/>
              <a:t>    (</a:t>
            </a:r>
            <a:r>
              <a:rPr lang="en-US" altLang="zh-CN" sz="2000">
                <a:solidFill>
                  <a:srgbClr val="0000FF"/>
                </a:solidFill>
              </a:rPr>
              <a:t>SELECT</a:t>
            </a:r>
            <a:r>
              <a:rPr lang="en-US" altLang="zh-CN" sz="2000"/>
              <a:t> AVG(SCORE)</a:t>
            </a:r>
          </a:p>
          <a:p>
            <a:r>
              <a:rPr lang="en-US" altLang="zh-CN" sz="2000"/>
              <a:t>     </a:t>
            </a:r>
            <a:r>
              <a:rPr lang="en-US" altLang="zh-CN" sz="2000">
                <a:solidFill>
                  <a:srgbClr val="0000FF"/>
                </a:solidFill>
              </a:rPr>
              <a:t> FROM </a:t>
            </a:r>
            <a:r>
              <a:rPr lang="en-US" altLang="zh-CN" sz="2000"/>
              <a:t>SC </a:t>
            </a:r>
            <a:r>
              <a:rPr lang="en-US" altLang="zh-CN" sz="2000">
                <a:solidFill>
                  <a:srgbClr val="0000FF"/>
                </a:solidFill>
              </a:rPr>
              <a:t>AS</a:t>
            </a:r>
            <a:r>
              <a:rPr lang="en-US" altLang="zh-CN" sz="2000"/>
              <a:t> y</a:t>
            </a:r>
          </a:p>
          <a:p>
            <a:r>
              <a:rPr lang="en-US" altLang="zh-CN" sz="2000"/>
              <a:t>      </a:t>
            </a:r>
            <a:r>
              <a:rPr lang="en-US" altLang="zh-CN" sz="2000">
                <a:solidFill>
                  <a:srgbClr val="0000FF"/>
                </a:solidFill>
              </a:rPr>
              <a:t>GROUP BY </a:t>
            </a:r>
            <a:r>
              <a:rPr lang="en-US" altLang="zh-CN" sz="2000"/>
              <a:t>SNO </a:t>
            </a:r>
          </a:p>
          <a:p>
            <a:r>
              <a:rPr lang="en-US" altLang="zh-CN" sz="2000"/>
              <a:t>      </a:t>
            </a:r>
            <a:r>
              <a:rPr lang="en-US" altLang="zh-CN" sz="2000">
                <a:solidFill>
                  <a:srgbClr val="0000FF"/>
                </a:solidFill>
              </a:rPr>
              <a:t>HAVING</a:t>
            </a:r>
            <a:r>
              <a:rPr lang="en-US" altLang="zh-CN" sz="2000"/>
              <a:t> y.SNO=x.SNO);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9552" y="1556792"/>
            <a:ext cx="8229600" cy="4525963"/>
          </a:xfrm>
        </p:spPr>
        <p:txBody>
          <a:bodyPr>
            <a:normAutofit lnSpcReduction="10000"/>
          </a:bodyPr>
          <a:lstStyle/>
          <a:p>
            <a:pPr marL="624205" indent="-514350">
              <a:buFont typeface="+mj-ea"/>
              <a:buAutoNum type="circleNumDbPlain"/>
            </a:pPr>
            <a:r>
              <a:rPr lang="zh-CN" altLang="en-US" sz="2400" smtClean="0">
                <a:latin typeface="+mn-ea"/>
              </a:rPr>
              <a:t>从</a:t>
            </a:r>
            <a:r>
              <a:rPr lang="zh-CN" altLang="en-US" sz="2400" dirty="0">
                <a:latin typeface="+mn-ea"/>
              </a:rPr>
              <a:t>外层查询中取出</a:t>
            </a:r>
            <a:r>
              <a:rPr lang="en-US" altLang="zh-CN" sz="2400" dirty="0">
                <a:latin typeface="+mn-ea"/>
              </a:rPr>
              <a:t>SC</a:t>
            </a:r>
            <a:r>
              <a:rPr lang="zh-CN" altLang="en-US" sz="2400" dirty="0">
                <a:latin typeface="+mn-ea"/>
              </a:rPr>
              <a:t>的一个元组</a:t>
            </a:r>
            <a:r>
              <a:rPr lang="en-US" altLang="zh-CN" sz="2400" dirty="0">
                <a:latin typeface="+mn-ea"/>
              </a:rPr>
              <a:t>x</a:t>
            </a:r>
            <a:r>
              <a:rPr lang="zh-CN" altLang="en-US" sz="2400" dirty="0">
                <a:latin typeface="+mn-ea"/>
              </a:rPr>
              <a:t>，将元组</a:t>
            </a:r>
            <a:r>
              <a:rPr lang="en-US" altLang="zh-CN" sz="2400" dirty="0">
                <a:latin typeface="+mn-ea"/>
              </a:rPr>
              <a:t>x</a:t>
            </a:r>
            <a:r>
              <a:rPr lang="zh-CN" altLang="en-US" sz="2400" dirty="0">
                <a:latin typeface="+mn-ea"/>
              </a:rPr>
              <a:t>的</a:t>
            </a:r>
            <a:r>
              <a:rPr lang="en-US" altLang="zh-CN" sz="2400" dirty="0" smtClean="0">
                <a:latin typeface="+mn-ea"/>
              </a:rPr>
              <a:t>SNO</a:t>
            </a:r>
            <a:r>
              <a:rPr lang="zh-CN" altLang="en-US" sz="2400" dirty="0" smtClean="0">
                <a:latin typeface="+mn-ea"/>
              </a:rPr>
              <a:t>值 （</a:t>
            </a:r>
            <a:r>
              <a:rPr lang="en-US" altLang="zh-CN" sz="2400" dirty="0" smtClean="0">
                <a:latin typeface="+mn-ea"/>
              </a:rPr>
              <a:t>S1</a:t>
            </a:r>
            <a:r>
              <a:rPr lang="zh-CN" altLang="en-US" sz="2400" dirty="0" smtClean="0">
                <a:latin typeface="+mn-ea"/>
              </a:rPr>
              <a:t>）</a:t>
            </a:r>
            <a:r>
              <a:rPr lang="zh-CN" altLang="en-US" sz="2400" dirty="0">
                <a:latin typeface="+mn-ea"/>
              </a:rPr>
              <a:t>传送给内层查</a:t>
            </a:r>
            <a:r>
              <a:rPr lang="zh-CN" altLang="en-US" sz="2400">
                <a:latin typeface="+mn-ea"/>
              </a:rPr>
              <a:t>询</a:t>
            </a:r>
            <a:r>
              <a:rPr lang="zh-CN" altLang="en-US" sz="2400" smtClean="0">
                <a:latin typeface="+mn-ea"/>
              </a:rPr>
              <a:t>。</a:t>
            </a:r>
            <a:endParaRPr lang="en-US" altLang="zh-CN" sz="2400" smtClean="0">
              <a:latin typeface="+mn-ea"/>
            </a:endParaRPr>
          </a:p>
          <a:p>
            <a:pPr marL="624205" indent="-514350">
              <a:buFont typeface="+mj-ea"/>
              <a:buAutoNum type="circleNumDbPlain"/>
            </a:pPr>
            <a:endParaRPr lang="en-US" altLang="zh-CN" sz="2400" smtClean="0">
              <a:latin typeface="+mn-ea"/>
            </a:endParaRPr>
          </a:p>
          <a:p>
            <a:pPr marL="624205" indent="-514350">
              <a:buFont typeface="+mj-ea"/>
              <a:buAutoNum type="circleNumDbPlain"/>
            </a:pPr>
            <a:endParaRPr lang="en-US" altLang="zh-CN" sz="2400">
              <a:latin typeface="+mn-ea"/>
            </a:endParaRPr>
          </a:p>
          <a:p>
            <a:pPr marL="624205" indent="-514350">
              <a:buFont typeface="+mj-ea"/>
              <a:buAutoNum type="circleNumDbPlain"/>
            </a:pPr>
            <a:endParaRPr lang="en-US" altLang="zh-CN" sz="2400" smtClean="0">
              <a:latin typeface="+mn-ea"/>
            </a:endParaRPr>
          </a:p>
          <a:p>
            <a:pPr marL="624205" indent="-514350">
              <a:buFont typeface="+mj-ea"/>
              <a:buAutoNum type="circleNumDbPlain"/>
            </a:pPr>
            <a:endParaRPr lang="en-US" altLang="zh-CN" sz="2400" dirty="0" smtClean="0">
              <a:latin typeface="+mn-ea"/>
            </a:endParaRPr>
          </a:p>
          <a:p>
            <a:pPr marL="624205" indent="-514350">
              <a:buFont typeface="+mj-ea"/>
              <a:buAutoNum type="circleNumDbPlain" startAt="2"/>
            </a:pPr>
            <a:r>
              <a:rPr lang="zh-CN" altLang="en-US" sz="2400" smtClean="0">
                <a:latin typeface="+mn-ea"/>
              </a:rPr>
              <a:t>执</a:t>
            </a:r>
            <a:r>
              <a:rPr lang="zh-CN" altLang="en-US" sz="2400">
                <a:latin typeface="+mn-ea"/>
              </a:rPr>
              <a:t>行内层查询，得到值</a:t>
            </a:r>
            <a:r>
              <a:rPr lang="en-US" altLang="zh-CN" sz="2400">
                <a:latin typeface="+mn-ea"/>
              </a:rPr>
              <a:t>88</a:t>
            </a:r>
            <a:r>
              <a:rPr lang="zh-CN" altLang="en-US" sz="2400">
                <a:latin typeface="+mn-ea"/>
              </a:rPr>
              <a:t>（近似值），用该值代替内层查询，得到外层查询</a:t>
            </a:r>
            <a:r>
              <a:rPr lang="zh-CN" altLang="en-US" sz="2400" smtClean="0">
                <a:latin typeface="+mn-ea"/>
              </a:rPr>
              <a:t>：</a:t>
            </a:r>
            <a:endParaRPr lang="en-US" altLang="zh-CN" sz="2400" smtClean="0">
              <a:latin typeface="+mn-ea"/>
            </a:endParaRPr>
          </a:p>
          <a:p>
            <a:pPr marL="109855" indent="0">
              <a:buNone/>
            </a:pPr>
            <a:r>
              <a:rPr lang="zh-CN" altLang="en-US" smtClean="0">
                <a:latin typeface="+mn-ea"/>
              </a:rPr>
              <a:t> </a:t>
            </a:r>
            <a:endParaRPr lang="zh-CN" altLang="en-US">
              <a:latin typeface="+mn-ea"/>
            </a:endParaRPr>
          </a:p>
          <a:p>
            <a:pPr marL="109855" indent="0">
              <a:buNone/>
            </a:pPr>
            <a:r>
              <a:rPr lang="zh-CN" altLang="en-US">
                <a:latin typeface="+mn-ea"/>
              </a:rPr>
              <a:t> </a:t>
            </a:r>
            <a:endParaRPr lang="en-US" altLang="zh-CN">
              <a:latin typeface="+mn-ea"/>
            </a:endParaRPr>
          </a:p>
          <a:p>
            <a:pPr marL="109855" indent="0">
              <a:buNone/>
            </a:pPr>
            <a:r>
              <a:rPr lang="zh-CN" altLang="en-US" smtClean="0">
                <a:latin typeface="+mn-ea"/>
              </a:rPr>
              <a:t>   </a:t>
            </a:r>
            <a:r>
              <a:rPr lang="zh-CN" altLang="en-US" sz="2400" smtClean="0">
                <a:latin typeface="+mn-ea"/>
              </a:rPr>
              <a:t>执</a:t>
            </a:r>
            <a:r>
              <a:rPr lang="zh-CN" altLang="en-US" sz="2400">
                <a:latin typeface="+mn-ea"/>
              </a:rPr>
              <a:t>行该查询，得到结</a:t>
            </a:r>
            <a:r>
              <a:rPr lang="zh-CN" altLang="en-US" sz="2400" smtClean="0">
                <a:latin typeface="+mn-ea"/>
              </a:rPr>
              <a:t>果</a:t>
            </a:r>
            <a:r>
              <a:rPr lang="en-US" altLang="zh-CN" sz="2400" smtClean="0">
                <a:latin typeface="+mn-ea"/>
              </a:rPr>
              <a:t>:</a:t>
            </a:r>
            <a:endParaRPr lang="zh-CN" altLang="en-US" sz="2400">
              <a:latin typeface="+mn-ea"/>
            </a:endParaRPr>
          </a:p>
          <a:p>
            <a:pPr marL="109855" indent="0">
              <a:buNone/>
            </a:pPr>
            <a:endParaRPr lang="en-US" altLang="zh-CN" dirty="0" smtClean="0">
              <a:latin typeface="+mn-ea"/>
            </a:endParaRP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❖可能的执行过程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72816" y="2348880"/>
            <a:ext cx="55983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855" indent="0"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+mn-ea"/>
              </a:rPr>
              <a:t>SELECT</a:t>
            </a:r>
            <a:r>
              <a:rPr lang="en-US" altLang="zh-CN" sz="2400" smtClean="0">
                <a:latin typeface="+mn-ea"/>
              </a:rPr>
              <a:t> AVG(SCORE) </a:t>
            </a:r>
            <a:r>
              <a:rPr lang="en-US" altLang="zh-CN" sz="2400" smtClean="0">
                <a:solidFill>
                  <a:srgbClr val="0000FF"/>
                </a:solidFill>
                <a:latin typeface="+mn-ea"/>
              </a:rPr>
              <a:t>FROM</a:t>
            </a:r>
            <a:r>
              <a:rPr lang="en-US" altLang="zh-CN" sz="2400" smtClean="0">
                <a:latin typeface="+mn-ea"/>
              </a:rPr>
              <a:t>  SC </a:t>
            </a:r>
            <a:r>
              <a:rPr lang="en-US" altLang="zh-CN" sz="2400" smtClean="0">
                <a:solidFill>
                  <a:srgbClr val="0000FF"/>
                </a:solidFill>
                <a:latin typeface="+mn-ea"/>
              </a:rPr>
              <a:t>AS</a:t>
            </a:r>
            <a:r>
              <a:rPr lang="en-US" altLang="zh-CN" sz="2400" smtClean="0">
                <a:latin typeface="+mn-ea"/>
              </a:rPr>
              <a:t> y </a:t>
            </a:r>
          </a:p>
          <a:p>
            <a:pPr marL="109855" indent="0"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+mn-ea"/>
              </a:rPr>
              <a:t>GROUP BY </a:t>
            </a:r>
            <a:r>
              <a:rPr lang="en-US" altLang="zh-CN" sz="2400" smtClean="0">
                <a:latin typeface="+mn-ea"/>
              </a:rPr>
              <a:t>SNO </a:t>
            </a:r>
          </a:p>
          <a:p>
            <a:pPr marL="109855" indent="0"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+mn-ea"/>
              </a:rPr>
              <a:t>HAVING</a:t>
            </a:r>
            <a:r>
              <a:rPr lang="en-US" altLang="zh-CN" sz="2400">
                <a:latin typeface="+mn-ea"/>
              </a:rPr>
              <a:t> y.SNO='S1</a:t>
            </a:r>
            <a:r>
              <a:rPr lang="en-US" altLang="zh-CN" sz="2400" smtClean="0">
                <a:latin typeface="+mn-ea"/>
              </a:rPr>
              <a:t>';</a:t>
            </a:r>
          </a:p>
          <a:p>
            <a:pPr marL="109855" indent="0">
              <a:buNone/>
            </a:pPr>
            <a:endParaRPr lang="en-US" altLang="zh-CN" sz="240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72816" y="4509120"/>
            <a:ext cx="56330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ea"/>
              </a:rPr>
              <a:t>SELECT</a:t>
            </a:r>
            <a:r>
              <a:rPr lang="en-US" altLang="zh-CN" sz="2400">
                <a:latin typeface="+mn-ea"/>
              </a:rPr>
              <a:t> SNO,CNO </a:t>
            </a:r>
            <a:r>
              <a:rPr lang="en-US" altLang="zh-CN" sz="2400">
                <a:solidFill>
                  <a:srgbClr val="0000FF"/>
                </a:solidFill>
                <a:latin typeface="+mn-ea"/>
              </a:rPr>
              <a:t>FROM</a:t>
            </a:r>
            <a:r>
              <a:rPr lang="en-US" altLang="zh-CN" sz="2400">
                <a:latin typeface="+mn-ea"/>
              </a:rPr>
              <a:t>   SC </a:t>
            </a:r>
            <a:r>
              <a:rPr lang="en-US" altLang="zh-CN" sz="2400">
                <a:solidFill>
                  <a:srgbClr val="0000FF"/>
                </a:solidFill>
                <a:latin typeface="+mn-ea"/>
              </a:rPr>
              <a:t>AS</a:t>
            </a:r>
            <a:r>
              <a:rPr lang="en-US" altLang="zh-CN" sz="2400">
                <a:latin typeface="+mn-ea"/>
              </a:rPr>
              <a:t> x </a:t>
            </a:r>
            <a:r>
              <a:rPr lang="en-US" altLang="zh-CN" sz="2400">
                <a:solidFill>
                  <a:srgbClr val="0000FF"/>
                </a:solidFill>
                <a:latin typeface="+mn-ea"/>
              </a:rPr>
              <a:t>WHERE</a:t>
            </a:r>
            <a:r>
              <a:rPr lang="en-US" altLang="zh-CN" sz="2400">
                <a:latin typeface="+mn-ea"/>
              </a:rPr>
              <a:t>  x.SCORE &gt;=88; </a:t>
            </a:r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5089610"/>
            <a:ext cx="1585562" cy="1682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4205" indent="-514350">
              <a:buFont typeface="+mj-ea"/>
              <a:buAutoNum type="circleNumDbPlain" startAt="4"/>
            </a:pPr>
            <a:r>
              <a:rPr lang="zh-CN" altLang="en-US" smtClean="0"/>
              <a:t>然</a:t>
            </a:r>
            <a:r>
              <a:rPr lang="zh-CN" altLang="en-US" dirty="0" smtClean="0"/>
              <a:t>后</a:t>
            </a:r>
            <a:r>
              <a:rPr lang="zh-CN" altLang="en-US" dirty="0"/>
              <a:t>外层查询取出下一个元组重复做上述①至③ 步骤</a:t>
            </a:r>
            <a:r>
              <a:rPr lang="zh-CN" altLang="en-US" dirty="0" smtClean="0"/>
              <a:t>，直到</a:t>
            </a:r>
            <a:r>
              <a:rPr lang="zh-CN" altLang="en-US" dirty="0"/>
              <a:t>外层的</a:t>
            </a:r>
            <a:r>
              <a:rPr lang="en-US" altLang="zh-CN" dirty="0"/>
              <a:t>SC</a:t>
            </a:r>
            <a:r>
              <a:rPr lang="zh-CN" altLang="en-US" dirty="0"/>
              <a:t>元组全部处理完毕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109855" indent="0">
              <a:buNone/>
            </a:pPr>
            <a:r>
              <a:rPr lang="zh-CN" altLang="en-US" dirty="0" smtClean="0"/>
              <a:t>结果为：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❖可能的执行过程（续） 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3" y="2716470"/>
            <a:ext cx="2448272" cy="37518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dirty="0"/>
              <a:t>在谓词逻辑中，还有存在量词和全称量词的概念， 在</a:t>
            </a:r>
            <a:r>
              <a:rPr lang="en-US" altLang="zh-CN" dirty="0"/>
              <a:t>SQL</a:t>
            </a:r>
            <a:r>
              <a:rPr lang="zh-CN" altLang="en-US" dirty="0"/>
              <a:t>中并没有对应的表达，统一采用“谓词” 来</a:t>
            </a:r>
            <a:r>
              <a:rPr lang="zh-CN" altLang="en-US" smtClean="0"/>
              <a:t>表达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mtClean="0">
                <a:solidFill>
                  <a:srgbClr val="FF0000"/>
                </a:solidFill>
              </a:rPr>
              <a:t>方</a:t>
            </a:r>
            <a:r>
              <a:rPr lang="zh-CN" altLang="en-US" dirty="0">
                <a:solidFill>
                  <a:srgbClr val="FF0000"/>
                </a:solidFill>
              </a:rPr>
              <a:t>法一：引入</a:t>
            </a:r>
            <a:r>
              <a:rPr lang="en-US" altLang="zh-CN" dirty="0">
                <a:solidFill>
                  <a:srgbClr val="FF0000"/>
                </a:solidFill>
              </a:rPr>
              <a:t>ANY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ALL</a:t>
            </a:r>
            <a:r>
              <a:rPr lang="zh-CN" altLang="en-US" dirty="0">
                <a:solidFill>
                  <a:srgbClr val="FF0000"/>
                </a:solidFill>
              </a:rPr>
              <a:t>谓词</a:t>
            </a:r>
            <a:r>
              <a:rPr lang="zh-CN" altLang="en-US" dirty="0"/>
              <a:t>，其对象为某个查 询结果，表示其中任意一个值或者全部值 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FF0000"/>
                </a:solidFill>
              </a:rPr>
              <a:t>方法</a:t>
            </a:r>
            <a:r>
              <a:rPr lang="zh-CN" altLang="en-US" dirty="0">
                <a:solidFill>
                  <a:srgbClr val="FF0000"/>
                </a:solidFill>
              </a:rPr>
              <a:t>二：引入</a:t>
            </a:r>
            <a:r>
              <a:rPr lang="en-US" altLang="zh-CN" dirty="0">
                <a:solidFill>
                  <a:srgbClr val="FF0000"/>
                </a:solidFill>
              </a:rPr>
              <a:t>EXIST</a:t>
            </a:r>
            <a:r>
              <a:rPr lang="zh-CN" altLang="en-US" dirty="0">
                <a:solidFill>
                  <a:srgbClr val="FF0000"/>
                </a:solidFill>
              </a:rPr>
              <a:t>谓词</a:t>
            </a:r>
            <a:r>
              <a:rPr lang="zh-CN" altLang="en-US" dirty="0"/>
              <a:t>，其对象也是某个查询结 果，但表示这个查询结果是否为空，返回真值。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带有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/>
              <a:t>谓词的子查询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855" indent="0">
              <a:buNone/>
            </a:pPr>
            <a:r>
              <a:rPr lang="zh-CN" altLang="en-US" dirty="0"/>
              <a:t>使用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/>
              <a:t>谓词时必须同时使用比较运算 语义为：</a:t>
            </a:r>
          </a:p>
          <a:p>
            <a:pPr marL="109855" indent="0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&gt; ANY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大于子查询结果中的某个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值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>
              <a:buNone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&gt; ALL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大于子查询结果中的所有值 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&lt;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ANY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小于子查询结果中的某个值 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&lt;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ALL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小于子查询结果中的所有值 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&gt;=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ANY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大于等于子查询结果中的某个值 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&gt;=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ALL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大于等于子查询结果中的所有值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/>
              <a:t>谓词的子</a:t>
            </a:r>
            <a:r>
              <a:rPr lang="zh-CN" altLang="en-US" dirty="0" smtClean="0"/>
              <a:t>查询（续）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855" indent="0">
              <a:buNone/>
            </a:pPr>
            <a:r>
              <a:rPr lang="zh-CN" altLang="en-US" dirty="0"/>
              <a:t>使用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/>
              <a:t>谓词时必须同时使用比较运算 语义为（续） </a:t>
            </a:r>
            <a:endParaRPr lang="en-US" altLang="zh-CN" dirty="0" smtClean="0"/>
          </a:p>
          <a:p>
            <a:pPr marL="109855" indent="0"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&lt;=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ANY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小于等于子查询结果中的某个值 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&lt;=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ALL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小于等于子查询结果中的所有值 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ANY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等于子查询结果中的某个值 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>
              <a:buNone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ALL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等于子查询结果中的所有值（通常没有实际意义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>
              <a:buNone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!=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（或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&lt;&gt;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ANY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不等于子查询结果中的某个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值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09855" indent="0">
              <a:buNone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!=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（或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&lt;&gt;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ALL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不等于子查询结果中的任何一个值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/>
              <a:t>谓词的子查询（续）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4467951"/>
          </a:xfrm>
        </p:spPr>
        <p:txBody>
          <a:bodyPr/>
          <a:lstStyle/>
          <a:p>
            <a:pPr marL="109855" indent="0">
              <a:buNone/>
            </a:pPr>
            <a:r>
              <a:rPr lang="en-US" altLang="zh-CN" dirty="0" smtClean="0"/>
              <a:t>【</a:t>
            </a:r>
            <a:r>
              <a:rPr lang="zh-CN" altLang="en-US" dirty="0" smtClean="0"/>
              <a:t>例</a:t>
            </a:r>
            <a:r>
              <a:rPr lang="en-US" altLang="zh-CN" dirty="0" smtClean="0"/>
              <a:t>4】</a:t>
            </a:r>
            <a:r>
              <a:rPr lang="zh-CN" altLang="en-US" dirty="0"/>
              <a:t>查询</a:t>
            </a:r>
            <a:r>
              <a:rPr lang="zh-CN" altLang="en-US" dirty="0" smtClean="0"/>
              <a:t>非信息科学</a:t>
            </a:r>
            <a:r>
              <a:rPr lang="zh-CN" altLang="en-US" dirty="0"/>
              <a:t>系中</a:t>
            </a:r>
            <a:r>
              <a:rPr lang="zh-CN" altLang="en-US" dirty="0" smtClean="0"/>
              <a:t>比信息科学</a:t>
            </a:r>
            <a:r>
              <a:rPr lang="zh-CN" altLang="en-US" dirty="0"/>
              <a:t>系</a:t>
            </a:r>
            <a:r>
              <a:rPr lang="zh-CN" altLang="en-US" dirty="0" smtClean="0"/>
              <a:t>任一个学生</a:t>
            </a:r>
            <a:r>
              <a:rPr lang="zh-CN" altLang="en-US" dirty="0"/>
              <a:t>年龄小的</a:t>
            </a:r>
            <a:r>
              <a:rPr lang="zh-CN" altLang="en-US" dirty="0" smtClean="0"/>
              <a:t>学生姓名</a:t>
            </a:r>
            <a:r>
              <a:rPr lang="zh-CN" altLang="en-US" dirty="0"/>
              <a:t>和年龄 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/>
              <a:t>谓词的子查询（续）</a:t>
            </a:r>
          </a:p>
        </p:txBody>
      </p:sp>
      <p:sp>
        <p:nvSpPr>
          <p:cNvPr id="4" name="矩形 3"/>
          <p:cNvSpPr/>
          <p:nvPr/>
        </p:nvSpPr>
        <p:spPr>
          <a:xfrm>
            <a:off x="1331640" y="2930474"/>
            <a:ext cx="62464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SN,AGE,DEPT </a:t>
            </a:r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S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WHERE</a:t>
            </a:r>
            <a:r>
              <a:rPr lang="en-US" altLang="zh-CN" sz="2400"/>
              <a:t> AGE&lt;ANY</a:t>
            </a:r>
          </a:p>
          <a:p>
            <a:r>
              <a:rPr lang="en-US" altLang="zh-CN" sz="2400"/>
              <a:t>(</a:t>
            </a:r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AGE </a:t>
            </a:r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S </a:t>
            </a:r>
            <a:r>
              <a:rPr lang="en-US" altLang="zh-CN" sz="2400">
                <a:solidFill>
                  <a:srgbClr val="0000FF"/>
                </a:solidFill>
              </a:rPr>
              <a:t>WHERE</a:t>
            </a:r>
            <a:r>
              <a:rPr lang="en-US" altLang="zh-CN" sz="2400"/>
              <a:t> DEPT='IS')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AND</a:t>
            </a:r>
            <a:r>
              <a:rPr lang="en-US" altLang="zh-CN" sz="2400"/>
              <a:t> DEPT&lt;&gt;'IS';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855" indent="0">
              <a:buNone/>
            </a:pPr>
            <a:r>
              <a:rPr lang="zh-CN" altLang="en-US" dirty="0"/>
              <a:t>执行过程： </a:t>
            </a:r>
            <a:endParaRPr lang="en-US" altLang="zh-CN" dirty="0" smtClean="0"/>
          </a:p>
          <a:p>
            <a:pPr marL="109855" indent="0">
              <a:buNone/>
            </a:pP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）首先处理子查询，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找出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IS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系中所有学生的年龄，构成一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个集合（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17,19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09855" indent="0">
              <a:buNone/>
            </a:pP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）处理父查询，找所有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不是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IS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系且年龄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小于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17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或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19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学生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09855" indent="0">
              <a:buNone/>
            </a:pPr>
            <a:r>
              <a:rPr lang="zh-CN" altLang="en-US" dirty="0" smtClean="0"/>
              <a:t>查询结果：</a:t>
            </a:r>
            <a:endParaRPr lang="en-US" altLang="zh-CN" dirty="0" smtClean="0"/>
          </a:p>
          <a:p>
            <a:pPr marL="109855" indent="0"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/>
              <a:t>谓词的子查询（续）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4005064"/>
            <a:ext cx="5125165" cy="2219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用聚集函数</a:t>
            </a:r>
            <a:r>
              <a:rPr lang="zh-CN" altLang="en-US" dirty="0" smtClean="0"/>
              <a:t>实现</a:t>
            </a:r>
            <a:r>
              <a:rPr lang="en-US" altLang="zh-CN" dirty="0" smtClean="0"/>
              <a:t>【</a:t>
            </a:r>
            <a:r>
              <a:rPr lang="zh-CN" altLang="en-US" dirty="0" smtClean="0"/>
              <a:t>例</a:t>
            </a:r>
            <a:r>
              <a:rPr lang="en-US" altLang="zh-CN" dirty="0" smtClean="0"/>
              <a:t>4】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/>
              <a:t>谓词的子查询（续）</a:t>
            </a:r>
          </a:p>
        </p:txBody>
      </p:sp>
      <p:sp>
        <p:nvSpPr>
          <p:cNvPr id="4" name="矩形 3"/>
          <p:cNvSpPr/>
          <p:nvPr/>
        </p:nvSpPr>
        <p:spPr>
          <a:xfrm>
            <a:off x="1115616" y="2420888"/>
            <a:ext cx="59584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SN,AGE,DEPT </a:t>
            </a:r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S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WHERE</a:t>
            </a:r>
            <a:r>
              <a:rPr lang="en-US" altLang="zh-CN" sz="2400"/>
              <a:t> AGE&lt;</a:t>
            </a:r>
          </a:p>
          <a:p>
            <a:r>
              <a:rPr lang="en-US" altLang="zh-CN" sz="2400"/>
              <a:t>(</a:t>
            </a:r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MAX(AGE) </a:t>
            </a:r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S </a:t>
            </a:r>
          </a:p>
          <a:p>
            <a:r>
              <a:rPr lang="en-US" altLang="zh-CN" sz="2400"/>
              <a:t>  </a:t>
            </a:r>
            <a:r>
              <a:rPr lang="en-US" altLang="zh-CN" sz="2400">
                <a:solidFill>
                  <a:srgbClr val="0000FF"/>
                </a:solidFill>
              </a:rPr>
              <a:t>GROUP BY </a:t>
            </a:r>
            <a:r>
              <a:rPr lang="en-US" altLang="zh-CN" sz="2400"/>
              <a:t>DEPT </a:t>
            </a:r>
            <a:r>
              <a:rPr lang="en-US" altLang="zh-CN" sz="2400">
                <a:solidFill>
                  <a:srgbClr val="0000FF"/>
                </a:solidFill>
              </a:rPr>
              <a:t>HAVING</a:t>
            </a:r>
            <a:r>
              <a:rPr lang="en-US" altLang="zh-CN" sz="2400"/>
              <a:t>  DEPT='IS')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AND</a:t>
            </a:r>
            <a:r>
              <a:rPr lang="en-US" altLang="zh-CN" sz="2400"/>
              <a:t> DEPT&lt;&gt;'IS';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【</a:t>
            </a:r>
            <a:r>
              <a:rPr lang="zh-CN" altLang="en-US" dirty="0" smtClean="0"/>
              <a:t>例</a:t>
            </a:r>
            <a:r>
              <a:rPr lang="en-US" altLang="zh-CN" dirty="0" smtClean="0"/>
              <a:t>5】</a:t>
            </a:r>
            <a:r>
              <a:rPr lang="zh-CN" altLang="en-US" dirty="0" smtClean="0"/>
              <a:t>查询非信息科学</a:t>
            </a:r>
            <a:r>
              <a:rPr lang="zh-CN" altLang="en-US" dirty="0"/>
              <a:t>系中</a:t>
            </a:r>
            <a:r>
              <a:rPr lang="zh-CN" altLang="en-US" dirty="0" smtClean="0"/>
              <a:t>比信息科学</a:t>
            </a:r>
            <a:r>
              <a:rPr lang="zh-CN" altLang="en-US" dirty="0"/>
              <a:t>系所有学 生年龄都小的学生姓名及年龄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方法一：使用谓词</a:t>
            </a:r>
            <a:r>
              <a:rPr lang="en-US" altLang="zh-CN" dirty="0" smtClean="0"/>
              <a:t>ALL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方法二：使用聚合函数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/>
              <a:t>谓词的子查询（续）</a:t>
            </a:r>
          </a:p>
        </p:txBody>
      </p:sp>
      <p:sp>
        <p:nvSpPr>
          <p:cNvPr id="6" name="矩形 5"/>
          <p:cNvSpPr/>
          <p:nvPr/>
        </p:nvSpPr>
        <p:spPr>
          <a:xfrm>
            <a:off x="1619672" y="2828837"/>
            <a:ext cx="52383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SELECT</a:t>
            </a:r>
            <a:r>
              <a:rPr lang="en-US" altLang="zh-CN"/>
              <a:t> SN,AGE,DEPT </a:t>
            </a:r>
            <a:r>
              <a:rPr lang="en-US" altLang="zh-CN">
                <a:solidFill>
                  <a:srgbClr val="0000FF"/>
                </a:solidFill>
              </a:rPr>
              <a:t>FROM</a:t>
            </a:r>
            <a:r>
              <a:rPr lang="en-US" altLang="zh-CN"/>
              <a:t> S</a:t>
            </a:r>
          </a:p>
          <a:p>
            <a:r>
              <a:rPr lang="en-US" altLang="zh-CN">
                <a:solidFill>
                  <a:srgbClr val="0000FF"/>
                </a:solidFill>
              </a:rPr>
              <a:t>WHERE</a:t>
            </a:r>
            <a:r>
              <a:rPr lang="en-US" altLang="zh-CN"/>
              <a:t> AGE&lt;ALL</a:t>
            </a:r>
          </a:p>
          <a:p>
            <a:r>
              <a:rPr lang="en-US" altLang="zh-CN"/>
              <a:t>(</a:t>
            </a:r>
            <a:r>
              <a:rPr lang="en-US" altLang="zh-CN">
                <a:solidFill>
                  <a:srgbClr val="0000FF"/>
                </a:solidFill>
              </a:rPr>
              <a:t>SELECT</a:t>
            </a:r>
            <a:r>
              <a:rPr lang="en-US" altLang="zh-CN"/>
              <a:t> AGE</a:t>
            </a:r>
            <a:r>
              <a:rPr lang="en-US" altLang="zh-CN">
                <a:solidFill>
                  <a:srgbClr val="0000FF"/>
                </a:solidFill>
              </a:rPr>
              <a:t> FROM </a:t>
            </a:r>
            <a:r>
              <a:rPr lang="en-US" altLang="zh-CN"/>
              <a:t>S </a:t>
            </a:r>
            <a:r>
              <a:rPr lang="en-US" altLang="zh-CN">
                <a:solidFill>
                  <a:srgbClr val="0000FF"/>
                </a:solidFill>
              </a:rPr>
              <a:t>WHERE</a:t>
            </a:r>
            <a:r>
              <a:rPr lang="en-US" altLang="zh-CN"/>
              <a:t> DEPT='IS')</a:t>
            </a:r>
          </a:p>
          <a:p>
            <a:r>
              <a:rPr lang="en-US" altLang="zh-CN">
                <a:solidFill>
                  <a:srgbClr val="0000FF"/>
                </a:solidFill>
              </a:rPr>
              <a:t>AND</a:t>
            </a:r>
            <a:r>
              <a:rPr lang="en-US" altLang="zh-CN"/>
              <a:t> DEPT&lt;&gt;'IS';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650021" y="4796569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SELECT</a:t>
            </a:r>
            <a:r>
              <a:rPr lang="en-US" altLang="zh-CN"/>
              <a:t> SN,AGE,DEPT </a:t>
            </a:r>
            <a:r>
              <a:rPr lang="en-US" altLang="zh-CN">
                <a:solidFill>
                  <a:srgbClr val="0000FF"/>
                </a:solidFill>
              </a:rPr>
              <a:t>FROM</a:t>
            </a:r>
            <a:r>
              <a:rPr lang="en-US" altLang="zh-CN"/>
              <a:t> S</a:t>
            </a:r>
          </a:p>
          <a:p>
            <a:r>
              <a:rPr lang="en-US" altLang="zh-CN">
                <a:solidFill>
                  <a:srgbClr val="0000FF"/>
                </a:solidFill>
              </a:rPr>
              <a:t>WHERE</a:t>
            </a:r>
            <a:r>
              <a:rPr lang="en-US" altLang="zh-CN"/>
              <a:t> AGE&lt;</a:t>
            </a:r>
          </a:p>
          <a:p>
            <a:r>
              <a:rPr lang="en-US" altLang="zh-CN"/>
              <a:t>(</a:t>
            </a:r>
            <a:r>
              <a:rPr lang="en-US" altLang="zh-CN">
                <a:solidFill>
                  <a:srgbClr val="0000FF"/>
                </a:solidFill>
              </a:rPr>
              <a:t>SELECT</a:t>
            </a:r>
            <a:r>
              <a:rPr lang="en-US" altLang="zh-CN"/>
              <a:t> MIN(AGE) </a:t>
            </a:r>
            <a:r>
              <a:rPr lang="en-US" altLang="zh-CN">
                <a:solidFill>
                  <a:srgbClr val="0000FF"/>
                </a:solidFill>
              </a:rPr>
              <a:t>FROM</a:t>
            </a:r>
            <a:r>
              <a:rPr lang="en-US" altLang="zh-CN"/>
              <a:t> S </a:t>
            </a:r>
          </a:p>
          <a:p>
            <a:r>
              <a:rPr lang="en-US" altLang="zh-CN"/>
              <a:t>  </a:t>
            </a:r>
            <a:r>
              <a:rPr lang="en-US" altLang="zh-CN">
                <a:solidFill>
                  <a:srgbClr val="0000FF"/>
                </a:solidFill>
              </a:rPr>
              <a:t>GROUP BY </a:t>
            </a:r>
            <a:r>
              <a:rPr lang="en-US" altLang="zh-CN"/>
              <a:t>DEPT </a:t>
            </a:r>
            <a:r>
              <a:rPr lang="en-US" altLang="zh-CN">
                <a:solidFill>
                  <a:srgbClr val="0000FF"/>
                </a:solidFill>
              </a:rPr>
              <a:t>HAVING</a:t>
            </a:r>
            <a:r>
              <a:rPr lang="en-US" altLang="zh-CN"/>
              <a:t>  DEPT='IS')</a:t>
            </a:r>
          </a:p>
          <a:p>
            <a:r>
              <a:rPr lang="en-US" altLang="zh-CN">
                <a:solidFill>
                  <a:srgbClr val="0000FF"/>
                </a:solidFill>
              </a:rPr>
              <a:t>AND</a:t>
            </a:r>
            <a:r>
              <a:rPr lang="en-US" altLang="zh-CN"/>
              <a:t> DEPT&lt;&gt;'IS';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855" indent="0">
              <a:buNone/>
            </a:pPr>
            <a:r>
              <a:rPr lang="zh-CN" altLang="en-US" dirty="0"/>
              <a:t>❖ </a:t>
            </a:r>
            <a:r>
              <a:rPr lang="en-US" altLang="zh-CN" dirty="0"/>
              <a:t>EXISTS</a:t>
            </a:r>
            <a:r>
              <a:rPr lang="zh-CN" altLang="en-US" dirty="0"/>
              <a:t>谓词 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mtClean="0"/>
              <a:t> </a:t>
            </a:r>
            <a:r>
              <a:rPr lang="zh-CN" altLang="en-US" dirty="0"/>
              <a:t>带有</a:t>
            </a:r>
            <a:r>
              <a:rPr lang="en-US" altLang="zh-CN" dirty="0"/>
              <a:t>EXISTS</a:t>
            </a:r>
            <a:r>
              <a:rPr lang="zh-CN" altLang="en-US" dirty="0"/>
              <a:t>谓词的子查询不返回任何数据，只产生逻辑真值“</a:t>
            </a:r>
            <a:r>
              <a:rPr lang="en-US" altLang="zh-CN" dirty="0"/>
              <a:t>true” </a:t>
            </a:r>
            <a:r>
              <a:rPr lang="zh-CN" altLang="en-US" dirty="0"/>
              <a:t>或逻辑假值“</a:t>
            </a:r>
            <a:r>
              <a:rPr lang="en-US" altLang="zh-CN" dirty="0"/>
              <a:t>false”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内层查询结果非空，则外层的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WHERE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子句返回真值 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内层查询结果为空，则外层的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WHERE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子句返回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假值 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mtClean="0"/>
              <a:t> </a:t>
            </a:r>
            <a:r>
              <a:rPr lang="zh-CN" altLang="en-US" dirty="0"/>
              <a:t>由</a:t>
            </a:r>
            <a:r>
              <a:rPr lang="en-US" altLang="zh-CN" dirty="0"/>
              <a:t>EXISTS</a:t>
            </a:r>
            <a:r>
              <a:rPr lang="zh-CN" altLang="en-US" dirty="0"/>
              <a:t>引出的子查询，其目标列表达式通常都用 * ，因为带 </a:t>
            </a:r>
            <a:r>
              <a:rPr lang="en-US" altLang="zh-CN" dirty="0"/>
              <a:t>EXISTS</a:t>
            </a:r>
            <a:r>
              <a:rPr lang="zh-CN" altLang="en-US" dirty="0"/>
              <a:t>的子查询只返回真值或假值，给出列名无实际意义。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带有</a:t>
            </a:r>
            <a:r>
              <a:rPr lang="en-US" altLang="zh-CN" dirty="0"/>
              <a:t>EXISTS</a:t>
            </a:r>
            <a:r>
              <a:rPr lang="zh-CN" altLang="en-US" dirty="0"/>
              <a:t>谓词的子</a:t>
            </a:r>
            <a:r>
              <a:rPr lang="zh-CN" altLang="en-US" dirty="0" smtClean="0"/>
              <a:t>查询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855" indent="0">
              <a:buNone/>
            </a:pPr>
            <a:r>
              <a:rPr lang="en-US" altLang="zh-CN" dirty="0" smtClean="0"/>
              <a:t>【</a:t>
            </a:r>
            <a:r>
              <a:rPr lang="zh-CN" altLang="en-US" dirty="0" smtClean="0"/>
              <a:t>例</a:t>
            </a:r>
            <a:r>
              <a:rPr lang="en-US" altLang="zh-CN" dirty="0" smtClean="0"/>
              <a:t>5】</a:t>
            </a:r>
            <a:r>
              <a:rPr lang="zh-CN" altLang="en-US" dirty="0" smtClean="0"/>
              <a:t>查询选修了</a:t>
            </a:r>
            <a:r>
              <a:rPr lang="en-US" altLang="zh-CN" dirty="0" smtClean="0"/>
              <a:t>C1</a:t>
            </a:r>
            <a:r>
              <a:rPr lang="zh-CN" altLang="en-US" dirty="0" smtClean="0"/>
              <a:t>课程的学生的学号姓名</a:t>
            </a:r>
            <a:endParaRPr lang="en-US" altLang="zh-CN" dirty="0" smtClean="0"/>
          </a:p>
          <a:p>
            <a:pPr marL="109855" indent="0">
              <a:buNone/>
            </a:pPr>
            <a:r>
              <a:rPr lang="zh-CN" altLang="en-US" smtClean="0"/>
              <a:t> </a:t>
            </a:r>
            <a:r>
              <a:rPr lang="zh-CN" altLang="en-US" smtClean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思</a:t>
            </a:r>
            <a:r>
              <a:rPr lang="zh-CN" altLang="en-US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路分析</a:t>
            </a:r>
            <a:r>
              <a:rPr lang="zh-CN" altLang="en-US" dirty="0" smtClean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dirty="0" smtClean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624205" indent="-514350">
              <a:buFont typeface="+mj-ea"/>
              <a:buAutoNum type="circleNumDbPlain"/>
            </a:pP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本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查询涉及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SC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关系 </a:t>
            </a:r>
            <a:endParaRPr lang="en-US" altLang="zh-CN" sz="28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624205" indent="-514350">
              <a:buFont typeface="+mj-ea"/>
              <a:buAutoNum type="circleNumDbPlain"/>
            </a:pP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S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中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依次取每个元组的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SNO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值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，用此值去检查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SC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表</a:t>
            </a:r>
            <a:endParaRPr lang="en-US" altLang="zh-CN" sz="28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624205" indent="-514350">
              <a:buFont typeface="+mj-ea"/>
              <a:buAutoNum type="circleNumDbPlain"/>
            </a:pP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若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SC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中存在这样的元组，其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SNO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值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等于此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S.SNO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值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 并且其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CNO</a:t>
            </a:r>
            <a:r>
              <a:rPr lang="en-US" altLang="zh-CN" sz="280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‘C1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’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，则取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此</a:t>
            </a:r>
            <a:r>
              <a:rPr lang="en-US" altLang="zh-CN" sz="28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S.SNO,S.SN</a:t>
            </a:r>
            <a:r>
              <a:rPr lang="zh-CN" altLang="en-US" sz="2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送入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结果表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EXISTS</a:t>
            </a:r>
            <a:r>
              <a:rPr lang="zh-CN" altLang="en-US" dirty="0"/>
              <a:t>谓词的子</a:t>
            </a:r>
            <a:r>
              <a:rPr lang="zh-CN" altLang="en-US" dirty="0" smtClean="0"/>
              <a:t>查询（续）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EXISTS</a:t>
            </a:r>
            <a:r>
              <a:rPr lang="zh-CN" altLang="en-US" dirty="0"/>
              <a:t>谓词的子查询（续）</a:t>
            </a:r>
          </a:p>
        </p:txBody>
      </p:sp>
      <p:sp>
        <p:nvSpPr>
          <p:cNvPr id="2" name="矩形 1"/>
          <p:cNvSpPr/>
          <p:nvPr/>
        </p:nvSpPr>
        <p:spPr>
          <a:xfrm>
            <a:off x="899592" y="1806605"/>
            <a:ext cx="69127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/>
              <a:t>【</a:t>
            </a:r>
            <a:r>
              <a:rPr lang="zh-CN" altLang="en-US" sz="2800"/>
              <a:t>例</a:t>
            </a:r>
            <a:r>
              <a:rPr lang="en-US" altLang="zh-CN" sz="2800"/>
              <a:t>5】</a:t>
            </a:r>
            <a:r>
              <a:rPr lang="zh-CN" altLang="en-US" sz="2800"/>
              <a:t>查询选修了</a:t>
            </a:r>
            <a:r>
              <a:rPr lang="en-US" altLang="zh-CN" sz="2800"/>
              <a:t>C1</a:t>
            </a:r>
            <a:r>
              <a:rPr lang="zh-CN" altLang="en-US" sz="2800"/>
              <a:t>课程的学生的学号姓名</a:t>
            </a:r>
          </a:p>
        </p:txBody>
      </p:sp>
      <p:sp>
        <p:nvSpPr>
          <p:cNvPr id="5" name="矩形 4"/>
          <p:cNvSpPr/>
          <p:nvPr/>
        </p:nvSpPr>
        <p:spPr>
          <a:xfrm>
            <a:off x="1619672" y="2708920"/>
            <a:ext cx="57423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0000FF"/>
                </a:solidFill>
              </a:rPr>
              <a:t>SELECT</a:t>
            </a:r>
            <a:r>
              <a:rPr lang="en-US" altLang="zh-CN" sz="2800"/>
              <a:t> SNO,SN </a:t>
            </a:r>
            <a:r>
              <a:rPr lang="en-US" altLang="zh-CN" sz="2800">
                <a:solidFill>
                  <a:srgbClr val="0000FF"/>
                </a:solidFill>
              </a:rPr>
              <a:t>FROM</a:t>
            </a:r>
            <a:r>
              <a:rPr lang="en-US" altLang="zh-CN" sz="2800"/>
              <a:t> S</a:t>
            </a:r>
          </a:p>
          <a:p>
            <a:r>
              <a:rPr lang="en-US" altLang="zh-CN" sz="2800">
                <a:solidFill>
                  <a:srgbClr val="0000FF"/>
                </a:solidFill>
              </a:rPr>
              <a:t>WHERE</a:t>
            </a:r>
            <a:r>
              <a:rPr lang="en-US" altLang="zh-CN" sz="2800"/>
              <a:t> </a:t>
            </a:r>
            <a:r>
              <a:rPr lang="en-US" altLang="zh-CN" sz="2800">
                <a:solidFill>
                  <a:srgbClr val="0000FF"/>
                </a:solidFill>
              </a:rPr>
              <a:t>EXISTS</a:t>
            </a:r>
            <a:r>
              <a:rPr lang="en-US" altLang="zh-CN" sz="2800"/>
              <a:t>(</a:t>
            </a:r>
          </a:p>
          <a:p>
            <a:r>
              <a:rPr lang="en-US" altLang="zh-CN" sz="2800">
                <a:solidFill>
                  <a:srgbClr val="0000FF"/>
                </a:solidFill>
              </a:rPr>
              <a:t>SELECT</a:t>
            </a:r>
            <a:r>
              <a:rPr lang="en-US" altLang="zh-CN" sz="2800"/>
              <a:t> * </a:t>
            </a:r>
            <a:r>
              <a:rPr lang="en-US" altLang="zh-CN" sz="2800">
                <a:solidFill>
                  <a:srgbClr val="0000FF"/>
                </a:solidFill>
              </a:rPr>
              <a:t>FROM</a:t>
            </a:r>
            <a:r>
              <a:rPr lang="en-US" altLang="zh-CN" sz="2800"/>
              <a:t> SC </a:t>
            </a:r>
            <a:r>
              <a:rPr lang="en-US" altLang="zh-CN" sz="2800">
                <a:solidFill>
                  <a:srgbClr val="0000FF"/>
                </a:solidFill>
              </a:rPr>
              <a:t>WHERE</a:t>
            </a:r>
            <a:r>
              <a:rPr lang="en-US" altLang="zh-CN" sz="2800"/>
              <a:t> CNO='C1'</a:t>
            </a:r>
          </a:p>
          <a:p>
            <a:r>
              <a:rPr lang="en-US" altLang="zh-CN" sz="2800">
                <a:solidFill>
                  <a:srgbClr val="0000FF"/>
                </a:solidFill>
              </a:rPr>
              <a:t>AND</a:t>
            </a:r>
            <a:r>
              <a:rPr lang="en-US" altLang="zh-CN" sz="2800"/>
              <a:t> SC.SNO=S.SNO);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855" indent="0">
              <a:buNone/>
            </a:pPr>
            <a:r>
              <a:rPr lang="en-US" altLang="zh-CN" sz="2800" dirty="0" smtClean="0"/>
              <a:t>【</a:t>
            </a:r>
            <a:r>
              <a:rPr lang="zh-CN" altLang="en-US" sz="2800" dirty="0" smtClean="0"/>
              <a:t>例</a:t>
            </a:r>
            <a:r>
              <a:rPr lang="en-US" altLang="zh-CN" sz="2800" dirty="0" smtClean="0"/>
              <a:t>6】</a:t>
            </a:r>
            <a:r>
              <a:rPr lang="zh-CN" altLang="en-US" sz="2800" dirty="0" smtClean="0"/>
              <a:t>查询</a:t>
            </a:r>
            <a:r>
              <a:rPr lang="zh-CN" altLang="en-US" sz="2800" dirty="0"/>
              <a:t>没有选修</a:t>
            </a:r>
            <a:r>
              <a:rPr lang="en-US" altLang="zh-CN" sz="2800" dirty="0"/>
              <a:t>1</a:t>
            </a:r>
            <a:r>
              <a:rPr lang="zh-CN" altLang="en-US" sz="2800" dirty="0"/>
              <a:t>号课程的学生姓名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带有</a:t>
            </a:r>
            <a:r>
              <a:rPr lang="en-US" altLang="zh-CN" dirty="0"/>
              <a:t>EXISTS</a:t>
            </a:r>
            <a:r>
              <a:rPr lang="zh-CN" altLang="en-US" dirty="0"/>
              <a:t>谓词的子查询（续）</a:t>
            </a:r>
          </a:p>
        </p:txBody>
      </p:sp>
      <p:sp>
        <p:nvSpPr>
          <p:cNvPr id="5" name="矩形 4"/>
          <p:cNvSpPr/>
          <p:nvPr/>
        </p:nvSpPr>
        <p:spPr>
          <a:xfrm>
            <a:off x="1619672" y="2708920"/>
            <a:ext cx="57423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0000FF"/>
                </a:solidFill>
              </a:rPr>
              <a:t>SELECT</a:t>
            </a:r>
            <a:r>
              <a:rPr lang="en-US" altLang="zh-CN" sz="2800"/>
              <a:t> SNO,SN </a:t>
            </a:r>
            <a:r>
              <a:rPr lang="en-US" altLang="zh-CN" sz="2800">
                <a:solidFill>
                  <a:srgbClr val="0000FF"/>
                </a:solidFill>
              </a:rPr>
              <a:t>FROM</a:t>
            </a:r>
            <a:r>
              <a:rPr lang="en-US" altLang="zh-CN" sz="2800"/>
              <a:t> S</a:t>
            </a:r>
          </a:p>
          <a:p>
            <a:r>
              <a:rPr lang="en-US" altLang="zh-CN" sz="2800">
                <a:solidFill>
                  <a:srgbClr val="0000FF"/>
                </a:solidFill>
              </a:rPr>
              <a:t>WHERE</a:t>
            </a:r>
            <a:r>
              <a:rPr lang="en-US" altLang="zh-CN" sz="2800"/>
              <a:t> </a:t>
            </a:r>
            <a:r>
              <a:rPr lang="en-US" altLang="zh-CN" sz="2800" smtClean="0">
                <a:solidFill>
                  <a:srgbClr val="0000FF"/>
                </a:solidFill>
              </a:rPr>
              <a:t>NOT</a:t>
            </a:r>
            <a:r>
              <a:rPr lang="en-US" altLang="zh-CN" sz="2800" smtClean="0"/>
              <a:t> </a:t>
            </a:r>
            <a:r>
              <a:rPr lang="en-US" altLang="zh-CN" sz="2800" smtClean="0">
                <a:solidFill>
                  <a:srgbClr val="0000FF"/>
                </a:solidFill>
              </a:rPr>
              <a:t>EXISTS</a:t>
            </a:r>
            <a:r>
              <a:rPr lang="en-US" altLang="zh-CN" sz="2800"/>
              <a:t>(</a:t>
            </a:r>
          </a:p>
          <a:p>
            <a:r>
              <a:rPr lang="en-US" altLang="zh-CN" sz="2800">
                <a:solidFill>
                  <a:srgbClr val="0000FF"/>
                </a:solidFill>
              </a:rPr>
              <a:t>SELECT</a:t>
            </a:r>
            <a:r>
              <a:rPr lang="en-US" altLang="zh-CN" sz="2800"/>
              <a:t> * </a:t>
            </a:r>
            <a:r>
              <a:rPr lang="en-US" altLang="zh-CN" sz="2800">
                <a:solidFill>
                  <a:srgbClr val="0000FF"/>
                </a:solidFill>
              </a:rPr>
              <a:t>FROM</a:t>
            </a:r>
            <a:r>
              <a:rPr lang="en-US" altLang="zh-CN" sz="2800"/>
              <a:t> SC </a:t>
            </a:r>
            <a:r>
              <a:rPr lang="en-US" altLang="zh-CN" sz="2800">
                <a:solidFill>
                  <a:srgbClr val="0000FF"/>
                </a:solidFill>
              </a:rPr>
              <a:t>WHERE</a:t>
            </a:r>
            <a:r>
              <a:rPr lang="en-US" altLang="zh-CN" sz="2800"/>
              <a:t> CNO='C1'</a:t>
            </a:r>
          </a:p>
          <a:p>
            <a:r>
              <a:rPr lang="en-US" altLang="zh-CN" sz="2800">
                <a:solidFill>
                  <a:srgbClr val="0000FF"/>
                </a:solidFill>
              </a:rPr>
              <a:t>AND</a:t>
            </a:r>
            <a:r>
              <a:rPr lang="en-US" altLang="zh-CN" sz="2800"/>
              <a:t> SC.SNO=S.SNO);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23528" y="1484785"/>
            <a:ext cx="8229600" cy="1656184"/>
          </a:xfrm>
        </p:spPr>
        <p:txBody>
          <a:bodyPr/>
          <a:lstStyle/>
          <a:p>
            <a:r>
              <a:rPr lang="en-US" altLang="zh-CN" dirty="0"/>
              <a:t>CREATE ... </a:t>
            </a:r>
            <a:r>
              <a:rPr lang="en-US" altLang="zh-CN" dirty="0" smtClean="0"/>
              <a:t>SELECT</a:t>
            </a:r>
          </a:p>
          <a:p>
            <a:endParaRPr lang="en-US" altLang="zh-CN"/>
          </a:p>
          <a:p>
            <a:r>
              <a:rPr lang="en-US" altLang="zh-CN"/>
              <a:t>INSERT ... SELECT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 smtClean="0"/>
          </a:p>
          <a:p>
            <a:pPr marL="109855" indent="0">
              <a:buNone/>
            </a:pPr>
            <a:endParaRPr lang="en-US" altLang="zh-CN" dirty="0"/>
          </a:p>
          <a:p>
            <a:pPr marL="109855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109855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</a:t>
            </a:r>
            <a:r>
              <a:rPr lang="zh-CN" altLang="en-US" dirty="0" smtClean="0"/>
              <a:t>其它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83568" y="3356992"/>
            <a:ext cx="31582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CREATE ... </a:t>
            </a:r>
            <a:r>
              <a:rPr lang="en-US" altLang="zh-CN" sz="2800" dirty="0" smtClean="0"/>
              <a:t>LIKE…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7544" y="980728"/>
            <a:ext cx="813690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mtClean="0"/>
              <a:t>例</a:t>
            </a:r>
            <a:r>
              <a:rPr lang="en-US" altLang="zh-CN" sz="2800" smtClean="0"/>
              <a:t> </a:t>
            </a:r>
            <a:r>
              <a:rPr lang="zh-CN" altLang="en-US" sz="2800"/>
              <a:t>创建一个</a:t>
            </a:r>
            <a:r>
              <a:rPr lang="en-US" altLang="zh-CN" sz="2800"/>
              <a:t>user1</a:t>
            </a:r>
            <a:r>
              <a:rPr lang="zh-CN" altLang="en-US" sz="2800"/>
              <a:t>表</a:t>
            </a:r>
            <a:r>
              <a:rPr lang="en-US" altLang="zh-CN" sz="2800" smtClean="0"/>
              <a:t>,</a:t>
            </a:r>
            <a:r>
              <a:rPr lang="zh-CN" altLang="en-US" sz="2800" smtClean="0"/>
              <a:t>将</a:t>
            </a:r>
            <a:r>
              <a:rPr lang="en-US" altLang="zh-CN" sz="2800" smtClean="0"/>
              <a:t>emp</a:t>
            </a:r>
            <a:r>
              <a:rPr lang="zh-CN" altLang="en-US" sz="2800" smtClean="0"/>
              <a:t>表中的</a:t>
            </a:r>
            <a:r>
              <a:rPr lang="en-US" altLang="zh-CN" sz="2800" smtClean="0"/>
              <a:t>id</a:t>
            </a:r>
            <a:r>
              <a:rPr lang="zh-CN" altLang="en-US" sz="2800"/>
              <a:t>，</a:t>
            </a:r>
            <a:r>
              <a:rPr lang="en-US" altLang="zh-CN" sz="2800" smtClean="0"/>
              <a:t>username</a:t>
            </a:r>
            <a:r>
              <a:rPr lang="zh-CN" altLang="en-US" sz="2800" smtClean="0"/>
              <a:t>拷贝到</a:t>
            </a:r>
            <a:r>
              <a:rPr lang="en-US" altLang="zh-CN" sz="2800" smtClean="0"/>
              <a:t>user1</a:t>
            </a:r>
            <a:r>
              <a:rPr lang="zh-CN" altLang="en-US" sz="2800" smtClean="0"/>
              <a:t>表</a:t>
            </a:r>
            <a:endParaRPr lang="en-US" altLang="zh-CN" sz="2800" smtClean="0"/>
          </a:p>
          <a:p>
            <a:endParaRPr lang="en-US" altLang="zh-CN" sz="2800" smtClean="0">
              <a:solidFill>
                <a:srgbClr val="0000FF"/>
              </a:solidFill>
            </a:endParaRPr>
          </a:p>
          <a:p>
            <a:r>
              <a:rPr lang="en-US" altLang="zh-CN" sz="2800" smtClean="0">
                <a:solidFill>
                  <a:srgbClr val="0000FF"/>
                </a:solidFill>
              </a:rPr>
              <a:t>CREATE </a:t>
            </a:r>
            <a:r>
              <a:rPr lang="en-US" altLang="zh-CN" sz="2800"/>
              <a:t>TABLE</a:t>
            </a:r>
            <a:r>
              <a:rPr lang="en-US" altLang="zh-CN" sz="2800">
                <a:solidFill>
                  <a:srgbClr val="0000FF"/>
                </a:solidFill>
              </a:rPr>
              <a:t> </a:t>
            </a:r>
            <a:r>
              <a:rPr lang="en-US" altLang="zh-CN" sz="2800"/>
              <a:t>user1(</a:t>
            </a:r>
          </a:p>
          <a:p>
            <a:r>
              <a:rPr lang="en-US" altLang="zh-CN" sz="2800"/>
              <a:t>    id int UNSIGNED AUTO_INCREMENT KEY,</a:t>
            </a:r>
          </a:p>
          <a:p>
            <a:r>
              <a:rPr lang="en-US" altLang="zh-CN" sz="2800"/>
              <a:t>    username VARCHAR(20)</a:t>
            </a:r>
          </a:p>
          <a:p>
            <a:r>
              <a:rPr lang="en-US" altLang="zh-CN" sz="2800"/>
              <a:t>)</a:t>
            </a:r>
            <a:r>
              <a:rPr lang="en-US" altLang="zh-CN" sz="2800">
                <a:solidFill>
                  <a:srgbClr val="0000FF"/>
                </a:solidFill>
              </a:rPr>
              <a:t>SELECT</a:t>
            </a:r>
            <a:r>
              <a:rPr lang="en-US" altLang="zh-CN" sz="2800"/>
              <a:t> id,username FROM emp;</a:t>
            </a:r>
            <a:endParaRPr lang="zh-CN" altLang="en-US" sz="28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1340768"/>
            <a:ext cx="763284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mtClean="0"/>
              <a:t>例</a:t>
            </a:r>
            <a:r>
              <a:rPr lang="en-US" altLang="zh-CN" sz="2800" smtClean="0"/>
              <a:t> </a:t>
            </a:r>
            <a:r>
              <a:rPr lang="zh-CN" altLang="en-US" sz="2800"/>
              <a:t>将</a:t>
            </a:r>
            <a:r>
              <a:rPr lang="en-US" altLang="zh-CN" sz="2800"/>
              <a:t>stu</a:t>
            </a:r>
            <a:r>
              <a:rPr lang="zh-CN" altLang="en-US" sz="2800"/>
              <a:t>表中</a:t>
            </a:r>
            <a:r>
              <a:rPr lang="en-US" altLang="zh-CN" sz="2800"/>
              <a:t>id=3</a:t>
            </a:r>
            <a:r>
              <a:rPr lang="zh-CN" altLang="en-US" sz="2800"/>
              <a:t>的用户名写入到</a:t>
            </a:r>
            <a:r>
              <a:rPr lang="en-US" altLang="zh-CN" sz="2800"/>
              <a:t>user1</a:t>
            </a:r>
            <a:r>
              <a:rPr lang="zh-CN" altLang="en-US" sz="2800"/>
              <a:t>表</a:t>
            </a:r>
            <a:r>
              <a:rPr lang="zh-CN" altLang="en-US" sz="2800" smtClean="0"/>
              <a:t>中</a:t>
            </a:r>
            <a:endParaRPr lang="en-US" altLang="zh-CN" sz="2800" smtClean="0"/>
          </a:p>
          <a:p>
            <a:endParaRPr lang="zh-CN" altLang="en-US" sz="2800"/>
          </a:p>
          <a:p>
            <a:r>
              <a:rPr lang="en-US" altLang="zh-CN" sz="2800">
                <a:solidFill>
                  <a:srgbClr val="0000FF"/>
                </a:solidFill>
              </a:rPr>
              <a:t>INSERT</a:t>
            </a:r>
            <a:r>
              <a:rPr lang="en-US" altLang="zh-CN" sz="2800"/>
              <a:t> user1(username) </a:t>
            </a:r>
            <a:r>
              <a:rPr lang="en-US" altLang="zh-CN" sz="2800">
                <a:solidFill>
                  <a:srgbClr val="0000FF"/>
                </a:solidFill>
              </a:rPr>
              <a:t>SELECT</a:t>
            </a:r>
            <a:r>
              <a:rPr lang="en-US" altLang="zh-CN" sz="2800"/>
              <a:t> username FROM stu where id=3;</a:t>
            </a:r>
          </a:p>
        </p:txBody>
      </p:sp>
    </p:spTree>
    <p:extLst>
      <p:ext uri="{BB962C8B-B14F-4D97-AF65-F5344CB8AC3E}">
        <p14:creationId xmlns:p14="http://schemas.microsoft.com/office/powerpoint/2010/main" val="336668074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71600" y="1124744"/>
            <a:ext cx="748883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mtClean="0"/>
              <a:t>例</a:t>
            </a:r>
            <a:r>
              <a:rPr lang="en-US" altLang="zh-CN" sz="2800" smtClean="0"/>
              <a:t> </a:t>
            </a:r>
            <a:r>
              <a:rPr lang="zh-CN" altLang="en-US" sz="2800"/>
              <a:t>创建象</a:t>
            </a:r>
            <a:r>
              <a:rPr lang="en-US" altLang="zh-CN" sz="2800"/>
              <a:t>user1</a:t>
            </a:r>
            <a:r>
              <a:rPr lang="zh-CN" altLang="en-US" sz="2800"/>
              <a:t>一样的</a:t>
            </a:r>
            <a:r>
              <a:rPr lang="zh-CN" altLang="en-US" sz="2800"/>
              <a:t>表</a:t>
            </a:r>
            <a:r>
              <a:rPr lang="en-US" altLang="zh-CN" sz="2800" smtClean="0"/>
              <a:t>user2</a:t>
            </a:r>
          </a:p>
          <a:p>
            <a:endParaRPr lang="en-US" altLang="zh-CN" sz="2800"/>
          </a:p>
          <a:p>
            <a:r>
              <a:rPr lang="en-US" altLang="zh-CN" sz="2800">
                <a:solidFill>
                  <a:srgbClr val="0000FF"/>
                </a:solidFill>
              </a:rPr>
              <a:t>CREATE</a:t>
            </a:r>
            <a:r>
              <a:rPr lang="en-US" altLang="zh-CN" sz="2800"/>
              <a:t> TABLE user2 </a:t>
            </a:r>
            <a:r>
              <a:rPr lang="en-US" altLang="zh-CN" sz="2800">
                <a:solidFill>
                  <a:srgbClr val="0000FF"/>
                </a:solidFill>
              </a:rPr>
              <a:t>LIKE</a:t>
            </a:r>
            <a:r>
              <a:rPr lang="en-US" altLang="zh-CN" sz="2800"/>
              <a:t> user1;</a:t>
            </a:r>
          </a:p>
          <a:p>
            <a:r>
              <a:rPr lang="en-US" altLang="zh-CN" sz="2800"/>
              <a:t>INSERT user2(username) SELECT username FROM stu;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277696769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mtClean="0"/>
              <a:t>5.4 </a:t>
            </a:r>
            <a:r>
              <a:rPr lang="zh-CN" altLang="en-US" smtClean="0"/>
              <a:t>特殊形式查询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0307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UNION</a:t>
            </a:r>
          </a:p>
          <a:p>
            <a:pPr>
              <a:buNone/>
            </a:pPr>
            <a:r>
              <a:rPr lang="en-US" altLang="zh-CN" dirty="0" smtClean="0"/>
              <a:t>  SELECT </a:t>
            </a:r>
            <a:r>
              <a:rPr lang="zh-CN" altLang="en-US" dirty="0" smtClean="0"/>
              <a:t>字段名称</a:t>
            </a:r>
            <a:r>
              <a:rPr lang="en-US" altLang="zh-CN" dirty="0" smtClean="0"/>
              <a:t>,... FROM tbl_name1 </a:t>
            </a:r>
            <a:r>
              <a:rPr lang="en-US" altLang="zh-CN" dirty="0" smtClean="0">
                <a:solidFill>
                  <a:srgbClr val="FF0000"/>
                </a:solidFill>
              </a:rPr>
              <a:t>UNION</a:t>
            </a:r>
            <a:r>
              <a:rPr lang="en-US" altLang="zh-CN" dirty="0" smtClean="0"/>
              <a:t> SELECT </a:t>
            </a:r>
            <a:r>
              <a:rPr lang="zh-CN" altLang="en-US" dirty="0" smtClean="0"/>
              <a:t>字段名称</a:t>
            </a:r>
            <a:r>
              <a:rPr lang="en-US" altLang="zh-CN" dirty="0" smtClean="0"/>
              <a:t>... FROM tbl_name2;</a:t>
            </a:r>
          </a:p>
          <a:p>
            <a:pPr>
              <a:buNone/>
            </a:pPr>
            <a:endParaRPr lang="en-US" altLang="zh-CN" dirty="0" smtClean="0"/>
          </a:p>
          <a:p>
            <a:r>
              <a:rPr lang="en-US" altLang="zh-CN" dirty="0" smtClean="0"/>
              <a:t>UNION ALL</a:t>
            </a:r>
          </a:p>
          <a:p>
            <a:pPr>
              <a:buNone/>
            </a:pPr>
            <a:r>
              <a:rPr lang="en-US" altLang="zh-CN" dirty="0" smtClean="0"/>
              <a:t>	SELECT </a:t>
            </a:r>
            <a:r>
              <a:rPr lang="zh-CN" altLang="en-US" dirty="0" smtClean="0"/>
              <a:t>字段名称</a:t>
            </a:r>
            <a:r>
              <a:rPr lang="en-US" altLang="zh-CN" dirty="0" smtClean="0"/>
              <a:t>,... FROM tbl_name1 </a:t>
            </a:r>
            <a:r>
              <a:rPr lang="en-US" altLang="zh-CN" dirty="0" smtClean="0">
                <a:solidFill>
                  <a:srgbClr val="FF0000"/>
                </a:solidFill>
              </a:rPr>
              <a:t>UNION ALL</a:t>
            </a:r>
            <a:r>
              <a:rPr lang="en-US" altLang="zh-CN" dirty="0" smtClean="0"/>
              <a:t> SELECT </a:t>
            </a:r>
            <a:r>
              <a:rPr lang="zh-CN" altLang="en-US" dirty="0" smtClean="0"/>
              <a:t>字段名称</a:t>
            </a:r>
            <a:r>
              <a:rPr lang="en-US" altLang="zh-CN" dirty="0" smtClean="0"/>
              <a:t>... FROM tbl_name2;</a:t>
            </a:r>
          </a:p>
          <a:p>
            <a:pPr>
              <a:buNone/>
            </a:pPr>
            <a:r>
              <a:rPr lang="en-US" altLang="zh-CN" dirty="0" smtClean="0"/>
              <a:t>   </a:t>
            </a:r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UNION ALL </a:t>
            </a:r>
            <a:r>
              <a:rPr lang="zh-CN" altLang="en-US" dirty="0" smtClean="0"/>
              <a:t>是简单的合并，</a:t>
            </a:r>
            <a:r>
              <a:rPr lang="en-US" altLang="zh-CN" dirty="0" smtClean="0"/>
              <a:t>UNION</a:t>
            </a:r>
            <a:r>
              <a:rPr lang="zh-CN" altLang="en-US" dirty="0" smtClean="0"/>
              <a:t>会去掉表中重复记录）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1 </a:t>
            </a:r>
            <a:r>
              <a:rPr lang="zh-CN" altLang="en-US" smtClean="0"/>
              <a:t>联</a:t>
            </a:r>
            <a:r>
              <a:rPr lang="zh-CN" altLang="en-US" dirty="0" smtClean="0"/>
              <a:t>合查询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99592" y="764704"/>
            <a:ext cx="6912768" cy="2246769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smtClean="0"/>
              <a:t>例</a:t>
            </a:r>
            <a:r>
              <a:rPr lang="en-US" altLang="zh-CN" sz="2800" smtClean="0"/>
              <a:t> </a:t>
            </a:r>
            <a:r>
              <a:rPr lang="zh-CN" altLang="en-US" sz="2800"/>
              <a:t>将</a:t>
            </a:r>
            <a:r>
              <a:rPr lang="en-US" altLang="zh-CN" sz="2800"/>
              <a:t>user1</a:t>
            </a:r>
            <a:r>
              <a:rPr lang="zh-CN" altLang="en-US" sz="2800"/>
              <a:t>和</a:t>
            </a:r>
            <a:r>
              <a:rPr lang="en-US" altLang="zh-CN" sz="2800"/>
              <a:t>user2</a:t>
            </a:r>
            <a:r>
              <a:rPr lang="zh-CN" altLang="en-US" sz="2800"/>
              <a:t>数据合并到一起</a:t>
            </a:r>
          </a:p>
          <a:p>
            <a:r>
              <a:rPr lang="en-US" altLang="zh-CN" sz="2800" smtClean="0">
                <a:solidFill>
                  <a:srgbClr val="FF0000"/>
                </a:solidFill>
              </a:rPr>
              <a:t>--</a:t>
            </a:r>
            <a:r>
              <a:rPr lang="zh-CN" altLang="en-US" sz="2800" smtClean="0">
                <a:solidFill>
                  <a:srgbClr val="FF0000"/>
                </a:solidFill>
              </a:rPr>
              <a:t>去重</a:t>
            </a:r>
            <a:endParaRPr lang="en-US" altLang="zh-CN" sz="2800" smtClean="0">
              <a:solidFill>
                <a:srgbClr val="FF0000"/>
              </a:solidFill>
            </a:endParaRPr>
          </a:p>
          <a:p>
            <a:r>
              <a:rPr lang="en-US" altLang="zh-CN" sz="2800" smtClean="0">
                <a:solidFill>
                  <a:srgbClr val="0000FF"/>
                </a:solidFill>
              </a:rPr>
              <a:t>SELECT</a:t>
            </a:r>
            <a:r>
              <a:rPr lang="en-US" altLang="zh-CN" sz="2800" smtClean="0"/>
              <a:t> </a:t>
            </a:r>
            <a:r>
              <a:rPr lang="en-US" altLang="zh-CN" sz="2800"/>
              <a:t>username FROM user1</a:t>
            </a:r>
          </a:p>
          <a:p>
            <a:r>
              <a:rPr lang="en-US" altLang="zh-CN" sz="2800">
                <a:solidFill>
                  <a:srgbClr val="0000FF"/>
                </a:solidFill>
              </a:rPr>
              <a:t>UNION</a:t>
            </a:r>
          </a:p>
          <a:p>
            <a:r>
              <a:rPr lang="en-US" altLang="zh-CN" sz="2800">
                <a:solidFill>
                  <a:srgbClr val="0000FF"/>
                </a:solidFill>
              </a:rPr>
              <a:t>SELECT</a:t>
            </a:r>
            <a:r>
              <a:rPr lang="en-US" altLang="zh-CN" sz="2800"/>
              <a:t> username FROM user2;</a:t>
            </a:r>
            <a:endParaRPr lang="zh-CN" altLang="en-US" sz="2800"/>
          </a:p>
        </p:txBody>
      </p:sp>
      <p:sp>
        <p:nvSpPr>
          <p:cNvPr id="5" name="矩形 4"/>
          <p:cNvSpPr/>
          <p:nvPr/>
        </p:nvSpPr>
        <p:spPr>
          <a:xfrm>
            <a:off x="899592" y="3717032"/>
            <a:ext cx="6912768" cy="1815882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</a:rPr>
              <a:t>--</a:t>
            </a:r>
            <a:r>
              <a:rPr lang="zh-CN" altLang="en-US" sz="2800">
                <a:solidFill>
                  <a:srgbClr val="FF0000"/>
                </a:solidFill>
              </a:rPr>
              <a:t>不</a:t>
            </a:r>
            <a:r>
              <a:rPr lang="zh-CN" altLang="en-US" sz="2800">
                <a:solidFill>
                  <a:srgbClr val="FF0000"/>
                </a:solidFill>
              </a:rPr>
              <a:t>去</a:t>
            </a:r>
            <a:r>
              <a:rPr lang="zh-CN" altLang="en-US" sz="2800" smtClean="0">
                <a:solidFill>
                  <a:srgbClr val="FF0000"/>
                </a:solidFill>
              </a:rPr>
              <a:t>重</a:t>
            </a:r>
            <a:endParaRPr lang="en-US" altLang="zh-CN" sz="2800" smtClean="0">
              <a:solidFill>
                <a:srgbClr val="FF0000"/>
              </a:solidFill>
            </a:endParaRPr>
          </a:p>
          <a:p>
            <a:r>
              <a:rPr lang="en-US" altLang="zh-CN" sz="2800" smtClean="0">
                <a:solidFill>
                  <a:srgbClr val="0000FF"/>
                </a:solidFill>
              </a:rPr>
              <a:t>SELECT</a:t>
            </a:r>
            <a:r>
              <a:rPr lang="en-US" altLang="zh-CN" sz="2800" smtClean="0"/>
              <a:t> </a:t>
            </a:r>
            <a:r>
              <a:rPr lang="en-US" altLang="zh-CN" sz="2800"/>
              <a:t>username FROM user1</a:t>
            </a:r>
          </a:p>
          <a:p>
            <a:r>
              <a:rPr lang="en-US" altLang="zh-CN" sz="2800">
                <a:solidFill>
                  <a:srgbClr val="0000FF"/>
                </a:solidFill>
              </a:rPr>
              <a:t>UNION ALL</a:t>
            </a:r>
          </a:p>
          <a:p>
            <a:r>
              <a:rPr lang="en-US" altLang="zh-CN" sz="2800">
                <a:solidFill>
                  <a:srgbClr val="0000FF"/>
                </a:solidFill>
              </a:rPr>
              <a:t>SELECT</a:t>
            </a:r>
            <a:r>
              <a:rPr lang="en-US" altLang="zh-CN" sz="2800"/>
              <a:t> username FROM user2;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140834097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2</a:t>
            </a:r>
            <a:r>
              <a:rPr lang="zh-CN" altLang="en-US"/>
              <a:t>无限级</a:t>
            </a:r>
            <a:r>
              <a:rPr lang="zh-CN" altLang="en-US"/>
              <a:t>分</a:t>
            </a:r>
            <a:r>
              <a:rPr lang="zh-CN" altLang="en-US" smtClean="0"/>
              <a:t>类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6" y="1484784"/>
            <a:ext cx="8746927" cy="4085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1340768"/>
            <a:ext cx="3960440" cy="503363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99592" y="476672"/>
            <a:ext cx="439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smtClean="0"/>
              <a:t>实现方式</a:t>
            </a:r>
            <a:r>
              <a:rPr lang="zh-CN" altLang="en-US" smtClean="0"/>
              <a:t>：数据库中创建如下分类表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33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95536" y="831695"/>
            <a:ext cx="8229600" cy="869114"/>
          </a:xfrm>
        </p:spPr>
        <p:txBody>
          <a:bodyPr/>
          <a:lstStyle/>
          <a:p>
            <a:pPr marL="109855" indent="0">
              <a:buNone/>
            </a:pPr>
            <a:r>
              <a:rPr lang="en-US" altLang="zh-CN" dirty="0" smtClean="0"/>
              <a:t>1.</a:t>
            </a:r>
            <a:r>
              <a:rPr lang="zh-CN" altLang="en-US" dirty="0" smtClean="0"/>
              <a:t>查询</a:t>
            </a:r>
            <a:r>
              <a:rPr lang="zh-CN" altLang="en-US" dirty="0"/>
              <a:t>所有的分类信息，并且得到其父分类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r="17173"/>
          <a:stretch/>
        </p:blipFill>
        <p:spPr>
          <a:xfrm>
            <a:off x="6012160" y="2996952"/>
            <a:ext cx="2736304" cy="322774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240121"/>
            <a:ext cx="4720385" cy="3070911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V="1">
            <a:off x="4772015" y="4372804"/>
            <a:ext cx="1240145" cy="7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844115" y="3977113"/>
            <a:ext cx="1168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自身连接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64484" y="1301129"/>
            <a:ext cx="78519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s.id,s.cateName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sCateName,p.cateName 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pCateName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cate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s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LEFT JOIN </a:t>
            </a:r>
            <a:r>
              <a:rPr lang="en-US" altLang="zh-CN" sz="2400"/>
              <a:t>cate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p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ON</a:t>
            </a:r>
            <a:r>
              <a:rPr lang="en-US" altLang="zh-CN" sz="2400"/>
              <a:t> s.pId=p.id;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507512"/>
          </a:xfrm>
        </p:spPr>
        <p:txBody>
          <a:bodyPr/>
          <a:lstStyle/>
          <a:p>
            <a:pPr marL="109855" indent="0">
              <a:buNone/>
            </a:pPr>
            <a:r>
              <a:rPr lang="en-US" altLang="zh-CN" dirty="0" smtClean="0"/>
              <a:t>2. </a:t>
            </a:r>
            <a:r>
              <a:rPr lang="zh-CN" altLang="en-US" dirty="0"/>
              <a:t>查询所有的分类及其子分类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1975530"/>
            <a:ext cx="3322712" cy="486507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1520" y="2052532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p.id,p.cateName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pCateName,s.cateName 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sCateName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cate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s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RIGHT JOIN </a:t>
            </a:r>
            <a:r>
              <a:rPr lang="en-US" altLang="zh-CN" sz="2400"/>
              <a:t>cate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p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ON</a:t>
            </a:r>
            <a:r>
              <a:rPr lang="en-US" altLang="zh-CN" sz="2400"/>
              <a:t> s.pId=p.id;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855" indent="0">
              <a:buNone/>
            </a:pPr>
            <a:r>
              <a:rPr lang="en-US" altLang="zh-CN" smtClean="0"/>
              <a:t>3.</a:t>
            </a:r>
            <a:r>
              <a:rPr lang="zh-CN" altLang="en-US" smtClean="0"/>
              <a:t>查</a:t>
            </a:r>
            <a:r>
              <a:rPr lang="zh-CN" altLang="en-US" dirty="0"/>
              <a:t>询所有的分类并且得到子分类的数目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642" y="2060848"/>
            <a:ext cx="2988747" cy="38057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57200" y="2060848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SELECT</a:t>
            </a:r>
            <a:r>
              <a:rPr lang="en-US" altLang="zh-CN" sz="2400"/>
              <a:t> p.id,p.cateName AS pCateName,COUNT(s.cateName)  AS count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FROM</a:t>
            </a:r>
            <a:r>
              <a:rPr lang="en-US" altLang="zh-CN" sz="2400"/>
              <a:t> cate </a:t>
            </a:r>
            <a:r>
              <a:rPr lang="en-US" altLang="zh-CN" sz="2400">
                <a:solidFill>
                  <a:srgbClr val="0000FF"/>
                </a:solidFill>
              </a:rPr>
              <a:t>AS</a:t>
            </a:r>
            <a:r>
              <a:rPr lang="en-US" altLang="zh-CN" sz="2400"/>
              <a:t> s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RIGHT JOIN </a:t>
            </a:r>
            <a:r>
              <a:rPr lang="en-US" altLang="zh-CN" sz="2400"/>
              <a:t>cate AS p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ON</a:t>
            </a:r>
            <a:r>
              <a:rPr lang="en-US" altLang="zh-CN" sz="2400"/>
              <a:t> s.pId=p.id</a:t>
            </a:r>
          </a:p>
          <a:p>
            <a:r>
              <a:rPr lang="en-US" altLang="zh-CN" sz="2400">
                <a:solidFill>
                  <a:srgbClr val="0000FF"/>
                </a:solidFill>
              </a:rPr>
              <a:t>GROUP </a:t>
            </a:r>
            <a:r>
              <a:rPr lang="en-US" altLang="zh-CN" sz="2400">
                <a:solidFill>
                  <a:srgbClr val="0000FF"/>
                </a:solidFill>
              </a:rPr>
              <a:t>BY </a:t>
            </a:r>
            <a:r>
              <a:rPr lang="en-US" altLang="zh-CN" sz="2400" smtClean="0"/>
              <a:t>pCateName</a:t>
            </a:r>
            <a:endParaRPr lang="en-US" altLang="zh-CN" sz="2400"/>
          </a:p>
          <a:p>
            <a:r>
              <a:rPr lang="en-US" altLang="zh-CN" sz="2400">
                <a:solidFill>
                  <a:srgbClr val="0000FF"/>
                </a:solidFill>
              </a:rPr>
              <a:t>ORDER BY </a:t>
            </a:r>
            <a:r>
              <a:rPr lang="en-US" altLang="zh-CN" sz="2400"/>
              <a:t>id;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IzZGQ4YzQzMzZhZWVjY2UzYTQzZDA4MDdmMWY4Y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2c35466-0fd0-42c9-9604-1db34f56cd9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850aff1-8f21-4e1a-9f91-ec654c52e029}"/>
  <p:tag name="TABLE_ENDDRAG_ORIGIN_RECT" val="615*333"/>
  <p:tag name="TABLE_ENDDRAG_RECT" val="21*101*615*33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218</TotalTime>
  <Words>9696</Words>
  <Application>Microsoft Office PowerPoint</Application>
  <PresentationFormat>全屏显示(4:3)</PresentationFormat>
  <Paragraphs>727</Paragraphs>
  <Slides>116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116</vt:i4>
      </vt:variant>
    </vt:vector>
  </HeadingPairs>
  <TitlesOfParts>
    <vt:vector size="128" baseType="lpstr">
      <vt:lpstr>黑体</vt:lpstr>
      <vt:lpstr>华文楷体</vt:lpstr>
      <vt:lpstr>楷体</vt:lpstr>
      <vt:lpstr>微软雅黑 Light</vt:lpstr>
      <vt:lpstr>Arial</vt:lpstr>
      <vt:lpstr>Lucida Sans Unicode</vt:lpstr>
      <vt:lpstr>Times New Roman</vt:lpstr>
      <vt:lpstr>Verdana</vt:lpstr>
      <vt:lpstr>Wingdings</vt:lpstr>
      <vt:lpstr>Wingdings 2</vt:lpstr>
      <vt:lpstr>Wingdings 3</vt:lpstr>
      <vt:lpstr>聚合</vt:lpstr>
      <vt:lpstr>MySQL应用教程</vt:lpstr>
      <vt:lpstr>内容提要</vt:lpstr>
      <vt:lpstr>5.1 单表查询</vt:lpstr>
      <vt:lpstr>查询记录</vt:lpstr>
      <vt:lpstr>查询记录（续）</vt:lpstr>
      <vt:lpstr>PowerPoint 演示文稿</vt:lpstr>
      <vt:lpstr>一、不带条件查询记录</vt:lpstr>
      <vt:lpstr>PowerPoint 演示文稿</vt:lpstr>
      <vt:lpstr>PowerPoint 演示文稿</vt:lpstr>
      <vt:lpstr>PowerPoint 演示文稿</vt:lpstr>
      <vt:lpstr>一、 不带条件查询记录（续）</vt:lpstr>
      <vt:lpstr>PowerPoint 演示文稿</vt:lpstr>
      <vt:lpstr>PowerPoint 演示文稿</vt:lpstr>
      <vt:lpstr>PowerPoint 演示文稿</vt:lpstr>
      <vt:lpstr>二、带条件查询会筛选出符合条件的记录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 GROUP BY 分组</vt:lpstr>
      <vt:lpstr>PowerPoint 演示文稿</vt:lpstr>
      <vt:lpstr>PowerPoint 演示文稿</vt:lpstr>
      <vt:lpstr>4.3.1 GROUP_CONCAT()</vt:lpstr>
      <vt:lpstr>PowerPoint 演示文稿</vt:lpstr>
      <vt:lpstr>PowerPoint 演示文稿</vt:lpstr>
      <vt:lpstr>四、 配合聚合函数使用</vt:lpstr>
      <vt:lpstr>PowerPoint 演示文稿</vt:lpstr>
      <vt:lpstr>PowerPoint 演示文稿</vt:lpstr>
      <vt:lpstr>PowerPoint 演示文稿</vt:lpstr>
      <vt:lpstr>PowerPoint 演示文稿</vt:lpstr>
      <vt:lpstr>五、 WITH ROLLUP</vt:lpstr>
      <vt:lpstr>PowerPoint 演示文稿</vt:lpstr>
      <vt:lpstr>六、 HAVING</vt:lpstr>
      <vt:lpstr>PowerPoint 演示文稿</vt:lpstr>
      <vt:lpstr>PowerPoint 演示文稿</vt:lpstr>
      <vt:lpstr>PowerPoint 演示文稿</vt:lpstr>
      <vt:lpstr>PowerPoint 演示文稿</vt:lpstr>
      <vt:lpstr>七、 ORDER BY 排序</vt:lpstr>
      <vt:lpstr>PowerPoint 演示文稿</vt:lpstr>
      <vt:lpstr>PowerPoint 演示文稿</vt:lpstr>
      <vt:lpstr>PowerPoint 演示文稿</vt:lpstr>
      <vt:lpstr>PowerPoint 演示文稿</vt:lpstr>
      <vt:lpstr>八、 LIMIT 限制结果集显示条数</vt:lpstr>
      <vt:lpstr>PowerPoint 演示文稿</vt:lpstr>
      <vt:lpstr>PowerPoint 演示文稿</vt:lpstr>
      <vt:lpstr>PowerPoint 演示文稿</vt:lpstr>
      <vt:lpstr>PowerPoint 演示文稿</vt:lpstr>
      <vt:lpstr>5.2 多表连接查询 </vt:lpstr>
      <vt:lpstr>5.2 多表连接查询</vt:lpstr>
      <vt:lpstr>5.1内连接的形式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5.2外连接的形式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5.3 子查询 </vt:lpstr>
      <vt:lpstr>PowerPoint 演示文稿</vt:lpstr>
      <vt:lpstr>PowerPoint 演示文稿</vt:lpstr>
      <vt:lpstr>子查询（嵌套查询）</vt:lpstr>
      <vt:lpstr>嵌套查询求解方法</vt:lpstr>
      <vt:lpstr>各类子查询</vt:lpstr>
      <vt:lpstr>1. 带有IN谓词的子查询</vt:lpstr>
      <vt:lpstr>带有IN谓词的子查询（续）</vt:lpstr>
      <vt:lpstr>带有IN谓词的子查询（续）</vt:lpstr>
      <vt:lpstr>带有IN谓词的子查询（续)</vt:lpstr>
      <vt:lpstr>带有IN谓词的子查询（续)</vt:lpstr>
      <vt:lpstr>带有IN谓词的子查询（续)</vt:lpstr>
      <vt:lpstr>2. 带有比较运算符的子查询</vt:lpstr>
      <vt:lpstr>带有比较运算符的子查询（续）</vt:lpstr>
      <vt:lpstr>❖可能的执行过程 </vt:lpstr>
      <vt:lpstr>❖可能的执行过程（续） </vt:lpstr>
      <vt:lpstr>3.带有ANY或ALL谓词的子查询</vt:lpstr>
      <vt:lpstr>带有ANY或ALL谓词的子查询（续）</vt:lpstr>
      <vt:lpstr>带有ANY或ALL谓词的子查询（续）</vt:lpstr>
      <vt:lpstr>带有ANY或ALL谓词的子查询（续）</vt:lpstr>
      <vt:lpstr>带有ANY或ALL谓词的子查询（续）</vt:lpstr>
      <vt:lpstr>带有ANY或ALL谓词的子查询（续）</vt:lpstr>
      <vt:lpstr>带有ANY或ALL谓词的子查询（续）</vt:lpstr>
      <vt:lpstr>4.带有EXISTS谓词的子查询</vt:lpstr>
      <vt:lpstr>带有EXISTS谓词的子查询（续）</vt:lpstr>
      <vt:lpstr>带有EXISTS谓词的子查询（续）</vt:lpstr>
      <vt:lpstr>带有EXISTS谓词的子查询（续）</vt:lpstr>
      <vt:lpstr>5.其它</vt:lpstr>
      <vt:lpstr>PowerPoint 演示文稿</vt:lpstr>
      <vt:lpstr>PowerPoint 演示文稿</vt:lpstr>
      <vt:lpstr>PowerPoint 演示文稿</vt:lpstr>
      <vt:lpstr>5.4 特殊形式查询</vt:lpstr>
      <vt:lpstr>1 联合查询</vt:lpstr>
      <vt:lpstr>PowerPoint 演示文稿</vt:lpstr>
      <vt:lpstr>2无限级分类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MySQL应用教程</dc:title>
  <dc:creator>微软用户</dc:creator>
  <cp:lastModifiedBy>Administrator</cp:lastModifiedBy>
  <cp:revision>67</cp:revision>
  <dcterms:created xsi:type="dcterms:W3CDTF">2018-10-10T02:44:00Z</dcterms:created>
  <dcterms:modified xsi:type="dcterms:W3CDTF">2022-10-08T05:39:25Z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CFA1AEFBCD28452AAD678A393F16C244</vt:lpwstr>
  </property>
  <property fmtid="{D5CDD505-2E9C-101B-9397-08002B2CF9AE}" pid="3" name="KSOProductBuildVer">
    <vt:lpwstr>2052-11.1.0.12358</vt:lpwstr>
  </property>
</Properties>
</file>