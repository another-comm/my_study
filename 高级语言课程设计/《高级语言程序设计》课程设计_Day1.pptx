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547" r:id="rId2"/>
    <p:sldId id="602" r:id="rId3"/>
    <p:sldId id="600" r:id="rId4"/>
    <p:sldId id="556" r:id="rId5"/>
    <p:sldId id="603" r:id="rId6"/>
    <p:sldId id="597" r:id="rId7"/>
    <p:sldId id="548" r:id="rId8"/>
    <p:sldId id="549" r:id="rId9"/>
    <p:sldId id="551" r:id="rId10"/>
    <p:sldId id="552" r:id="rId11"/>
    <p:sldId id="595" r:id="rId12"/>
    <p:sldId id="550" r:id="rId13"/>
    <p:sldId id="554" r:id="rId14"/>
    <p:sldId id="555" r:id="rId15"/>
    <p:sldId id="557" r:id="rId16"/>
    <p:sldId id="558" r:id="rId17"/>
    <p:sldId id="604" r:id="rId18"/>
    <p:sldId id="559" r:id="rId19"/>
    <p:sldId id="560" r:id="rId20"/>
    <p:sldId id="594" r:id="rId21"/>
    <p:sldId id="605" r:id="rId2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ng" initials="D" lastIdx="1" clrIdx="0">
    <p:extLst>
      <p:ext uri="{19B8F6BF-5375-455C-9EA6-DF929625EA0E}">
        <p15:presenceInfo xmlns:p15="http://schemas.microsoft.com/office/powerpoint/2012/main" userId="c0dae3c0225ace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00FF00"/>
    <a:srgbClr val="000000"/>
    <a:srgbClr val="FF33CC"/>
    <a:srgbClr val="FF0000"/>
    <a:srgbClr val="FFFF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2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D797D23-B8E0-4ECE-A4D8-379C36FFDF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59D1B6A-953B-4E08-B013-6A32734132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8259552-4B8E-431D-AAF0-EB4804A91EAB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D47C2BE0-3916-4BC1-A5B6-AF7A4D25923C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noProof="0"/>
              <a:t>单击此处编辑母版文本样式</a:t>
            </a:r>
          </a:p>
          <a:p>
            <a:pPr lvl="1"/>
            <a:r>
              <a:rPr lang="zh-CN" altLang="zh-CN" noProof="0"/>
              <a:t>第二级</a:t>
            </a:r>
          </a:p>
          <a:p>
            <a:pPr lvl="2"/>
            <a:r>
              <a:rPr lang="zh-CN" altLang="zh-CN" noProof="0"/>
              <a:t>第三级</a:t>
            </a:r>
          </a:p>
          <a:p>
            <a:pPr lvl="3"/>
            <a:r>
              <a:rPr lang="zh-CN" altLang="zh-CN" noProof="0"/>
              <a:t>第四级</a:t>
            </a:r>
          </a:p>
          <a:p>
            <a:pPr lvl="4"/>
            <a:r>
              <a:rPr lang="zh-CN" altLang="zh-CN" noProof="0"/>
              <a:t>第五级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DCAC8FEC-5CA2-49D4-84EF-F4AF435159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D915CC7-C322-43AD-B317-27AA4C0EB5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79609C2-2FD7-4825-8F42-B1D34E8A54B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609C2-2FD7-4825-8F42-B1D34E8A54B9}" type="slidenum">
              <a:rPr lang="zh-CN" altLang="zh-CN" smtClean="0"/>
              <a:pPr>
                <a:defRPr/>
              </a:pPr>
              <a:t>15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85791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4AB274-BCF5-4A1A-B30E-33E40C2F4E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3F23E2-2000-45DC-98F6-A7BBF11960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精品课件，精彩无限！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0D9287-7CE1-4F9B-94E9-8C4EFB5D71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B0619-654D-4ADC-83D9-19D3F0E481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140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DD09A-31EC-4E9B-9967-7A1C1CF0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6451EAA-6CAE-48E3-A144-6884A2798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E7249-3C24-4171-B81E-E10CB97F3DB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8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FFB71-6B16-4C66-89CC-4CDE1582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14D41E6-C3A8-4F23-BF48-9550CDD234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1DC9A-D0DF-45BC-AA5C-3EFAD36151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994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827CA1-8F1E-48C9-83AF-9548D530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98B4889C-F7EA-4565-BE01-4A6927784F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C29F9-199F-431A-B387-C015FFD994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88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6A3D4F-1656-43EC-9301-5AE8E37B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8">
            <a:extLst>
              <a:ext uri="{FF2B5EF4-FFF2-40B4-BE49-F238E27FC236}">
                <a16:creationId xmlns:a16="http://schemas.microsoft.com/office/drawing/2014/main" id="{364BBF4F-B1EF-455A-85CF-EF5F94E83A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EA694-AF73-4F21-B49B-F9BCAF0A70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614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38D7D2-59D9-4059-AE46-92A07464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1D3ACB0F-97B6-4AF1-BEE4-AB55A206E5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B08C5-27AA-4DA1-B0AA-E71676E8C0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2243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E7839A-DFFA-4BFF-B117-D0284672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E2E6EA4B-F12F-4D26-89DA-F0DA95A79E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E2DE5-46F6-4408-865D-05AE1F5483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469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397D3F-21F0-439A-9D6F-3B0FB121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36EC318A-4602-4875-A945-49B2CB4E58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F5796-02BC-4AA2-A690-95C7D740B2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21805D-4C2C-492D-9D38-EC4574B21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51F058D3-6D02-4528-AFBE-99C8F85B70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C7929-A820-4229-BA8F-55FF1E7D77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30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4650C-DEB9-4335-93AB-8CB28387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668A402-A7F5-4CBD-80F9-EBB6D53A4A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35C23-489A-4EDE-A344-B8AB8714CB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70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21693-0514-472D-87D6-D8AA1D51B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27A72D8-1604-48C3-9384-580C10D28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7C137-734B-4589-9CD0-B52F10793B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529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AD367-2C5D-4767-BF6F-9E8D6554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5F94A75-F1BF-4C53-AD8F-31034C0A8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A5B00-2202-4BAF-9577-B9BCA87402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2567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28774-EE17-47DB-AD5D-163237EA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C6C2D794-DA38-4ED1-B0EC-773E01AA3A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5F686-5F8C-4F31-B213-52607044D3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9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0D00C8-2945-4D02-93FD-5CD76793C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95CAF6-8558-4669-BBE0-8BAB4BF14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B6A222-A7E2-45F5-AB4A-568E6472F0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B089FAA-E83A-4CF7-876F-74690FA138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zh-CN" altLang="en-US"/>
              <a:t>精品课件，精彩无限！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7675F0-B44A-4CF4-9600-BEF534E044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1DEE4F0-593B-4518-B70E-879717E8429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4" r:id="rId1"/>
    <p:sldLayoutId id="2147484225" r:id="rId2"/>
    <p:sldLayoutId id="2147484226" r:id="rId3"/>
    <p:sldLayoutId id="2147484227" r:id="rId4"/>
    <p:sldLayoutId id="2147484228" r:id="rId5"/>
    <p:sldLayoutId id="2147484229" r:id="rId6"/>
    <p:sldLayoutId id="2147484230" r:id="rId7"/>
    <p:sldLayoutId id="2147484231" r:id="rId8"/>
    <p:sldLayoutId id="2147484232" r:id="rId9"/>
    <p:sldLayoutId id="2147484233" r:id="rId10"/>
    <p:sldLayoutId id="2147484234" r:id="rId11"/>
    <p:sldLayoutId id="2147484235" r:id="rId12"/>
    <p:sldLayoutId id="2147484236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23CDFB4C-B160-4023-B106-82B8CD3B4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62E54F-ECB6-47FE-B365-6A4293C2D8ED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D68ABC6-9FB8-49B9-A492-704442B70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2684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《</a:t>
            </a:r>
            <a:r>
              <a:rPr kumimoji="1"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高级语言程序设计</a:t>
            </a:r>
            <a: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》</a:t>
            </a:r>
            <a:b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</a:br>
            <a:r>
              <a:rPr kumimoji="1"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课程设计</a:t>
            </a:r>
          </a:p>
        </p:txBody>
      </p:sp>
      <p:sp>
        <p:nvSpPr>
          <p:cNvPr id="15364" name="副标题 2">
            <a:extLst>
              <a:ext uri="{FF2B5EF4-FFF2-40B4-BE49-F238E27FC236}">
                <a16:creationId xmlns:a16="http://schemas.microsoft.com/office/drawing/2014/main" id="{C8EA317F-EAE0-445E-9D96-AD3168F04509}"/>
              </a:ext>
            </a:extLst>
          </p:cNvPr>
          <p:cNvSpPr txBox="1">
            <a:spLocks/>
          </p:cNvSpPr>
          <p:nvPr/>
        </p:nvSpPr>
        <p:spPr bwMode="auto">
          <a:xfrm>
            <a:off x="1568450" y="4076700"/>
            <a:ext cx="6172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信息与计算科学系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2024-2025-2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学期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284E3-700D-4D2E-A75C-C1A093BBF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28610D-967E-4F6F-B6A4-5524AD2F94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122EC0B-DC69-4933-8FAE-7BE31D88F350}"/>
              </a:ext>
            </a:extLst>
          </p:cNvPr>
          <p:cNvSpPr txBox="1">
            <a:spLocks/>
          </p:cNvSpPr>
          <p:nvPr/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/>
              <a:t>个人介绍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B10F448-B059-42CC-9E4C-3758E14AC3D8}"/>
              </a:ext>
            </a:extLst>
          </p:cNvPr>
          <p:cNvSpPr txBox="1">
            <a:spLocks/>
          </p:cNvSpPr>
          <p:nvPr/>
        </p:nvSpPr>
        <p:spPr bwMode="auto">
          <a:xfrm>
            <a:off x="611560" y="1700808"/>
            <a:ext cx="7313240" cy="4340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姓名：丁彦蕊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单位：理学院信息与计算科学系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办公室：理学院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301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 yr_ding@jiangnan.edu.cn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电话：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18961727448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（发消息）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4279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538BB-7417-48DE-B436-445E7EB28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200" b="1" dirty="0"/>
              <a:t>考核要求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699E12-5437-4239-9AA2-BFD798201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平时成绩</a:t>
            </a:r>
            <a:r>
              <a:rPr lang="zh-CN" altLang="en-US" dirty="0">
                <a:solidFill>
                  <a:srgbClr val="00B0F0"/>
                </a:solidFill>
              </a:rPr>
              <a:t>（</a:t>
            </a:r>
            <a:r>
              <a:rPr lang="en-US" altLang="zh-CN" dirty="0">
                <a:solidFill>
                  <a:srgbClr val="00B0F0"/>
                </a:solidFill>
              </a:rPr>
              <a:t>30%</a:t>
            </a:r>
            <a:r>
              <a:rPr lang="zh-CN" altLang="en-US" dirty="0">
                <a:solidFill>
                  <a:srgbClr val="00B0F0"/>
                </a:solidFill>
              </a:rPr>
              <a:t>）</a:t>
            </a:r>
            <a:endParaRPr lang="en-US" altLang="zh-CN" dirty="0">
              <a:solidFill>
                <a:srgbClr val="00B0F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出勤（</a:t>
            </a:r>
            <a:r>
              <a:rPr lang="en-US" altLang="zh-CN" dirty="0"/>
              <a:t>10%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回答问题（</a:t>
            </a:r>
            <a:r>
              <a:rPr lang="en-US" altLang="zh-CN" dirty="0"/>
              <a:t>20%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报告成绩</a:t>
            </a:r>
            <a:r>
              <a:rPr lang="zh-CN" altLang="en-US" dirty="0">
                <a:solidFill>
                  <a:srgbClr val="00B0F0"/>
                </a:solidFill>
              </a:rPr>
              <a:t>（</a:t>
            </a:r>
            <a:r>
              <a:rPr lang="en-US" altLang="zh-CN" dirty="0">
                <a:solidFill>
                  <a:srgbClr val="00B0F0"/>
                </a:solidFill>
              </a:rPr>
              <a:t>70%</a:t>
            </a:r>
            <a:r>
              <a:rPr lang="zh-CN" altLang="en-US" dirty="0">
                <a:solidFill>
                  <a:srgbClr val="00B0F0"/>
                </a:solidFill>
              </a:rPr>
              <a:t>）</a:t>
            </a:r>
            <a:endParaRPr lang="en-US" altLang="zh-CN" dirty="0">
              <a:solidFill>
                <a:srgbClr val="00B0F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S2-S5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626B42-DA91-4B9D-97C8-22250A392B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0764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A873AF65-63BF-4AE6-A97D-EAAE70D4E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74638"/>
            <a:ext cx="8435975" cy="1143000"/>
          </a:xfrm>
        </p:spPr>
        <p:txBody>
          <a:bodyPr/>
          <a:lstStyle/>
          <a:p>
            <a:r>
              <a:rPr lang="zh-CN" altLang="en-US" sz="3200" b="1" dirty="0"/>
              <a:t>个人银行账户管理程序的设计与实现（</a:t>
            </a:r>
            <a:r>
              <a:rPr lang="en-US" altLang="zh-CN" sz="3200" b="1" dirty="0"/>
              <a:t>C++</a:t>
            </a:r>
            <a:r>
              <a:rPr lang="zh-CN" altLang="en-US" sz="3200" b="1" dirty="0"/>
              <a:t>）</a:t>
            </a:r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C39F7058-4D16-4159-85F0-D4051E9305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4853E2-07DE-479F-AE50-6B80DEFC3843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DC17979-B98B-4728-B209-8C7D294A1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628800"/>
            <a:ext cx="864235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600" dirty="0"/>
              <a:t>S1</a:t>
            </a:r>
            <a:r>
              <a:rPr lang="zh-CN" altLang="en-US" sz="2600" dirty="0"/>
              <a:t>：活期储蓄账户类</a:t>
            </a:r>
            <a:r>
              <a:rPr lang="en-US" altLang="zh-CN" sz="2600" dirty="0" err="1"/>
              <a:t>SavingsAccount</a:t>
            </a:r>
            <a:r>
              <a:rPr lang="zh-CN" altLang="en-US" sz="2600" dirty="0"/>
              <a:t>的设计</a:t>
            </a:r>
            <a:endParaRPr lang="en-US" altLang="zh-CN" sz="2600" dirty="0"/>
          </a:p>
          <a:p>
            <a:pPr marL="0" indent="0">
              <a:buFontTx/>
              <a:buNone/>
            </a:pPr>
            <a:r>
              <a:rPr lang="en-US" altLang="zh-CN" sz="2600" dirty="0"/>
              <a:t>S2</a:t>
            </a:r>
            <a:r>
              <a:rPr lang="zh-CN" altLang="en-US" sz="2600" dirty="0"/>
              <a:t>：</a:t>
            </a:r>
            <a:r>
              <a:rPr lang="en-US" altLang="zh-CN" sz="2600" dirty="0" err="1"/>
              <a:t>SavingsAccount</a:t>
            </a:r>
            <a:r>
              <a:rPr lang="zh-CN" altLang="en-US" sz="2600" dirty="0"/>
              <a:t>类的定义和实现分离（</a:t>
            </a:r>
            <a:r>
              <a:rPr lang="en-US" altLang="zh-CN" sz="2600" dirty="0"/>
              <a:t>15</a:t>
            </a:r>
            <a:r>
              <a:rPr lang="zh-CN" altLang="en-US" sz="2600" dirty="0"/>
              <a:t>分）</a:t>
            </a:r>
            <a:endParaRPr lang="en-US" altLang="zh-CN" sz="2600" dirty="0"/>
          </a:p>
          <a:p>
            <a:pPr marL="0" indent="0">
              <a:buFontTx/>
              <a:buNone/>
            </a:pPr>
            <a:r>
              <a:rPr lang="en-US" altLang="zh-CN" sz="2600" dirty="0"/>
              <a:t>S3</a:t>
            </a:r>
            <a:r>
              <a:rPr lang="zh-CN" altLang="en-US" sz="2600" dirty="0"/>
              <a:t>：</a:t>
            </a:r>
            <a:r>
              <a:rPr lang="en-US" altLang="zh-CN" sz="2600" dirty="0" err="1"/>
              <a:t>SavingsAccount</a:t>
            </a:r>
            <a:r>
              <a:rPr lang="zh-CN" altLang="en-US" sz="2600" dirty="0"/>
              <a:t>类的完善（</a:t>
            </a:r>
            <a:r>
              <a:rPr lang="en-US" altLang="zh-CN" sz="2600" dirty="0"/>
              <a:t>20</a:t>
            </a:r>
            <a:r>
              <a:rPr lang="zh-CN" altLang="en-US" sz="2600" dirty="0"/>
              <a:t>分）</a:t>
            </a:r>
            <a:endParaRPr lang="en-US" altLang="zh-CN" sz="2600" dirty="0"/>
          </a:p>
          <a:p>
            <a:pPr marL="0" indent="0">
              <a:buFontTx/>
              <a:buNone/>
            </a:pPr>
            <a:r>
              <a:rPr lang="en-US" altLang="zh-CN" sz="2600" dirty="0" err="1"/>
              <a:t>Sadd</a:t>
            </a:r>
            <a:r>
              <a:rPr lang="zh-CN" altLang="en-US" sz="2600" dirty="0"/>
              <a:t>：</a:t>
            </a:r>
            <a:r>
              <a:rPr lang="en-US" altLang="zh-CN" sz="2600" dirty="0" err="1"/>
              <a:t>CreditAccount</a:t>
            </a:r>
            <a:r>
              <a:rPr lang="zh-CN" altLang="en-US" sz="2600" dirty="0"/>
              <a:t>类的设计与实现（</a:t>
            </a:r>
            <a:r>
              <a:rPr lang="en-US" altLang="zh-CN" sz="2600" dirty="0"/>
              <a:t>20</a:t>
            </a:r>
            <a:r>
              <a:rPr lang="zh-CN" altLang="en-US" sz="2600" dirty="0"/>
              <a:t>分）</a:t>
            </a:r>
            <a:endParaRPr lang="en-US" altLang="zh-CN" sz="2600" dirty="0"/>
          </a:p>
          <a:p>
            <a:pPr marL="0" indent="0">
              <a:buFontTx/>
              <a:buNone/>
            </a:pPr>
            <a:r>
              <a:rPr lang="en-US" altLang="zh-CN" sz="2600" dirty="0"/>
              <a:t>S4</a:t>
            </a:r>
            <a:r>
              <a:rPr lang="zh-CN" altLang="en-US" sz="2600" dirty="0"/>
              <a:t>：</a:t>
            </a:r>
            <a:r>
              <a:rPr lang="en-US" altLang="zh-CN" sz="2600" dirty="0"/>
              <a:t>Account</a:t>
            </a:r>
            <a:r>
              <a:rPr lang="zh-CN" altLang="en-US" sz="2600" dirty="0"/>
              <a:t>基类、</a:t>
            </a:r>
            <a:r>
              <a:rPr lang="en-US" altLang="zh-CN" sz="2600" dirty="0" err="1"/>
              <a:t>SavingsAccount</a:t>
            </a:r>
            <a:r>
              <a:rPr lang="zh-CN" altLang="en-US" sz="2600" dirty="0"/>
              <a:t>类、</a:t>
            </a:r>
            <a:r>
              <a:rPr lang="en-US" altLang="zh-CN" sz="2600" dirty="0" err="1"/>
              <a:t>CreditAccount</a:t>
            </a:r>
            <a:r>
              <a:rPr lang="zh-CN" altLang="en-US" sz="2600" dirty="0"/>
              <a:t>类的设计（</a:t>
            </a:r>
            <a:r>
              <a:rPr lang="en-US" altLang="zh-CN" sz="2600" dirty="0"/>
              <a:t>25</a:t>
            </a:r>
            <a:r>
              <a:rPr lang="zh-CN" altLang="en-US" sz="2600" dirty="0"/>
              <a:t>分）</a:t>
            </a:r>
            <a:endParaRPr lang="en-US" altLang="zh-CN" sz="2600" dirty="0"/>
          </a:p>
          <a:p>
            <a:pPr marL="0" indent="0">
              <a:buFontTx/>
              <a:buNone/>
            </a:pPr>
            <a:r>
              <a:rPr lang="en-US" altLang="zh-CN" sz="2600" dirty="0"/>
              <a:t>S5</a:t>
            </a:r>
            <a:r>
              <a:rPr lang="zh-CN" altLang="en-US" sz="2600" dirty="0"/>
              <a:t>：基于多态性的个人银行账户管理程序的完善（</a:t>
            </a:r>
            <a:r>
              <a:rPr lang="en-US" altLang="zh-CN" sz="2600" dirty="0"/>
              <a:t>20</a:t>
            </a:r>
            <a:r>
              <a:rPr lang="zh-CN" altLang="en-US" sz="2600" dirty="0"/>
              <a:t>分）</a:t>
            </a:r>
            <a:endParaRPr lang="en-US" altLang="zh-CN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96CDF-48C4-4126-8ED4-96B4C87B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200" b="1" dirty="0">
                <a:highlight>
                  <a:srgbClr val="00FFFF"/>
                </a:highlight>
              </a:rPr>
              <a:t>课程设计报告</a:t>
            </a:r>
            <a:r>
              <a:rPr lang="en-US" altLang="zh-CN" sz="3200" b="1" dirty="0">
                <a:highlight>
                  <a:srgbClr val="00FFFF"/>
                </a:highlight>
              </a:rPr>
              <a:t>+</a:t>
            </a:r>
            <a:r>
              <a:rPr lang="zh-CN" altLang="en-US" sz="3200" b="1" dirty="0">
                <a:highlight>
                  <a:srgbClr val="00FFFF"/>
                </a:highlight>
              </a:rPr>
              <a:t>源代码</a:t>
            </a:r>
            <a:r>
              <a:rPr lang="zh-CN" altLang="en-US" sz="3200" b="1" dirty="0"/>
              <a:t>提交时间及方式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45EACC-DC5F-470D-9942-A3F1739EC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60" y="1568450"/>
            <a:ext cx="8892480" cy="4525963"/>
          </a:xfrm>
        </p:spPr>
        <p:txBody>
          <a:bodyPr/>
          <a:lstStyle/>
          <a:p>
            <a:pPr marL="806450" indent="-806450">
              <a:buFontTx/>
              <a:buNone/>
            </a:pPr>
            <a:r>
              <a:rPr lang="en-US" altLang="zh-CN" sz="2600" dirty="0"/>
              <a:t>S2</a:t>
            </a:r>
            <a:r>
              <a:rPr lang="zh-CN" altLang="en-US" sz="2600" dirty="0"/>
              <a:t>：类</a:t>
            </a:r>
            <a:r>
              <a:rPr lang="en-US" altLang="zh-CN" sz="2600" dirty="0" err="1"/>
              <a:t>SavingsAccount</a:t>
            </a:r>
            <a:r>
              <a:rPr lang="zh-CN" altLang="en-US" sz="2600" dirty="0"/>
              <a:t>的定义和实现分离（</a:t>
            </a:r>
            <a:r>
              <a:rPr lang="en-US" altLang="zh-CN" sz="2600" dirty="0"/>
              <a:t>6</a:t>
            </a:r>
            <a:r>
              <a:rPr lang="zh-CN" altLang="en-US" sz="2600" dirty="0"/>
              <a:t>月</a:t>
            </a:r>
            <a:r>
              <a:rPr lang="en-US" altLang="zh-CN" sz="2600" dirty="0"/>
              <a:t>30</a:t>
            </a:r>
            <a:r>
              <a:rPr lang="zh-CN" altLang="en-US" sz="2600" dirty="0"/>
              <a:t>号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pPr marL="806450" indent="-806450">
              <a:buFontTx/>
              <a:buNone/>
            </a:pPr>
            <a:r>
              <a:rPr lang="en-US" altLang="zh-CN" sz="2600" dirty="0"/>
              <a:t>S3</a:t>
            </a:r>
            <a:r>
              <a:rPr lang="zh-CN" altLang="en-US" sz="2600" dirty="0"/>
              <a:t>：</a:t>
            </a:r>
            <a:r>
              <a:rPr lang="en-US" altLang="zh-CN" sz="2600" dirty="0" err="1"/>
              <a:t>SavingsAccount</a:t>
            </a:r>
            <a:r>
              <a:rPr lang="zh-CN" altLang="en-US" sz="2600" dirty="0"/>
              <a:t>类的完善（</a:t>
            </a:r>
            <a:r>
              <a:rPr lang="en-US" altLang="zh-CN" sz="2600" dirty="0"/>
              <a:t>7</a:t>
            </a:r>
            <a:r>
              <a:rPr lang="zh-CN" altLang="en-US" sz="2600" dirty="0"/>
              <a:t>月</a:t>
            </a:r>
            <a:r>
              <a:rPr lang="en-US" altLang="zh-CN" sz="2600" dirty="0"/>
              <a:t>1</a:t>
            </a:r>
            <a:r>
              <a:rPr lang="zh-CN" altLang="en-US" sz="2600" dirty="0"/>
              <a:t>号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pPr marL="806450" indent="-806450">
              <a:buFontTx/>
              <a:buNone/>
            </a:pPr>
            <a:r>
              <a:rPr lang="en-US" altLang="zh-CN" sz="2600" dirty="0" err="1"/>
              <a:t>Sadd</a:t>
            </a:r>
            <a:r>
              <a:rPr lang="zh-CN" altLang="en-US" sz="2600" dirty="0"/>
              <a:t>：</a:t>
            </a:r>
            <a:r>
              <a:rPr lang="en-US" altLang="zh-CN" sz="2600" dirty="0" err="1"/>
              <a:t>CreditAccount</a:t>
            </a:r>
            <a:r>
              <a:rPr lang="zh-CN" altLang="en-US" sz="2600" dirty="0"/>
              <a:t>类的设计与实现（</a:t>
            </a:r>
            <a:r>
              <a:rPr lang="en-US" altLang="zh-CN" sz="2600" dirty="0"/>
              <a:t> 7</a:t>
            </a:r>
            <a:r>
              <a:rPr lang="zh-CN" altLang="en-US" sz="2600" dirty="0"/>
              <a:t>月</a:t>
            </a:r>
            <a:r>
              <a:rPr lang="en-US" altLang="zh-CN" sz="2600" dirty="0"/>
              <a:t>1</a:t>
            </a:r>
            <a:r>
              <a:rPr lang="zh-CN" altLang="en-US" sz="2600" dirty="0"/>
              <a:t>号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pPr marL="806450" indent="-806450">
              <a:buFontTx/>
              <a:buNone/>
            </a:pPr>
            <a:r>
              <a:rPr lang="en-US" altLang="zh-CN" sz="2600" dirty="0"/>
              <a:t>S4</a:t>
            </a:r>
            <a:r>
              <a:rPr lang="zh-CN" altLang="en-US" sz="2600" dirty="0"/>
              <a:t>：</a:t>
            </a:r>
            <a:r>
              <a:rPr lang="en-US" altLang="zh-CN" sz="2600" dirty="0"/>
              <a:t>Account</a:t>
            </a:r>
            <a:r>
              <a:rPr lang="zh-CN" altLang="en-US" sz="2600" dirty="0"/>
              <a:t>基类、</a:t>
            </a:r>
            <a:r>
              <a:rPr lang="en-US" altLang="zh-CN" sz="2600" dirty="0" err="1"/>
              <a:t>SavingsAccount</a:t>
            </a:r>
            <a:r>
              <a:rPr lang="zh-CN" altLang="en-US" sz="2600" dirty="0"/>
              <a:t>类、</a:t>
            </a:r>
            <a:r>
              <a:rPr lang="en-US" altLang="zh-CN" sz="2600" dirty="0" err="1"/>
              <a:t>CreditAccount</a:t>
            </a:r>
            <a:r>
              <a:rPr lang="zh-CN" altLang="en-US" sz="2600" dirty="0"/>
              <a:t>类的设计（</a:t>
            </a:r>
            <a:r>
              <a:rPr lang="en-US" altLang="zh-CN" sz="2600" dirty="0"/>
              <a:t> 7</a:t>
            </a:r>
            <a:r>
              <a:rPr lang="zh-CN" altLang="en-US" sz="2600" dirty="0"/>
              <a:t>月</a:t>
            </a:r>
            <a:r>
              <a:rPr lang="en-US" altLang="zh-CN" sz="2600" dirty="0"/>
              <a:t>2</a:t>
            </a:r>
            <a:r>
              <a:rPr lang="zh-CN" altLang="en-US" sz="2600" dirty="0"/>
              <a:t>号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pPr marL="806450" indent="-806450">
              <a:buFontTx/>
              <a:buNone/>
            </a:pPr>
            <a:r>
              <a:rPr lang="en-US" altLang="zh-CN" sz="2600" dirty="0"/>
              <a:t>S5</a:t>
            </a:r>
            <a:r>
              <a:rPr lang="zh-CN" altLang="en-US" sz="2600" dirty="0"/>
              <a:t>：基于多态性的个人银行账户管理程序的完善（</a:t>
            </a:r>
            <a:r>
              <a:rPr lang="en-US" altLang="zh-CN" sz="2600" dirty="0"/>
              <a:t> 7</a:t>
            </a:r>
            <a:r>
              <a:rPr lang="zh-CN" altLang="en-US" sz="2600" dirty="0"/>
              <a:t>月</a:t>
            </a:r>
            <a:r>
              <a:rPr lang="en-US" altLang="zh-CN" sz="2600" dirty="0"/>
              <a:t>3</a:t>
            </a:r>
            <a:r>
              <a:rPr lang="zh-CN" altLang="en-US" sz="2600" dirty="0"/>
              <a:t>号</a:t>
            </a:r>
            <a:r>
              <a:rPr lang="en-US" altLang="zh-CN" sz="2600" b="1" dirty="0">
                <a:solidFill>
                  <a:srgbClr val="00B0F0"/>
                </a:solidFill>
              </a:rPr>
              <a:t>18</a:t>
            </a:r>
            <a:r>
              <a:rPr lang="zh-CN" altLang="en-US" sz="2600" b="1" dirty="0">
                <a:solidFill>
                  <a:srgbClr val="00B0F0"/>
                </a:solidFill>
              </a:rPr>
              <a:t>：</a:t>
            </a:r>
            <a:r>
              <a:rPr lang="en-US" altLang="zh-CN" sz="2600" b="1" dirty="0">
                <a:solidFill>
                  <a:srgbClr val="00B0F0"/>
                </a:solidFill>
              </a:rPr>
              <a:t>00</a:t>
            </a:r>
            <a:r>
              <a:rPr lang="zh-CN" altLang="en-US" sz="2600" b="1" dirty="0">
                <a:solidFill>
                  <a:srgbClr val="00B0F0"/>
                </a:solidFill>
              </a:rPr>
              <a:t>前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pPr marL="806450" indent="-806450">
              <a:buFontTx/>
              <a:buNone/>
            </a:pPr>
            <a:endParaRPr lang="en-US" altLang="zh-CN" sz="2600" dirty="0"/>
          </a:p>
          <a:p>
            <a:pPr marL="806450" indent="-806450">
              <a:buFontTx/>
              <a:buNone/>
            </a:pPr>
            <a:r>
              <a:rPr lang="zh-CN" altLang="en-US" sz="2600" dirty="0"/>
              <a:t>    </a:t>
            </a:r>
            <a:r>
              <a:rPr lang="zh-CN" altLang="en-US" sz="2600" b="1" dirty="0">
                <a:highlight>
                  <a:srgbClr val="00FFFF"/>
                </a:highlight>
              </a:rPr>
              <a:t>每位同学</a:t>
            </a:r>
            <a:r>
              <a:rPr lang="zh-CN" altLang="en-US" sz="2600" dirty="0"/>
              <a:t>将报告发送到：</a:t>
            </a:r>
            <a:r>
              <a:rPr lang="en-US" altLang="zh-CN" sz="2600" dirty="0">
                <a:highlight>
                  <a:srgbClr val="00FFFF"/>
                </a:highlight>
              </a:rPr>
              <a:t>yr_ding@jiangnan.edu.cn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49673-E4CB-4B92-81A2-4D45D68736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7208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F300B-EA7B-4658-B0F3-69B0EA03C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44778-FCB4-4302-9EB1-F5D813A30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提交形式（以</a:t>
            </a:r>
            <a:r>
              <a:rPr lang="en-US" altLang="zh-CN" sz="2800" dirty="0"/>
              <a:t>S2</a:t>
            </a:r>
            <a:r>
              <a:rPr lang="zh-CN" altLang="en-US" sz="2800" dirty="0"/>
              <a:t>为例）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4C7A2A-3018-47E7-BB1C-DC0B4AA93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CA20C9-B4F5-48C8-9572-BD99A9B42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9" y="2420888"/>
            <a:ext cx="4152900" cy="5905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0BC90E-D2DE-4874-B8C7-99CB04AD2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36" y="1656557"/>
            <a:ext cx="2200275" cy="4095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88BC273-B457-4856-9B11-00D4B77C9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3365451"/>
            <a:ext cx="2333625" cy="30099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2A10E43-CE65-4899-A2B5-24D2EB2F8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128" y="3602675"/>
            <a:ext cx="5596672" cy="196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84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E58127CB-47AE-42D5-AA43-1F1F8ECC0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6550"/>
            <a:ext cx="9144000" cy="1143000"/>
          </a:xfrm>
        </p:spPr>
        <p:txBody>
          <a:bodyPr/>
          <a:lstStyle/>
          <a:p>
            <a:pPr algn="l"/>
            <a:r>
              <a:rPr lang="en-US" altLang="zh-CN" sz="3400" b="1"/>
              <a:t>S1</a:t>
            </a:r>
            <a:r>
              <a:rPr lang="zh-CN" altLang="en-US" sz="3400" b="1"/>
              <a:t>：活期储蓄账户类</a:t>
            </a:r>
            <a:r>
              <a:rPr lang="en-US" altLang="zh-CN" sz="3400" b="1"/>
              <a:t>SavingsAccount</a:t>
            </a:r>
            <a:r>
              <a:rPr lang="zh-CN" altLang="en-US" sz="3400" b="1"/>
              <a:t>的设计</a:t>
            </a: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951ECB40-5739-4464-89FE-C87CFBDEF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125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一个人可以有多个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活期储蓄账户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，一个活期储蓄账户包括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账号（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）、余额（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）、年利率（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等信息，还包括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显示账户信息（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）、存款（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）、取款（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withdraw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）、结算利息（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settle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等操作。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请设计一个</a:t>
            </a:r>
            <a:r>
              <a:rPr lang="en-US" altLang="zh-CN" sz="24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SavingsAccount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均作为其成员数据，将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settle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均作为其成员函数。无论存款、取款还是结算利息，都需要修改当前的余额并将余额的变动输出，这些公共操作由私有成员函数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来执行。</a:t>
            </a:r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A1C30B0A-674C-48DC-92D7-9A3944CD24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7AEBF5-0EDB-45BB-AE53-31F0D4560E17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>
            <a:extLst>
              <a:ext uri="{FF2B5EF4-FFF2-40B4-BE49-F238E27FC236}">
                <a16:creationId xmlns:a16="http://schemas.microsoft.com/office/drawing/2014/main" id="{0CE96857-44C2-4432-BE30-9B85A24058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C3DDB5-CADF-4E91-AA17-1B6DDBDB7486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/>
          </a:p>
        </p:txBody>
      </p:sp>
      <p:pic>
        <p:nvPicPr>
          <p:cNvPr id="18435" name="图片 4">
            <a:extLst>
              <a:ext uri="{FF2B5EF4-FFF2-40B4-BE49-F238E27FC236}">
                <a16:creationId xmlns:a16="http://schemas.microsoft.com/office/drawing/2014/main" id="{41F84EE7-2A98-4948-BEA4-C51EBB66D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725487"/>
            <a:ext cx="6413500" cy="575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D6710BE-3315-4EAE-A314-C279386A4DF0}"/>
              </a:ext>
            </a:extLst>
          </p:cNvPr>
          <p:cNvSpPr txBox="1"/>
          <p:nvPr/>
        </p:nvSpPr>
        <p:spPr>
          <a:xfrm>
            <a:off x="899592" y="485501"/>
            <a:ext cx="1967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UML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类图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>
            <a:extLst>
              <a:ext uri="{FF2B5EF4-FFF2-40B4-BE49-F238E27FC236}">
                <a16:creationId xmlns:a16="http://schemas.microsoft.com/office/drawing/2014/main" id="{2BCD54F1-13FC-4C2D-98CD-F3AC1B697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A889F0-0439-4210-95FB-2249C40512DA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052BD7-8914-4C48-A314-8C600233E14E}"/>
              </a:ext>
            </a:extLst>
          </p:cNvPr>
          <p:cNvSpPr txBox="1"/>
          <p:nvPr/>
        </p:nvSpPr>
        <p:spPr>
          <a:xfrm>
            <a:off x="6212260" y="3284984"/>
            <a:ext cx="2608212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无论存款、取款还是结算利息，都需要修改当前的余额并将余额的变动输出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A8B45F-2381-443B-9840-22DF0A68F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92274"/>
            <a:ext cx="560070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>
            <a:extLst>
              <a:ext uri="{FF2B5EF4-FFF2-40B4-BE49-F238E27FC236}">
                <a16:creationId xmlns:a16="http://schemas.microsoft.com/office/drawing/2014/main" id="{3C073D25-67DD-4C09-B76E-F684074AE1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9D044D-9708-4ABA-B24B-292E0AF5E1FB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3A608A-C469-4FAB-B208-492327C3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24744"/>
            <a:ext cx="5238750" cy="48863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EEF6A9E-8182-4E87-BE16-9C66BA10C39E}"/>
              </a:ext>
            </a:extLst>
          </p:cNvPr>
          <p:cNvSpPr txBox="1"/>
          <p:nvPr/>
        </p:nvSpPr>
        <p:spPr>
          <a:xfrm>
            <a:off x="5634286" y="2348880"/>
            <a:ext cx="327538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为简便起见，该类中的所有日期均用一个整数来表示</a:t>
            </a:r>
          </a:p>
          <a:p>
            <a:endParaRPr lang="zh-CN" altLang="en-US" sz="2000" dirty="0"/>
          </a:p>
          <a:p>
            <a:r>
              <a:rPr lang="zh-CN" altLang="en-US" sz="2000" dirty="0"/>
              <a:t>该整数是一个以日为单位的相对日期，例如如果以开户日为</a:t>
            </a:r>
            <a:r>
              <a:rPr lang="en-US" altLang="zh-CN" sz="2000" dirty="0"/>
              <a:t>1</a:t>
            </a:r>
            <a:r>
              <a:rPr lang="zh-CN" altLang="en-US" sz="2000" dirty="0"/>
              <a:t>，则开户日后的第</a:t>
            </a:r>
            <a:r>
              <a:rPr lang="en-US" altLang="zh-CN" sz="2000" dirty="0"/>
              <a:t>3</a:t>
            </a:r>
            <a:r>
              <a:rPr lang="zh-CN" altLang="en-US" sz="2000" dirty="0"/>
              <a:t>天就用</a:t>
            </a:r>
            <a:r>
              <a:rPr lang="en-US" altLang="zh-CN" sz="2000" dirty="0"/>
              <a:t>4</a:t>
            </a:r>
            <a:r>
              <a:rPr lang="zh-CN" altLang="en-US" sz="2000" dirty="0"/>
              <a:t>来表示</a:t>
            </a:r>
          </a:p>
          <a:p>
            <a:endParaRPr lang="zh-CN" altLang="en-US" sz="2000" dirty="0"/>
          </a:p>
          <a:p>
            <a:r>
              <a:rPr lang="zh-CN" altLang="en-US" sz="2000" dirty="0"/>
              <a:t>通过将两个日期相减就可以得到两个日期相差的天数，便于计算利息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1E701-5EAB-40FE-8ECF-62F0C8D9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200" b="1" dirty="0"/>
              <a:t>利息的计算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BA125D-840D-4482-9DCD-98D53F80B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68760"/>
            <a:ext cx="8568952" cy="54527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由于账户的余额是不断变化的</a:t>
            </a:r>
          </a:p>
          <a:p>
            <a:pPr marL="0" indent="0">
              <a:buNone/>
            </a:pPr>
            <a:r>
              <a:rPr lang="zh-CN" altLang="en-US" sz="2400" dirty="0"/>
              <a:t>余额*年利率</a:t>
            </a:r>
            <a:r>
              <a:rPr lang="en-US" altLang="zh-CN" sz="2400" dirty="0"/>
              <a:t>=</a:t>
            </a:r>
            <a:r>
              <a:rPr lang="zh-CN" altLang="en-US" sz="2400" dirty="0"/>
              <a:t>年利？</a:t>
            </a:r>
            <a:r>
              <a:rPr lang="zh-CN" altLang="en-US" sz="2400" dirty="0">
                <a:highlight>
                  <a:srgbClr val="00FFFF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╳</a:t>
            </a:r>
            <a:endParaRPr lang="zh-CN" altLang="en-US" sz="2400" dirty="0"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zh-CN" altLang="en-US" sz="2400" dirty="0"/>
              <a:t>一年当中每天的余额累积起来</a:t>
            </a:r>
            <a:r>
              <a:rPr lang="en-US" altLang="zh-CN" sz="2400" dirty="0"/>
              <a:t>/</a:t>
            </a:r>
            <a:r>
              <a:rPr lang="zh-CN" altLang="en-US" sz="2400" dirty="0"/>
              <a:t>一年的总天数</a:t>
            </a:r>
            <a:r>
              <a:rPr lang="en-US" altLang="zh-CN" sz="2400" dirty="0"/>
              <a:t>=</a:t>
            </a:r>
            <a:r>
              <a:rPr lang="zh-CN" altLang="en-US" sz="2400" dirty="0">
                <a:highlight>
                  <a:srgbClr val="00FFFF"/>
                </a:highlight>
              </a:rPr>
              <a:t>日均余额</a:t>
            </a:r>
          </a:p>
          <a:p>
            <a:pPr marL="0" indent="0">
              <a:buNone/>
            </a:pPr>
            <a:r>
              <a:rPr lang="zh-CN" altLang="en-US" sz="2400" dirty="0"/>
              <a:t>日均余额*年利率</a:t>
            </a:r>
            <a:r>
              <a:rPr lang="en-US" altLang="zh-CN" sz="2400" dirty="0"/>
              <a:t>=</a:t>
            </a:r>
            <a:r>
              <a:rPr lang="zh-CN" altLang="en-US" sz="2400" dirty="0"/>
              <a:t>年利？</a:t>
            </a:r>
            <a:r>
              <a:rPr lang="zh-CN" altLang="en-US" sz="2400" dirty="0">
                <a:highlight>
                  <a:srgbClr val="00FFFF"/>
                </a:highlight>
              </a:rPr>
              <a:t>√</a:t>
            </a:r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例如：</a:t>
            </a:r>
          </a:p>
          <a:p>
            <a:pPr marL="0" indent="0">
              <a:buNone/>
            </a:pPr>
            <a:r>
              <a:rPr lang="zh-CN" altLang="en-US" sz="2400" dirty="0"/>
              <a:t>如果年利率是</a:t>
            </a:r>
            <a:r>
              <a:rPr lang="en-US" altLang="zh-CN" sz="2400" dirty="0"/>
              <a:t>1.5%</a:t>
            </a:r>
            <a:r>
              <a:rPr lang="zh-CN" altLang="en-US" sz="2400" dirty="0"/>
              <a:t>，某账户第</a:t>
            </a:r>
            <a:r>
              <a:rPr lang="en-US" altLang="zh-CN" sz="2400" dirty="0"/>
              <a:t>5</a:t>
            </a:r>
            <a:r>
              <a:rPr lang="zh-CN" altLang="en-US" sz="2400" dirty="0"/>
              <a:t>天存入</a:t>
            </a:r>
            <a:r>
              <a:rPr lang="en-US" altLang="zh-CN" sz="2400" dirty="0"/>
              <a:t>5000</a:t>
            </a:r>
            <a:r>
              <a:rPr lang="zh-CN" altLang="en-US" sz="2400" dirty="0"/>
              <a:t>元，第</a:t>
            </a:r>
            <a:r>
              <a:rPr lang="en-US" altLang="zh-CN" sz="2400" dirty="0"/>
              <a:t>45</a:t>
            </a:r>
            <a:r>
              <a:rPr lang="zh-CN" altLang="en-US" sz="2400" dirty="0"/>
              <a:t>天存入</a:t>
            </a:r>
            <a:r>
              <a:rPr lang="en-US" altLang="zh-CN" sz="2400" dirty="0"/>
              <a:t>5500</a:t>
            </a:r>
            <a:r>
              <a:rPr lang="zh-CN" altLang="en-US" sz="2400" dirty="0"/>
              <a:t>元，第</a:t>
            </a:r>
            <a:r>
              <a:rPr lang="en-US" altLang="zh-CN" sz="2400" dirty="0"/>
              <a:t>90</a:t>
            </a:r>
            <a:r>
              <a:rPr lang="zh-CN" altLang="en-US" sz="2400" dirty="0"/>
              <a:t>天结算利息。</a:t>
            </a:r>
          </a:p>
          <a:p>
            <a:pPr marL="0" indent="0">
              <a:buNone/>
            </a:pPr>
            <a:r>
              <a:rPr lang="zh-CN" altLang="en-US" sz="2400" dirty="0"/>
              <a:t>第</a:t>
            </a:r>
            <a:r>
              <a:rPr lang="en-US" altLang="zh-CN" sz="2400" dirty="0"/>
              <a:t>5</a:t>
            </a:r>
            <a:r>
              <a:rPr lang="zh-CN" altLang="en-US" sz="2400" dirty="0"/>
              <a:t>天到第</a:t>
            </a:r>
            <a:r>
              <a:rPr lang="en-US" altLang="zh-CN" sz="2400" dirty="0"/>
              <a:t>45</a:t>
            </a:r>
            <a:r>
              <a:rPr lang="zh-CN" altLang="en-US" sz="2400" dirty="0"/>
              <a:t>天之间的余额为</a:t>
            </a:r>
            <a:r>
              <a:rPr lang="en-US" altLang="zh-CN" sz="2400" dirty="0"/>
              <a:t>5000</a:t>
            </a:r>
            <a:r>
              <a:rPr lang="zh-CN" altLang="en-US" sz="2400" dirty="0"/>
              <a:t>元（持续</a:t>
            </a:r>
            <a:r>
              <a:rPr lang="en-US" altLang="zh-CN" sz="2400" dirty="0"/>
              <a:t>40</a:t>
            </a:r>
            <a:r>
              <a:rPr lang="zh-CN" altLang="en-US" sz="2400" dirty="0"/>
              <a:t>天）</a:t>
            </a:r>
          </a:p>
          <a:p>
            <a:pPr marL="0" indent="0">
              <a:buNone/>
            </a:pPr>
            <a:r>
              <a:rPr lang="zh-CN" altLang="en-US" sz="2400" dirty="0"/>
              <a:t>第</a:t>
            </a:r>
            <a:r>
              <a:rPr lang="en-US" altLang="zh-CN" sz="2400" dirty="0"/>
              <a:t>45</a:t>
            </a:r>
            <a:r>
              <a:rPr lang="zh-CN" altLang="en-US" sz="2400" dirty="0"/>
              <a:t>天到第</a:t>
            </a:r>
            <a:r>
              <a:rPr lang="en-US" altLang="zh-CN" sz="2400" dirty="0"/>
              <a:t>90</a:t>
            </a:r>
            <a:r>
              <a:rPr lang="zh-CN" altLang="en-US" sz="2400" dirty="0"/>
              <a:t>天之间的余额为</a:t>
            </a:r>
            <a:r>
              <a:rPr lang="en-US" altLang="zh-CN" sz="2400" dirty="0"/>
              <a:t>10500</a:t>
            </a:r>
            <a:r>
              <a:rPr lang="zh-CN" altLang="en-US" sz="2400" dirty="0"/>
              <a:t>元（持续</a:t>
            </a:r>
            <a:r>
              <a:rPr lang="en-US" altLang="zh-CN" sz="2400" dirty="0"/>
              <a:t>45</a:t>
            </a:r>
            <a:r>
              <a:rPr lang="zh-CN" altLang="en-US" sz="2400" dirty="0"/>
              <a:t>天）</a:t>
            </a:r>
          </a:p>
          <a:p>
            <a:pPr marL="0" indent="0">
              <a:buNone/>
            </a:pPr>
            <a:r>
              <a:rPr lang="zh-CN" altLang="en-US" sz="2400" dirty="0"/>
              <a:t>第</a:t>
            </a:r>
            <a:r>
              <a:rPr lang="en-US" altLang="zh-CN" sz="2400" dirty="0"/>
              <a:t>90</a:t>
            </a:r>
            <a:r>
              <a:rPr lang="zh-CN" altLang="en-US" sz="2400" dirty="0"/>
              <a:t>天结算利息：（</a:t>
            </a:r>
            <a:r>
              <a:rPr lang="en-US" altLang="zh-CN" sz="2400" dirty="0"/>
              <a:t>40*5000+45*10500</a:t>
            </a:r>
            <a:r>
              <a:rPr lang="zh-CN" altLang="en-US" sz="2400" dirty="0"/>
              <a:t>）</a:t>
            </a:r>
            <a:r>
              <a:rPr lang="en-US" altLang="zh-CN" sz="2400" dirty="0"/>
              <a:t>/365</a:t>
            </a:r>
            <a:r>
              <a:rPr lang="zh-CN" altLang="en-US" sz="2400" dirty="0"/>
              <a:t>*</a:t>
            </a:r>
            <a:r>
              <a:rPr lang="en-US" altLang="zh-CN" sz="2400" dirty="0"/>
              <a:t>1.5%=27.64</a:t>
            </a:r>
            <a:r>
              <a:rPr lang="zh-CN" altLang="en-US" sz="2400" dirty="0"/>
              <a:t>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3392A9-62F8-4A76-A44A-28A267ADE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484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灯片编号占位符 3">
            <a:extLst>
              <a:ext uri="{FF2B5EF4-FFF2-40B4-BE49-F238E27FC236}">
                <a16:creationId xmlns:a16="http://schemas.microsoft.com/office/drawing/2014/main" id="{E8FC4CF4-9B6B-4A37-8E4C-84B8BCAD3B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75A459-A02D-4E72-8D8B-AF4D607ABCC4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1DD0E0-D043-4B0E-BB3C-E3917B9213F1}"/>
              </a:ext>
            </a:extLst>
          </p:cNvPr>
          <p:cNvSpPr txBox="1"/>
          <p:nvPr/>
        </p:nvSpPr>
        <p:spPr>
          <a:xfrm>
            <a:off x="570384" y="764704"/>
            <a:ext cx="8003232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计算余额的按日累计值，</a:t>
            </a:r>
            <a:r>
              <a:rPr lang="en-US" altLang="zh-CN" sz="2400" dirty="0" err="1"/>
              <a:t>SavingsAccount</a:t>
            </a:r>
            <a:r>
              <a:rPr lang="zh-CN" altLang="en-US" sz="2400" dirty="0"/>
              <a:t>引入：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私有数据成员</a:t>
            </a:r>
            <a:r>
              <a:rPr lang="en-US" altLang="zh-CN" sz="2400" b="1" dirty="0" err="1"/>
              <a:t>lastDate</a:t>
            </a:r>
            <a:r>
              <a:rPr lang="zh-CN" altLang="en-US" sz="2400" dirty="0"/>
              <a:t>：存储上一次余额变动的日期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私有数据成员</a:t>
            </a:r>
            <a:r>
              <a:rPr lang="en-US" altLang="zh-CN" sz="2400" b="1" dirty="0"/>
              <a:t>accumulation</a:t>
            </a:r>
            <a:r>
              <a:rPr lang="zh-CN" altLang="en-US" sz="2400" dirty="0"/>
              <a:t>：存储上一次计算利息以后直到最近一次余额变动时</a:t>
            </a:r>
            <a:r>
              <a:rPr lang="zh-CN" altLang="en-US" sz="2400" b="1" dirty="0">
                <a:solidFill>
                  <a:srgbClr val="00B0F0"/>
                </a:solidFill>
              </a:rPr>
              <a:t>余额按日累加的值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私有成员</a:t>
            </a:r>
            <a:r>
              <a:rPr lang="en-US" altLang="zh-CN" sz="2400" b="1" dirty="0"/>
              <a:t>accumulate</a:t>
            </a:r>
            <a:r>
              <a:rPr lang="zh-CN" altLang="en-US" sz="2400" dirty="0"/>
              <a:t>：计算截至指定日期的账户余额按日累积值</a:t>
            </a:r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F0"/>
                </a:solidFill>
              </a:rPr>
              <a:t>当余额变动时，需要将变动前的余额与该余额所持续的天数相乘，累加到</a:t>
            </a:r>
            <a:r>
              <a:rPr lang="en-US" altLang="zh-CN" sz="2400" b="1" dirty="0">
                <a:solidFill>
                  <a:srgbClr val="00B0F0"/>
                </a:solidFill>
              </a:rPr>
              <a:t>accumulation</a:t>
            </a:r>
            <a:r>
              <a:rPr lang="zh-CN" altLang="en-US" sz="2400" b="1" dirty="0">
                <a:solidFill>
                  <a:srgbClr val="00B0F0"/>
                </a:solidFill>
              </a:rPr>
              <a:t>中，再修改</a:t>
            </a:r>
            <a:r>
              <a:rPr lang="en-US" altLang="zh-CN" sz="2400" b="1" dirty="0" err="1">
                <a:solidFill>
                  <a:srgbClr val="00B0F0"/>
                </a:solidFill>
              </a:rPr>
              <a:t>lastDate</a:t>
            </a:r>
            <a:endParaRPr lang="en-US" altLang="zh-CN" sz="2400" b="1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/>
              <a:t>accumulation+balance</a:t>
            </a:r>
            <a:r>
              <a:rPr lang="en-US" altLang="zh-CN" sz="2400" dirty="0"/>
              <a:t>*(date-</a:t>
            </a:r>
            <a:r>
              <a:rPr lang="en-US" altLang="zh-CN" sz="2400" dirty="0" err="1"/>
              <a:t>lastDate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>
            <a:extLst>
              <a:ext uri="{FF2B5EF4-FFF2-40B4-BE49-F238E27FC236}">
                <a16:creationId xmlns:a16="http://schemas.microsoft.com/office/drawing/2014/main" id="{4160B15E-76BD-404D-8E26-63B1C10AAB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203821-3C96-472B-B223-50E5DB0AD327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/>
          </a:p>
        </p:txBody>
      </p:sp>
      <p:pic>
        <p:nvPicPr>
          <p:cNvPr id="23555" name="图片 4">
            <a:extLst>
              <a:ext uri="{FF2B5EF4-FFF2-40B4-BE49-F238E27FC236}">
                <a16:creationId xmlns:a16="http://schemas.microsoft.com/office/drawing/2014/main" id="{60625E67-5E98-4BE6-B16A-CF9DF6AC0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831" y="476672"/>
            <a:ext cx="5748338" cy="521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2">
            <a:extLst>
              <a:ext uri="{FF2B5EF4-FFF2-40B4-BE49-F238E27FC236}">
                <a16:creationId xmlns:a16="http://schemas.microsoft.com/office/drawing/2014/main" id="{26075F53-73F0-4E16-8067-01DD487B9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692150"/>
            <a:ext cx="8229600" cy="461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800" b="1"/>
              <a:t>源代码</a:t>
            </a:r>
          </a:p>
        </p:txBody>
      </p:sp>
      <p:sp>
        <p:nvSpPr>
          <p:cNvPr id="24579" name="灯片编号占位符 3">
            <a:extLst>
              <a:ext uri="{FF2B5EF4-FFF2-40B4-BE49-F238E27FC236}">
                <a16:creationId xmlns:a16="http://schemas.microsoft.com/office/drawing/2014/main" id="{DB4FBE89-A5B0-4FAA-B27E-4DE961DD5A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E5A762-A703-4939-ADC2-C3EFF7226AAB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3DD425-DD42-40DC-BD56-1A5A7CF9E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49" y="1154113"/>
            <a:ext cx="7733456" cy="51765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>
            <a:extLst>
              <a:ext uri="{FF2B5EF4-FFF2-40B4-BE49-F238E27FC236}">
                <a16:creationId xmlns:a16="http://schemas.microsoft.com/office/drawing/2014/main" id="{0D711114-8B51-446B-B35B-56A94385C8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E94340-66D7-4367-9837-579FD43A1E4A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9129B7-1A5B-4DCB-AFC3-ACD0D0CBB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380495"/>
            <a:ext cx="7012260" cy="63747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>
            <a:extLst>
              <a:ext uri="{FF2B5EF4-FFF2-40B4-BE49-F238E27FC236}">
                <a16:creationId xmlns:a16="http://schemas.microsoft.com/office/drawing/2014/main" id="{FEB7FAFD-A22D-4D9F-8429-783DFE93B1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868460-A671-4D68-8D94-2E678FF537B4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EEFB87-4535-428B-867B-832749023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36525"/>
            <a:ext cx="5777004" cy="59366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FF6CE-E071-4042-B61F-CE43A8458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B7F663-A01D-444C-9F47-DB49EA649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78D216-1BA8-444C-997E-ECD5F69A0D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16E5F1-D91A-4F86-981C-07CAC7CE8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347"/>
            <a:ext cx="9144000" cy="568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1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6274675F-92D8-4D2E-BDB9-01D1B5B8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6550"/>
            <a:ext cx="9144000" cy="1143000"/>
          </a:xfrm>
        </p:spPr>
        <p:txBody>
          <a:bodyPr/>
          <a:lstStyle/>
          <a:p>
            <a:r>
              <a:rPr lang="en-US" altLang="zh-CN" sz="3400" b="1"/>
              <a:t>S2</a:t>
            </a:r>
            <a:r>
              <a:rPr lang="zh-CN" altLang="en-US" sz="3400" b="1"/>
              <a:t>：类</a:t>
            </a:r>
            <a:r>
              <a:rPr lang="en-US" altLang="zh-CN" sz="3400" b="1"/>
              <a:t>SavingsAccount</a:t>
            </a:r>
            <a:r>
              <a:rPr lang="zh-CN" altLang="en-US" sz="3400" b="1"/>
              <a:t>的定义和实现分离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08F2F641-37E7-4BCF-A416-73252386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0890"/>
            <a:ext cx="8229600" cy="4525963"/>
          </a:xfrm>
        </p:spPr>
        <p:txBody>
          <a:bodyPr/>
          <a:lstStyle/>
          <a:p>
            <a:pPr marL="0" indent="0" algn="just"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的基础上进行改进：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、为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SavingsAccount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类增加一个静态数据成员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，用来记录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各个账户的总金额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，并增加相应的静态成员函数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getTotal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来对其进行访问。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、将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SavingsAccount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类中的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getBalance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等不需要改变对象状态的成员函数声明为常成员函数。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、将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SavingsAccount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类从主函数所在的源文件中分离出，建立两个新的文件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account.h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account.cpp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，分别存放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SavingsAccount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类的定义和实现。</a:t>
            </a: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0BB64CC7-DDC1-4A3C-AAF2-4A47461489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43C843-D2D9-4D1E-9637-D73443B28C30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4A97930B-D93A-4D61-A0DE-3FFC22E9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3C775367-E887-4C7C-A4BC-D8EA4DA94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622" y="1772816"/>
            <a:ext cx="3882858" cy="3600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为</a:t>
            </a:r>
            <a:r>
              <a:rPr lang="en-US" altLang="zh-CN" sz="1800" dirty="0" err="1"/>
              <a:t>SavingsAccount</a:t>
            </a:r>
            <a:r>
              <a:rPr lang="zh-CN" altLang="en-US" sz="1800" dirty="0"/>
              <a:t>类增加一个静态数据成员</a:t>
            </a:r>
            <a:r>
              <a:rPr lang="en-US" altLang="zh-CN" sz="1800" dirty="0"/>
              <a:t>total</a:t>
            </a:r>
            <a:r>
              <a:rPr lang="zh-CN" altLang="en-US" sz="1800" dirty="0"/>
              <a:t>，便于全体账户对象共享，既节省存储空间、又不用担心数据一致性问题。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不需要改变对象状态的成员函数，可以将其声明为常成员函数，用</a:t>
            </a:r>
            <a:r>
              <a:rPr lang="en-US" altLang="zh-CN" sz="1800" dirty="0"/>
              <a:t>const</a:t>
            </a:r>
            <a:r>
              <a:rPr lang="zh-CN" altLang="en-US" sz="1800" dirty="0"/>
              <a:t>实现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增加静态成员函数</a:t>
            </a:r>
            <a:r>
              <a:rPr lang="en-US" altLang="zh-CN" sz="1800" dirty="0" err="1"/>
              <a:t>getTotal</a:t>
            </a:r>
            <a:r>
              <a:rPr lang="zh-CN" altLang="en-US" sz="1800" dirty="0"/>
              <a:t>，来访问增加的静态数据成员</a:t>
            </a:r>
            <a:r>
              <a:rPr lang="en-US" altLang="zh-CN" sz="1800" dirty="0"/>
              <a:t>total</a:t>
            </a:r>
            <a:endParaRPr lang="zh-CN" altLang="en-US" sz="1800" dirty="0"/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00AA3255-D90C-4117-81D7-1B105AB772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9B1066-6C19-481B-BA8B-DF8B20D9A81F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A5E7C8C-B390-4991-8111-0A484D511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8" y="1417638"/>
            <a:ext cx="4648200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B470E517-2A9B-4265-8274-58F8CDCBD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B03B12EF-BDD3-4DB3-B155-56D7FA0D9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E594EFDF-4EDF-4FC6-939D-FA257028CE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F3127E-895A-435C-B48C-4A8757FF06B1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/>
          </a:p>
        </p:txBody>
      </p:sp>
      <p:pic>
        <p:nvPicPr>
          <p:cNvPr id="30725" name="图片 4">
            <a:extLst>
              <a:ext uri="{FF2B5EF4-FFF2-40B4-BE49-F238E27FC236}">
                <a16:creationId xmlns:a16="http://schemas.microsoft.com/office/drawing/2014/main" id="{48C419C4-B98D-4B54-8E3E-0BD51D8C8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98" y="739211"/>
            <a:ext cx="8374097" cy="5674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D1507-EE83-44CC-B25C-D9900356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3B8CBB-4DDB-4789-AD06-DCD82BAD6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2BD233-5BE7-42B4-87E6-DADC0854BA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C28587-EF6E-4B20-A422-5CCAE4D80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244"/>
            <a:ext cx="9144000" cy="554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42604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15099</TotalTime>
  <Pages>0</Pages>
  <Words>933</Words>
  <Characters>0</Characters>
  <Application>Microsoft Office PowerPoint</Application>
  <DocSecurity>0</DocSecurity>
  <PresentationFormat>全屏显示(4:3)</PresentationFormat>
  <Lines>0</Lines>
  <Paragraphs>93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Arial</vt:lpstr>
      <vt:lpstr>Times New Roman</vt:lpstr>
      <vt:lpstr>Wingdings</vt:lpstr>
      <vt:lpstr>默认设计模板</vt:lpstr>
      <vt:lpstr>《高级语言程序设计》 课程设计</vt:lpstr>
      <vt:lpstr>PowerPoint 演示文稿</vt:lpstr>
      <vt:lpstr>考核要求</vt:lpstr>
      <vt:lpstr>个人银行账户管理程序的设计与实现（C++）</vt:lpstr>
      <vt:lpstr>课程设计报告+源代码提交时间及方式</vt:lpstr>
      <vt:lpstr>PowerPoint 演示文稿</vt:lpstr>
      <vt:lpstr>S1：活期储蓄账户类SavingsAccount的设计</vt:lpstr>
      <vt:lpstr>PowerPoint 演示文稿</vt:lpstr>
      <vt:lpstr>PowerPoint 演示文稿</vt:lpstr>
      <vt:lpstr>PowerPoint 演示文稿</vt:lpstr>
      <vt:lpstr>利息的计算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S2：类SavingsAccount的定义和实现分离</vt:lpstr>
      <vt:lpstr>PowerPoint 演示文稿</vt:lpstr>
      <vt:lpstr>PowerPoint 演示文稿</vt:lpstr>
      <vt:lpstr>PowerPoint 演示文稿</vt:lpstr>
    </vt:vector>
  </TitlesOfParts>
  <Manager/>
  <Company>广西师范大学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C++的初步知识 </dc:title>
  <dc:subject/>
  <dc:creator>赵建州</dc:creator>
  <cp:keywords/>
  <dc:description/>
  <cp:lastModifiedBy>yanrui ding</cp:lastModifiedBy>
  <cp:revision>608</cp:revision>
  <cp:lastPrinted>1899-12-30T00:00:00Z</cp:lastPrinted>
  <dcterms:created xsi:type="dcterms:W3CDTF">2007-08-16T07:56:20Z</dcterms:created>
  <dcterms:modified xsi:type="dcterms:W3CDTF">2025-06-29T23:44:54Z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2052-6.6.0.2461</vt:lpwstr>
  </property>
</Properties>
</file>