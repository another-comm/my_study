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547" r:id="rId3"/>
    <p:sldId id="581" r:id="rId4"/>
    <p:sldId id="584" r:id="rId5"/>
    <p:sldId id="583" r:id="rId6"/>
    <p:sldId id="562" r:id="rId7"/>
    <p:sldId id="563" r:id="rId8"/>
    <p:sldId id="564" r:id="rId9"/>
    <p:sldId id="565" r:id="rId10"/>
    <p:sldId id="566" r:id="rId11"/>
    <p:sldId id="567" r:id="rId12"/>
    <p:sldId id="593" r:id="rId13"/>
    <p:sldId id="600" r:id="rId14"/>
    <p:sldId id="598" r:id="rId15"/>
    <p:sldId id="602" r:id="rId16"/>
    <p:sldId id="601" r:id="rId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000000"/>
    <a:srgbClr val="FF33CC"/>
    <a:srgbClr val="FF0000"/>
    <a:srgbClr val="FFFF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52" d="100"/>
          <a:sy n="152" d="100"/>
        </p:scale>
        <p:origin x="118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noProof="0"/>
              <a:t>单击此处编辑母版文本样式</a:t>
            </a:r>
            <a:endParaRPr lang="zh-CN" altLang="zh-CN" noProof="0"/>
          </a:p>
          <a:p>
            <a:pPr lvl="1"/>
            <a:r>
              <a:rPr lang="zh-CN" altLang="zh-CN" noProof="0"/>
              <a:t>第二级</a:t>
            </a:r>
            <a:endParaRPr lang="zh-CN" altLang="zh-CN" noProof="0"/>
          </a:p>
          <a:p>
            <a:pPr lvl="2"/>
            <a:r>
              <a:rPr lang="zh-CN" altLang="zh-CN" noProof="0"/>
              <a:t>第三级</a:t>
            </a:r>
            <a:endParaRPr lang="zh-CN" altLang="zh-CN" noProof="0"/>
          </a:p>
          <a:p>
            <a:pPr lvl="3"/>
            <a:r>
              <a:rPr lang="zh-CN" altLang="zh-CN" noProof="0"/>
              <a:t>第四级</a:t>
            </a:r>
            <a:endParaRPr lang="zh-CN" altLang="zh-CN" noProof="0"/>
          </a:p>
          <a:p>
            <a:pPr lvl="4"/>
            <a:r>
              <a:rPr lang="zh-CN" altLang="zh-CN" noProof="0"/>
              <a:t>第五级</a:t>
            </a:r>
            <a:endParaRPr lang="zh-CN" altLang="zh-CN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609C2-2FD7-4825-8F42-B1D34E8A54B9}" type="slidenum">
              <a:rPr lang="zh-CN" altLang="zh-CN"/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B0619-654D-4ADC-83D9-19D3F0E4812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E7249-3C24-4171-B81E-E10CB97F3D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DC9A-D0DF-45BC-AA5C-3EFAD361510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C29F9-199F-431A-B387-C015FFD9947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EA694-AF73-4F21-B49B-F9BCAF0A700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08C5-27AA-4DA1-B0AA-E71676E8C01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E2DE5-46F6-4408-865D-05AE1F54838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F5796-02BC-4AA2-A690-95C7D740B2D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C7929-A820-4229-BA8F-55FF1E7D77F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35C23-489A-4EDE-A344-B8AB8714CB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7C137-734B-4589-9CD0-B52F10793B1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5B00-2202-4BAF-9577-B9BCA874025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5F686-5F8C-4F31-B213-52607044D37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EE4F0-593B-4518-B70E-879717E84296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62E54F-ECB6-47FE-B365-6A4293C2D8ED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2684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2" charset="-122"/>
              </a:rPr>
              <a:t>《</a:t>
            </a: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2" charset="-122"/>
              </a:rPr>
              <a:t>高级语言程序设计</a:t>
            </a: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2" charset="-122"/>
              </a:rPr>
              <a:t>》</a:t>
            </a:r>
            <a:b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2" charset="-122"/>
              </a:rPr>
            </a:b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2" charset="-122"/>
              </a:rPr>
              <a:t>课程设计</a:t>
            </a:r>
            <a:endParaRPr kumimoji="1" lang="zh-CN" altLang="en-US" b="1" dirty="0"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5364" name="副标题 2"/>
          <p:cNvSpPr txBox="1"/>
          <p:nvPr/>
        </p:nvSpPr>
        <p:spPr bwMode="auto">
          <a:xfrm>
            <a:off x="1568450" y="4076700"/>
            <a:ext cx="6172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信息与计算科学系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2024-2025-2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学期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BB3895-78B6-4DC7-9C79-CEB07B26224F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1747" name="标题 1"/>
          <p:cNvSpPr txBox="1"/>
          <p:nvPr/>
        </p:nvSpPr>
        <p:spPr bwMode="auto">
          <a:xfrm>
            <a:off x="0" y="33655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3400" b="1">
                <a:solidFill>
                  <a:schemeClr val="tx2"/>
                </a:solidFill>
              </a:rPr>
              <a:t>S3</a:t>
            </a:r>
            <a:r>
              <a:rPr lang="zh-CN" altLang="en-US" sz="3400" b="1">
                <a:solidFill>
                  <a:schemeClr val="tx2"/>
                </a:solidFill>
              </a:rPr>
              <a:t>：</a:t>
            </a:r>
            <a:r>
              <a:rPr lang="en-US" altLang="zh-CN" sz="3400" b="1">
                <a:solidFill>
                  <a:schemeClr val="tx2"/>
                </a:solidFill>
              </a:rPr>
              <a:t>SavingsAccount</a:t>
            </a:r>
            <a:r>
              <a:rPr lang="zh-CN" altLang="en-US" sz="3400" b="1">
                <a:solidFill>
                  <a:schemeClr val="tx2"/>
                </a:solidFill>
              </a:rPr>
              <a:t>类的完善</a:t>
            </a:r>
            <a:endParaRPr lang="zh-CN" altLang="en-US" sz="3400" b="1">
              <a:solidFill>
                <a:schemeClr val="tx2"/>
              </a:solidFill>
            </a:endParaRPr>
          </a:p>
        </p:txBody>
      </p:sp>
      <p:sp>
        <p:nvSpPr>
          <p:cNvPr id="31748" name="内容占位符 2"/>
          <p:cNvSpPr>
            <a:spLocks noGrp="1"/>
          </p:cNvSpPr>
          <p:nvPr>
            <p:ph idx="1"/>
          </p:nvPr>
        </p:nvSpPr>
        <p:spPr>
          <a:xfrm>
            <a:off x="452264" y="1340768"/>
            <a:ext cx="8229600" cy="45259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的基础上进行改进：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、将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date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升级为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类。</a:t>
            </a:r>
            <a:endParaRPr lang="en-US" altLang="zh-C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类中包括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totalDays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totalDays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表示这一天的相对日期。成员函数除了构造函数和用来获得年、月、日的函数外，还包括用来得到当前月的天数的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getMaxDay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函数、用来判断当前年是否为闰年的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isLeapYear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函数、用来将当前日期输出的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函数、用来判断当前日期与指定日期相差天数的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函数，这些函数都会被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类的其他成员函数或者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SavingsAccount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类的函数调用。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50B3CD-8714-4E1C-BEFA-E2C037889368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8363272" cy="45259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的基础上进行改进：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、银行账号由整型改变为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settle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增加一个用来存储该笔账目说明信息的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类型的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，并且增加一个专用于输出错误信息的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、主函数中的账户放到一个数组中。</a:t>
            </a:r>
            <a:endParaRPr lang="en-US" altLang="zh-C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、假定银行对活期储蓄账户的结息日期是每年的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日。</a:t>
            </a:r>
            <a:endParaRPr lang="zh-CN" alt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6F411A-EF77-49E9-9982-B505BE45085E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3796" name="文本框 1"/>
          <p:cNvSpPr txBox="1">
            <a:spLocks noChangeArrowheads="1"/>
          </p:cNvSpPr>
          <p:nvPr/>
        </p:nvSpPr>
        <p:spPr bwMode="auto">
          <a:xfrm>
            <a:off x="382710" y="1055237"/>
            <a:ext cx="3973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、将</a:t>
            </a:r>
            <a:r>
              <a:rPr lang="en-US" altLang="zh-CN" sz="2400" b="1" dirty="0"/>
              <a:t>int date</a:t>
            </a:r>
            <a:r>
              <a:rPr lang="zh-CN" altLang="en-US" sz="2400" b="1" dirty="0"/>
              <a:t>升级为</a:t>
            </a:r>
            <a:r>
              <a:rPr lang="en-US" altLang="zh-CN" sz="2400" b="1" dirty="0"/>
              <a:t>Date</a:t>
            </a:r>
            <a:r>
              <a:rPr lang="zh-CN" altLang="en-US" sz="2400" b="1" dirty="0"/>
              <a:t>类</a:t>
            </a:r>
            <a:endParaRPr lang="zh-CN" altLang="en-US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55576" y="1517199"/>
            <a:ext cx="72008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B0F0"/>
                </a:solidFill>
              </a:rPr>
              <a:t>日期</a:t>
            </a:r>
            <a:r>
              <a:rPr lang="zh-CN" altLang="en-US" sz="2200" b="1" dirty="0"/>
              <a:t>用一个</a:t>
            </a:r>
            <a:r>
              <a:rPr lang="zh-CN" altLang="en-US" sz="2200" b="1" dirty="0">
                <a:solidFill>
                  <a:srgbClr val="00B0F0"/>
                </a:solidFill>
              </a:rPr>
              <a:t>整数</a:t>
            </a:r>
            <a:r>
              <a:rPr lang="zh-CN" altLang="en-US" sz="2200" b="1" dirty="0"/>
              <a:t>表示：</a:t>
            </a:r>
            <a:endParaRPr lang="zh-CN" altLang="en-US" sz="2200" b="1" dirty="0"/>
          </a:p>
          <a:p>
            <a:r>
              <a:rPr lang="zh-CN" altLang="en-US" sz="2200" dirty="0"/>
              <a:t>计算两个日期相距天数非常方便，但这种表示方法不直观、对用户不友好</a:t>
            </a:r>
            <a:endParaRPr lang="zh-CN" altLang="en-US" sz="2200" dirty="0"/>
          </a:p>
          <a:p>
            <a:endParaRPr lang="zh-CN" altLang="en-US" sz="2200" dirty="0"/>
          </a:p>
          <a:p>
            <a:r>
              <a:rPr lang="zh-CN" altLang="en-US" sz="2200" b="1" dirty="0">
                <a:solidFill>
                  <a:srgbClr val="00B0F0"/>
                </a:solidFill>
              </a:rPr>
              <a:t>日期</a:t>
            </a:r>
            <a:r>
              <a:rPr lang="zh-CN" altLang="en-US" sz="2200" b="1" dirty="0"/>
              <a:t>用一个</a:t>
            </a:r>
            <a:r>
              <a:rPr lang="zh-CN" altLang="en-US" sz="2200" b="1" dirty="0">
                <a:solidFill>
                  <a:srgbClr val="00B0F0"/>
                </a:solidFill>
              </a:rPr>
              <a:t>类</a:t>
            </a:r>
            <a:r>
              <a:rPr lang="zh-CN" altLang="en-US" sz="2200" b="1" dirty="0"/>
              <a:t>表示：</a:t>
            </a:r>
            <a:endParaRPr lang="zh-CN" altLang="en-US" sz="2200" b="1" dirty="0"/>
          </a:p>
          <a:p>
            <a:r>
              <a:rPr lang="zh-CN" altLang="en-US" sz="2200" dirty="0"/>
              <a:t>内含年、月、日三个数据成员，但计算两个日期相差天数比较复杂</a:t>
            </a:r>
            <a:endParaRPr lang="zh-CN" altLang="en-US" sz="2200" dirty="0"/>
          </a:p>
          <a:p>
            <a:endParaRPr lang="zh-CN" altLang="en-US" sz="2200" dirty="0"/>
          </a:p>
          <a:p>
            <a:r>
              <a:rPr lang="zh-CN" altLang="en-US" sz="2200" b="1" dirty="0"/>
              <a:t>计算日期间相差天数：</a:t>
            </a:r>
            <a:endParaRPr lang="zh-CN" altLang="en-US" sz="2200" b="1" dirty="0"/>
          </a:p>
          <a:p>
            <a:r>
              <a:rPr lang="zh-CN" altLang="en-US" sz="2200" dirty="0"/>
              <a:t>选取一个比较规整的基准日期，在创建日期对象时将该日期到这个基准日期的相对天数计算出来，记为“相对日期”</a:t>
            </a:r>
            <a:endParaRPr lang="zh-CN" altLang="en-US" sz="2200" dirty="0"/>
          </a:p>
          <a:p>
            <a:r>
              <a:rPr lang="zh-CN" altLang="en-US" sz="2200" dirty="0"/>
              <a:t>计算两个日期相差天数时，将两者的“相对日期”相减，即为相差天数</a:t>
            </a:r>
            <a:endParaRPr lang="zh-CN" altLang="en-US" sz="22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43AE3A-57F5-4406-9861-8B023A515387}" type="slidenum">
              <a:rPr lang="zh-CN" altLang="en-US" sz="1400" smtClean="0"/>
            </a:fld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587077" y="908720"/>
                <a:ext cx="7920880" cy="47236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将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公元元年</a:t>
                </a:r>
                <a:r>
                  <a:rPr lang="en-US" altLang="zh-CN" sz="2400" b="1" dirty="0">
                    <a:solidFill>
                      <a:srgbClr val="00B0F0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月</a:t>
                </a:r>
                <a:r>
                  <a:rPr lang="en-US" altLang="zh-CN" sz="2400" b="1" dirty="0">
                    <a:solidFill>
                      <a:srgbClr val="00B0F0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日作为公共的基准日期</a:t>
                </a:r>
                <a:r>
                  <a:rPr lang="zh-CN" altLang="en-US" sz="2400" dirty="0"/>
                  <a:t>，将</a:t>
                </a:r>
                <a:r>
                  <a:rPr lang="en-US" altLang="zh-CN" sz="2400" dirty="0"/>
                  <a:t>y</a:t>
                </a:r>
                <a:r>
                  <a:rPr lang="zh-CN" altLang="en-US" sz="2400" dirty="0"/>
                  <a:t>年</a:t>
                </a:r>
                <a:r>
                  <a:rPr lang="en-US" altLang="zh-CN" sz="2400" dirty="0"/>
                  <a:t>m</a:t>
                </a:r>
                <a:r>
                  <a:rPr lang="zh-CN" altLang="en-US" sz="2400" dirty="0"/>
                  <a:t>月</a:t>
                </a:r>
                <a:r>
                  <a:rPr lang="en-US" altLang="zh-CN" sz="2400" dirty="0"/>
                  <a:t>d</a:t>
                </a:r>
                <a:r>
                  <a:rPr lang="zh-CN" altLang="en-US" sz="2400" dirty="0"/>
                  <a:t>日相距这一天的天数记为</a:t>
                </a:r>
                <a:r>
                  <a:rPr lang="en-US" altLang="zh-CN" sz="2400" dirty="0"/>
                  <a:t>f(y/m/d, 1/1/1)</a:t>
                </a:r>
                <a:r>
                  <a:rPr lang="zh-CN" altLang="en-US" sz="2400" dirty="0"/>
                  <a:t>，将其分解为三部分：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altLang="zh-CN" sz="2400" dirty="0"/>
                  <a:t>(y/m/d,1/1/1)=f(y/1/1,1/1/1)+f(y/m/1,y/1/1)+f(y/m/</a:t>
                </a:r>
                <a:r>
                  <a:rPr lang="en-US" altLang="zh-CN" sz="2400" dirty="0" err="1"/>
                  <a:t>d,y</a:t>
                </a:r>
                <a:r>
                  <a:rPr lang="en-US" altLang="zh-CN" sz="2400" dirty="0"/>
                  <a:t>/m/1)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f(y/1/1,1/1/1)=365(y-1)+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-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f(y/m/</a:t>
                </a:r>
                <a:r>
                  <a:rPr lang="en-US" altLang="zh-CN" sz="2400" dirty="0" err="1"/>
                  <a:t>d,y</a:t>
                </a:r>
                <a:r>
                  <a:rPr lang="en-US" altLang="zh-CN" sz="2400" dirty="0"/>
                  <a:t>/m/1)=d-1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f(y/m/1,y/1/1)</a:t>
                </a:r>
                <a:r>
                  <a:rPr lang="zh-CN" altLang="en-US" sz="2400" dirty="0"/>
                  <a:t>：由于每个月的天数不同，无法用统一的公式表示。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77" y="908720"/>
                <a:ext cx="7920880" cy="4723601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378A79-500A-4D6B-8CC3-5D209A2A637F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" name="文本框 2"/>
          <p:cNvSpPr txBox="1"/>
          <p:nvPr/>
        </p:nvSpPr>
        <p:spPr>
          <a:xfrm>
            <a:off x="539552" y="1340768"/>
            <a:ext cx="768119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F0"/>
                </a:solidFill>
              </a:rPr>
              <a:t>平年：</a:t>
            </a:r>
            <a:r>
              <a:rPr lang="zh-CN" altLang="en-US" sz="2400" dirty="0"/>
              <a:t>指定月份的</a:t>
            </a:r>
            <a:r>
              <a:rPr lang="en-US" altLang="zh-CN" sz="2400" dirty="0"/>
              <a:t>1</a:t>
            </a:r>
            <a:r>
              <a:rPr lang="zh-CN" altLang="en-US" sz="2400" dirty="0"/>
              <a:t>日与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日相差天数可以由月份</a:t>
            </a:r>
            <a:r>
              <a:rPr lang="en-US" altLang="zh-CN" sz="2400" dirty="0"/>
              <a:t>m</a:t>
            </a:r>
            <a:r>
              <a:rPr lang="zh-CN" altLang="en-US" sz="2400" dirty="0"/>
              <a:t>唯一确定，因此可以把每月</a:t>
            </a:r>
            <a:r>
              <a:rPr lang="en-US" altLang="zh-CN" sz="2400" dirty="0"/>
              <a:t>1</a:t>
            </a:r>
            <a:r>
              <a:rPr lang="zh-CN" altLang="en-US" sz="2400" dirty="0"/>
              <a:t>日到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日的天数放在一个数组中，</a:t>
            </a:r>
            <a:r>
              <a:rPr lang="zh-CN" altLang="en-US" sz="2400" dirty="0">
                <a:solidFill>
                  <a:srgbClr val="00B0F0"/>
                </a:solidFill>
              </a:rPr>
              <a:t>计算时只要查询数组</a:t>
            </a:r>
            <a:r>
              <a:rPr lang="zh-CN" altLang="en-US" sz="2400" dirty="0"/>
              <a:t>，便可以得到</a:t>
            </a:r>
            <a:r>
              <a:rPr lang="en-US" altLang="zh-CN" sz="2400" dirty="0"/>
              <a:t>f(y/</a:t>
            </a:r>
            <a:r>
              <a:rPr lang="en-US" altLang="zh-CN" sz="2400" dirty="0">
                <a:solidFill>
                  <a:srgbClr val="00B0F0"/>
                </a:solidFill>
              </a:rPr>
              <a:t>m</a:t>
            </a:r>
            <a:r>
              <a:rPr lang="en-US" altLang="zh-CN" sz="2400" dirty="0"/>
              <a:t>/1,y/1/1)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F0"/>
                </a:solidFill>
              </a:rPr>
              <a:t>闰年：</a:t>
            </a:r>
            <a:r>
              <a:rPr lang="zh-CN" altLang="en-US" sz="2400" dirty="0">
                <a:solidFill>
                  <a:srgbClr val="00B0F0"/>
                </a:solidFill>
              </a:rPr>
              <a:t>仍然可以通过数组查询</a:t>
            </a:r>
            <a:r>
              <a:rPr lang="zh-CN" altLang="en-US" sz="2400" dirty="0"/>
              <a:t>，只需在</a:t>
            </a:r>
            <a:r>
              <a:rPr lang="en-US" altLang="zh-CN" sz="2400" dirty="0"/>
              <a:t>m&gt;2</a:t>
            </a:r>
            <a:r>
              <a:rPr lang="zh-CN" altLang="en-US" sz="2400" dirty="0"/>
              <a:t>时将查得的值加</a:t>
            </a:r>
            <a:r>
              <a:rPr lang="en-US" altLang="zh-CN" sz="2400" dirty="0"/>
              <a:t>1</a:t>
            </a:r>
            <a:r>
              <a:rPr lang="zh-CN" altLang="en-US" sz="2400" dirty="0"/>
              <a:t>，该值只依赖于</a:t>
            </a:r>
            <a:r>
              <a:rPr lang="en-US" altLang="zh-CN" sz="2400" dirty="0"/>
              <a:t>m</a:t>
            </a:r>
            <a:r>
              <a:rPr lang="zh-CN" altLang="en-US" sz="2400" dirty="0"/>
              <a:t>和</a:t>
            </a:r>
            <a:r>
              <a:rPr lang="en-US" altLang="zh-CN" sz="2400" dirty="0"/>
              <a:t>y</a:t>
            </a:r>
            <a:r>
              <a:rPr lang="zh-CN" altLang="en-US" sz="2400" dirty="0"/>
              <a:t>，记为：</a:t>
            </a:r>
            <a:r>
              <a:rPr lang="en-US" altLang="zh-CN" sz="2400" dirty="0">
                <a:solidFill>
                  <a:srgbClr val="00B0F0"/>
                </a:solidFill>
              </a:rPr>
              <a:t>g(</a:t>
            </a:r>
            <a:r>
              <a:rPr lang="en-US" altLang="zh-CN" sz="2400" dirty="0" err="1">
                <a:solidFill>
                  <a:srgbClr val="00B0F0"/>
                </a:solidFill>
              </a:rPr>
              <a:t>m,y</a:t>
            </a:r>
            <a:r>
              <a:rPr lang="en-US" altLang="zh-CN" sz="2400" dirty="0">
                <a:solidFill>
                  <a:srgbClr val="00B0F0"/>
                </a:solidFill>
              </a:rPr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67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如果把公元元年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月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日的相对日期定为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，那么公元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月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日的相对日期为：</a:t>
                </a:r>
                <a:endParaRPr lang="en-US" altLang="zh-CN" sz="2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altLang="zh-CN" sz="2400" dirty="0"/>
                  <a:t>(y/m/d,1/1/1)+1= 365(y-1)+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-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400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+g(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m,y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)+d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6867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C5EFA8-E748-462A-A038-DE772617572C}" type="slidenum">
              <a:rPr lang="zh-CN" altLang="en-US" sz="1400" smtClean="0"/>
            </a:fld>
            <a:endParaRPr lang="en-US" altLang="zh-CN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977B47-0CF4-4CAB-8D8E-52C9CD548D34}" type="slidenum">
              <a:rPr lang="zh-CN" altLang="en-US" sz="1400" smtClean="0"/>
            </a:fld>
            <a:endParaRPr lang="en-US" altLang="zh-CN" sz="1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495" y="1417638"/>
            <a:ext cx="3190875" cy="3581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51920" y="2231701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totalDays</a:t>
            </a:r>
            <a:r>
              <a:rPr lang="zh-CN" altLang="en-US" dirty="0"/>
              <a:t>表示这一天的相对日期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751752" y="3068560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得到当前月的天数的</a:t>
            </a:r>
            <a:r>
              <a:rPr lang="en-US" altLang="zh-CN" dirty="0" err="1"/>
              <a:t>getMaxDay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770948" y="3748910"/>
            <a:ext cx="479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用来判断当前年是否为闰年的</a:t>
            </a:r>
            <a:r>
              <a:rPr lang="en-US" altLang="zh-CN" dirty="0" err="1"/>
              <a:t>isLeapYear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813448" y="4251955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用来将当前日期输出的</a:t>
            </a:r>
            <a:r>
              <a:rPr lang="en-US" altLang="zh-CN" dirty="0"/>
              <a:t>show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751752" y="490715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用来判断当前日期与指定日期相差天数的</a:t>
            </a:r>
            <a:endParaRPr lang="en-US" altLang="zh-CN" dirty="0"/>
          </a:p>
          <a:p>
            <a:r>
              <a:rPr lang="en-US" altLang="zh-CN" dirty="0"/>
              <a:t>distance</a:t>
            </a:r>
            <a:r>
              <a:rPr lang="zh-CN" altLang="en-US" dirty="0"/>
              <a:t>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2757588"/>
            <a:ext cx="6001588" cy="3848637"/>
          </a:xfrm>
          <a:prstGeom prst="rect">
            <a:avLst/>
          </a:prstGeom>
        </p:spPr>
      </p:pic>
      <p:sp>
        <p:nvSpPr>
          <p:cNvPr id="3891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91C8AB-3388-4147-AF79-B60ED0C82927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8916" name="文本框 5"/>
          <p:cNvSpPr txBox="1">
            <a:spLocks noChangeArrowheads="1"/>
          </p:cNvSpPr>
          <p:nvPr/>
        </p:nvSpPr>
        <p:spPr bwMode="auto">
          <a:xfrm>
            <a:off x="179388" y="404813"/>
            <a:ext cx="86217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银行账号由整型改变为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类型，为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函数增加一个用来存储该笔账目说明信息的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类型的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，并且增加一个专用于输出错误信息的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函数。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121276" y="3599165"/>
            <a:ext cx="2843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账目列表，每笔账目都没有说明，使用字符串可以为各笔账目增加说明文字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940152" y="5128897"/>
            <a:ext cx="29873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增加了一个用来报告错误的函数，当其他函数需要输出错误信息时，直接把信息以字符串形式传递给该函数即可，简化了错误信息的输出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267200" y="229969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用一个整数来表示银行账号，不符合实际应用，例如账号中可能包含其他字符，改为字符串来表示银行账号更合理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A25A43-E219-4640-8725-04B28A488C93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9940" name="矩形 1"/>
          <p:cNvSpPr>
            <a:spLocks noChangeArrowheads="1"/>
          </p:cNvSpPr>
          <p:nvPr/>
        </p:nvSpPr>
        <p:spPr bwMode="auto">
          <a:xfrm>
            <a:off x="457200" y="850900"/>
            <a:ext cx="52625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、主函数中的账户放到一个数组中。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628800"/>
            <a:ext cx="7776864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由于主程序创建的两个账户为两个独立的变量：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只能用名字去引用它们，在主程序末尾分别对两个账户进行结算（</a:t>
            </a:r>
            <a:r>
              <a:rPr lang="en-US" altLang="zh-CN" sz="2400" dirty="0"/>
              <a:t>settle</a:t>
            </a:r>
            <a:r>
              <a:rPr lang="zh-CN" altLang="en-US" sz="2400" dirty="0"/>
              <a:t>）和显示（</a:t>
            </a:r>
            <a:r>
              <a:rPr lang="en-US" altLang="zh-CN" sz="2400" dirty="0"/>
              <a:t>show</a:t>
            </a:r>
            <a:r>
              <a:rPr lang="zh-CN" altLang="en-US" sz="2400" dirty="0"/>
              <a:t>）时需要将几乎相同的代码书写两遍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如果账户数量增加，将会非常麻烦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解决方案：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将多个账户组织在一个数组中</a:t>
            </a:r>
            <a:r>
              <a:rPr lang="zh-CN" altLang="en-US" sz="2400" dirty="0"/>
              <a:t>，可以把需要对各个账户做的事情放在循环中，避免了代码的冗余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22DC23-2EB3-4994-912C-A28EDA8E421A}" type="slidenum">
              <a:rPr lang="zh-CN" altLang="en-US" sz="1400" smtClean="0"/>
            </a:fld>
            <a:endParaRPr lang="en-US" altLang="zh-CN" sz="1400"/>
          </a:p>
        </p:txBody>
      </p:sp>
      <p:pic>
        <p:nvPicPr>
          <p:cNvPr id="4096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03313"/>
            <a:ext cx="8545513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5886"/>
            <a:ext cx="9144000" cy="4486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400" dirty="0" err="1">
                <a:solidFill>
                  <a:srgbClr val="FF0000"/>
                </a:solidFill>
              </a:rPr>
              <a:t>Sadd</a:t>
            </a:r>
            <a:r>
              <a:rPr lang="zh-CN" altLang="en-US" sz="3400" dirty="0">
                <a:solidFill>
                  <a:srgbClr val="FF0000"/>
                </a:solidFill>
              </a:rPr>
              <a:t>：</a:t>
            </a:r>
            <a:r>
              <a:rPr lang="en-US" altLang="zh-CN" sz="3400" dirty="0" err="1">
                <a:solidFill>
                  <a:srgbClr val="FF0000"/>
                </a:solidFill>
              </a:rPr>
              <a:t>CreditAccount</a:t>
            </a:r>
            <a:r>
              <a:rPr lang="zh-CN" altLang="en-US" sz="3400" dirty="0">
                <a:solidFill>
                  <a:srgbClr val="FF0000"/>
                </a:solidFill>
              </a:rPr>
              <a:t>类的设计与实现</a:t>
            </a:r>
            <a:endParaRPr lang="zh-CN" altLang="en-US" sz="3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11560" y="1600200"/>
            <a:ext cx="82755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信用卡账户业务的特点：</a:t>
            </a:r>
            <a:endParaRPr lang="zh-CN" altLang="en-US" sz="2400" dirty="0">
              <a:solidFill>
                <a:srgbClr val="00B0F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F0"/>
                </a:solidFill>
              </a:rPr>
              <a:t>允许透支、有信用额度</a:t>
            </a:r>
            <a:r>
              <a:rPr lang="zh-CN" altLang="en-US" sz="2400" dirty="0"/>
              <a:t>：总的透支金额应在这个额度之内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F0"/>
                </a:solidFill>
              </a:rPr>
              <a:t>利息：</a:t>
            </a:r>
            <a:r>
              <a:rPr lang="zh-CN" altLang="en-US" sz="2400" dirty="0"/>
              <a:t>信用账户中存钱不会有利息，但使用信用账户透支则需要支付利息，信用账户的利率一般以日为单位，为了简单起见，我们不考虑免息期。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F0"/>
                </a:solidFill>
              </a:rPr>
              <a:t>每月结算：</a:t>
            </a:r>
            <a:r>
              <a:rPr lang="zh-CN" altLang="en-US" sz="2400" dirty="0"/>
              <a:t>与储蓄账户每年结算一次利息不同，信用账户每月进行一次结算，假定结算日是</a:t>
            </a:r>
            <a:r>
              <a:rPr lang="zh-CN" altLang="en-US" sz="2400" dirty="0">
                <a:solidFill>
                  <a:srgbClr val="00B0F0"/>
                </a:solidFill>
              </a:rPr>
              <a:t>每月的</a:t>
            </a:r>
            <a:r>
              <a:rPr lang="en-US" altLang="zh-CN" sz="2400" dirty="0">
                <a:solidFill>
                  <a:srgbClr val="00B0F0"/>
                </a:solidFill>
              </a:rPr>
              <a:t>1</a:t>
            </a:r>
            <a:r>
              <a:rPr lang="zh-CN" altLang="en-US" sz="2400" dirty="0">
                <a:solidFill>
                  <a:srgbClr val="00B0F0"/>
                </a:solidFill>
              </a:rPr>
              <a:t>日</a:t>
            </a:r>
            <a:endParaRPr lang="zh-CN" altLang="en-US" sz="2400" dirty="0">
              <a:solidFill>
                <a:srgbClr val="00B0F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F0"/>
                </a:solidFill>
              </a:rPr>
              <a:t>年费</a:t>
            </a:r>
            <a:r>
              <a:rPr lang="zh-CN" altLang="en-US" sz="2400" dirty="0"/>
              <a:t>：信用账户每年需要交一次年费，假定在</a:t>
            </a:r>
            <a:r>
              <a:rPr lang="zh-CN" altLang="en-US" sz="2400" dirty="0">
                <a:solidFill>
                  <a:srgbClr val="00B0F0"/>
                </a:solidFill>
              </a:rPr>
              <a:t>每年</a:t>
            </a:r>
            <a:r>
              <a:rPr lang="en-US" altLang="zh-CN" sz="2400" dirty="0">
                <a:solidFill>
                  <a:srgbClr val="00B0F0"/>
                </a:solidFill>
              </a:rPr>
              <a:t>1</a:t>
            </a:r>
            <a:r>
              <a:rPr lang="zh-CN" altLang="en-US" sz="2400" dirty="0">
                <a:solidFill>
                  <a:srgbClr val="00B0F0"/>
                </a:solidFill>
              </a:rPr>
              <a:t>月</a:t>
            </a:r>
            <a:r>
              <a:rPr lang="en-US" altLang="zh-CN" sz="2400" dirty="0">
                <a:solidFill>
                  <a:srgbClr val="00B0F0"/>
                </a:solidFill>
              </a:rPr>
              <a:t>1</a:t>
            </a:r>
            <a:r>
              <a:rPr lang="zh-CN" altLang="en-US" sz="2400" dirty="0">
                <a:solidFill>
                  <a:srgbClr val="00B0F0"/>
                </a:solidFill>
              </a:rPr>
              <a:t>日</a:t>
            </a:r>
            <a:r>
              <a:rPr lang="zh-CN" altLang="en-US" sz="2400" dirty="0"/>
              <a:t>结算的时候扣缴年费</a:t>
            </a:r>
            <a:endParaRPr lang="zh-CN" altLang="en-US" sz="24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70" y="291"/>
            <a:ext cx="5875717" cy="67262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1140"/>
            <a:ext cx="9144000" cy="4575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1873</Words>
  <Application>WPS 演示</Application>
  <PresentationFormat>全屏显示(4:3)</PresentationFormat>
  <Paragraphs>112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黑体</vt:lpstr>
      <vt:lpstr>Times New Roman</vt:lpstr>
      <vt:lpstr>Cambria Math</vt:lpstr>
      <vt:lpstr>微软雅黑</vt:lpstr>
      <vt:lpstr>Arial Unicode MS</vt:lpstr>
      <vt:lpstr>默认设计模板</vt:lpstr>
      <vt:lpstr>《高级语言程序设计》 课程设计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Sadd：CreditAccount类的设计与实现</vt:lpstr>
      <vt:lpstr>PowerPoint 演示文稿</vt:lpstr>
      <vt:lpstr>PowerPoint 演示文稿</vt:lpstr>
    </vt:vector>
  </TitlesOfParts>
  <Company>广西师范大学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C++的初步知识 </dc:title>
  <dc:creator>赵建州</dc:creator>
  <cp:lastModifiedBy>林鑫</cp:lastModifiedBy>
  <cp:revision>612</cp:revision>
  <cp:lastPrinted>2411-12-30T00:00:00Z</cp:lastPrinted>
  <dcterms:created xsi:type="dcterms:W3CDTF">2007-08-16T07:56:00Z</dcterms:created>
  <dcterms:modified xsi:type="dcterms:W3CDTF">2025-07-01T06:53:44Z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DE10A251C4564F9B8C92E7D5558B3FDA_12</vt:lpwstr>
  </property>
</Properties>
</file>