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handoutMasterIdLst>
    <p:handoutMasterId r:id="rId48"/>
  </p:handoutMasterIdLst>
  <p:sldIdLst>
    <p:sldId id="848" r:id="rId3"/>
    <p:sldId id="1773" r:id="rId4"/>
    <p:sldId id="1774" r:id="rId5"/>
    <p:sldId id="1775" r:id="rId6"/>
    <p:sldId id="1776" r:id="rId7"/>
    <p:sldId id="1780" r:id="rId8"/>
    <p:sldId id="1781" r:id="rId9"/>
    <p:sldId id="1782" r:id="rId10"/>
    <p:sldId id="1777" r:id="rId11"/>
    <p:sldId id="1778" r:id="rId12"/>
    <p:sldId id="1779" r:id="rId13"/>
    <p:sldId id="1783" r:id="rId14"/>
    <p:sldId id="1784" r:id="rId15"/>
    <p:sldId id="1785" r:id="rId16"/>
    <p:sldId id="1786" r:id="rId17"/>
    <p:sldId id="1787" r:id="rId18"/>
    <p:sldId id="1788" r:id="rId19"/>
    <p:sldId id="1789" r:id="rId20"/>
    <p:sldId id="1790" r:id="rId21"/>
    <p:sldId id="1791" r:id="rId22"/>
    <p:sldId id="1792" r:id="rId23"/>
    <p:sldId id="1793" r:id="rId24"/>
    <p:sldId id="1820" r:id="rId25"/>
    <p:sldId id="1794" r:id="rId26"/>
    <p:sldId id="1795" r:id="rId27"/>
    <p:sldId id="1796" r:id="rId28"/>
    <p:sldId id="1797" r:id="rId29"/>
    <p:sldId id="1798" r:id="rId30"/>
    <p:sldId id="1799" r:id="rId31"/>
    <p:sldId id="1800" r:id="rId32"/>
    <p:sldId id="1801" r:id="rId33"/>
    <p:sldId id="1802" r:id="rId34"/>
    <p:sldId id="1803" r:id="rId35"/>
    <p:sldId id="1804" r:id="rId36"/>
    <p:sldId id="1805" r:id="rId37"/>
    <p:sldId id="1806" r:id="rId38"/>
    <p:sldId id="1807" r:id="rId39"/>
    <p:sldId id="1808" r:id="rId40"/>
    <p:sldId id="1809" r:id="rId41"/>
    <p:sldId id="1810" r:id="rId42"/>
    <p:sldId id="1811" r:id="rId43"/>
    <p:sldId id="1812" r:id="rId44"/>
    <p:sldId id="1813" r:id="rId45"/>
    <p:sldId id="1821" r:id="rId46"/>
  </p:sldIdLst>
  <p:sldSz cx="12192000" cy="6858000"/>
  <p:notesSz cx="6858000" cy="9144000"/>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2" Type="http://schemas.openxmlformats.org/officeDocument/2006/relationships/tags" Target="tags/tag5.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3.xml"/><Relationship Id="rId49" Type="http://schemas.openxmlformats.org/officeDocument/2006/relationships/presProps" Target="presProps.xml"/><Relationship Id="rId48" Type="http://schemas.openxmlformats.org/officeDocument/2006/relationships/handoutMaster" Target="handoutMasters/handoutMaster1.xml"/><Relationship Id="rId47" Type="http://schemas.openxmlformats.org/officeDocument/2006/relationships/notesMaster" Target="notesMasters/notesMaster1.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dotDmnd">
          <a:fgClr>
            <a:srgbClr val="00B050"/>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905" y="4445"/>
            <a:ext cx="12157075" cy="1002030"/>
          </a:xfrm>
          <a:gradFill>
            <a:gsLst>
              <a:gs pos="100000">
                <a:srgbClr val="0070C0"/>
              </a:gs>
              <a:gs pos="53000">
                <a:schemeClr val="accent1">
                  <a:lumMod val="45000"/>
                  <a:lumOff val="55000"/>
                </a:schemeClr>
              </a:gs>
              <a:gs pos="29000">
                <a:schemeClr val="accent1">
                  <a:lumMod val="45000"/>
                  <a:lumOff val="55000"/>
                </a:schemeClr>
              </a:gs>
              <a:gs pos="1000">
                <a:schemeClr val="accent1">
                  <a:lumMod val="30000"/>
                  <a:lumOff val="70000"/>
                </a:schemeClr>
              </a:gs>
            </a:gsLst>
            <a:lin ang="8100000" scaled="0"/>
          </a:gradFill>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838200" y="1321435"/>
            <a:ext cx="10515600" cy="463994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cxnSp>
        <p:nvCxnSpPr>
          <p:cNvPr id="7" name="直接连接符 6"/>
          <p:cNvCxnSpPr/>
          <p:nvPr userDrawn="1"/>
        </p:nvCxnSpPr>
        <p:spPr>
          <a:xfrm>
            <a:off x="1905" y="1040765"/>
            <a:ext cx="12157075" cy="0"/>
          </a:xfrm>
          <a:prstGeom prst="line">
            <a:avLst/>
          </a:prstGeom>
          <a:ln w="66675" cmpd="sng">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589915" y="1062990"/>
            <a:ext cx="0" cy="5121275"/>
          </a:xfrm>
          <a:prstGeom prst="line">
            <a:avLst/>
          </a:prstGeom>
          <a:ln w="47625">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8-1.py" TargetMode="Externa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8-2.py"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8-3.p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40640" y="1122680"/>
            <a:ext cx="12091670" cy="2387600"/>
          </a:xfrm>
        </p:spPr>
        <p:txBody>
          <a:bodyPr/>
          <a:p>
            <a:pPr fontAlgn="auto">
              <a:lnSpc>
                <a:spcPct val="120000"/>
              </a:lnSpc>
            </a:pPr>
            <a:r>
              <a:rPr lang="zh-CN" altLang="en-US"/>
              <a:t>第</a:t>
            </a:r>
            <a:r>
              <a:rPr lang="en-US" altLang="zh-CN"/>
              <a:t>8</a:t>
            </a:r>
            <a:r>
              <a:rPr lang="zh-CN" altLang="en-US"/>
              <a:t>章  正则表达式</a:t>
            </a:r>
            <a:endParaRPr lang="zh-CN" altLang="en-US"/>
          </a:p>
        </p:txBody>
      </p:sp>
      <p:sp>
        <p:nvSpPr>
          <p:cNvPr id="3" name="副标题 2"/>
          <p:cNvSpPr>
            <a:spLocks noGrp="1"/>
          </p:cNvSpPr>
          <p:nvPr>
            <p:ph type="subTitle" idx="1"/>
          </p:nvPr>
        </p:nvSpPr>
        <p:spPr>
          <a:xfrm>
            <a:off x="1524000" y="3602355"/>
            <a:ext cx="9144000" cy="2298065"/>
          </a:xfrm>
        </p:spPr>
        <p:txBody>
          <a:bodyPr>
            <a:normAutofit/>
          </a:bodyPr>
          <a:p>
            <a:endParaRPr lang="zh-CN" altLang="en-US" sz="2800"/>
          </a:p>
          <a:p>
            <a:endParaRPr lang="zh-CN" altLang="en-US" sz="2800"/>
          </a:p>
        </p:txBody>
      </p:sp>
      <p:sp>
        <p:nvSpPr>
          <p:cNvPr id="4" name="Slide Number Placeholder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a:t>
            </a:r>
            <a:r>
              <a:rPr lang="en-US" altLang="zh-CN"/>
              <a:t>8</a:t>
            </a:r>
            <a:r>
              <a:rPr lang="zh-CN" altLang="en-US"/>
              <a:t>章  正则表达式</a:t>
            </a:r>
            <a:endParaRPr lang="zh-CN" altLang="en-US"/>
          </a:p>
        </p:txBody>
      </p:sp>
      <p:sp>
        <p:nvSpPr>
          <p:cNvPr id="3" name="内容占位符 2"/>
          <p:cNvSpPr>
            <a:spLocks noGrp="1"/>
          </p:cNvSpPr>
          <p:nvPr>
            <p:ph idx="1"/>
          </p:nvPr>
        </p:nvSpPr>
        <p:spPr/>
        <p:txBody>
          <a:bodyPr>
            <a:normAutofit lnSpcReduction="10000"/>
          </a:bodyPr>
          <a:p>
            <a:pPr fontAlgn="auto">
              <a:lnSpc>
                <a:spcPct val="150000"/>
              </a:lnSpc>
            </a:pPr>
            <a:r>
              <a:rPr lang="zh-CN" altLang="en-US" sz="2400"/>
              <a:t>正则表达式是字符串处理的有力工具，正则表达式使用预定义的模式去匹配一类具有共同特征的字符串，可以快速、准确地完成复杂的查找、替换、</a:t>
            </a:r>
            <a:r>
              <a:rPr lang="zh-CN" altLang="en-US" sz="2400"/>
              <a:t>分隔等处理要求，比字符串自身提供的方法提供了更强大的处理功能。</a:t>
            </a:r>
            <a:endParaRPr lang="zh-CN" altLang="en-US" sz="2400"/>
          </a:p>
          <a:p>
            <a:pPr fontAlgn="auto">
              <a:lnSpc>
                <a:spcPct val="150000"/>
              </a:lnSpc>
            </a:pPr>
            <a:r>
              <a:rPr lang="zh-CN" altLang="en-US" sz="2400">
                <a:solidFill>
                  <a:srgbClr val="FF0000"/>
                </a:solidFill>
              </a:rPr>
              <a:t>例如，</a:t>
            </a:r>
            <a:r>
              <a:rPr lang="zh-CN" altLang="en-US" sz="2400"/>
              <a:t>使用字符串对象的split()方法只能指定一</a:t>
            </a:r>
            <a:r>
              <a:rPr lang="zh-CN" altLang="en-US" sz="2400"/>
              <a:t>种分隔符，而使用正则表达式可以很方便地指定多</a:t>
            </a:r>
            <a:r>
              <a:rPr lang="zh-CN" altLang="en-US" sz="2400"/>
              <a:t>种分隔符；使用字符串对象的split()并指定分隔符时，很难处理分隔符连续多次出现的情况，而正则表达式让这一切都变成非常轻松。</a:t>
            </a:r>
            <a:endParaRPr lang="zh-CN" altLang="en-US" sz="2400"/>
          </a:p>
          <a:p>
            <a:pPr fontAlgn="auto">
              <a:lnSpc>
                <a:spcPct val="150000"/>
              </a:lnSpc>
            </a:pPr>
            <a:r>
              <a:rPr lang="zh-CN" altLang="en-US" sz="2400" dirty="0">
                <a:latin typeface="宋体" panose="02010600030101010101" pitchFamily="2" charset="-122"/>
                <a:sym typeface="+mn-ea"/>
              </a:rPr>
              <a:t>正则表达式在</a:t>
            </a:r>
            <a:r>
              <a:rPr lang="zh-CN" altLang="en-US" sz="2400" dirty="0">
                <a:solidFill>
                  <a:srgbClr val="FF0000"/>
                </a:solidFill>
                <a:latin typeface="宋体" panose="02010600030101010101" pitchFamily="2" charset="-122"/>
                <a:sym typeface="+mn-ea"/>
              </a:rPr>
              <a:t>文本编辑与处理</a:t>
            </a:r>
            <a:r>
              <a:rPr lang="zh-CN" altLang="en-US" sz="2400" dirty="0">
                <a:latin typeface="宋体" panose="02010600030101010101" pitchFamily="2" charset="-122"/>
                <a:sym typeface="+mn-ea"/>
              </a:rPr>
              <a:t>、</a:t>
            </a:r>
            <a:r>
              <a:rPr lang="zh-CN" altLang="en-US" sz="2400" dirty="0">
                <a:solidFill>
                  <a:srgbClr val="FF0000"/>
                </a:solidFill>
                <a:latin typeface="宋体" panose="02010600030101010101" pitchFamily="2" charset="-122"/>
                <a:sym typeface="+mn-ea"/>
              </a:rPr>
              <a:t>网页爬虫</a:t>
            </a:r>
            <a:r>
              <a:rPr lang="zh-CN" altLang="en-US" sz="2400" dirty="0">
                <a:latin typeface="宋体" panose="02010600030101010101" pitchFamily="2" charset="-122"/>
                <a:sym typeface="+mn-ea"/>
              </a:rPr>
              <a:t>之类的场合中有重要应用。</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8.1  </a:t>
            </a:r>
            <a:r>
              <a:rPr lang="zh-CN" altLang="en-US"/>
              <a:t>正则表达式语法</a:t>
            </a:r>
            <a:endParaRPr lang="zh-CN" altLang="en-US"/>
          </a:p>
        </p:txBody>
      </p:sp>
      <p:sp>
        <p:nvSpPr>
          <p:cNvPr id="3" name="内容占位符 2"/>
          <p:cNvSpPr>
            <a:spLocks noGrp="1"/>
          </p:cNvSpPr>
          <p:nvPr>
            <p:ph idx="1"/>
          </p:nvPr>
        </p:nvSpPr>
        <p:spPr/>
        <p:txBody>
          <a:bodyPr/>
          <a:p>
            <a:pPr fontAlgn="auto">
              <a:lnSpc>
                <a:spcPct val="150000"/>
              </a:lnSpc>
            </a:pPr>
            <a:r>
              <a:rPr lang="zh-CN" altLang="en-US" sz="2400"/>
              <a:t>正则表达式由元字符及其不同组合来构成，通过巧妙地构造正则表达式可以匹配任意字符串，并完成查找、替换、分隔等复杂的字符串处理任务。</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8.1.1  </a:t>
            </a:r>
            <a:r>
              <a:rPr lang="zh-CN" altLang="en-US"/>
              <a:t>正则表达式基本语法</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3" name="表格 2"/>
          <p:cNvGraphicFramePr/>
          <p:nvPr>
            <p:custDataLst>
              <p:tags r:id="rId1"/>
            </p:custDataLst>
          </p:nvPr>
        </p:nvGraphicFramePr>
        <p:xfrm>
          <a:off x="830580" y="1262380"/>
          <a:ext cx="9556115" cy="4871085"/>
        </p:xfrm>
        <a:graphic>
          <a:graphicData uri="http://schemas.openxmlformats.org/drawingml/2006/table">
            <a:tbl>
              <a:tblPr firstRow="1" bandRow="1">
                <a:tableStyleId>{5940675A-B579-460E-94D1-54222C63F5DA}</a:tableStyleId>
              </a:tblPr>
              <a:tblGrid>
                <a:gridCol w="849630"/>
                <a:gridCol w="8706485"/>
              </a:tblGrid>
              <a:tr h="304800">
                <a:tc>
                  <a:txBody>
                    <a:bodyPr/>
                    <a:p>
                      <a:pPr marL="0" indent="0" algn="ctr">
                        <a:buNone/>
                      </a:pPr>
                      <a:r>
                        <a:rPr lang="zh-CN" altLang="en-US" sz="2000" b="1" u="none">
                          <a:latin typeface="Consolas" panose="020B0609020204030204" charset="0"/>
                          <a:ea typeface="宋体" panose="02010600030101010101" pitchFamily="2" charset="-122"/>
                          <a:cs typeface="宋体" panose="02010600030101010101" pitchFamily="2" charset="-122"/>
                        </a:rPr>
                        <a:t>元字符</a:t>
                      </a:r>
                      <a:endParaRPr lang="zh-CN" altLang="en-US" sz="2000" b="1" u="none">
                        <a:latin typeface="Consolas" panose="020B0609020204030204" charset="0"/>
                        <a:ea typeface="宋体" panose="02010600030101010101" pitchFamily="2" charset="-122"/>
                        <a:cs typeface="宋体" panose="02010600030101010101" pitchFamily="2" charset="-122"/>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2000" b="1" u="none">
                          <a:latin typeface="Consolas" panose="020B0609020204030204" charset="0"/>
                          <a:ea typeface="宋体" panose="02010600030101010101" pitchFamily="2" charset="-122"/>
                          <a:cs typeface="宋体" panose="02010600030101010101" pitchFamily="2" charset="-122"/>
                        </a:rPr>
                        <a:t>功能说明</a:t>
                      </a:r>
                      <a:endParaRPr lang="zh-CN" altLang="en-US" sz="2000" b="1" u="none">
                        <a:latin typeface="Consolas" panose="020B0609020204030204" charset="0"/>
                        <a:ea typeface="宋体" panose="02010600030101010101" pitchFamily="2" charset="-122"/>
                        <a:cs typeface="宋体" panose="02010600030101010101" pitchFamily="2" charset="-122"/>
                      </a:endParaRPr>
                    </a:p>
                  </a:txBody>
                  <a:tcPr marL="0"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432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宋体" panose="02010600030101010101" pitchFamily="2" charset="-122"/>
                        </a:rPr>
                        <a:t>默认匹配除换行符以外的任意单个字符，单行模式下也可以匹配换行符。表示普通圆点时需要在前面加反斜线，在方括号中时除外</a:t>
                      </a:r>
                      <a:endParaRPr lang="zh-CN" altLang="en-US" sz="1600" b="0" u="none">
                        <a:latin typeface="Consolas" panose="020B0609020204030204" charset="0"/>
                        <a:ea typeface="宋体" panose="02010600030101010101" pitchFamily="2" charset="-122"/>
                        <a:cs typeface="宋体" panose="02010600030101010101" pitchFamily="2" charset="-122"/>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432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匹配位于</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之前的字符或子模式的</a:t>
                      </a:r>
                      <a:r>
                        <a:rPr lang="en-US" altLang="zh-CN" sz="1600" b="0" u="none">
                          <a:latin typeface="Consolas" panose="020B0609020204030204" charset="0"/>
                          <a:ea typeface="宋体" panose="02010600030101010101" pitchFamily="2" charset="-122"/>
                          <a:cs typeface="Consolas" panose="020B0609020204030204" charset="0"/>
                        </a:rPr>
                        <a:t>0</a:t>
                      </a:r>
                      <a:r>
                        <a:rPr lang="zh-CN" altLang="en-US" sz="1600" b="0" u="none">
                          <a:latin typeface="Consolas" panose="020B0609020204030204" charset="0"/>
                          <a:ea typeface="宋体" panose="02010600030101010101" pitchFamily="2" charset="-122"/>
                          <a:cs typeface="Consolas" panose="020B0609020204030204" charset="0"/>
                        </a:rPr>
                        <a:t>次或多次出现</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432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匹配位于</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之前的字符或子模式的</a:t>
                      </a:r>
                      <a:r>
                        <a:rPr lang="en-US" altLang="zh-CN" sz="1600" b="0" u="none">
                          <a:latin typeface="Consolas" panose="020B0609020204030204" charset="0"/>
                          <a:ea typeface="宋体" panose="02010600030101010101" pitchFamily="2" charset="-122"/>
                          <a:cs typeface="Consolas" panose="020B0609020204030204" charset="0"/>
                        </a:rPr>
                        <a:t>1</a:t>
                      </a:r>
                      <a:r>
                        <a:rPr lang="zh-CN" altLang="en-US" sz="1600" b="0" u="none">
                          <a:latin typeface="Consolas" panose="020B0609020204030204" charset="0"/>
                          <a:ea typeface="宋体" panose="02010600030101010101" pitchFamily="2" charset="-122"/>
                          <a:cs typeface="Consolas" panose="020B0609020204030204" charset="0"/>
                        </a:rPr>
                        <a:t>次或多次出现</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432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在</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之内用来表示范围，其他位置作为普通减号</a:t>
                      </a:r>
                      <a:r>
                        <a:rPr lang="zh-CN" altLang="en-US" sz="1600" b="0" u="none">
                          <a:latin typeface="Consolas" panose="020B0609020204030204" charset="0"/>
                          <a:ea typeface="宋体" panose="02010600030101010101" pitchFamily="2" charset="-122"/>
                          <a:cs typeface="Consolas" panose="020B0609020204030204" charset="0"/>
                        </a:rPr>
                        <a:t>字符</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432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匹配位于</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之前或之后的</a:t>
                      </a:r>
                      <a:r>
                        <a:rPr lang="zh-CN" altLang="en-US" sz="1600" b="0" u="none">
                          <a:latin typeface="Consolas" panose="020B0609020204030204" charset="0"/>
                          <a:ea typeface="宋体" panose="02010600030101010101" pitchFamily="2" charset="-122"/>
                          <a:cs typeface="Consolas" panose="020B0609020204030204" charset="0"/>
                        </a:rPr>
                        <a:t>模式</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54864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600" b="0" u="none">
                          <a:latin typeface="Consolas" panose="020B0609020204030204" charset="0"/>
                          <a:ea typeface="宋体" panose="02010600030101010101" pitchFamily="2" charset="-122"/>
                          <a:cs typeface="Consolas" panose="020B0609020204030204" charset="0"/>
                        </a:rPr>
                        <a:t>1</a:t>
                      </a:r>
                      <a:r>
                        <a:rPr lang="zh-CN" altLang="en-US" sz="1600" b="0" u="none">
                          <a:latin typeface="Consolas" panose="020B0609020204030204" charset="0"/>
                          <a:ea typeface="宋体" panose="02010600030101010101" pitchFamily="2" charset="-122"/>
                          <a:cs typeface="Consolas" panose="020B0609020204030204" charset="0"/>
                        </a:rPr>
                        <a:t>）匹配行首，匹配以</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后面的字符开头的字符串；</a:t>
                      </a:r>
                      <a:r>
                        <a:rPr lang="en-US" altLang="zh-CN" sz="1600" b="0" u="none">
                          <a:latin typeface="Consolas" panose="020B0609020204030204" charset="0"/>
                          <a:ea typeface="宋体" panose="02010600030101010101" pitchFamily="2" charset="-122"/>
                          <a:cs typeface="Consolas" panose="020B0609020204030204" charset="0"/>
                        </a:rPr>
                        <a:t>2</a:t>
                      </a:r>
                      <a:r>
                        <a:rPr lang="zh-CN" altLang="en-US" sz="1600" b="0" u="none">
                          <a:latin typeface="Consolas" panose="020B0609020204030204" charset="0"/>
                          <a:ea typeface="宋体" panose="02010600030101010101" pitchFamily="2" charset="-122"/>
                          <a:cs typeface="Consolas" panose="020B0609020204030204" charset="0"/>
                        </a:rPr>
                        <a:t>）在</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中第一个字符时表示不匹配方括号中的</a:t>
                      </a:r>
                      <a:r>
                        <a:rPr lang="zh-CN" altLang="en-US" sz="1600" b="0" u="none">
                          <a:latin typeface="Consolas" panose="020B0609020204030204" charset="0"/>
                          <a:ea typeface="宋体" panose="02010600030101010101" pitchFamily="2" charset="-122"/>
                          <a:cs typeface="Consolas" panose="020B0609020204030204" charset="0"/>
                        </a:rPr>
                        <a:t>字符</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4955">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匹配行尾，匹配以</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之前的字符结束的字符串。以</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开头且以</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结尾的模式表示匹配整个字符串</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78613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600" b="0" u="none">
                          <a:latin typeface="Consolas" panose="020B0609020204030204" charset="0"/>
                          <a:ea typeface="宋体" panose="02010600030101010101" pitchFamily="2" charset="-122"/>
                          <a:cs typeface="Consolas" panose="020B0609020204030204" charset="0"/>
                        </a:rPr>
                        <a:t>1</a:t>
                      </a:r>
                      <a:r>
                        <a:rPr lang="zh-CN" altLang="en-US" sz="1600" b="0" u="none">
                          <a:latin typeface="Consolas" panose="020B0609020204030204" charset="0"/>
                          <a:ea typeface="宋体" panose="02010600030101010101" pitchFamily="2" charset="-122"/>
                          <a:cs typeface="Consolas" panose="020B0609020204030204" charset="0"/>
                        </a:rPr>
                        <a:t>）匹配位于</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之前的字符或子模式的</a:t>
                      </a:r>
                      <a:r>
                        <a:rPr lang="en-US" altLang="zh-CN" sz="1600" b="0" u="none">
                          <a:latin typeface="Consolas" panose="020B0609020204030204" charset="0"/>
                          <a:ea typeface="宋体" panose="02010600030101010101" pitchFamily="2" charset="-122"/>
                          <a:cs typeface="Consolas" panose="020B0609020204030204" charset="0"/>
                        </a:rPr>
                        <a:t>0</a:t>
                      </a:r>
                      <a:r>
                        <a:rPr lang="zh-CN" altLang="en-US" sz="1600" b="0" u="none">
                          <a:latin typeface="Consolas" panose="020B0609020204030204" charset="0"/>
                          <a:ea typeface="宋体" panose="02010600030101010101" pitchFamily="2" charset="-122"/>
                          <a:cs typeface="Consolas" panose="020B0609020204030204" charset="0"/>
                        </a:rPr>
                        <a:t>次或</a:t>
                      </a:r>
                      <a:r>
                        <a:rPr lang="en-US" altLang="zh-CN" sz="1600" b="0" u="none">
                          <a:latin typeface="Consolas" panose="020B0609020204030204" charset="0"/>
                          <a:ea typeface="宋体" panose="02010600030101010101" pitchFamily="2" charset="-122"/>
                          <a:cs typeface="Consolas" panose="020B0609020204030204" charset="0"/>
                        </a:rPr>
                        <a:t>1</a:t>
                      </a:r>
                      <a:r>
                        <a:rPr lang="zh-CN" altLang="en-US" sz="1600" b="0" u="none">
                          <a:latin typeface="Consolas" panose="020B0609020204030204" charset="0"/>
                          <a:ea typeface="宋体" panose="02010600030101010101" pitchFamily="2" charset="-122"/>
                          <a:cs typeface="Consolas" panose="020B0609020204030204" charset="0"/>
                        </a:rPr>
                        <a:t>次出现；</a:t>
                      </a:r>
                      <a:r>
                        <a:rPr lang="en-US" altLang="zh-CN" sz="1600" b="0" u="none">
                          <a:latin typeface="Consolas" panose="020B0609020204030204" charset="0"/>
                          <a:ea typeface="宋体" panose="02010600030101010101" pitchFamily="2" charset="-122"/>
                          <a:cs typeface="Consolas" panose="020B0609020204030204" charset="0"/>
                        </a:rPr>
                        <a:t>2</a:t>
                      </a:r>
                      <a:r>
                        <a:rPr lang="zh-CN" altLang="en-US" sz="1600" b="0" u="none">
                          <a:latin typeface="Consolas" panose="020B0609020204030204" charset="0"/>
                          <a:ea typeface="宋体" panose="02010600030101010101" pitchFamily="2" charset="-122"/>
                          <a:cs typeface="Consolas" panose="020B0609020204030204" charset="0"/>
                        </a:rPr>
                        <a:t>）当此字符紧随任何表示重复次数的限定符（</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a:t>
                      </a:r>
                      <a:r>
                        <a:rPr lang="en-US" altLang="zh-CN" sz="1600" b="0" u="none">
                          <a:latin typeface="Consolas" panose="020B0609020204030204" charset="0"/>
                          <a:ea typeface="宋体" panose="02010600030101010101" pitchFamily="2" charset="-122"/>
                          <a:cs typeface="Consolas" panose="020B0609020204030204" charset="0"/>
                        </a:rPr>
                        <a:t>{n}</a:t>
                      </a:r>
                      <a:r>
                        <a:rPr lang="zh-CN" altLang="en-US" sz="1600" b="0" u="none">
                          <a:latin typeface="Consolas" panose="020B0609020204030204" charset="0"/>
                          <a:ea typeface="宋体" panose="02010600030101010101" pitchFamily="2" charset="-122"/>
                          <a:cs typeface="Consolas" panose="020B0609020204030204" charset="0"/>
                        </a:rPr>
                        <a:t>、</a:t>
                      </a:r>
                      <a:r>
                        <a:rPr lang="en-US" altLang="zh-CN" sz="1600" b="0" u="none">
                          <a:latin typeface="Consolas" panose="020B0609020204030204" charset="0"/>
                          <a:ea typeface="宋体" panose="02010600030101010101" pitchFamily="2" charset="-122"/>
                          <a:cs typeface="Consolas" panose="020B0609020204030204" charset="0"/>
                        </a:rPr>
                        <a:t>{n,}</a:t>
                      </a:r>
                      <a:r>
                        <a:rPr lang="zh-CN" altLang="en-US" sz="1600" b="0" u="none">
                          <a:latin typeface="Consolas" panose="020B0609020204030204" charset="0"/>
                          <a:ea typeface="宋体" panose="02010600030101010101" pitchFamily="2" charset="-122"/>
                          <a:cs typeface="Consolas" panose="020B0609020204030204" charset="0"/>
                        </a:rPr>
                        <a:t>、</a:t>
                      </a:r>
                      <a:r>
                        <a:rPr lang="en-US" altLang="zh-CN" sz="1600" b="0" u="none">
                          <a:latin typeface="Consolas" panose="020B0609020204030204" charset="0"/>
                          <a:ea typeface="宋体" panose="02010600030101010101" pitchFamily="2" charset="-122"/>
                          <a:cs typeface="Consolas" panose="020B0609020204030204" charset="0"/>
                        </a:rPr>
                        <a:t>{n,m}</a:t>
                      </a:r>
                      <a:r>
                        <a:rPr lang="zh-CN" altLang="en-US" sz="1600" b="0" u="none">
                          <a:latin typeface="Consolas" panose="020B0609020204030204" charset="0"/>
                          <a:ea typeface="宋体" panose="02010600030101010101" pitchFamily="2" charset="-122"/>
                          <a:cs typeface="Consolas" panose="020B0609020204030204" charset="0"/>
                        </a:rPr>
                        <a:t>）之后时，匹配模式是“非贪心的”。</a:t>
                      </a:r>
                      <a:r>
                        <a:rPr lang="zh-CN" altLang="en-US" sz="1600" b="0" u="none">
                          <a:solidFill>
                            <a:srgbClr val="FF0000"/>
                          </a:solidFill>
                          <a:latin typeface="Consolas" panose="020B0609020204030204" charset="0"/>
                          <a:ea typeface="宋体" panose="02010600030101010101" pitchFamily="2" charset="-122"/>
                          <a:cs typeface="Consolas" panose="020B0609020204030204" charset="0"/>
                        </a:rPr>
                        <a:t>“非贪心的”模式匹配搜索到的、尽可能短的字符串</a:t>
                      </a:r>
                      <a:r>
                        <a:rPr lang="zh-CN" altLang="en-US" sz="1600" b="0" u="none">
                          <a:latin typeface="Consolas" panose="020B0609020204030204" charset="0"/>
                          <a:ea typeface="宋体" panose="02010600030101010101" pitchFamily="2" charset="-122"/>
                          <a:cs typeface="Consolas" panose="020B0609020204030204" charset="0"/>
                        </a:rPr>
                        <a:t>，而默认的“贪心的”模式匹配搜索到的、尽可能长的字符串</a:t>
                      </a:r>
                      <a:endParaRPr lang="en-US" altLang="zh-CN"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432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非原始字符串中</a:t>
                      </a:r>
                      <a:r>
                        <a:rPr lang="zh-CN" altLang="en-US" sz="1600" b="0" u="none">
                          <a:latin typeface="Consolas" panose="020B0609020204030204" charset="0"/>
                          <a:ea typeface="宋体" panose="02010600030101010101" pitchFamily="2" charset="-122"/>
                          <a:cs typeface="Consolas" panose="020B0609020204030204" charset="0"/>
                        </a:rPr>
                        <a:t>尝试对单个反斜线后面的字符或数字进行</a:t>
                      </a:r>
                      <a:r>
                        <a:rPr lang="zh-CN" altLang="en-US" sz="1600" b="0" u="none">
                          <a:latin typeface="Consolas" panose="020B0609020204030204" charset="0"/>
                          <a:ea typeface="宋体" panose="02010600030101010101" pitchFamily="2" charset="-122"/>
                          <a:cs typeface="Consolas" panose="020B0609020204030204" charset="0"/>
                        </a:rPr>
                        <a:t>转义</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54864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\num</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此处的</a:t>
                      </a:r>
                      <a:r>
                        <a:rPr lang="en-US" altLang="zh-CN" sz="1600" b="0" u="none">
                          <a:latin typeface="Consolas" panose="020B0609020204030204" charset="0"/>
                          <a:ea typeface="宋体" panose="02010600030101010101" pitchFamily="2" charset="-122"/>
                          <a:cs typeface="Consolas" panose="020B0609020204030204" charset="0"/>
                        </a:rPr>
                        <a:t>num</a:t>
                      </a:r>
                      <a:r>
                        <a:rPr lang="zh-CN" altLang="en-US" sz="1600" b="0" u="none">
                          <a:latin typeface="Consolas" panose="020B0609020204030204" charset="0"/>
                          <a:ea typeface="宋体" panose="02010600030101010101" pitchFamily="2" charset="-122"/>
                          <a:cs typeface="Consolas" panose="020B0609020204030204" charset="0"/>
                        </a:rPr>
                        <a:t>是一个正整数，表示子模式编号，编号从</a:t>
                      </a:r>
                      <a:r>
                        <a:rPr lang="en-US" altLang="zh-CN" sz="1600" b="0" u="none">
                          <a:latin typeface="Consolas" panose="020B0609020204030204" charset="0"/>
                          <a:ea typeface="宋体" panose="02010600030101010101" pitchFamily="2" charset="-122"/>
                          <a:cs typeface="Consolas" panose="020B0609020204030204" charset="0"/>
                        </a:rPr>
                        <a:t>1</a:t>
                      </a:r>
                      <a:r>
                        <a:rPr lang="zh-CN" altLang="en-US" sz="1600" b="0" u="none">
                          <a:latin typeface="Consolas" panose="020B0609020204030204" charset="0"/>
                          <a:ea typeface="宋体" panose="02010600030101010101" pitchFamily="2" charset="-122"/>
                          <a:cs typeface="Consolas" panose="020B0609020204030204" charset="0"/>
                        </a:rPr>
                        <a:t>开始，</a:t>
                      </a:r>
                      <a:r>
                        <a:rPr lang="en-US" altLang="zh-CN" sz="1600" b="0" u="none">
                          <a:latin typeface="Consolas" panose="020B0609020204030204" charset="0"/>
                          <a:ea typeface="宋体" panose="02010600030101010101" pitchFamily="2" charset="-122"/>
                          <a:cs typeface="Consolas" panose="020B0609020204030204" charset="0"/>
                        </a:rPr>
                        <a:t>0</a:t>
                      </a:r>
                      <a:r>
                        <a:rPr lang="zh-CN" altLang="en-US" sz="1600" b="0" u="none">
                          <a:latin typeface="Consolas" panose="020B0609020204030204" charset="0"/>
                          <a:ea typeface="宋体" panose="02010600030101010101" pitchFamily="2" charset="-122"/>
                          <a:cs typeface="Consolas" panose="020B0609020204030204" charset="0"/>
                        </a:rPr>
                        <a:t>表示整个正则表达式。这个用法与转义字符冲突，需要使用原始字符串或者两个</a:t>
                      </a:r>
                      <a:r>
                        <a:rPr lang="zh-CN" altLang="en-US" sz="1600" b="0" u="none">
                          <a:latin typeface="Consolas" panose="020B0609020204030204" charset="0"/>
                          <a:ea typeface="宋体" panose="02010600030101010101" pitchFamily="2" charset="-122"/>
                          <a:cs typeface="Consolas" panose="020B0609020204030204" charset="0"/>
                        </a:rPr>
                        <a:t>反斜线</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432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\f</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宋体" panose="02010600030101010101" pitchFamily="2" charset="-122"/>
                        </a:rPr>
                        <a:t>换页符</a:t>
                      </a:r>
                      <a:endParaRPr lang="zh-CN" altLang="en-US" sz="1600" b="0" u="none">
                        <a:latin typeface="Consolas" panose="020B0609020204030204" charset="0"/>
                        <a:ea typeface="宋体" panose="02010600030101010101" pitchFamily="2" charset="-122"/>
                        <a:cs typeface="宋体" panose="02010600030101010101" pitchFamily="2" charset="-122"/>
                      </a:endParaRPr>
                    </a:p>
                  </a:txBody>
                  <a:tcPr marL="71755" marR="0" marT="0" marB="1" vert="horz"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432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\n</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宋体" panose="02010600030101010101" pitchFamily="2" charset="-122"/>
                        </a:rPr>
                        <a:t>换行符</a:t>
                      </a:r>
                      <a:endParaRPr lang="zh-CN" altLang="en-US" sz="1600" b="0" u="none">
                        <a:latin typeface="Consolas" panose="020B0609020204030204" charset="0"/>
                        <a:ea typeface="宋体" panose="02010600030101010101" pitchFamily="2" charset="-122"/>
                        <a:cs typeface="宋体" panose="02010600030101010101" pitchFamily="2" charset="-122"/>
                      </a:endParaRPr>
                    </a:p>
                  </a:txBody>
                  <a:tcPr marL="71755" marR="0" marT="0" marB="1" vert="horz"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8.1.1  </a:t>
            </a:r>
            <a:r>
              <a:rPr lang="zh-CN" altLang="en-US">
                <a:sym typeface="+mn-ea"/>
              </a:rPr>
              <a:t>正则表达式基本语法</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3" name="表格 2"/>
          <p:cNvGraphicFramePr/>
          <p:nvPr>
            <p:custDataLst>
              <p:tags r:id="rId1"/>
            </p:custDataLst>
          </p:nvPr>
        </p:nvGraphicFramePr>
        <p:xfrm>
          <a:off x="840105" y="1343025"/>
          <a:ext cx="9451340" cy="4500880"/>
        </p:xfrm>
        <a:graphic>
          <a:graphicData uri="http://schemas.openxmlformats.org/drawingml/2006/table">
            <a:tbl>
              <a:tblPr firstRow="1" bandRow="1">
                <a:tableStyleId>{5940675A-B579-460E-94D1-54222C63F5DA}</a:tableStyleId>
              </a:tblPr>
              <a:tblGrid>
                <a:gridCol w="982980"/>
                <a:gridCol w="8468360"/>
              </a:tblGrid>
              <a:tr h="275590">
                <a:tc>
                  <a:txBody>
                    <a:bodyPr/>
                    <a:p>
                      <a:pPr marL="0" indent="0" algn="ctr">
                        <a:buNone/>
                      </a:pPr>
                      <a:r>
                        <a:rPr lang="zh-CN" altLang="en-US" sz="2000" b="1" u="none">
                          <a:latin typeface="Consolas" panose="020B0609020204030204" charset="0"/>
                          <a:ea typeface="宋体" panose="02010600030101010101" pitchFamily="2" charset="-122"/>
                          <a:cs typeface="宋体" panose="02010600030101010101" pitchFamily="2" charset="-122"/>
                        </a:rPr>
                        <a:t>元字符</a:t>
                      </a:r>
                      <a:endParaRPr lang="zh-CN" altLang="en-US" sz="2000" b="1" u="none">
                        <a:latin typeface="Consolas" panose="020B0609020204030204" charset="0"/>
                        <a:ea typeface="宋体" panose="02010600030101010101" pitchFamily="2" charset="-122"/>
                        <a:cs typeface="宋体" panose="02010600030101010101" pitchFamily="2" charset="-122"/>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2000" b="1" u="none">
                          <a:latin typeface="Consolas" panose="020B0609020204030204" charset="0"/>
                          <a:ea typeface="宋体" panose="02010600030101010101" pitchFamily="2" charset="-122"/>
                          <a:cs typeface="宋体" panose="02010600030101010101" pitchFamily="2" charset="-122"/>
                        </a:rPr>
                        <a:t>功能说明</a:t>
                      </a:r>
                      <a:endParaRPr lang="zh-CN" altLang="en-US" sz="2000" b="1" u="none">
                        <a:latin typeface="Consolas" panose="020B0609020204030204" charset="0"/>
                        <a:ea typeface="宋体" panose="02010600030101010101" pitchFamily="2" charset="-122"/>
                        <a:cs typeface="宋体" panose="02010600030101010101" pitchFamily="2" charset="-122"/>
                      </a:endParaRPr>
                    </a:p>
                  </a:txBody>
                  <a:tcPr marL="0"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686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\r</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宋体" panose="02010600030101010101" pitchFamily="2" charset="-122"/>
                        </a:rPr>
                        <a:t>匹配一个回车符</a:t>
                      </a:r>
                      <a:endParaRPr lang="zh-CN" altLang="en-US" sz="1600" b="0" u="none">
                        <a:latin typeface="Consolas" panose="020B0609020204030204" charset="0"/>
                        <a:ea typeface="宋体" panose="02010600030101010101" pitchFamily="2" charset="-122"/>
                        <a:cs typeface="宋体" panose="02010600030101010101" pitchFamily="2" charset="-122"/>
                      </a:endParaRPr>
                    </a:p>
                  </a:txBody>
                  <a:tcPr marL="71755" marR="0" marT="0" marB="1" vert="horz"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559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\b</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宋体" panose="02010600030101010101" pitchFamily="2" charset="-122"/>
                        </a:rPr>
                        <a:t>匹配单词头或单词尾，这个符号的</a:t>
                      </a:r>
                      <a:r>
                        <a:rPr lang="zh-CN" altLang="en-US" sz="1600" b="0" u="none">
                          <a:latin typeface="Consolas" panose="020B0609020204030204" charset="0"/>
                          <a:ea typeface="宋体" panose="02010600030101010101" pitchFamily="2" charset="-122"/>
                          <a:cs typeface="宋体" panose="02010600030101010101" pitchFamily="2" charset="-122"/>
                        </a:rPr>
                        <a:t>含义与转义字符冲突，需要使用原始字符串</a:t>
                      </a:r>
                      <a:endParaRPr lang="zh-CN" altLang="en-US" sz="1600" b="0" u="none">
                        <a:latin typeface="Consolas" panose="020B0609020204030204" charset="0"/>
                        <a:ea typeface="宋体" panose="02010600030101010101" pitchFamily="2" charset="-122"/>
                        <a:cs typeface="宋体" panose="02010600030101010101" pitchFamily="2" charset="-122"/>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6225">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\B</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与</a:t>
                      </a:r>
                      <a:r>
                        <a:rPr lang="en-US" altLang="zh-CN" sz="1600" b="0" u="none">
                          <a:latin typeface="Consolas" panose="020B0609020204030204" charset="0"/>
                          <a:ea typeface="宋体" panose="02010600030101010101" pitchFamily="2" charset="-122"/>
                          <a:cs typeface="Consolas" panose="020B0609020204030204" charset="0"/>
                        </a:rPr>
                        <a:t>\b</a:t>
                      </a:r>
                      <a:r>
                        <a:rPr lang="zh-CN" altLang="en-US" sz="1600" b="0" u="none">
                          <a:latin typeface="Consolas" panose="020B0609020204030204" charset="0"/>
                          <a:ea typeface="宋体" panose="02010600030101010101" pitchFamily="2" charset="-122"/>
                          <a:cs typeface="Consolas" panose="020B0609020204030204" charset="0"/>
                        </a:rPr>
                        <a:t>含义相反</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559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\d</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匹配单个任意数字，相当于</a:t>
                      </a:r>
                      <a:r>
                        <a:rPr lang="en-US" altLang="zh-CN" sz="1600" b="0" u="none">
                          <a:latin typeface="Consolas" panose="020B0609020204030204" charset="0"/>
                          <a:ea typeface="宋体" panose="02010600030101010101" pitchFamily="2" charset="-122"/>
                          <a:cs typeface="Consolas" panose="020B0609020204030204" charset="0"/>
                        </a:rPr>
                        <a:t>[0-9]</a:t>
                      </a:r>
                      <a:endParaRPr lang="en-US" altLang="zh-CN"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6225">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\D</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与</a:t>
                      </a:r>
                      <a:r>
                        <a:rPr lang="en-US" altLang="zh-CN" sz="1600" b="0" u="none">
                          <a:latin typeface="Consolas" panose="020B0609020204030204" charset="0"/>
                          <a:ea typeface="宋体" panose="02010600030101010101" pitchFamily="2" charset="-122"/>
                          <a:cs typeface="Consolas" panose="020B0609020204030204" charset="0"/>
                        </a:rPr>
                        <a:t>\d</a:t>
                      </a:r>
                      <a:r>
                        <a:rPr lang="zh-CN" altLang="en-US" sz="1600" b="0" u="none">
                          <a:latin typeface="Consolas" panose="020B0609020204030204" charset="0"/>
                          <a:ea typeface="宋体" panose="02010600030101010101" pitchFamily="2" charset="-122"/>
                          <a:cs typeface="Consolas" panose="020B0609020204030204" charset="0"/>
                        </a:rPr>
                        <a:t>含义相反，等效于</a:t>
                      </a:r>
                      <a:r>
                        <a:rPr lang="en-US" altLang="zh-CN" sz="1600" b="0" u="none">
                          <a:latin typeface="Consolas" panose="020B0609020204030204" charset="0"/>
                          <a:ea typeface="宋体" panose="02010600030101010101" pitchFamily="2" charset="-122"/>
                          <a:cs typeface="Consolas" panose="020B0609020204030204" charset="0"/>
                        </a:rPr>
                        <a:t>[^0-9]</a:t>
                      </a:r>
                      <a:endParaRPr lang="en-US" altLang="zh-CN"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330835">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\s</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匹配单个任意空白字符，包括空格、制表符、换页符、换行符、</a:t>
                      </a:r>
                      <a:r>
                        <a:rPr lang="zh-CN" altLang="en-US" sz="1600" b="0" u="none">
                          <a:latin typeface="Consolas" panose="020B0609020204030204" charset="0"/>
                          <a:ea typeface="宋体" panose="02010600030101010101" pitchFamily="2" charset="-122"/>
                          <a:cs typeface="Consolas" panose="020B0609020204030204" charset="0"/>
                        </a:rPr>
                        <a:t>回车符，与 </a:t>
                      </a:r>
                      <a:r>
                        <a:rPr lang="en-US" altLang="zh-CN" sz="1600" b="0" u="none">
                          <a:latin typeface="Consolas" panose="020B0609020204030204" charset="0"/>
                          <a:ea typeface="宋体" panose="02010600030101010101" pitchFamily="2" charset="-122"/>
                          <a:cs typeface="Consolas" panose="020B0609020204030204" charset="0"/>
                        </a:rPr>
                        <a:t>[ \f\n\r\t\v] </a:t>
                      </a:r>
                      <a:r>
                        <a:rPr lang="zh-CN" altLang="en-US" sz="1600" b="0" u="none">
                          <a:latin typeface="Consolas" panose="020B0609020204030204" charset="0"/>
                          <a:ea typeface="宋体" panose="02010600030101010101" pitchFamily="2" charset="-122"/>
                          <a:cs typeface="Consolas" panose="020B0609020204030204" charset="0"/>
                        </a:rPr>
                        <a:t>等效</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686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\S</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与</a:t>
                      </a:r>
                      <a:r>
                        <a:rPr lang="en-US" altLang="zh-CN" sz="1600" b="0" u="none">
                          <a:latin typeface="Consolas" panose="020B0609020204030204" charset="0"/>
                          <a:ea typeface="宋体" panose="02010600030101010101" pitchFamily="2" charset="-122"/>
                          <a:cs typeface="Consolas" panose="020B0609020204030204" charset="0"/>
                        </a:rPr>
                        <a:t>\s</a:t>
                      </a:r>
                      <a:r>
                        <a:rPr lang="zh-CN" altLang="en-US" sz="1600" b="0" u="none">
                          <a:latin typeface="Consolas" panose="020B0609020204030204" charset="0"/>
                          <a:ea typeface="宋体" panose="02010600030101010101" pitchFamily="2" charset="-122"/>
                          <a:cs typeface="Consolas" panose="020B0609020204030204" charset="0"/>
                        </a:rPr>
                        <a:t>含义相反</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559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\w</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匹配任何</a:t>
                      </a:r>
                      <a:r>
                        <a:rPr lang="zh-CN" altLang="en-US" sz="1600" b="0" u="none">
                          <a:latin typeface="Consolas" panose="020B0609020204030204" charset="0"/>
                          <a:ea typeface="宋体" panose="02010600030101010101" pitchFamily="2" charset="-122"/>
                          <a:cs typeface="Consolas" panose="020B0609020204030204" charset="0"/>
                        </a:rPr>
                        <a:t>汉字、字母、数字以及下划线</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6225">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\W</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与</a:t>
                      </a:r>
                      <a:r>
                        <a:rPr lang="en-US" altLang="zh-CN" sz="1600" b="0" u="none">
                          <a:latin typeface="Consolas" panose="020B0609020204030204" charset="0"/>
                          <a:ea typeface="宋体" panose="02010600030101010101" pitchFamily="2" charset="-122"/>
                          <a:cs typeface="Consolas" panose="020B0609020204030204" charset="0"/>
                        </a:rPr>
                        <a:t>\w</a:t>
                      </a:r>
                      <a:r>
                        <a:rPr lang="zh-CN" altLang="en-US" sz="1600" b="0" u="none">
                          <a:latin typeface="Consolas" panose="020B0609020204030204" charset="0"/>
                          <a:ea typeface="宋体" panose="02010600030101010101" pitchFamily="2" charset="-122"/>
                          <a:cs typeface="Consolas" panose="020B0609020204030204" charset="0"/>
                        </a:rPr>
                        <a:t>含义相反</a:t>
                      </a:r>
                      <a:r>
                        <a:rPr lang="en-US" altLang="zh-CN" sz="1600" b="0" u="none">
                          <a:latin typeface="Consolas" panose="020B0609020204030204" charset="0"/>
                          <a:ea typeface="宋体" panose="02010600030101010101" pitchFamily="2" charset="-122"/>
                          <a:cs typeface="Consolas" panose="020B0609020204030204" charset="0"/>
                        </a:rPr>
                        <a:t>\w</a:t>
                      </a:r>
                      <a:r>
                        <a:rPr lang="zh-CN" altLang="en-US" sz="1600" b="0" u="none">
                          <a:latin typeface="Consolas" panose="020B0609020204030204" charset="0"/>
                          <a:ea typeface="宋体" panose="02010600030101010101" pitchFamily="2" charset="-122"/>
                          <a:cs typeface="Consolas" panose="020B0609020204030204" charset="0"/>
                        </a:rPr>
                        <a:t>含义相反</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6225">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将位于</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内的内容作为一个整体来对待，表示普通括号时需要在前面加</a:t>
                      </a:r>
                      <a:r>
                        <a:rPr lang="zh-CN" altLang="en-US" sz="1600" b="0" u="none">
                          <a:latin typeface="Consolas" panose="020B0609020204030204" charset="0"/>
                          <a:ea typeface="宋体" panose="02010600030101010101" pitchFamily="2" charset="-122"/>
                          <a:cs typeface="Consolas" panose="020B0609020204030204" charset="0"/>
                        </a:rPr>
                        <a:t>反斜线</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559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{m,n}</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前的字符或子模式重复至少</a:t>
                      </a:r>
                      <a:r>
                        <a:rPr lang="en-US" altLang="zh-CN" sz="1600" b="0" u="none">
                          <a:latin typeface="Consolas" panose="020B0609020204030204" charset="0"/>
                          <a:ea typeface="宋体" panose="02010600030101010101" pitchFamily="2" charset="-122"/>
                          <a:cs typeface="Consolas" panose="020B0609020204030204" charset="0"/>
                        </a:rPr>
                        <a:t>m</a:t>
                      </a:r>
                      <a:r>
                        <a:rPr lang="zh-CN" altLang="en-US" sz="1600" b="0" u="none">
                          <a:latin typeface="Consolas" panose="020B0609020204030204" charset="0"/>
                          <a:ea typeface="宋体" panose="02010600030101010101" pitchFamily="2" charset="-122"/>
                          <a:cs typeface="Consolas" panose="020B0609020204030204" charset="0"/>
                        </a:rPr>
                        <a:t>次，至多</a:t>
                      </a:r>
                      <a:r>
                        <a:rPr lang="en-US" altLang="zh-CN" sz="1600" b="0" u="none">
                          <a:latin typeface="Consolas" panose="020B0609020204030204" charset="0"/>
                          <a:ea typeface="宋体" panose="02010600030101010101" pitchFamily="2" charset="-122"/>
                          <a:cs typeface="Consolas" panose="020B0609020204030204" charset="0"/>
                        </a:rPr>
                        <a:t>n</a:t>
                      </a:r>
                      <a:r>
                        <a:rPr lang="zh-CN" altLang="en-US" sz="1600" b="0" u="none">
                          <a:latin typeface="Consolas" panose="020B0609020204030204" charset="0"/>
                          <a:ea typeface="宋体" panose="02010600030101010101" pitchFamily="2" charset="-122"/>
                          <a:cs typeface="Consolas" panose="020B0609020204030204" charset="0"/>
                        </a:rPr>
                        <a:t>次，逗号前后不能有空格，有</a:t>
                      </a:r>
                      <a:r>
                        <a:rPr lang="en-US" altLang="zh-CN" sz="1600" b="0" u="none">
                          <a:latin typeface="Consolas" panose="020B0609020204030204" charset="0"/>
                          <a:ea typeface="宋体" panose="02010600030101010101" pitchFamily="2" charset="-122"/>
                          <a:cs typeface="Consolas" panose="020B0609020204030204" charset="0"/>
                        </a:rPr>
                        <a:t>{m}</a:t>
                      </a:r>
                      <a:r>
                        <a:rPr lang="zh-CN" altLang="en-US" sz="1600" b="0" u="none">
                          <a:latin typeface="Consolas" panose="020B0609020204030204" charset="0"/>
                          <a:ea typeface="宋体" panose="02010600030101010101" pitchFamily="2" charset="-122"/>
                          <a:cs typeface="Consolas" panose="020B0609020204030204" charset="0"/>
                        </a:rPr>
                        <a:t>、</a:t>
                      </a:r>
                      <a:r>
                        <a:rPr lang="en-US" altLang="zh-CN" sz="1600" b="0" u="none">
                          <a:latin typeface="Consolas" panose="020B0609020204030204" charset="0"/>
                          <a:ea typeface="宋体" panose="02010600030101010101" pitchFamily="2" charset="-122"/>
                          <a:cs typeface="Consolas" panose="020B0609020204030204" charset="0"/>
                        </a:rPr>
                        <a:t>{m,}</a:t>
                      </a:r>
                      <a:r>
                        <a:rPr lang="zh-CN" altLang="en-US" sz="1600" b="0" u="none">
                          <a:latin typeface="Consolas" panose="020B0609020204030204" charset="0"/>
                          <a:ea typeface="宋体" panose="02010600030101010101" pitchFamily="2" charset="-122"/>
                          <a:cs typeface="Consolas" panose="020B0609020204030204" charset="0"/>
                        </a:rPr>
                        <a:t>、</a:t>
                      </a:r>
                      <a:r>
                        <a:rPr lang="en-US" altLang="zh-CN" sz="1600" b="0" u="none">
                          <a:latin typeface="Consolas" panose="020B0609020204030204" charset="0"/>
                          <a:ea typeface="宋体" panose="02010600030101010101" pitchFamily="2" charset="-122"/>
                          <a:cs typeface="Consolas" panose="020B0609020204030204" charset="0"/>
                        </a:rPr>
                        <a:t>{,n}</a:t>
                      </a:r>
                      <a:r>
                        <a:rPr lang="zh-CN" altLang="en-US" sz="1600" b="0" u="none">
                          <a:latin typeface="Consolas" panose="020B0609020204030204" charset="0"/>
                          <a:ea typeface="宋体" panose="02010600030101010101" pitchFamily="2" charset="-122"/>
                          <a:cs typeface="Consolas" panose="020B0609020204030204" charset="0"/>
                        </a:rPr>
                        <a:t>、</a:t>
                      </a:r>
                      <a:r>
                        <a:rPr lang="en-US" altLang="zh-CN" sz="1600" b="0" u="none">
                          <a:latin typeface="Consolas" panose="020B0609020204030204" charset="0"/>
                          <a:ea typeface="宋体" panose="02010600030101010101" pitchFamily="2" charset="-122"/>
                          <a:cs typeface="Consolas" panose="020B0609020204030204" charset="0"/>
                        </a:rPr>
                        <a:t>{m,n}</a:t>
                      </a:r>
                      <a:r>
                        <a:rPr lang="zh-CN" altLang="en-US" sz="1600" b="0" u="none">
                          <a:latin typeface="Consolas" panose="020B0609020204030204" charset="0"/>
                          <a:ea typeface="宋体" panose="02010600030101010101" pitchFamily="2" charset="-122"/>
                          <a:cs typeface="Consolas" panose="020B0609020204030204" charset="0"/>
                        </a:rPr>
                        <a:t>等变</a:t>
                      </a:r>
                      <a:r>
                        <a:rPr lang="zh-CN" altLang="en-US" sz="1600" b="0" u="none">
                          <a:latin typeface="Consolas" panose="020B0609020204030204" charset="0"/>
                          <a:ea typeface="宋体" panose="02010600030101010101" pitchFamily="2" charset="-122"/>
                          <a:cs typeface="Consolas" panose="020B0609020204030204" charset="0"/>
                        </a:rPr>
                        <a:t>形用法</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6225">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表示范围，匹配位于</a:t>
                      </a:r>
                      <a:r>
                        <a:rPr lang="en-US" altLang="zh-CN" sz="1600" b="0" u="none">
                          <a:latin typeface="Consolas" panose="020B0609020204030204" charset="0"/>
                          <a:ea typeface="宋体" panose="02010600030101010101" pitchFamily="2" charset="-122"/>
                          <a:cs typeface="Consolas" panose="020B0609020204030204" charset="0"/>
                        </a:rPr>
                        <a:t>[]</a:t>
                      </a:r>
                      <a:r>
                        <a:rPr lang="zh-CN" altLang="en-US" sz="1600" b="0" u="none">
                          <a:latin typeface="Consolas" panose="020B0609020204030204" charset="0"/>
                          <a:ea typeface="宋体" panose="02010600030101010101" pitchFamily="2" charset="-122"/>
                          <a:cs typeface="Consolas" panose="020B0609020204030204" charset="0"/>
                        </a:rPr>
                        <a:t>中的任意一个字符，方括号中每个字符都表示字面意思。表示普通括号时需要在前面加</a:t>
                      </a:r>
                      <a:r>
                        <a:rPr lang="zh-CN" altLang="en-US" sz="1600" b="0" u="none">
                          <a:latin typeface="Consolas" panose="020B0609020204030204" charset="0"/>
                          <a:ea typeface="宋体" panose="02010600030101010101" pitchFamily="2" charset="-122"/>
                          <a:cs typeface="Consolas" panose="020B0609020204030204" charset="0"/>
                        </a:rPr>
                        <a:t>反斜线</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t">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559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[^xyz]</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反向字符集，匹配除</a:t>
                      </a:r>
                      <a:r>
                        <a:rPr lang="en-US" altLang="zh-CN" sz="1600" b="0" u="none">
                          <a:latin typeface="Consolas" panose="020B0609020204030204" charset="0"/>
                          <a:ea typeface="宋体" panose="02010600030101010101" pitchFamily="2" charset="-122"/>
                          <a:cs typeface="Consolas" panose="020B0609020204030204" charset="0"/>
                        </a:rPr>
                        <a:t>x</a:t>
                      </a:r>
                      <a:r>
                        <a:rPr lang="zh-CN" altLang="en-US" sz="1600" b="0" u="none">
                          <a:latin typeface="Consolas" panose="020B0609020204030204" charset="0"/>
                          <a:ea typeface="宋体" panose="02010600030101010101" pitchFamily="2" charset="-122"/>
                          <a:cs typeface="Consolas" panose="020B0609020204030204" charset="0"/>
                        </a:rPr>
                        <a:t>、</a:t>
                      </a:r>
                      <a:r>
                        <a:rPr lang="en-US" altLang="zh-CN" sz="1600" b="0" u="none">
                          <a:latin typeface="Consolas" panose="020B0609020204030204" charset="0"/>
                          <a:ea typeface="宋体" panose="02010600030101010101" pitchFamily="2" charset="-122"/>
                          <a:cs typeface="Consolas" panose="020B0609020204030204" charset="0"/>
                        </a:rPr>
                        <a:t>y</a:t>
                      </a:r>
                      <a:r>
                        <a:rPr lang="zh-CN" altLang="en-US" sz="1600" b="0" u="none">
                          <a:latin typeface="Consolas" panose="020B0609020204030204" charset="0"/>
                          <a:ea typeface="宋体" panose="02010600030101010101" pitchFamily="2" charset="-122"/>
                          <a:cs typeface="Consolas" panose="020B0609020204030204" charset="0"/>
                        </a:rPr>
                        <a:t>、</a:t>
                      </a:r>
                      <a:r>
                        <a:rPr lang="en-US" altLang="zh-CN" sz="1600" b="0" u="none">
                          <a:latin typeface="Consolas" panose="020B0609020204030204" charset="0"/>
                          <a:ea typeface="宋体" panose="02010600030101010101" pitchFamily="2" charset="-122"/>
                          <a:cs typeface="Consolas" panose="020B0609020204030204" charset="0"/>
                        </a:rPr>
                        <a:t>z</a:t>
                      </a:r>
                      <a:r>
                        <a:rPr lang="zh-CN" altLang="en-US" sz="1600" b="0" u="none">
                          <a:latin typeface="Consolas" panose="020B0609020204030204" charset="0"/>
                          <a:ea typeface="宋体" panose="02010600030101010101" pitchFamily="2" charset="-122"/>
                          <a:cs typeface="Consolas" panose="020B0609020204030204" charset="0"/>
                        </a:rPr>
                        <a:t>之外的任何字符</a:t>
                      </a:r>
                      <a:endParaRPr lang="zh-CN" altLang="en-US" sz="1600" b="0" u="none">
                        <a:latin typeface="Consolas" panose="020B0609020204030204" charset="0"/>
                        <a:ea typeface="宋体" panose="02010600030101010101" pitchFamily="2" charset="-122"/>
                        <a:cs typeface="Consolas" panose="020B0609020204030204" charset="0"/>
                      </a:endParaRPr>
                    </a:p>
                  </a:txBody>
                  <a:tcPr marL="71755" marR="0" marT="0" marB="1" vert="horz"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686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[a-z]</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宋体" panose="02010600030101010101" pitchFamily="2" charset="-122"/>
                        </a:rPr>
                        <a:t>字符范围，匹配指定范围内的任何字符</a:t>
                      </a:r>
                      <a:endParaRPr lang="zh-CN" altLang="en-US" sz="1600" b="0" u="none">
                        <a:latin typeface="Consolas" panose="020B0609020204030204" charset="0"/>
                        <a:ea typeface="宋体" panose="02010600030101010101" pitchFamily="2" charset="-122"/>
                        <a:cs typeface="宋体" panose="02010600030101010101" pitchFamily="2" charset="-122"/>
                      </a:endParaRPr>
                    </a:p>
                  </a:txBody>
                  <a:tcPr marL="71755" marR="0" marT="0" marB="1" vert="horz"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r h="275590">
                <a:tc>
                  <a:txBody>
                    <a:bodyPr/>
                    <a:p>
                      <a:pPr marL="0" indent="0" algn="ctr">
                        <a:buNone/>
                      </a:pPr>
                      <a:r>
                        <a:rPr lang="en-US" altLang="zh-CN" sz="1600" b="0" u="none">
                          <a:latin typeface="Consolas" panose="020B0609020204030204" charset="0"/>
                          <a:ea typeface="宋体" panose="02010600030101010101" pitchFamily="2" charset="-122"/>
                          <a:cs typeface="Consolas" panose="020B0609020204030204" charset="0"/>
                        </a:rPr>
                        <a:t>[^a-z]</a:t>
                      </a:r>
                      <a:endParaRPr lang="en-US" altLang="zh-CN" sz="1600" b="0" u="none">
                        <a:latin typeface="Consolas" panose="020B0609020204030204" charset="0"/>
                        <a:ea typeface="宋体" panose="02010600030101010101" pitchFamily="2" charset="-122"/>
                        <a:cs typeface="Consolas" panose="020B0609020204030204" charset="0"/>
                      </a:endParaRPr>
                    </a:p>
                  </a:txBody>
                  <a:tcPr marL="0" marR="0" marT="0" marB="1" vert="horz" anchor="t">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宋体" panose="02010600030101010101" pitchFamily="2" charset="-122"/>
                        </a:rPr>
                        <a:t>反向范围字符，匹配除小写英文字母之外的任何字符</a:t>
                      </a:r>
                      <a:endParaRPr lang="zh-CN" altLang="en-US" sz="1600" b="0" u="none">
                        <a:latin typeface="Consolas" panose="020B0609020204030204" charset="0"/>
                        <a:ea typeface="宋体" panose="02010600030101010101" pitchFamily="2" charset="-122"/>
                        <a:cs typeface="宋体" panose="02010600030101010101" pitchFamily="2" charset="-122"/>
                      </a:endParaRPr>
                    </a:p>
                  </a:txBody>
                  <a:tcPr marL="71755" marR="0" marT="0" marB="1" vert="horz" anchor="ctr">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8.1.1  </a:t>
            </a:r>
            <a:r>
              <a:rPr lang="zh-CN" altLang="en-US">
                <a:sym typeface="+mn-ea"/>
              </a:rPr>
              <a:t>正则表达式基本语法</a:t>
            </a:r>
            <a:endParaRPr lang="zh-CN" altLang="en-US"/>
          </a:p>
        </p:txBody>
      </p:sp>
      <p:sp>
        <p:nvSpPr>
          <p:cNvPr id="3" name="内容占位符 2"/>
          <p:cNvSpPr>
            <a:spLocks noGrp="1"/>
          </p:cNvSpPr>
          <p:nvPr>
            <p:ph idx="1"/>
          </p:nvPr>
        </p:nvSpPr>
        <p:spPr/>
        <p:txBody>
          <a:bodyPr>
            <a:normAutofit/>
          </a:bodyPr>
          <a:p>
            <a:pPr fontAlgn="auto">
              <a:lnSpc>
                <a:spcPct val="150000"/>
              </a:lnSpc>
            </a:pPr>
            <a:r>
              <a:rPr lang="zh-CN" altLang="en-US" sz="2400">
                <a:sym typeface="+mn-ea"/>
              </a:rPr>
              <a:t>在字符串前加上字符r或R之后表示</a:t>
            </a:r>
            <a:r>
              <a:rPr lang="zh-CN" altLang="en-US" sz="2400">
                <a:solidFill>
                  <a:srgbClr val="FF0000"/>
                </a:solidFill>
                <a:sym typeface="+mn-ea"/>
              </a:rPr>
              <a:t>原始字符串</a:t>
            </a:r>
            <a:r>
              <a:rPr lang="zh-CN" altLang="en-US" sz="2400">
                <a:sym typeface="+mn-ea"/>
              </a:rPr>
              <a:t>，字符串中任意字符都不再进行转义。原始字符串可以减少用户的输入，主要用于正则表达式和文件路径字符串的情况，但如果字符串以一个斜线“\”结束的话，则需要多写一个斜线，即以“\\”结束。</a:t>
            </a:r>
            <a:endParaRPr lang="zh-CN" altLang="en-US" sz="2400"/>
          </a:p>
          <a:p>
            <a:pPr fontAlgn="auto">
              <a:lnSpc>
                <a:spcPct val="150000"/>
              </a:lnSpc>
            </a:pPr>
            <a:r>
              <a:rPr lang="zh-CN" altLang="en-US" sz="2400"/>
              <a:t>如果以“\”开头的元字符与转义字符形式相同但</a:t>
            </a:r>
            <a:r>
              <a:rPr lang="zh-CN" altLang="en-US" sz="2400"/>
              <a:t>含义不同相同，则需要使用“\\”，或者使用原始字符串。</a:t>
            </a:r>
            <a:endParaRPr lang="zh-CN" altLang="en-US" sz="2400"/>
          </a:p>
          <a:p>
            <a:pPr fontAlgn="auto">
              <a:lnSpc>
                <a:spcPct val="150000"/>
              </a:lnSpc>
            </a:pP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8.1.2  </a:t>
            </a:r>
            <a:r>
              <a:rPr lang="zh-CN" altLang="en-US"/>
              <a:t>正则表达式扩展语法</a:t>
            </a:r>
            <a:endParaRPr lang="zh-CN" altLang="en-US"/>
          </a:p>
        </p:txBody>
      </p:sp>
      <p:sp>
        <p:nvSpPr>
          <p:cNvPr id="3" name="内容占位符 2"/>
          <p:cNvSpPr>
            <a:spLocks noGrp="1"/>
          </p:cNvSpPr>
          <p:nvPr>
            <p:ph idx="1"/>
          </p:nvPr>
        </p:nvSpPr>
        <p:spPr/>
        <p:txBody>
          <a:bodyPr/>
          <a:p>
            <a:pPr fontAlgn="auto">
              <a:lnSpc>
                <a:spcPct val="150000"/>
              </a:lnSpc>
            </a:pPr>
            <a:r>
              <a:rPr lang="zh-CN" altLang="en-US" sz="2400">
                <a:latin typeface="Consolas" panose="020B0609020204030204" charset="0"/>
                <a:cs typeface="Consolas" panose="020B0609020204030204" charset="0"/>
              </a:rPr>
              <a:t>正则表达式使用圆括号“()”表示一个</a:t>
            </a:r>
            <a:r>
              <a:rPr lang="zh-CN" altLang="en-US" sz="2400">
                <a:solidFill>
                  <a:srgbClr val="FF0000"/>
                </a:solidFill>
                <a:latin typeface="Consolas" panose="020B0609020204030204" charset="0"/>
                <a:cs typeface="Consolas" panose="020B0609020204030204" charset="0"/>
              </a:rPr>
              <a:t>子模式</a:t>
            </a:r>
            <a:r>
              <a:rPr lang="zh-CN" altLang="en-US" sz="2400">
                <a:latin typeface="Consolas" panose="020B0609020204030204" charset="0"/>
                <a:cs typeface="Consolas" panose="020B0609020204030204" charset="0"/>
              </a:rPr>
              <a:t>，圆括号内的内容作为一个整体对待，例如'(red)+'可以匹配'redred'、'redredred'等一个或多个重复'red'的情况。</a:t>
            </a:r>
            <a:endParaRPr lang="zh-CN" altLang="en-US" sz="2400">
              <a:latin typeface="Consolas" panose="020B0609020204030204" charset="0"/>
              <a:cs typeface="Consolas" panose="020B0609020204030204" charset="0"/>
            </a:endParaRPr>
          </a:p>
          <a:p>
            <a:pPr fontAlgn="auto">
              <a:lnSpc>
                <a:spcPct val="150000"/>
              </a:lnSpc>
            </a:pPr>
            <a:r>
              <a:rPr lang="zh-CN" altLang="en-US" sz="2400">
                <a:latin typeface="Consolas" panose="020B0609020204030204" charset="0"/>
                <a:cs typeface="Consolas" panose="020B0609020204030204" charset="0"/>
              </a:rPr>
              <a:t>子模式扩展语法用来对子模式进行限制和</a:t>
            </a:r>
            <a:r>
              <a:rPr lang="zh-CN" altLang="en-US" sz="2400">
                <a:latin typeface="Consolas" panose="020B0609020204030204" charset="0"/>
                <a:cs typeface="Consolas" panose="020B0609020204030204" charset="0"/>
              </a:rPr>
              <a:t>修饰，实现更加复杂的字符串处理功能。</a:t>
            </a:r>
            <a:endParaRPr lang="zh-CN" altLang="en-US" sz="24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8.1.2  </a:t>
            </a:r>
            <a:r>
              <a:rPr lang="zh-CN" altLang="en-US">
                <a:sym typeface="+mn-ea"/>
              </a:rPr>
              <a:t>正则表达式扩展语法</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3" name="表格 2"/>
          <p:cNvGraphicFramePr/>
          <p:nvPr>
            <p:custDataLst>
              <p:tags r:id="rId1"/>
            </p:custDataLst>
          </p:nvPr>
        </p:nvGraphicFramePr>
        <p:xfrm>
          <a:off x="925195" y="1356360"/>
          <a:ext cx="9343390" cy="4414520"/>
        </p:xfrm>
        <a:graphic>
          <a:graphicData uri="http://schemas.openxmlformats.org/drawingml/2006/table">
            <a:tbl>
              <a:tblPr firstRow="1" bandRow="1">
                <a:tableStyleId>{5940675A-B579-460E-94D1-54222C63F5DA}</a:tableStyleId>
              </a:tblPr>
              <a:tblGrid>
                <a:gridCol w="1968500"/>
                <a:gridCol w="7374890"/>
              </a:tblGrid>
              <a:tr h="309880">
                <a:tc>
                  <a:txBody>
                    <a:bodyPr/>
                    <a:p>
                      <a:pPr indent="0" algn="ctr">
                        <a:buNone/>
                      </a:pPr>
                      <a:r>
                        <a:rPr lang="zh-CN" altLang="en-US" sz="1800" b="0">
                          <a:latin typeface="Consolas" panose="020B0609020204030204" charset="0"/>
                          <a:ea typeface="宋体" panose="02010600030101010101" pitchFamily="2" charset="-122"/>
                          <a:cs typeface="宋体" panose="02010600030101010101" pitchFamily="2" charset="-122"/>
                        </a:rPr>
                        <a:t>语法</a:t>
                      </a:r>
                      <a:endParaRPr lang="zh-CN" altLang="en-US" sz="1800" b="0">
                        <a:latin typeface="Consolas" panose="020B06090202040302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altLang="en-US" sz="1800" b="0">
                          <a:latin typeface="Consolas" panose="020B0609020204030204" charset="0"/>
                          <a:ea typeface="宋体" panose="02010600030101010101" pitchFamily="2" charset="-122"/>
                          <a:cs typeface="宋体" panose="02010600030101010101" pitchFamily="2" charset="-122"/>
                        </a:rPr>
                        <a:t>功能说明</a:t>
                      </a:r>
                      <a:endParaRPr lang="zh-CN" altLang="en-US" sz="1800" b="0">
                        <a:latin typeface="Consolas" panose="020B06090202040302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0515">
                <a:tc>
                  <a:txBody>
                    <a:bodyPr/>
                    <a:p>
                      <a:pPr indent="0">
                        <a:buNone/>
                      </a:pPr>
                      <a:r>
                        <a:rPr lang="en-US" altLang="zh-CN" sz="1800" b="0">
                          <a:latin typeface="Consolas" panose="020B0609020204030204" charset="0"/>
                          <a:ea typeface="宋体" panose="02010600030101010101" pitchFamily="2" charset="-122"/>
                          <a:cs typeface="Consolas" panose="020B0609020204030204" charset="0"/>
                        </a:rPr>
                        <a:t>(?P&lt;groupname&gt;)</a:t>
                      </a:r>
                      <a:endParaRPr lang="en-US" altLang="zh-CN"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800" b="0">
                          <a:latin typeface="Consolas" panose="020B0609020204030204" charset="0"/>
                          <a:ea typeface="宋体" panose="02010600030101010101" pitchFamily="2" charset="-122"/>
                          <a:cs typeface="宋体" panose="02010600030101010101" pitchFamily="2" charset="-122"/>
                        </a:rPr>
                        <a:t>为</a:t>
                      </a:r>
                      <a:r>
                        <a:rPr lang="zh-CN" altLang="en-US" sz="1800" b="0">
                          <a:latin typeface="Consolas" panose="020B0609020204030204" charset="0"/>
                          <a:ea typeface="宋体" panose="02010600030101010101" pitchFamily="2" charset="-122"/>
                          <a:cs typeface="宋体" panose="02010600030101010101" pitchFamily="2" charset="-122"/>
                        </a:rPr>
                        <a:t>当前子模式命名</a:t>
                      </a:r>
                      <a:endParaRPr lang="zh-CN" altLang="en-US" sz="1800" b="0">
                        <a:latin typeface="Consolas" panose="020B06090202040302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83540">
                <a:tc>
                  <a:txBody>
                    <a:bodyPr/>
                    <a:p>
                      <a:pPr indent="0">
                        <a:buNone/>
                      </a:pPr>
                      <a:r>
                        <a:rPr lang="en-US" altLang="zh-CN" sz="1800" b="0">
                          <a:latin typeface="Consolas" panose="020B0609020204030204" charset="0"/>
                          <a:ea typeface="宋体" panose="02010600030101010101" pitchFamily="2" charset="-122"/>
                          <a:cs typeface="Consolas" panose="020B0609020204030204" charset="0"/>
                        </a:rPr>
                        <a:t>(?iLmsux)</a:t>
                      </a:r>
                      <a:endParaRPr lang="en-US" altLang="zh-CN"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800" b="0">
                          <a:latin typeface="Consolas" panose="020B0609020204030204" charset="0"/>
                          <a:ea typeface="宋体" panose="02010600030101010101" pitchFamily="2" charset="-122"/>
                          <a:cs typeface="宋体" panose="02010600030101010101" pitchFamily="2" charset="-122"/>
                        </a:rPr>
                        <a:t>设置匹配标志，可以是几个字母的组合，每个字母含义与编译标志相同</a:t>
                      </a:r>
                      <a:endParaRPr lang="zh-CN" altLang="en-US" sz="1800" b="0">
                        <a:latin typeface="Consolas" panose="020B06090202040302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9880">
                <a:tc>
                  <a:txBody>
                    <a:bodyPr/>
                    <a:p>
                      <a:pPr indent="0">
                        <a:buNone/>
                      </a:pPr>
                      <a:r>
                        <a:rPr lang="en-US" altLang="zh-CN" sz="1800" b="0">
                          <a:latin typeface="Consolas" panose="020B0609020204030204" charset="0"/>
                          <a:ea typeface="宋体" panose="02010600030101010101" pitchFamily="2" charset="-122"/>
                          <a:cs typeface="Consolas" panose="020B0609020204030204" charset="0"/>
                        </a:rPr>
                        <a:t>(?:...)</a:t>
                      </a:r>
                      <a:endParaRPr lang="en-US" altLang="zh-CN"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800" b="0">
                          <a:latin typeface="Consolas" panose="020B0609020204030204" charset="0"/>
                          <a:ea typeface="宋体" panose="02010600030101010101" pitchFamily="2" charset="-122"/>
                          <a:cs typeface="Consolas" panose="020B0609020204030204" charset="0"/>
                        </a:rPr>
                        <a:t>匹配但不捕获该子模式匹配到的内容，使用</a:t>
                      </a:r>
                      <a:r>
                        <a:rPr lang="en-US" altLang="zh-CN" sz="1800" b="0">
                          <a:latin typeface="Consolas" panose="020B0609020204030204" charset="0"/>
                          <a:ea typeface="宋体" panose="02010600030101010101" pitchFamily="2" charset="-122"/>
                          <a:cs typeface="Consolas" panose="020B0609020204030204" charset="0"/>
                        </a:rPr>
                        <a:t>re.findall()</a:t>
                      </a:r>
                      <a:r>
                        <a:rPr lang="zh-CN" altLang="en-US" sz="1800" b="0">
                          <a:latin typeface="Consolas" panose="020B0609020204030204" charset="0"/>
                          <a:ea typeface="宋体" panose="02010600030101010101" pitchFamily="2" charset="-122"/>
                          <a:cs typeface="Consolas" panose="020B0609020204030204" charset="0"/>
                        </a:rPr>
                        <a:t>函数搜索时不返回该子模式匹配到的</a:t>
                      </a:r>
                      <a:r>
                        <a:rPr lang="zh-CN" altLang="en-US" sz="1800" b="0">
                          <a:latin typeface="Consolas" panose="020B0609020204030204" charset="0"/>
                          <a:ea typeface="宋体" panose="02010600030101010101" pitchFamily="2" charset="-122"/>
                          <a:cs typeface="Consolas" panose="020B0609020204030204" charset="0"/>
                        </a:rPr>
                        <a:t>内容</a:t>
                      </a:r>
                      <a:endParaRPr lang="zh-CN" altLang="en-US"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10515">
                <a:tc>
                  <a:txBody>
                    <a:bodyPr/>
                    <a:p>
                      <a:pPr indent="0">
                        <a:buNone/>
                      </a:pPr>
                      <a:r>
                        <a:rPr lang="en-US" altLang="zh-CN" sz="1800" b="0">
                          <a:latin typeface="Consolas" panose="020B0609020204030204" charset="0"/>
                          <a:ea typeface="宋体" panose="02010600030101010101" pitchFamily="2" charset="-122"/>
                          <a:cs typeface="Consolas" panose="020B0609020204030204" charset="0"/>
                        </a:rPr>
                        <a:t>(?P=groupname)</a:t>
                      </a:r>
                      <a:endParaRPr lang="en-US" altLang="zh-CN"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800" b="0">
                          <a:latin typeface="Consolas" panose="020B0609020204030204" charset="0"/>
                          <a:ea typeface="宋体" panose="02010600030101010101" pitchFamily="2" charset="-122"/>
                          <a:cs typeface="Consolas" panose="020B0609020204030204" charset="0"/>
                        </a:rPr>
                        <a:t>表示在此之前的命名为</a:t>
                      </a:r>
                      <a:r>
                        <a:rPr lang="en-US" altLang="zh-CN" sz="1800" b="0">
                          <a:latin typeface="Consolas" panose="020B0609020204030204" charset="0"/>
                          <a:ea typeface="宋体" panose="02010600030101010101" pitchFamily="2" charset="-122"/>
                          <a:cs typeface="Consolas" panose="020B0609020204030204" charset="0"/>
                        </a:rPr>
                        <a:t>groupname</a:t>
                      </a:r>
                      <a:r>
                        <a:rPr lang="zh-CN" altLang="en-US" sz="1800" b="0">
                          <a:latin typeface="Consolas" panose="020B0609020204030204" charset="0"/>
                          <a:ea typeface="宋体" panose="02010600030101010101" pitchFamily="2" charset="-122"/>
                          <a:cs typeface="Consolas" panose="020B0609020204030204" charset="0"/>
                        </a:rPr>
                        <a:t>的子模式匹配到的内容在当前位置又出现</a:t>
                      </a:r>
                      <a:r>
                        <a:rPr lang="zh-CN" altLang="en-US" sz="1800" b="0">
                          <a:latin typeface="Consolas" panose="020B0609020204030204" charset="0"/>
                          <a:ea typeface="宋体" panose="02010600030101010101" pitchFamily="2" charset="-122"/>
                          <a:cs typeface="Consolas" panose="020B0609020204030204" charset="0"/>
                        </a:rPr>
                        <a:t>一次</a:t>
                      </a:r>
                      <a:endParaRPr lang="zh-CN" altLang="en-US"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9880">
                <a:tc>
                  <a:txBody>
                    <a:bodyPr/>
                    <a:p>
                      <a:pPr indent="0">
                        <a:buNone/>
                      </a:pPr>
                      <a:r>
                        <a:rPr lang="en-US" altLang="zh-CN" sz="1800" b="0">
                          <a:latin typeface="Consolas" panose="020B0609020204030204" charset="0"/>
                          <a:ea typeface="宋体" panose="02010600030101010101" pitchFamily="2" charset="-122"/>
                          <a:cs typeface="Consolas" panose="020B0609020204030204" charset="0"/>
                        </a:rPr>
                        <a:t>(?#...)</a:t>
                      </a:r>
                      <a:endParaRPr lang="en-US" altLang="zh-CN"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800" b="0">
                          <a:latin typeface="Consolas" panose="020B0609020204030204" charset="0"/>
                          <a:ea typeface="宋体" panose="02010600030101010101" pitchFamily="2" charset="-122"/>
                          <a:cs typeface="宋体" panose="02010600030101010101" pitchFamily="2" charset="-122"/>
                        </a:rPr>
                        <a:t>表示注释</a:t>
                      </a:r>
                      <a:endParaRPr lang="zh-CN" altLang="en-US" sz="1800" b="0">
                        <a:latin typeface="Consolas" panose="020B06090202040302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19760">
                <a:tc>
                  <a:txBody>
                    <a:bodyPr/>
                    <a:p>
                      <a:pPr indent="0">
                        <a:buNone/>
                      </a:pPr>
                      <a:r>
                        <a:rPr lang="en-US" altLang="zh-CN" sz="1800" b="0">
                          <a:latin typeface="Consolas" panose="020B0609020204030204" charset="0"/>
                          <a:ea typeface="宋体" panose="02010600030101010101" pitchFamily="2" charset="-122"/>
                          <a:cs typeface="Consolas" panose="020B0609020204030204" charset="0"/>
                        </a:rPr>
                        <a:t>(?&lt;=...)</a:t>
                      </a:r>
                      <a:endParaRPr lang="en-US" altLang="zh-CN"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800" b="0">
                          <a:latin typeface="Consolas" panose="020B0609020204030204" charset="0"/>
                          <a:ea typeface="宋体" panose="02010600030101010101" pitchFamily="2" charset="-122"/>
                          <a:cs typeface="Consolas" panose="020B0609020204030204" charset="0"/>
                        </a:rPr>
                        <a:t>用于正则表达式之前，表示如果</a:t>
                      </a:r>
                      <a:r>
                        <a:rPr lang="en-US" altLang="zh-CN" sz="1800" b="0">
                          <a:latin typeface="Consolas" panose="020B0609020204030204" charset="0"/>
                          <a:ea typeface="宋体" panose="02010600030101010101" pitchFamily="2" charset="-122"/>
                          <a:cs typeface="Consolas" panose="020B0609020204030204" charset="0"/>
                        </a:rPr>
                        <a:t>&lt;=</a:t>
                      </a:r>
                      <a:r>
                        <a:rPr lang="zh-CN" altLang="en-US" sz="1800" b="0">
                          <a:latin typeface="Consolas" panose="020B0609020204030204" charset="0"/>
                          <a:ea typeface="宋体" panose="02010600030101010101" pitchFamily="2" charset="-122"/>
                          <a:cs typeface="Consolas" panose="020B0609020204030204" charset="0"/>
                        </a:rPr>
                        <a:t>后的内容在字符串中出现则匹配，但不返回</a:t>
                      </a:r>
                      <a:r>
                        <a:rPr lang="en-US" altLang="zh-CN" sz="1800" b="0">
                          <a:latin typeface="Consolas" panose="020B0609020204030204" charset="0"/>
                          <a:ea typeface="宋体" panose="02010600030101010101" pitchFamily="2" charset="-122"/>
                          <a:cs typeface="Consolas" panose="020B0609020204030204" charset="0"/>
                        </a:rPr>
                        <a:t>&lt;=</a:t>
                      </a:r>
                      <a:r>
                        <a:rPr lang="zh-CN" altLang="en-US" sz="1800" b="0">
                          <a:latin typeface="Consolas" panose="020B0609020204030204" charset="0"/>
                          <a:ea typeface="宋体" panose="02010600030101010101" pitchFamily="2" charset="-122"/>
                          <a:cs typeface="Consolas" panose="020B0609020204030204" charset="0"/>
                        </a:rPr>
                        <a:t>之后的内容</a:t>
                      </a:r>
                      <a:endParaRPr lang="zh-CN" altLang="en-US"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0395">
                <a:tc>
                  <a:txBody>
                    <a:bodyPr/>
                    <a:p>
                      <a:pPr indent="0">
                        <a:buNone/>
                      </a:pPr>
                      <a:r>
                        <a:rPr lang="en-US" altLang="zh-CN" sz="1800" b="0">
                          <a:latin typeface="Consolas" panose="020B0609020204030204" charset="0"/>
                          <a:ea typeface="宋体" panose="02010600030101010101" pitchFamily="2" charset="-122"/>
                          <a:cs typeface="Consolas" panose="020B0609020204030204" charset="0"/>
                        </a:rPr>
                        <a:t>(?=...)</a:t>
                      </a:r>
                      <a:endParaRPr lang="en-US" altLang="zh-CN"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800" b="0">
                          <a:latin typeface="Consolas" panose="020B0609020204030204" charset="0"/>
                          <a:ea typeface="宋体" panose="02010600030101010101" pitchFamily="2" charset="-122"/>
                          <a:cs typeface="Consolas" panose="020B0609020204030204" charset="0"/>
                        </a:rPr>
                        <a:t>用于正则表达式之后，表示如果</a:t>
                      </a:r>
                      <a:r>
                        <a:rPr lang="en-US" altLang="zh-CN" sz="1800" b="0">
                          <a:latin typeface="Consolas" panose="020B0609020204030204" charset="0"/>
                          <a:ea typeface="宋体" panose="02010600030101010101" pitchFamily="2" charset="-122"/>
                          <a:cs typeface="Consolas" panose="020B0609020204030204" charset="0"/>
                        </a:rPr>
                        <a:t>=</a:t>
                      </a:r>
                      <a:r>
                        <a:rPr lang="zh-CN" altLang="en-US" sz="1800" b="0">
                          <a:latin typeface="Consolas" panose="020B0609020204030204" charset="0"/>
                          <a:ea typeface="宋体" panose="02010600030101010101" pitchFamily="2" charset="-122"/>
                          <a:cs typeface="Consolas" panose="020B0609020204030204" charset="0"/>
                        </a:rPr>
                        <a:t>后的内容在字符串中出现则匹配，但不返回</a:t>
                      </a:r>
                      <a:r>
                        <a:rPr lang="en-US" altLang="zh-CN" sz="1800" b="0">
                          <a:latin typeface="Consolas" panose="020B0609020204030204" charset="0"/>
                          <a:ea typeface="宋体" panose="02010600030101010101" pitchFamily="2" charset="-122"/>
                          <a:cs typeface="Consolas" panose="020B0609020204030204" charset="0"/>
                        </a:rPr>
                        <a:t>=</a:t>
                      </a:r>
                      <a:r>
                        <a:rPr lang="zh-CN" altLang="en-US" sz="1800" b="0">
                          <a:latin typeface="Consolas" panose="020B0609020204030204" charset="0"/>
                          <a:ea typeface="宋体" panose="02010600030101010101" pitchFamily="2" charset="-122"/>
                          <a:cs typeface="Consolas" panose="020B0609020204030204" charset="0"/>
                        </a:rPr>
                        <a:t>之后的内容</a:t>
                      </a:r>
                      <a:endParaRPr lang="zh-CN" altLang="en-US"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19760">
                <a:tc>
                  <a:txBody>
                    <a:bodyPr/>
                    <a:p>
                      <a:pPr indent="0">
                        <a:buNone/>
                      </a:pPr>
                      <a:r>
                        <a:rPr lang="en-US" altLang="zh-CN" sz="1800" b="0">
                          <a:latin typeface="Consolas" panose="020B0609020204030204" charset="0"/>
                          <a:ea typeface="宋体" panose="02010600030101010101" pitchFamily="2" charset="-122"/>
                          <a:cs typeface="Consolas" panose="020B0609020204030204" charset="0"/>
                        </a:rPr>
                        <a:t>(?&lt;!...)</a:t>
                      </a:r>
                      <a:endParaRPr lang="en-US" altLang="zh-CN"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800" b="0">
                          <a:latin typeface="Consolas" panose="020B0609020204030204" charset="0"/>
                          <a:ea typeface="宋体" panose="02010600030101010101" pitchFamily="2" charset="-122"/>
                          <a:cs typeface="Consolas" panose="020B0609020204030204" charset="0"/>
                        </a:rPr>
                        <a:t>用于正则表达式之前，表示如果</a:t>
                      </a:r>
                      <a:r>
                        <a:rPr lang="en-US" altLang="zh-CN" sz="1800" b="0">
                          <a:latin typeface="Consolas" panose="020B0609020204030204" charset="0"/>
                          <a:ea typeface="宋体" panose="02010600030101010101" pitchFamily="2" charset="-122"/>
                          <a:cs typeface="Consolas" panose="020B0609020204030204" charset="0"/>
                        </a:rPr>
                        <a:t>&lt;!</a:t>
                      </a:r>
                      <a:r>
                        <a:rPr lang="zh-CN" altLang="en-US" sz="1800" b="0">
                          <a:latin typeface="Consolas" panose="020B0609020204030204" charset="0"/>
                          <a:ea typeface="宋体" panose="02010600030101010101" pitchFamily="2" charset="-122"/>
                          <a:cs typeface="Consolas" panose="020B0609020204030204" charset="0"/>
                        </a:rPr>
                        <a:t>后的内容在字符串中不出现则匹配，但不返回</a:t>
                      </a:r>
                      <a:r>
                        <a:rPr lang="en-US" altLang="zh-CN" sz="1800" b="0">
                          <a:latin typeface="Consolas" panose="020B0609020204030204" charset="0"/>
                          <a:ea typeface="宋体" panose="02010600030101010101" pitchFamily="2" charset="-122"/>
                          <a:cs typeface="Consolas" panose="020B0609020204030204" charset="0"/>
                        </a:rPr>
                        <a:t>&lt;!</a:t>
                      </a:r>
                      <a:r>
                        <a:rPr lang="zh-CN" altLang="en-US" sz="1800" b="0">
                          <a:latin typeface="Consolas" panose="020B0609020204030204" charset="0"/>
                          <a:ea typeface="宋体" panose="02010600030101010101" pitchFamily="2" charset="-122"/>
                          <a:cs typeface="Consolas" panose="020B0609020204030204" charset="0"/>
                        </a:rPr>
                        <a:t>之后的内容</a:t>
                      </a:r>
                      <a:endParaRPr lang="zh-CN" altLang="en-US"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20395">
                <a:tc>
                  <a:txBody>
                    <a:bodyPr/>
                    <a:p>
                      <a:pPr indent="0">
                        <a:buNone/>
                      </a:pPr>
                      <a:r>
                        <a:rPr lang="en-US" altLang="zh-CN" sz="1800" b="0">
                          <a:latin typeface="Consolas" panose="020B0609020204030204" charset="0"/>
                          <a:ea typeface="宋体" panose="02010600030101010101" pitchFamily="2" charset="-122"/>
                          <a:cs typeface="Consolas" panose="020B0609020204030204" charset="0"/>
                        </a:rPr>
                        <a:t>(?!...)</a:t>
                      </a:r>
                      <a:endParaRPr lang="en-US" altLang="zh-CN"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zh-CN" altLang="en-US" sz="1800" b="0">
                          <a:latin typeface="Consolas" panose="020B0609020204030204" charset="0"/>
                          <a:ea typeface="宋体" panose="02010600030101010101" pitchFamily="2" charset="-122"/>
                          <a:cs typeface="Consolas" panose="020B0609020204030204" charset="0"/>
                        </a:rPr>
                        <a:t>用于正则表达式之后，表示如果</a:t>
                      </a:r>
                      <a:r>
                        <a:rPr lang="en-US" altLang="zh-CN" sz="1800" b="0">
                          <a:latin typeface="Consolas" panose="020B0609020204030204" charset="0"/>
                          <a:ea typeface="宋体" panose="02010600030101010101" pitchFamily="2" charset="-122"/>
                          <a:cs typeface="Consolas" panose="020B0609020204030204" charset="0"/>
                        </a:rPr>
                        <a:t>!</a:t>
                      </a:r>
                      <a:r>
                        <a:rPr lang="zh-CN" altLang="en-US" sz="1800" b="0">
                          <a:latin typeface="Consolas" panose="020B0609020204030204" charset="0"/>
                          <a:ea typeface="宋体" panose="02010600030101010101" pitchFamily="2" charset="-122"/>
                          <a:cs typeface="Consolas" panose="020B0609020204030204" charset="0"/>
                        </a:rPr>
                        <a:t>后的内容在字符串中不出现则匹配，但不返回</a:t>
                      </a:r>
                      <a:r>
                        <a:rPr lang="en-US" altLang="zh-CN" sz="1800" b="0">
                          <a:latin typeface="Consolas" panose="020B0609020204030204" charset="0"/>
                          <a:ea typeface="宋体" panose="02010600030101010101" pitchFamily="2" charset="-122"/>
                          <a:cs typeface="Consolas" panose="020B0609020204030204" charset="0"/>
                        </a:rPr>
                        <a:t>!</a:t>
                      </a:r>
                      <a:r>
                        <a:rPr lang="zh-CN" altLang="en-US" sz="1800" b="0">
                          <a:latin typeface="Consolas" panose="020B0609020204030204" charset="0"/>
                          <a:ea typeface="宋体" panose="02010600030101010101" pitchFamily="2" charset="-122"/>
                          <a:cs typeface="Consolas" panose="020B0609020204030204" charset="0"/>
                        </a:rPr>
                        <a:t>之后的内容</a:t>
                      </a:r>
                      <a:endParaRPr lang="zh-CN" altLang="en-US" sz="1800" b="0">
                        <a:latin typeface="Consolas" panose="020B0609020204030204" charset="0"/>
                        <a:ea typeface="宋体" panose="02010600030101010101" pitchFamily="2" charset="-122"/>
                        <a:cs typeface="Consolas" panose="020B060902020403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8.1.3  </a:t>
            </a:r>
            <a:r>
              <a:rPr lang="zh-CN" altLang="en-US"/>
              <a:t>正则表达式集锦</a:t>
            </a:r>
            <a:endParaRPr lang="zh-CN" altLang="en-US"/>
          </a:p>
        </p:txBody>
      </p:sp>
      <p:sp>
        <p:nvSpPr>
          <p:cNvPr id="3" name="内容占位符 2"/>
          <p:cNvSpPr>
            <a:spLocks noGrp="1"/>
          </p:cNvSpPr>
          <p:nvPr>
            <p:ph idx="1"/>
          </p:nvPr>
        </p:nvSpPr>
        <p:spPr>
          <a:xfrm>
            <a:off x="838200" y="1321435"/>
            <a:ext cx="10515600" cy="5035550"/>
          </a:xfrm>
        </p:spPr>
        <p:txBody>
          <a:bodyPr>
            <a:normAutofit lnSpcReduction="20000"/>
          </a:bodyPr>
          <a:p>
            <a:pPr indent="-263525" defTabSz="914400">
              <a:lnSpc>
                <a:spcPct val="130000"/>
              </a:lnSpc>
              <a:spcBef>
                <a:spcPts val="600"/>
              </a:spcBef>
              <a:buSzPct val="70000"/>
              <a:buFont typeface="Wingdings" panose="05000000000000000000" charset="0"/>
              <a:buChar char="ü"/>
            </a:pPr>
            <a:r>
              <a:rPr lang="zh-CN" altLang="en-US" sz="2000" dirty="0">
                <a:latin typeface="Consolas" panose="020B0609020204030204" charset="0"/>
                <a:cs typeface="Consolas" panose="020B0609020204030204" charset="0"/>
                <a:sym typeface="+mn-ea"/>
              </a:rPr>
              <a:t>最简单的正则表达式是普通字符串，可以匹配自身</a:t>
            </a:r>
            <a:endParaRPr lang="zh-CN" altLang="en-US" sz="2000" dirty="0">
              <a:latin typeface="Consolas" panose="020B0609020204030204" charset="0"/>
              <a:cs typeface="Consolas" panose="020B0609020204030204" charset="0"/>
            </a:endParaRPr>
          </a:p>
          <a:p>
            <a:pPr indent="-263525" defTabSz="914400">
              <a:lnSpc>
                <a:spcPct val="130000"/>
              </a:lnSpc>
              <a:spcBef>
                <a:spcPts val="600"/>
              </a:spcBef>
              <a:buSzPct val="70000"/>
              <a:buFont typeface="Wingdings" panose="05000000000000000000" charset="0"/>
              <a:buChar char="ü"/>
            </a:pPr>
            <a:r>
              <a:rPr lang="zh-CN" altLang="en-US" sz="2000">
                <a:latin typeface="Consolas" panose="020B0609020204030204" charset="0"/>
                <a:cs typeface="Consolas" panose="020B0609020204030204" charset="0"/>
                <a:sym typeface="+mn-ea"/>
              </a:rPr>
              <a:t>'</a:t>
            </a:r>
            <a:r>
              <a:rPr lang="zh-CN" altLang="en-US" sz="2000" dirty="0">
                <a:latin typeface="Consolas" panose="020B0609020204030204" charset="0"/>
                <a:cs typeface="Consolas" panose="020B0609020204030204" charset="0"/>
                <a:sym typeface="+mn-ea"/>
              </a:rPr>
              <a:t>[pjc]ython'可以匹配'python'、'jython'、'cython'</a:t>
            </a:r>
            <a:endParaRPr lang="zh-CN" altLang="en-US" sz="2000" dirty="0">
              <a:latin typeface="Consolas" panose="020B0609020204030204" charset="0"/>
              <a:cs typeface="Consolas" panose="020B0609020204030204" charset="0"/>
            </a:endParaRPr>
          </a:p>
          <a:p>
            <a:pPr indent="-263525" defTabSz="914400">
              <a:lnSpc>
                <a:spcPct val="130000"/>
              </a:lnSpc>
              <a:spcBef>
                <a:spcPts val="600"/>
              </a:spcBef>
              <a:buSzPct val="70000"/>
              <a:buFont typeface="Wingdings" panose="05000000000000000000" charset="0"/>
              <a:buChar char="ü"/>
            </a:pPr>
            <a:r>
              <a:rPr lang="zh-CN" altLang="en-US" sz="2000">
                <a:latin typeface="Consolas" panose="020B0609020204030204" charset="0"/>
                <a:cs typeface="Consolas" panose="020B0609020204030204" charset="0"/>
                <a:sym typeface="+mn-ea"/>
              </a:rPr>
              <a:t>'</a:t>
            </a:r>
            <a:r>
              <a:rPr lang="zh-CN" altLang="en-US" sz="2000" dirty="0">
                <a:latin typeface="Consolas" panose="020B0609020204030204" charset="0"/>
                <a:cs typeface="Consolas" panose="020B0609020204030204" charset="0"/>
                <a:sym typeface="+mn-ea"/>
              </a:rPr>
              <a:t>[a-zA-Z0-9]'可以匹配一个任意大小写字母或数字</a:t>
            </a:r>
            <a:endParaRPr lang="zh-CN" altLang="en-US" sz="2000" dirty="0">
              <a:latin typeface="Consolas" panose="020B0609020204030204" charset="0"/>
              <a:cs typeface="Consolas" panose="020B0609020204030204" charset="0"/>
            </a:endParaRPr>
          </a:p>
          <a:p>
            <a:pPr indent="-263525" defTabSz="914400">
              <a:lnSpc>
                <a:spcPct val="130000"/>
              </a:lnSpc>
              <a:spcBef>
                <a:spcPts val="600"/>
              </a:spcBef>
              <a:buSzPct val="70000"/>
              <a:buFont typeface="Wingdings" panose="05000000000000000000" charset="0"/>
              <a:buChar char="ü"/>
            </a:pPr>
            <a:r>
              <a:rPr lang="zh-CN" altLang="en-US" sz="2000">
                <a:latin typeface="Consolas" panose="020B0609020204030204" charset="0"/>
                <a:cs typeface="Consolas" panose="020B0609020204030204" charset="0"/>
                <a:sym typeface="+mn-ea"/>
              </a:rPr>
              <a:t>'</a:t>
            </a:r>
            <a:r>
              <a:rPr lang="zh-CN" altLang="en-US" sz="2000" dirty="0">
                <a:latin typeface="Consolas" panose="020B0609020204030204" charset="0"/>
                <a:cs typeface="Consolas" panose="020B0609020204030204" charset="0"/>
                <a:sym typeface="+mn-ea"/>
              </a:rPr>
              <a:t>[^abc]'可以匹配</a:t>
            </a:r>
            <a:r>
              <a:rPr lang="zh-CN" altLang="en-US" sz="2000" dirty="0">
                <a:latin typeface="Consolas" panose="020B0609020204030204" charset="0"/>
                <a:cs typeface="Consolas" panose="020B0609020204030204" charset="0"/>
                <a:sym typeface="+mn-ea"/>
              </a:rPr>
              <a:t>一个</a:t>
            </a:r>
            <a:r>
              <a:rPr lang="zh-CN" altLang="en-US" sz="2000" dirty="0">
                <a:latin typeface="Consolas" panose="020B0609020204030204" charset="0"/>
                <a:cs typeface="Consolas" panose="020B0609020204030204" charset="0"/>
                <a:sym typeface="+mn-ea"/>
              </a:rPr>
              <a:t>除'a'、'b'、'c'之外的</a:t>
            </a:r>
            <a:r>
              <a:rPr lang="zh-CN" altLang="en-US" sz="2000" dirty="0">
                <a:latin typeface="Consolas" panose="020B0609020204030204" charset="0"/>
                <a:cs typeface="Consolas" panose="020B0609020204030204" charset="0"/>
                <a:sym typeface="+mn-ea"/>
              </a:rPr>
              <a:t>任意</a:t>
            </a:r>
            <a:r>
              <a:rPr lang="zh-CN" altLang="en-US" sz="2000" dirty="0">
                <a:latin typeface="Consolas" panose="020B0609020204030204" charset="0"/>
                <a:cs typeface="Consolas" panose="020B0609020204030204" charset="0"/>
                <a:sym typeface="+mn-ea"/>
              </a:rPr>
              <a:t>字符</a:t>
            </a:r>
            <a:endParaRPr lang="zh-CN" altLang="en-US" sz="2000" dirty="0">
              <a:latin typeface="Consolas" panose="020B0609020204030204" charset="0"/>
              <a:cs typeface="Consolas" panose="020B0609020204030204" charset="0"/>
            </a:endParaRPr>
          </a:p>
          <a:p>
            <a:pPr indent="-263525" defTabSz="914400">
              <a:lnSpc>
                <a:spcPct val="130000"/>
              </a:lnSpc>
              <a:spcBef>
                <a:spcPts val="600"/>
              </a:spcBef>
              <a:buSzPct val="70000"/>
              <a:buFont typeface="Wingdings" panose="05000000000000000000" charset="0"/>
              <a:buChar char="ü"/>
            </a:pPr>
            <a:r>
              <a:rPr lang="zh-CN" altLang="en-US" sz="2000">
                <a:latin typeface="Consolas" panose="020B0609020204030204" charset="0"/>
                <a:cs typeface="Consolas" panose="020B0609020204030204" charset="0"/>
                <a:sym typeface="+mn-ea"/>
              </a:rPr>
              <a:t>'</a:t>
            </a:r>
            <a:r>
              <a:rPr lang="zh-CN" altLang="en-US" sz="2000" dirty="0">
                <a:latin typeface="Consolas" panose="020B0609020204030204" charset="0"/>
                <a:cs typeface="Consolas" panose="020B0609020204030204" charset="0"/>
                <a:sym typeface="+mn-ea"/>
              </a:rPr>
              <a:t>python|perl'或'p(ython|erl)'都可以匹配'python'或'perl'</a:t>
            </a:r>
            <a:endParaRPr lang="zh-CN" altLang="en-US" sz="2000" dirty="0">
              <a:latin typeface="Consolas" panose="020B0609020204030204" charset="0"/>
              <a:cs typeface="Consolas" panose="020B0609020204030204" charset="0"/>
            </a:endParaRPr>
          </a:p>
          <a:p>
            <a:pPr indent="-263525" defTabSz="914400">
              <a:lnSpc>
                <a:spcPct val="130000"/>
              </a:lnSpc>
              <a:spcBef>
                <a:spcPts val="600"/>
              </a:spcBef>
              <a:buSzPct val="70000"/>
              <a:buFont typeface="Wingdings" panose="05000000000000000000" charset="0"/>
              <a:buChar char="ü"/>
            </a:pPr>
            <a:r>
              <a:rPr lang="zh-CN" altLang="en-US" sz="2000" dirty="0">
                <a:latin typeface="Consolas" panose="020B0609020204030204" charset="0"/>
                <a:cs typeface="Consolas" panose="020B0609020204030204" charset="0"/>
                <a:sym typeface="+mn-ea"/>
              </a:rPr>
              <a:t>r'(http</a:t>
            </a:r>
            <a:r>
              <a:rPr lang="en-US" altLang="zh-CN" sz="2000" dirty="0">
                <a:latin typeface="Consolas" panose="020B0609020204030204" charset="0"/>
                <a:cs typeface="Consolas" panose="020B0609020204030204" charset="0"/>
                <a:sym typeface="+mn-ea"/>
              </a:rPr>
              <a:t>s</a:t>
            </a:r>
            <a:r>
              <a:rPr lang="zh-CN" altLang="en-US" sz="2000" dirty="0">
                <a:latin typeface="Consolas" panose="020B0609020204030204" charset="0"/>
                <a:cs typeface="Consolas" panose="020B0609020204030204" charset="0"/>
                <a:sym typeface="+mn-ea"/>
              </a:rPr>
              <a:t>://)?(www\.)?python\.org'可以匹配'http</a:t>
            </a:r>
            <a:r>
              <a:rPr lang="en-US" altLang="zh-CN" sz="2000" dirty="0">
                <a:latin typeface="Consolas" panose="020B0609020204030204" charset="0"/>
                <a:cs typeface="Consolas" panose="020B0609020204030204" charset="0"/>
                <a:sym typeface="+mn-ea"/>
              </a:rPr>
              <a:t>s</a:t>
            </a:r>
            <a:r>
              <a:rPr lang="zh-CN" altLang="en-US" sz="2000" dirty="0">
                <a:latin typeface="Consolas" panose="020B0609020204030204" charset="0"/>
                <a:cs typeface="Consolas" panose="020B0609020204030204" charset="0"/>
                <a:sym typeface="+mn-ea"/>
              </a:rPr>
              <a:t>://www.python.org'、'http</a:t>
            </a:r>
            <a:r>
              <a:rPr lang="en-US" altLang="zh-CN" sz="2000" dirty="0">
                <a:latin typeface="Consolas" panose="020B0609020204030204" charset="0"/>
                <a:cs typeface="Consolas" panose="020B0609020204030204" charset="0"/>
                <a:sym typeface="+mn-ea"/>
              </a:rPr>
              <a:t>s</a:t>
            </a:r>
            <a:r>
              <a:rPr lang="zh-CN" altLang="en-US" sz="2000" dirty="0">
                <a:latin typeface="Consolas" panose="020B0609020204030204" charset="0"/>
                <a:cs typeface="Consolas" panose="020B0609020204030204" charset="0"/>
                <a:sym typeface="+mn-ea"/>
              </a:rPr>
              <a:t>://python.org'、'www.python.org'和'python.org'</a:t>
            </a:r>
            <a:endParaRPr lang="zh-CN" altLang="en-US" sz="2000" dirty="0">
              <a:latin typeface="Consolas" panose="020B0609020204030204" charset="0"/>
              <a:cs typeface="Consolas" panose="020B0609020204030204" charset="0"/>
            </a:endParaRPr>
          </a:p>
          <a:p>
            <a:pPr indent="-263525" defTabSz="914400">
              <a:lnSpc>
                <a:spcPct val="130000"/>
              </a:lnSpc>
              <a:spcBef>
                <a:spcPts val="600"/>
              </a:spcBef>
              <a:buSzPct val="70000"/>
              <a:buFont typeface="Wingdings" panose="05000000000000000000" charset="0"/>
              <a:buChar char="ü"/>
            </a:pPr>
            <a:r>
              <a:rPr lang="zh-CN" altLang="en-US" sz="2000">
                <a:latin typeface="Consolas" panose="020B0609020204030204" charset="0"/>
                <a:cs typeface="Consolas" panose="020B0609020204030204" charset="0"/>
                <a:sym typeface="+mn-ea"/>
              </a:rPr>
              <a:t>'</a:t>
            </a:r>
            <a:r>
              <a:rPr lang="zh-CN" altLang="en-US" sz="2000" dirty="0">
                <a:latin typeface="Consolas" panose="020B0609020204030204" charset="0"/>
                <a:cs typeface="Consolas" panose="020B0609020204030204" charset="0"/>
                <a:sym typeface="+mn-ea"/>
              </a:rPr>
              <a:t>^http'只能匹配所有以'http'开头的字符串</a:t>
            </a:r>
            <a:endParaRPr lang="zh-CN" altLang="en-US" sz="2000" dirty="0">
              <a:latin typeface="Consolas" panose="020B0609020204030204" charset="0"/>
              <a:cs typeface="Consolas" panose="020B0609020204030204" charset="0"/>
            </a:endParaRPr>
          </a:p>
          <a:p>
            <a:pPr indent="-263525" defTabSz="914400">
              <a:lnSpc>
                <a:spcPct val="130000"/>
              </a:lnSpc>
              <a:spcBef>
                <a:spcPts val="600"/>
              </a:spcBef>
              <a:buSzPct val="70000"/>
              <a:buFont typeface="Wingdings" panose="05000000000000000000" charset="0"/>
              <a:buChar char="ü"/>
            </a:pPr>
            <a:r>
              <a:rPr lang="zh-CN" altLang="en-US" sz="2000" dirty="0">
                <a:latin typeface="Consolas" panose="020B0609020204030204" charset="0"/>
                <a:cs typeface="Consolas" panose="020B0609020204030204" charset="0"/>
                <a:sym typeface="+mn-ea"/>
              </a:rPr>
              <a:t>(pattern)*：允许模式重复0次或多次</a:t>
            </a:r>
            <a:endParaRPr lang="zh-CN" altLang="en-US" sz="2000" dirty="0">
              <a:latin typeface="Consolas" panose="020B0609020204030204" charset="0"/>
              <a:cs typeface="Consolas" panose="020B0609020204030204" charset="0"/>
            </a:endParaRPr>
          </a:p>
          <a:p>
            <a:pPr indent="-263525" defTabSz="914400">
              <a:lnSpc>
                <a:spcPct val="130000"/>
              </a:lnSpc>
              <a:spcBef>
                <a:spcPts val="600"/>
              </a:spcBef>
              <a:buSzPct val="70000"/>
              <a:buFont typeface="Wingdings" panose="05000000000000000000" charset="0"/>
              <a:buChar char="ü"/>
            </a:pPr>
            <a:r>
              <a:rPr lang="zh-CN" altLang="en-US" sz="2000" dirty="0">
                <a:latin typeface="Consolas" panose="020B0609020204030204" charset="0"/>
                <a:cs typeface="Consolas" panose="020B0609020204030204" charset="0"/>
                <a:sym typeface="+mn-ea"/>
              </a:rPr>
              <a:t>(pattern)+：允许模式重复1次或多次</a:t>
            </a:r>
            <a:endParaRPr lang="zh-CN" altLang="en-US" sz="2000" dirty="0">
              <a:latin typeface="Consolas" panose="020B0609020204030204" charset="0"/>
              <a:cs typeface="Consolas" panose="020B0609020204030204" charset="0"/>
            </a:endParaRPr>
          </a:p>
          <a:p>
            <a:pPr indent="-263525" defTabSz="914400">
              <a:lnSpc>
                <a:spcPct val="130000"/>
              </a:lnSpc>
              <a:spcBef>
                <a:spcPts val="600"/>
              </a:spcBef>
              <a:buSzPct val="70000"/>
              <a:buFont typeface="Wingdings" panose="05000000000000000000" charset="0"/>
              <a:buChar char="ü"/>
            </a:pPr>
            <a:r>
              <a:rPr lang="zh-CN" altLang="en-US" sz="2000" dirty="0">
                <a:latin typeface="Consolas" panose="020B0609020204030204" charset="0"/>
                <a:cs typeface="Consolas" panose="020B0609020204030204" charset="0"/>
                <a:sym typeface="+mn-ea"/>
              </a:rPr>
              <a:t>(pattern){m,n}：允许模式重复m~n次</a:t>
            </a:r>
            <a:endParaRPr lang="zh-CN" altLang="en-US" sz="20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8.1.3  </a:t>
            </a:r>
            <a:r>
              <a:rPr lang="zh-CN" altLang="en-US">
                <a:sym typeface="+mn-ea"/>
              </a:rPr>
              <a:t>正则表达式集锦</a:t>
            </a:r>
            <a:endParaRPr lang="zh-CN" altLang="en-US"/>
          </a:p>
        </p:txBody>
      </p:sp>
      <p:sp>
        <p:nvSpPr>
          <p:cNvPr id="3" name="内容占位符 2"/>
          <p:cNvSpPr>
            <a:spLocks noGrp="1"/>
          </p:cNvSpPr>
          <p:nvPr>
            <p:ph idx="1"/>
          </p:nvPr>
        </p:nvSpPr>
        <p:spPr>
          <a:xfrm>
            <a:off x="838200" y="1321435"/>
            <a:ext cx="10515600" cy="4966335"/>
          </a:xfrm>
        </p:spPr>
        <p:txBody>
          <a:bodyPr>
            <a:normAutofit fontScale="70000"/>
          </a:bodyPr>
          <a:p>
            <a:pPr defTabSz="914400">
              <a:lnSpc>
                <a:spcPct val="120000"/>
              </a:lnSpc>
              <a:spcBef>
                <a:spcPts val="600"/>
              </a:spcBef>
              <a:buSzPct val="70000"/>
              <a:buFont typeface="Wingdings" panose="05000000000000000000" charset="0"/>
              <a:buChar char="ü"/>
            </a:pPr>
            <a:r>
              <a:rPr lang="zh-CN" altLang="en-US">
                <a:latin typeface="Consolas" panose="020B0609020204030204" charset="0"/>
                <a:cs typeface="Consolas" panose="020B0609020204030204" charset="0"/>
                <a:sym typeface="+mn-ea"/>
              </a:rPr>
              <a:t>'(a|b)*c'：匹配多个（包含0个）a或b，后面紧跟一个字母c。</a:t>
            </a:r>
            <a:endParaRPr lang="zh-CN" altLang="en-US">
              <a:latin typeface="Consolas" panose="020B0609020204030204" charset="0"/>
              <a:cs typeface="Consolas" panose="020B0609020204030204" charset="0"/>
            </a:endParaRPr>
          </a:p>
          <a:p>
            <a:pPr defTabSz="914400">
              <a:lnSpc>
                <a:spcPct val="120000"/>
              </a:lnSpc>
              <a:spcBef>
                <a:spcPts val="600"/>
              </a:spcBef>
              <a:buSzPct val="70000"/>
              <a:buFont typeface="Wingdings" panose="05000000000000000000" charset="0"/>
              <a:buChar char="ü"/>
            </a:pPr>
            <a:r>
              <a:rPr lang="zh-CN" altLang="en-US">
                <a:latin typeface="Consolas" panose="020B0609020204030204" charset="0"/>
                <a:cs typeface="Consolas" panose="020B0609020204030204" charset="0"/>
                <a:sym typeface="+mn-ea"/>
              </a:rPr>
              <a:t>'ab{1,}'：等价于'ab+'，匹配以字母a开头后面带1个至多个字母b的字符串。</a:t>
            </a:r>
            <a:endParaRPr lang="zh-CN" altLang="en-US">
              <a:latin typeface="Consolas" panose="020B0609020204030204" charset="0"/>
              <a:cs typeface="Consolas" panose="020B0609020204030204" charset="0"/>
            </a:endParaRPr>
          </a:p>
          <a:p>
            <a:pPr defTabSz="914400">
              <a:lnSpc>
                <a:spcPct val="120000"/>
              </a:lnSpc>
              <a:spcBef>
                <a:spcPts val="600"/>
              </a:spcBef>
              <a:buSzPct val="70000"/>
              <a:buFont typeface="Wingdings" panose="05000000000000000000" charset="0"/>
              <a:buChar char="ü"/>
            </a:pPr>
            <a:r>
              <a:rPr lang="zh-CN" altLang="en-US">
                <a:latin typeface="Consolas" panose="020B0609020204030204" charset="0"/>
                <a:cs typeface="Consolas" panose="020B0609020204030204" charset="0"/>
                <a:sym typeface="+mn-ea"/>
              </a:rPr>
              <a:t>'^[a-zA-Z]{1}[a-zA-Z0-9._]{4,19}$'：匹配长度为5-20的字符串，必须以字母开头并且可带字母、数字、“_”、“.”的字符串。</a:t>
            </a:r>
            <a:endParaRPr lang="zh-CN" altLang="en-US">
              <a:latin typeface="Consolas" panose="020B0609020204030204" charset="0"/>
              <a:cs typeface="Consolas" panose="020B0609020204030204" charset="0"/>
            </a:endParaRPr>
          </a:p>
          <a:p>
            <a:pPr defTabSz="914400">
              <a:lnSpc>
                <a:spcPct val="120000"/>
              </a:lnSpc>
              <a:spcBef>
                <a:spcPts val="600"/>
              </a:spcBef>
              <a:buSzPct val="70000"/>
              <a:buFont typeface="Wingdings" panose="05000000000000000000" charset="0"/>
              <a:buChar char="ü"/>
            </a:pPr>
            <a:r>
              <a:rPr lang="zh-CN" altLang="en-US">
                <a:latin typeface="Consolas" panose="020B0609020204030204" charset="0"/>
                <a:cs typeface="Consolas" panose="020B0609020204030204" charset="0"/>
                <a:sym typeface="+mn-ea"/>
              </a:rPr>
              <a:t>'^\w{6,20}$'：匹配长度为6-20的字符串，可以包含</a:t>
            </a:r>
            <a:r>
              <a:rPr lang="zh-CN" altLang="en-US">
                <a:latin typeface="Consolas" panose="020B0609020204030204" charset="0"/>
                <a:cs typeface="Consolas" panose="020B0609020204030204" charset="0"/>
                <a:sym typeface="+mn-ea"/>
              </a:rPr>
              <a:t>汉字、字母、数字、下划线。</a:t>
            </a:r>
            <a:endParaRPr lang="zh-CN" altLang="en-US">
              <a:latin typeface="Consolas" panose="020B0609020204030204" charset="0"/>
              <a:cs typeface="Consolas" panose="020B0609020204030204" charset="0"/>
            </a:endParaRPr>
          </a:p>
          <a:p>
            <a:pPr defTabSz="914400">
              <a:lnSpc>
                <a:spcPct val="120000"/>
              </a:lnSpc>
              <a:spcBef>
                <a:spcPts val="600"/>
              </a:spcBef>
              <a:buSzPct val="70000"/>
              <a:buFont typeface="Wingdings" panose="05000000000000000000" charset="0"/>
              <a:buChar char="ü"/>
            </a:pPr>
            <a:r>
              <a:rPr lang="zh-CN" altLang="en-US">
                <a:latin typeface="Consolas" panose="020B0609020204030204" charset="0"/>
                <a:cs typeface="Consolas" panose="020B0609020204030204" charset="0"/>
                <a:sym typeface="+mn-ea"/>
              </a:rPr>
              <a:t>'^\d{1,3}\.\d{1,3}\.\d{1,3}\.\d{1,3}$'：检查给定字符串是否为合法IP地址</a:t>
            </a:r>
            <a:r>
              <a:rPr lang="zh-CN" altLang="en-US">
                <a:latin typeface="Consolas" panose="020B0609020204030204" charset="0"/>
                <a:cs typeface="Consolas" panose="020B0609020204030204" charset="0"/>
                <a:sym typeface="+mn-ea"/>
              </a:rPr>
              <a:t>格式。</a:t>
            </a:r>
            <a:endParaRPr lang="zh-CN" altLang="en-US">
              <a:latin typeface="Consolas" panose="020B0609020204030204" charset="0"/>
              <a:cs typeface="Consolas" panose="020B0609020204030204" charset="0"/>
            </a:endParaRPr>
          </a:p>
          <a:p>
            <a:pPr defTabSz="914400">
              <a:lnSpc>
                <a:spcPct val="120000"/>
              </a:lnSpc>
              <a:spcBef>
                <a:spcPts val="600"/>
              </a:spcBef>
              <a:buSzPct val="70000"/>
              <a:buFont typeface="Wingdings" panose="05000000000000000000" charset="0"/>
              <a:buChar char="ü"/>
            </a:pPr>
            <a:r>
              <a:rPr lang="zh-CN" altLang="en-US">
                <a:latin typeface="Consolas" panose="020B0609020204030204" charset="0"/>
                <a:cs typeface="Consolas" panose="020B0609020204030204" charset="0"/>
                <a:sym typeface="+mn-ea"/>
              </a:rPr>
              <a:t>'^(13[4-9]\d{8})|(15[01289]\d{8})$'：检查给定字符串是否为移动手机号码。</a:t>
            </a:r>
            <a:endParaRPr lang="zh-CN" altLang="en-US">
              <a:latin typeface="Consolas" panose="020B0609020204030204" charset="0"/>
              <a:cs typeface="Consolas" panose="020B0609020204030204" charset="0"/>
            </a:endParaRPr>
          </a:p>
          <a:p>
            <a:pPr defTabSz="914400">
              <a:lnSpc>
                <a:spcPct val="120000"/>
              </a:lnSpc>
              <a:spcBef>
                <a:spcPts val="600"/>
              </a:spcBef>
              <a:buSzPct val="70000"/>
              <a:buFont typeface="Wingdings" panose="05000000000000000000" charset="0"/>
              <a:buChar char="ü"/>
            </a:pPr>
            <a:r>
              <a:rPr lang="zh-CN" altLang="en-US">
                <a:latin typeface="Consolas" panose="020B0609020204030204" charset="0"/>
                <a:cs typeface="Consolas" panose="020B0609020204030204" charset="0"/>
                <a:sym typeface="+mn-ea"/>
              </a:rPr>
              <a:t>'^[a-zA-Z]+$'：检查给定字符串是否只包含英文字母大小写。</a:t>
            </a:r>
            <a:endParaRPr lang="zh-CN" altLang="en-US">
              <a:latin typeface="Consolas" panose="020B0609020204030204" charset="0"/>
              <a:cs typeface="Consolas" panose="020B0609020204030204" charset="0"/>
            </a:endParaRPr>
          </a:p>
          <a:p>
            <a:pPr defTabSz="914400">
              <a:lnSpc>
                <a:spcPct val="120000"/>
              </a:lnSpc>
              <a:spcBef>
                <a:spcPts val="600"/>
              </a:spcBef>
              <a:buSzPct val="70000"/>
              <a:buFont typeface="Wingdings" panose="05000000000000000000" charset="0"/>
              <a:buChar char="ü"/>
            </a:pPr>
            <a:r>
              <a:rPr lang="zh-CN" altLang="en-US">
                <a:latin typeface="Consolas" panose="020B0609020204030204" charset="0"/>
                <a:cs typeface="Consolas" panose="020B0609020204030204" charset="0"/>
                <a:sym typeface="+mn-ea"/>
              </a:rPr>
              <a:t>'^\w+@(\w+\.)+\w+$'：检查给定字符串是否为合法电子邮件地址。</a:t>
            </a:r>
            <a:endParaRPr lang="zh-CN" altLang="en-US">
              <a:latin typeface="Consolas" panose="020B0609020204030204" charset="0"/>
              <a:cs typeface="Consolas" panose="020B0609020204030204" charset="0"/>
            </a:endParaRPr>
          </a:p>
          <a:p>
            <a:pPr defTabSz="914400">
              <a:lnSpc>
                <a:spcPct val="120000"/>
              </a:lnSpc>
              <a:spcBef>
                <a:spcPts val="600"/>
              </a:spcBef>
              <a:buSzPct val="70000"/>
              <a:buFont typeface="Wingdings" panose="05000000000000000000" charset="0"/>
              <a:buChar char="ü"/>
            </a:pPr>
            <a:r>
              <a:rPr lang="en-US" altLang="en-US">
                <a:latin typeface="Consolas" panose="020B0609020204030204" charset="0"/>
                <a:cs typeface="Consolas" panose="020B0609020204030204" charset="0"/>
                <a:sym typeface="+mn-ea"/>
              </a:rPr>
              <a:t>r'(\w)(?!.*\1)'</a:t>
            </a:r>
            <a:r>
              <a:rPr lang="zh-CN" altLang="en-US">
                <a:latin typeface="Consolas" panose="020B0609020204030204" charset="0"/>
                <a:cs typeface="Consolas" panose="020B0609020204030204" charset="0"/>
                <a:sym typeface="+mn-ea"/>
              </a:rPr>
              <a:t>：查找字符串中每个字符的最后一次出现。</a:t>
            </a:r>
            <a:endParaRPr lang="zh-CN" altLang="en-US">
              <a:latin typeface="Consolas" panose="020B0609020204030204" charset="0"/>
              <a:cs typeface="Consolas" panose="020B0609020204030204" charset="0"/>
            </a:endParaRPr>
          </a:p>
          <a:p>
            <a:pPr defTabSz="914400">
              <a:lnSpc>
                <a:spcPct val="120000"/>
              </a:lnSpc>
              <a:spcBef>
                <a:spcPts val="600"/>
              </a:spcBef>
              <a:buSzPct val="70000"/>
              <a:buFont typeface="Wingdings" panose="05000000000000000000" charset="0"/>
              <a:buChar char="ü"/>
            </a:pPr>
            <a:r>
              <a:rPr lang="zh-CN" altLang="en-US">
                <a:latin typeface="Consolas" panose="020B0609020204030204" charset="0"/>
                <a:cs typeface="Consolas" panose="020B0609020204030204" charset="0"/>
                <a:sym typeface="+mn-ea"/>
              </a:rPr>
              <a:t>r'(\w)(?=.*\1)'：查找字符串中所有重复出现的字符。</a:t>
            </a:r>
            <a:endParaRPr lang="zh-CN" altLang="en-US">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8.1.3  </a:t>
            </a:r>
            <a:r>
              <a:rPr lang="zh-CN" altLang="en-US">
                <a:sym typeface="+mn-ea"/>
              </a:rPr>
              <a:t>正则表达式集锦</a:t>
            </a:r>
            <a:endParaRPr lang="zh-CN" altLang="en-US"/>
          </a:p>
        </p:txBody>
      </p:sp>
      <p:sp>
        <p:nvSpPr>
          <p:cNvPr id="3" name="内容占位符 2"/>
          <p:cNvSpPr>
            <a:spLocks noGrp="1"/>
          </p:cNvSpPr>
          <p:nvPr>
            <p:ph idx="1"/>
          </p:nvPr>
        </p:nvSpPr>
        <p:spPr>
          <a:xfrm>
            <a:off x="838200" y="1321435"/>
            <a:ext cx="10515600" cy="5034280"/>
          </a:xfrm>
        </p:spPr>
        <p:txBody>
          <a:bodyPr>
            <a:normAutofit lnSpcReduction="10000"/>
          </a:bodyPr>
          <a:p>
            <a:pPr indent="-269875" defTabSz="914400">
              <a:lnSpc>
                <a:spcPct val="130000"/>
              </a:lnSpc>
              <a:spcBef>
                <a:spcPts val="600"/>
              </a:spcBef>
              <a:buSzPct val="70000"/>
              <a:buFont typeface="Wingdings" panose="05000000000000000000" charset="0"/>
              <a:buChar char="ü"/>
            </a:pPr>
            <a:r>
              <a:rPr lang="zh-CN" altLang="en-US" sz="2000">
                <a:latin typeface="Consolas" panose="020B0609020204030204" charset="0"/>
                <a:cs typeface="Consolas" panose="020B0609020204030204" charset="0"/>
                <a:sym typeface="+mn-ea"/>
              </a:rPr>
              <a:t>'^-?\d+(\.\d{1,2})?$'：检查给定字符串是否为最多带有2位小数的正数或负数。</a:t>
            </a:r>
            <a:endParaRPr lang="zh-CN" altLang="en-US" sz="2000">
              <a:latin typeface="Consolas" panose="020B0609020204030204" charset="0"/>
              <a:cs typeface="Consolas" panose="020B0609020204030204" charset="0"/>
            </a:endParaRPr>
          </a:p>
          <a:p>
            <a:pPr indent="-269875" defTabSz="914400">
              <a:lnSpc>
                <a:spcPct val="130000"/>
              </a:lnSpc>
              <a:spcBef>
                <a:spcPts val="600"/>
              </a:spcBef>
              <a:buSzPct val="70000"/>
              <a:buFont typeface="Wingdings" panose="05000000000000000000" charset="0"/>
              <a:buChar char="ü"/>
            </a:pPr>
            <a:r>
              <a:rPr lang="zh-CN" altLang="en-US" sz="2000">
                <a:latin typeface="Consolas" panose="020B0609020204030204" charset="0"/>
                <a:cs typeface="Consolas" panose="020B0609020204030204" charset="0"/>
                <a:sym typeface="+mn-ea"/>
              </a:rPr>
              <a:t>'[\u4e00-\u9fa5]'：匹配常用汉字。</a:t>
            </a:r>
            <a:endParaRPr lang="zh-CN" altLang="en-US" sz="2000">
              <a:latin typeface="Consolas" panose="020B0609020204030204" charset="0"/>
              <a:cs typeface="Consolas" panose="020B0609020204030204" charset="0"/>
            </a:endParaRPr>
          </a:p>
          <a:p>
            <a:pPr indent="-269875" defTabSz="914400">
              <a:lnSpc>
                <a:spcPct val="130000"/>
              </a:lnSpc>
              <a:spcBef>
                <a:spcPts val="600"/>
              </a:spcBef>
              <a:buSzPct val="70000"/>
              <a:buFont typeface="Wingdings" panose="05000000000000000000" charset="0"/>
              <a:buChar char="ü"/>
            </a:pPr>
            <a:r>
              <a:rPr lang="zh-CN" altLang="en-US" sz="2000">
                <a:latin typeface="Consolas" panose="020B0609020204030204" charset="0"/>
                <a:cs typeface="Consolas" panose="020B0609020204030204" charset="0"/>
                <a:sym typeface="+mn-ea"/>
              </a:rPr>
              <a:t>'^</a:t>
            </a:r>
            <a:r>
              <a:rPr lang="en-US" altLang="zh-CN" sz="2000">
                <a:latin typeface="Consolas" panose="020B0609020204030204" charset="0"/>
                <a:cs typeface="Consolas" panose="020B0609020204030204" charset="0"/>
                <a:sym typeface="+mn-ea"/>
              </a:rPr>
              <a:t>\d{17}X|</a:t>
            </a:r>
            <a:r>
              <a:rPr lang="zh-CN" altLang="en-US" sz="2000">
                <a:latin typeface="Consolas" panose="020B0609020204030204" charset="0"/>
                <a:cs typeface="Consolas" panose="020B0609020204030204" charset="0"/>
                <a:sym typeface="+mn-ea"/>
              </a:rPr>
              <a:t>\d{18}|\d{15}$'：检查给定字符串是否身份证号</a:t>
            </a:r>
            <a:r>
              <a:rPr lang="zh-CN" altLang="en-US" sz="2000">
                <a:latin typeface="Consolas" panose="020B0609020204030204" charset="0"/>
                <a:cs typeface="Consolas" panose="020B0609020204030204" charset="0"/>
                <a:sym typeface="+mn-ea"/>
              </a:rPr>
              <a:t>格式。</a:t>
            </a:r>
            <a:endParaRPr lang="zh-CN" altLang="en-US" sz="2000">
              <a:latin typeface="Consolas" panose="020B0609020204030204" charset="0"/>
              <a:cs typeface="Consolas" panose="020B0609020204030204" charset="0"/>
            </a:endParaRPr>
          </a:p>
          <a:p>
            <a:pPr indent="-269875" defTabSz="914400">
              <a:lnSpc>
                <a:spcPct val="130000"/>
              </a:lnSpc>
              <a:spcBef>
                <a:spcPts val="600"/>
              </a:spcBef>
              <a:buSzPct val="70000"/>
              <a:buFont typeface="Wingdings" panose="05000000000000000000" charset="0"/>
              <a:buChar char="ü"/>
            </a:pPr>
            <a:r>
              <a:rPr lang="zh-CN" altLang="en-US" sz="2000">
                <a:latin typeface="Consolas" panose="020B0609020204030204" charset="0"/>
                <a:cs typeface="Consolas" panose="020B0609020204030204" charset="0"/>
                <a:sym typeface="+mn-ea"/>
              </a:rPr>
              <a:t>'\d{4}-\d{1,2}-\d{1,2}'：匹配指定格式的日期，例如20</a:t>
            </a:r>
            <a:r>
              <a:rPr lang="en-US" altLang="zh-CN" sz="2000">
                <a:latin typeface="Consolas" panose="020B0609020204030204" charset="0"/>
                <a:cs typeface="Consolas" panose="020B0609020204030204" charset="0"/>
                <a:sym typeface="+mn-ea"/>
              </a:rPr>
              <a:t>23</a:t>
            </a:r>
            <a:r>
              <a:rPr lang="zh-CN" altLang="en-US" sz="2000">
                <a:latin typeface="Consolas" panose="020B0609020204030204" charset="0"/>
                <a:cs typeface="Consolas" panose="020B0609020204030204" charset="0"/>
                <a:sym typeface="+mn-ea"/>
              </a:rPr>
              <a:t>-1-31。</a:t>
            </a:r>
            <a:endParaRPr lang="zh-CN" altLang="en-US" sz="2000">
              <a:latin typeface="Consolas" panose="020B0609020204030204" charset="0"/>
              <a:cs typeface="Consolas" panose="020B0609020204030204" charset="0"/>
            </a:endParaRPr>
          </a:p>
          <a:p>
            <a:pPr indent="-269875" defTabSz="914400">
              <a:lnSpc>
                <a:spcPct val="130000"/>
              </a:lnSpc>
              <a:spcBef>
                <a:spcPts val="600"/>
              </a:spcBef>
              <a:buSzPct val="70000"/>
              <a:buFont typeface="Wingdings" panose="05000000000000000000" charset="0"/>
              <a:buChar char="ü"/>
            </a:pPr>
            <a:r>
              <a:rPr lang="zh-CN" altLang="en-US" sz="2000">
                <a:latin typeface="Consolas" panose="020B0609020204030204" charset="0"/>
                <a:cs typeface="Consolas" panose="020B0609020204030204" charset="0"/>
                <a:sym typeface="+mn-ea"/>
              </a:rPr>
              <a:t>'^(?=.*[a-z])(?=.*[A-Z])(?=.*\d)(?=.*[,._]).{8,}$'：检查给定字符串是否为强密码，必须同时包含英语字母大写字母、英文小写字母、数字或特殊符号（如英文逗号、英文句号、下划线），并且长度必须至少8位。</a:t>
            </a:r>
            <a:endParaRPr lang="zh-CN" altLang="en-US" sz="2000">
              <a:latin typeface="Consolas" panose="020B0609020204030204" charset="0"/>
              <a:cs typeface="Consolas" panose="020B0609020204030204" charset="0"/>
            </a:endParaRPr>
          </a:p>
          <a:p>
            <a:pPr indent="-269875" defTabSz="914400">
              <a:lnSpc>
                <a:spcPct val="130000"/>
              </a:lnSpc>
              <a:spcBef>
                <a:spcPts val="600"/>
              </a:spcBef>
              <a:buSzPct val="70000"/>
              <a:buFont typeface="Wingdings" panose="05000000000000000000" charset="0"/>
              <a:buChar char="ü"/>
            </a:pPr>
            <a:r>
              <a:rPr lang="zh-CN" altLang="en-US" sz="2000">
                <a:latin typeface="Consolas" panose="020B0609020204030204" charset="0"/>
                <a:cs typeface="Consolas" panose="020B0609020204030204" charset="0"/>
                <a:sym typeface="+mn-ea"/>
              </a:rPr>
              <a:t>"(?!.*[\'\"\/;=%?]).+"：如果给定字符串中包含</a:t>
            </a:r>
            <a:r>
              <a:rPr lang="zh-CN" altLang="en-US" sz="2000">
                <a:latin typeface="Consolas" panose="020B0609020204030204" charset="0"/>
                <a:cs typeface="Consolas" panose="020B0609020204030204" charset="0"/>
                <a:sym typeface="+mn-ea"/>
              </a:rPr>
              <a:t>'</a:t>
            </a:r>
            <a:r>
              <a:rPr lang="zh-CN" altLang="en-US" sz="2000">
                <a:latin typeface="Consolas" panose="020B0609020204030204" charset="0"/>
                <a:cs typeface="Consolas" panose="020B0609020204030204" charset="0"/>
                <a:sym typeface="+mn-ea"/>
              </a:rPr>
              <a:t>、</a:t>
            </a:r>
            <a:r>
              <a:rPr lang="zh-CN" altLang="en-US" sz="2000">
                <a:latin typeface="Consolas" panose="020B0609020204030204" charset="0"/>
                <a:cs typeface="Consolas" panose="020B0609020204030204" charset="0"/>
                <a:sym typeface="+mn-ea"/>
              </a:rPr>
              <a:t>"</a:t>
            </a:r>
            <a:r>
              <a:rPr lang="zh-CN" altLang="en-US" sz="2000">
                <a:latin typeface="Consolas" panose="020B0609020204030204" charset="0"/>
                <a:cs typeface="Consolas" panose="020B0609020204030204" charset="0"/>
                <a:sym typeface="+mn-ea"/>
              </a:rPr>
              <a:t>、/、;、=、%、?则匹配失败。</a:t>
            </a:r>
            <a:endParaRPr lang="zh-CN" altLang="en-US" sz="2000">
              <a:latin typeface="Consolas" panose="020B0609020204030204" charset="0"/>
              <a:cs typeface="Consolas" panose="020B0609020204030204" charset="0"/>
            </a:endParaRPr>
          </a:p>
          <a:p>
            <a:pPr indent="-269875" defTabSz="914400">
              <a:lnSpc>
                <a:spcPct val="130000"/>
              </a:lnSpc>
              <a:spcBef>
                <a:spcPts val="600"/>
              </a:spcBef>
              <a:buSzPct val="70000"/>
              <a:buFont typeface="Wingdings" panose="05000000000000000000" charset="0"/>
              <a:buChar char="ü"/>
            </a:pPr>
            <a:r>
              <a:rPr lang="zh-CN" altLang="en-US" sz="2000">
                <a:latin typeface="Consolas" panose="020B0609020204030204" charset="0"/>
                <a:cs typeface="Consolas" panose="020B0609020204030204" charset="0"/>
                <a:sym typeface="+mn-ea"/>
              </a:rPr>
              <a:t>'(.)\\1+'：匹配任意字符的一次或多次重复。</a:t>
            </a:r>
            <a:endParaRPr lang="zh-CN" altLang="en-US" sz="2000">
              <a:latin typeface="Consolas" panose="020B0609020204030204" charset="0"/>
              <a:cs typeface="Consolas" panose="020B0609020204030204" charset="0"/>
            </a:endParaRPr>
          </a:p>
          <a:p>
            <a:pPr indent="-269875" defTabSz="914400">
              <a:lnSpc>
                <a:spcPct val="130000"/>
              </a:lnSpc>
              <a:spcBef>
                <a:spcPts val="600"/>
              </a:spcBef>
              <a:buSzPct val="70000"/>
              <a:buFont typeface="Wingdings" panose="05000000000000000000" charset="0"/>
              <a:buChar char="ü"/>
            </a:pPr>
            <a:r>
              <a:rPr lang="en-US" altLang="zh-CN" sz="2000">
                <a:latin typeface="Consolas" panose="020B0609020204030204" charset="0"/>
                <a:cs typeface="Consolas" panose="020B0609020204030204" charset="0"/>
                <a:sym typeface="+mn-ea"/>
              </a:rPr>
              <a:t>r</a:t>
            </a:r>
            <a:r>
              <a:rPr lang="zh-CN" altLang="en-US" sz="2000">
                <a:latin typeface="Consolas" panose="020B0609020204030204" charset="0"/>
                <a:cs typeface="Consolas" panose="020B0609020204030204" charset="0"/>
                <a:sym typeface="+mn-ea"/>
              </a:rPr>
              <a:t>'((?P&lt;f&gt;\b\w+\b)\s+(?P=f))'：匹配连续出现两次的单词。</a:t>
            </a:r>
            <a:endParaRPr lang="zh-CN" altLang="en-US" sz="2000">
              <a:latin typeface="Consolas" panose="020B0609020204030204" charset="0"/>
              <a:cs typeface="Consolas" panose="020B0609020204030204" charset="0"/>
            </a:endParaRPr>
          </a:p>
          <a:p>
            <a:pPr indent="-269875" defTabSz="914400">
              <a:lnSpc>
                <a:spcPct val="130000"/>
              </a:lnSpc>
              <a:spcBef>
                <a:spcPts val="600"/>
              </a:spcBef>
              <a:buSzPct val="70000"/>
              <a:buFont typeface="Wingdings" panose="05000000000000000000" charset="0"/>
              <a:buChar char="ü"/>
            </a:pPr>
            <a:r>
              <a:rPr lang="zh-CN" altLang="en-US" sz="2000">
                <a:latin typeface="Consolas" panose="020B0609020204030204" charset="0"/>
                <a:cs typeface="Consolas" panose="020B0609020204030204" charset="0"/>
                <a:sym typeface="+mn-ea"/>
              </a:rPr>
              <a:t>'((?P&lt;f&gt;.)(?P=f)(?P&lt;g&gt;.)(?P=g))'：匹配AABB形式的成语或字母组合。</a:t>
            </a:r>
            <a:endParaRPr lang="zh-CN" altLang="en-US" sz="20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8.1.3  </a:t>
            </a:r>
            <a:r>
              <a:rPr lang="zh-CN" altLang="en-US">
                <a:sym typeface="+mn-ea"/>
              </a:rPr>
              <a:t>正则表达式集锦</a:t>
            </a:r>
            <a:endParaRPr lang="zh-CN" altLang="en-US"/>
          </a:p>
        </p:txBody>
      </p:sp>
      <p:sp>
        <p:nvSpPr>
          <p:cNvPr id="3" name="内容占位符 2"/>
          <p:cNvSpPr>
            <a:spLocks noGrp="1"/>
          </p:cNvSpPr>
          <p:nvPr>
            <p:ph idx="1"/>
          </p:nvPr>
        </p:nvSpPr>
        <p:spPr>
          <a:xfrm>
            <a:off x="838200" y="1321435"/>
            <a:ext cx="10758805" cy="4639945"/>
          </a:xfrm>
        </p:spPr>
        <p:txBody>
          <a:bodyPr>
            <a:normAutofit lnSpcReduction="10000"/>
          </a:bodyPr>
          <a:p>
            <a:pPr fontAlgn="auto">
              <a:lnSpc>
                <a:spcPct val="140000"/>
              </a:lnSpc>
            </a:pPr>
            <a:r>
              <a:rPr lang="zh-CN" altLang="en-US" sz="2400">
                <a:latin typeface="Consolas" panose="020B0609020204030204" charset="0"/>
                <a:cs typeface="Consolas" panose="020B0609020204030204" charset="0"/>
              </a:rPr>
              <a:t>使用时要注意的是，</a:t>
            </a:r>
            <a:r>
              <a:rPr lang="zh-CN" altLang="en-US" sz="2400">
                <a:solidFill>
                  <a:srgbClr val="FF0000"/>
                </a:solidFill>
                <a:latin typeface="Consolas" panose="020B0609020204030204" charset="0"/>
                <a:cs typeface="Consolas" panose="020B0609020204030204" charset="0"/>
              </a:rPr>
              <a:t>正则表达式只是进行形式上的检查</a:t>
            </a:r>
            <a:r>
              <a:rPr lang="zh-CN" altLang="en-US" sz="2400">
                <a:latin typeface="Consolas" panose="020B0609020204030204" charset="0"/>
                <a:cs typeface="Consolas" panose="020B0609020204030204" charset="0"/>
              </a:rPr>
              <a:t>，并不保证内容一定正确，除非增加更多约束条件，但那样可能会使得正则表达式非常</a:t>
            </a:r>
            <a:r>
              <a:rPr lang="zh-CN" altLang="en-US" sz="2400">
                <a:latin typeface="Consolas" panose="020B0609020204030204" charset="0"/>
                <a:cs typeface="Consolas" panose="020B0609020204030204" charset="0"/>
              </a:rPr>
              <a:t>复杂。</a:t>
            </a:r>
            <a:endParaRPr lang="zh-CN" altLang="en-US" sz="2400">
              <a:latin typeface="Consolas" panose="020B0609020204030204" charset="0"/>
              <a:cs typeface="Consolas" panose="020B0609020204030204" charset="0"/>
            </a:endParaRPr>
          </a:p>
          <a:p>
            <a:pPr fontAlgn="auto" latinLnBrk="1">
              <a:lnSpc>
                <a:spcPct val="140000"/>
              </a:lnSpc>
            </a:pPr>
            <a:r>
              <a:rPr lang="zh-CN" altLang="en-US" sz="2400">
                <a:latin typeface="Consolas" panose="020B0609020204030204" charset="0"/>
                <a:cs typeface="Consolas" panose="020B0609020204030204" charset="0"/>
              </a:rPr>
              <a:t>例如上面的例子中，正则表达式'^\d{1,3}\.\d{1,3}\.\d{1,3}\.\d{1,3}$'可以检查字符串是否为IP地址，字符串'888.888.888.888'这样的也能通过检查，但实际上并不是有效的IP地址。</a:t>
            </a:r>
            <a:endParaRPr lang="zh-CN" altLang="en-US" sz="2400">
              <a:latin typeface="Consolas" panose="020B0609020204030204" charset="0"/>
              <a:cs typeface="Consolas" panose="020B0609020204030204" charset="0"/>
            </a:endParaRPr>
          </a:p>
          <a:p>
            <a:pPr fontAlgn="auto">
              <a:lnSpc>
                <a:spcPct val="140000"/>
              </a:lnSpc>
            </a:pPr>
            <a:r>
              <a:rPr lang="zh-CN" altLang="en-US" sz="2400">
                <a:latin typeface="Consolas" panose="020B0609020204030204" charset="0"/>
                <a:cs typeface="Consolas" panose="020B0609020204030204" charset="0"/>
              </a:rPr>
              <a:t>同样的道理，正则表达式'^</a:t>
            </a:r>
            <a:r>
              <a:rPr lang="en-US" altLang="zh-CN" sz="2400">
                <a:latin typeface="Consolas" panose="020B0609020204030204" charset="0"/>
                <a:cs typeface="Consolas" panose="020B0609020204030204" charset="0"/>
                <a:sym typeface="+mn-ea"/>
              </a:rPr>
              <a:t>\d{17}X|</a:t>
            </a:r>
            <a:r>
              <a:rPr lang="zh-CN" altLang="en-US" sz="2400">
                <a:latin typeface="Consolas" panose="020B0609020204030204" charset="0"/>
                <a:cs typeface="Consolas" panose="020B0609020204030204" charset="0"/>
              </a:rPr>
              <a:t>\d{18}|\d{15}$'只负责检查字符串是否为18位或15位数字，并不保证一定是合法的身份证号，也没有考虑最后一位是字母的</a:t>
            </a:r>
            <a:r>
              <a:rPr lang="zh-CN" altLang="en-US" sz="2400">
                <a:latin typeface="Consolas" panose="020B0609020204030204" charset="0"/>
                <a:cs typeface="Consolas" panose="020B0609020204030204" charset="0"/>
              </a:rPr>
              <a:t>身份证号。</a:t>
            </a:r>
            <a:endParaRPr lang="zh-CN" altLang="en-US" sz="24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8.2  使用正则表达式模块re</a:t>
            </a:r>
            <a:r>
              <a:rPr lang="zh-CN" altLang="en-US"/>
              <a:t>的函数</a:t>
            </a:r>
            <a:r>
              <a:rPr lang="en-US" altLang="zh-CN"/>
              <a:t>处理字符串</a:t>
            </a:r>
            <a:endParaRPr lang="en-US" altLang="zh-CN"/>
          </a:p>
        </p:txBody>
      </p:sp>
      <p:sp>
        <p:nvSpPr>
          <p:cNvPr id="3" name="内容占位符 2"/>
          <p:cNvSpPr>
            <a:spLocks noGrp="1"/>
          </p:cNvSpPr>
          <p:nvPr>
            <p:ph idx="1"/>
          </p:nvPr>
        </p:nvSpPr>
        <p:spPr/>
        <p:txBody>
          <a:bodyPr/>
          <a:p>
            <a:r>
              <a:rPr lang="en-US" altLang="x-none" sz="2400" dirty="0">
                <a:latin typeface="宋体" panose="02010600030101010101" pitchFamily="2" charset="-122"/>
                <a:sym typeface="+mn-ea"/>
              </a:rPr>
              <a:t>Python</a:t>
            </a:r>
            <a:r>
              <a:rPr lang="zh-CN" altLang="en-US" sz="2400" dirty="0">
                <a:latin typeface="宋体" panose="02010600030101010101" pitchFamily="2" charset="-122"/>
                <a:sym typeface="+mn-ea"/>
              </a:rPr>
              <a:t>标准库</a:t>
            </a:r>
            <a:r>
              <a:rPr lang="en-US" altLang="x-none" sz="2400" dirty="0">
                <a:latin typeface="宋体" panose="02010600030101010101" pitchFamily="2" charset="-122"/>
                <a:sym typeface="+mn-ea"/>
              </a:rPr>
              <a:t>re</a:t>
            </a:r>
            <a:r>
              <a:rPr lang="zh-CN" altLang="en-US" sz="2400" dirty="0">
                <a:latin typeface="宋体" panose="02010600030101010101" pitchFamily="2" charset="-122"/>
                <a:sym typeface="+mn-ea"/>
              </a:rPr>
              <a:t>模块提供了正则表达式操作所需要的功能。</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graphicFrame>
        <p:nvGraphicFramePr>
          <p:cNvPr id="5" name="Content Placeholder -1"/>
          <p:cNvGraphicFramePr/>
          <p:nvPr>
            <p:custDataLst>
              <p:tags r:id="rId1"/>
            </p:custDataLst>
          </p:nvPr>
        </p:nvGraphicFramePr>
        <p:xfrm>
          <a:off x="838200" y="1771015"/>
          <a:ext cx="9492615" cy="4688205"/>
        </p:xfrm>
        <a:graphic>
          <a:graphicData uri="http://schemas.openxmlformats.org/drawingml/2006/table">
            <a:tbl>
              <a:tblPr firstRow="1" bandRow="1">
                <a:tableStyleId>{5940675A-B579-460E-94D1-54222C63F5DA}</a:tableStyleId>
              </a:tblPr>
              <a:tblGrid>
                <a:gridCol w="4135755"/>
                <a:gridCol w="5356860"/>
              </a:tblGrid>
              <a:tr h="288925">
                <a:tc>
                  <a:txBody>
                    <a:bodyPr/>
                    <a:p>
                      <a:pPr marL="0" indent="0" algn="ctr">
                        <a:buNone/>
                      </a:pPr>
                      <a:r>
                        <a:rPr lang="zh-CN" altLang="en-US" sz="1600" b="1" u="none">
                          <a:latin typeface="Consolas" panose="020B0609020204030204" charset="0"/>
                          <a:ea typeface="宋体" panose="02010600030101010101" pitchFamily="2" charset="-122"/>
                          <a:cs typeface="宋体" panose="02010600030101010101" pitchFamily="2" charset="-122"/>
                        </a:rPr>
                        <a:t>方法</a:t>
                      </a:r>
                      <a:endParaRPr lang="zh-CN" altLang="en-US" sz="1600" b="1" u="none">
                        <a:latin typeface="Consolas" panose="020B06090202040302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ctr">
                        <a:buNone/>
                      </a:pPr>
                      <a:r>
                        <a:rPr lang="zh-CN" altLang="en-US" sz="1600" b="1" u="none">
                          <a:latin typeface="Consolas" panose="020B0609020204030204" charset="0"/>
                          <a:ea typeface="宋体" panose="02010600030101010101" pitchFamily="2" charset="-122"/>
                          <a:cs typeface="宋体" panose="02010600030101010101" pitchFamily="2" charset="-122"/>
                        </a:rPr>
                        <a:t>功能说明</a:t>
                      </a:r>
                      <a:endParaRPr lang="zh-CN" altLang="en-US" sz="1600" b="1" u="none">
                        <a:latin typeface="Consolas" panose="020B06090202040302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9560">
                <a:tc>
                  <a:txBody>
                    <a:bodyPr/>
                    <a:p>
                      <a:pPr marL="0" indent="0" algn="l">
                        <a:buNone/>
                      </a:pPr>
                      <a:r>
                        <a:rPr lang="en-US" altLang="zh-CN" sz="1600" b="0" u="none">
                          <a:latin typeface="Consolas" panose="020B0609020204030204" charset="0"/>
                          <a:ea typeface="宋体" panose="02010600030101010101" pitchFamily="2" charset="-122"/>
                          <a:cs typeface="Consolas" panose="020B0609020204030204" charset="0"/>
                        </a:rPr>
                        <a:t>compile(pattern[, flags])</a:t>
                      </a:r>
                      <a:endParaRPr lang="en-US" altLang="zh-CN"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宋体" panose="02010600030101010101" pitchFamily="2" charset="-122"/>
                        </a:rPr>
                        <a:t>编译正则表达式</a:t>
                      </a:r>
                      <a:r>
                        <a:rPr lang="zh-CN" altLang="en-US" sz="1600" b="0" u="none">
                          <a:latin typeface="Consolas" panose="020B0609020204030204" charset="0"/>
                          <a:ea typeface="宋体" panose="02010600030101010101" pitchFamily="2" charset="-122"/>
                          <a:cs typeface="宋体" panose="02010600030101010101" pitchFamily="2" charset="-122"/>
                        </a:rPr>
                        <a:t>模式，创建模式对象</a:t>
                      </a:r>
                      <a:endParaRPr lang="zh-CN" altLang="en-US" sz="1600" b="0" u="none">
                        <a:latin typeface="Consolas" panose="020B0609020204030204" charset="0"/>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925">
                <a:tc>
                  <a:txBody>
                    <a:bodyPr/>
                    <a:p>
                      <a:pPr marL="0" indent="0" algn="l">
                        <a:buNone/>
                      </a:pPr>
                      <a:r>
                        <a:rPr lang="en-US" altLang="zh-CN" sz="1600" b="0" u="none">
                          <a:latin typeface="Consolas" panose="020B0609020204030204" charset="0"/>
                          <a:ea typeface="宋体" panose="02010600030101010101" pitchFamily="2" charset="-122"/>
                          <a:cs typeface="Consolas" panose="020B0609020204030204" charset="0"/>
                        </a:rPr>
                        <a:t>escape(string)</a:t>
                      </a:r>
                      <a:endParaRPr lang="en-US" altLang="zh-CN"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宋体" panose="02010600030101010101" pitchFamily="2" charset="-122"/>
                        </a:rPr>
                        <a:t>将字符串中所有特殊正则表达式字符转义</a:t>
                      </a:r>
                      <a:endParaRPr lang="zh-CN" altLang="en-US" sz="1600" b="0" u="none">
                        <a:latin typeface="Consolas" panose="020B0609020204030204" charset="0"/>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925">
                <a:tc>
                  <a:txBody>
                    <a:bodyPr/>
                    <a:p>
                      <a:pPr marL="0" indent="0" algn="l">
                        <a:buNone/>
                      </a:pPr>
                      <a:r>
                        <a:rPr lang="en-US" altLang="zh-CN" sz="1600" b="0" u="none">
                          <a:latin typeface="Consolas" panose="020B0609020204030204" charset="0"/>
                          <a:ea typeface="宋体" panose="02010600030101010101" pitchFamily="2" charset="-122"/>
                          <a:cs typeface="Consolas" panose="020B0609020204030204" charset="0"/>
                        </a:rPr>
                        <a:t>findall(pattern, string[, flags])</a:t>
                      </a:r>
                      <a:endParaRPr lang="en-US" altLang="zh-CN"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宋体" panose="02010600030101010101" pitchFamily="2" charset="-122"/>
                        </a:rPr>
                        <a:t>返回包含字符串中所有与给定模式匹配的项的列表</a:t>
                      </a:r>
                      <a:endParaRPr lang="zh-CN" altLang="en-US" sz="1600" b="0" u="none">
                        <a:latin typeface="Consolas" panose="020B0609020204030204" charset="0"/>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9560">
                <a:tc>
                  <a:txBody>
                    <a:bodyPr/>
                    <a:p>
                      <a:pPr marL="0" indent="0" algn="l">
                        <a:buNone/>
                      </a:pPr>
                      <a:r>
                        <a:rPr lang="en-US" altLang="zh-CN" sz="1600" b="0" u="none">
                          <a:latin typeface="Consolas" panose="020B0609020204030204" charset="0"/>
                          <a:ea typeface="宋体" panose="02010600030101010101" pitchFamily="2" charset="-122"/>
                          <a:cs typeface="Consolas" panose="020B0609020204030204" charset="0"/>
                        </a:rPr>
                        <a:t>finditer(pattern, string, flags=0)</a:t>
                      </a:r>
                      <a:endParaRPr lang="en-US" altLang="zh-CN"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返回包含所有匹配项的迭代对象，其中每个匹配项都是</a:t>
                      </a:r>
                      <a:r>
                        <a:rPr lang="en-US" altLang="zh-CN" sz="1600" b="0" u="none">
                          <a:latin typeface="Consolas" panose="020B0609020204030204" charset="0"/>
                          <a:ea typeface="宋体" panose="02010600030101010101" pitchFamily="2" charset="-122"/>
                          <a:cs typeface="Consolas" panose="020B0609020204030204" charset="0"/>
                        </a:rPr>
                        <a:t>M</a:t>
                      </a:r>
                      <a:r>
                        <a:rPr lang="en-US" altLang="zh-CN" sz="1600" b="0" u="none">
                          <a:latin typeface="Consolas" panose="020B0609020204030204" charset="0"/>
                          <a:ea typeface="宋体" panose="02010600030101010101" pitchFamily="2" charset="-122"/>
                          <a:cs typeface="Consolas" panose="020B0609020204030204" charset="0"/>
                        </a:rPr>
                        <a:t>atch</a:t>
                      </a:r>
                      <a:r>
                        <a:rPr lang="zh-CN" altLang="en-US" sz="1600" b="0" u="none">
                          <a:latin typeface="Consolas" panose="020B0609020204030204" charset="0"/>
                          <a:ea typeface="宋体" panose="02010600030101010101" pitchFamily="2" charset="-122"/>
                          <a:cs typeface="Consolas" panose="020B0609020204030204" charset="0"/>
                        </a:rPr>
                        <a:t>对象</a:t>
                      </a:r>
                      <a:endParaRPr lang="en-US"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925">
                <a:tc>
                  <a:txBody>
                    <a:bodyPr/>
                    <a:p>
                      <a:pPr marL="0" indent="0" algn="l">
                        <a:buNone/>
                      </a:pPr>
                      <a:r>
                        <a:rPr lang="en-US" altLang="zh-CN" sz="1600" b="0" u="none">
                          <a:latin typeface="Consolas" panose="020B0609020204030204" charset="0"/>
                          <a:ea typeface="宋体" panose="02010600030101010101" pitchFamily="2" charset="-122"/>
                          <a:cs typeface="Consolas" panose="020B0609020204030204" charset="0"/>
                        </a:rPr>
                        <a:t>fullmatch(pattern, string, flags=0)</a:t>
                      </a:r>
                      <a:endParaRPr lang="en-US" altLang="zh-CN"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尝试把模式作用于整个字符串，返回</a:t>
                      </a:r>
                      <a:r>
                        <a:rPr lang="en-US" altLang="zh-CN" sz="1600" b="0" u="none">
                          <a:latin typeface="Consolas" panose="020B0609020204030204" charset="0"/>
                          <a:ea typeface="宋体" panose="02010600030101010101" pitchFamily="2" charset="-122"/>
                          <a:cs typeface="Consolas" panose="020B0609020204030204" charset="0"/>
                        </a:rPr>
                        <a:t>Match</a:t>
                      </a:r>
                      <a:r>
                        <a:rPr lang="zh-CN" altLang="en-US" sz="1600" b="0" u="none">
                          <a:latin typeface="Consolas" panose="020B0609020204030204" charset="0"/>
                          <a:ea typeface="宋体" panose="02010600030101010101" pitchFamily="2" charset="-122"/>
                          <a:cs typeface="Consolas" panose="020B0609020204030204" charset="0"/>
                        </a:rPr>
                        <a:t>对象或</a:t>
                      </a:r>
                      <a:r>
                        <a:rPr lang="en-US" altLang="zh-CN" sz="1600" b="0" u="none">
                          <a:latin typeface="Consolas" panose="020B0609020204030204" charset="0"/>
                          <a:ea typeface="宋体" panose="02010600030101010101" pitchFamily="2" charset="-122"/>
                          <a:cs typeface="Consolas" panose="020B0609020204030204" charset="0"/>
                        </a:rPr>
                        <a:t>None</a:t>
                      </a:r>
                      <a:endParaRPr lang="en-US"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925">
                <a:tc>
                  <a:txBody>
                    <a:bodyPr/>
                    <a:p>
                      <a:pPr marL="0" indent="0" algn="l">
                        <a:buNone/>
                      </a:pPr>
                      <a:r>
                        <a:rPr lang="en-US" altLang="zh-CN" sz="1600" b="0" u="none">
                          <a:latin typeface="Consolas" panose="020B0609020204030204" charset="0"/>
                          <a:ea typeface="宋体" panose="02010600030101010101" pitchFamily="2" charset="-122"/>
                          <a:cs typeface="Consolas" panose="020B0609020204030204" charset="0"/>
                        </a:rPr>
                        <a:t>match(pattern, string[, flags])</a:t>
                      </a:r>
                      <a:endParaRPr lang="en-US" altLang="zh-CN"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从字符串</a:t>
                      </a:r>
                      <a:r>
                        <a:rPr lang="zh-CN" altLang="en-US" sz="1600" b="0" u="none">
                          <a:solidFill>
                            <a:srgbClr val="FF0000"/>
                          </a:solidFill>
                          <a:latin typeface="Consolas" panose="020B0609020204030204" charset="0"/>
                          <a:ea typeface="宋体" panose="02010600030101010101" pitchFamily="2" charset="-122"/>
                          <a:cs typeface="Consolas" panose="020B0609020204030204" charset="0"/>
                        </a:rPr>
                        <a:t>开始处</a:t>
                      </a:r>
                      <a:r>
                        <a:rPr lang="zh-CN" altLang="en-US" sz="1600" b="0" u="none">
                          <a:latin typeface="Consolas" panose="020B0609020204030204" charset="0"/>
                          <a:ea typeface="宋体" panose="02010600030101010101" pitchFamily="2" charset="-122"/>
                          <a:cs typeface="Consolas" panose="020B0609020204030204" charset="0"/>
                        </a:rPr>
                        <a:t>进行匹配，返回</a:t>
                      </a:r>
                      <a:r>
                        <a:rPr lang="en-US" altLang="zh-CN" sz="1600" b="0" u="none">
                          <a:latin typeface="Consolas" panose="020B0609020204030204" charset="0"/>
                          <a:ea typeface="宋体" panose="02010600030101010101" pitchFamily="2" charset="-122"/>
                          <a:cs typeface="Consolas" panose="020B0609020204030204" charset="0"/>
                        </a:rPr>
                        <a:t>Match</a:t>
                      </a:r>
                      <a:r>
                        <a:rPr lang="zh-CN" altLang="en-US" sz="1600" b="0" u="none">
                          <a:latin typeface="Consolas" panose="020B0609020204030204" charset="0"/>
                          <a:ea typeface="宋体" panose="02010600030101010101" pitchFamily="2" charset="-122"/>
                          <a:cs typeface="Consolas" panose="020B0609020204030204" charset="0"/>
                        </a:rPr>
                        <a:t>对象或</a:t>
                      </a:r>
                      <a:r>
                        <a:rPr lang="en-US" altLang="zh-CN" sz="1600" b="0" u="none">
                          <a:latin typeface="Consolas" panose="020B0609020204030204" charset="0"/>
                          <a:ea typeface="宋体" panose="02010600030101010101" pitchFamily="2" charset="-122"/>
                          <a:cs typeface="Consolas" panose="020B0609020204030204" charset="0"/>
                        </a:rPr>
                        <a:t>None</a:t>
                      </a:r>
                      <a:endParaRPr lang="en-US"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9560">
                <a:tc>
                  <a:txBody>
                    <a:bodyPr/>
                    <a:p>
                      <a:pPr marL="0" indent="0" algn="l">
                        <a:buNone/>
                      </a:pPr>
                      <a:r>
                        <a:rPr lang="en-US" altLang="zh-CN" sz="1600" b="0" u="none">
                          <a:latin typeface="Consolas" panose="020B0609020204030204" charset="0"/>
                          <a:ea typeface="宋体" panose="02010600030101010101" pitchFamily="2" charset="-122"/>
                          <a:cs typeface="Consolas" panose="020B0609020204030204" charset="0"/>
                        </a:rPr>
                        <a:t>purge()</a:t>
                      </a:r>
                      <a:endParaRPr lang="en-US" altLang="zh-CN"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宋体" panose="02010600030101010101" pitchFamily="2" charset="-122"/>
                        </a:rPr>
                        <a:t>清空正则表达式缓存</a:t>
                      </a:r>
                      <a:endParaRPr lang="zh-CN" altLang="en-US" sz="1600" b="0" u="none">
                        <a:latin typeface="Consolas" panose="020B0609020204030204" charset="0"/>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925">
                <a:tc>
                  <a:txBody>
                    <a:bodyPr/>
                    <a:p>
                      <a:pPr marL="0" indent="0" algn="l">
                        <a:buNone/>
                      </a:pPr>
                      <a:r>
                        <a:rPr lang="en-US" altLang="zh-CN" sz="1600" b="0" u="none">
                          <a:latin typeface="Consolas" panose="020B0609020204030204" charset="0"/>
                          <a:ea typeface="宋体" panose="02010600030101010101" pitchFamily="2" charset="-122"/>
                          <a:cs typeface="Consolas" panose="020B0609020204030204" charset="0"/>
                        </a:rPr>
                        <a:t>search(pattern, string[, flags])</a:t>
                      </a:r>
                      <a:endParaRPr lang="en-US" altLang="zh-CN"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在</a:t>
                      </a:r>
                      <a:r>
                        <a:rPr lang="zh-CN" altLang="en-US" sz="1600" b="0" u="none">
                          <a:solidFill>
                            <a:srgbClr val="FF0000"/>
                          </a:solidFill>
                          <a:latin typeface="Consolas" panose="020B0609020204030204" charset="0"/>
                          <a:ea typeface="宋体" panose="02010600030101010101" pitchFamily="2" charset="-122"/>
                          <a:cs typeface="Consolas" panose="020B0609020204030204" charset="0"/>
                        </a:rPr>
                        <a:t>整个字符串</a:t>
                      </a:r>
                      <a:r>
                        <a:rPr lang="zh-CN" altLang="en-US" sz="1600" b="0" u="none">
                          <a:latin typeface="Consolas" panose="020B0609020204030204" charset="0"/>
                          <a:ea typeface="宋体" panose="02010600030101010101" pitchFamily="2" charset="-122"/>
                          <a:cs typeface="Consolas" panose="020B0609020204030204" charset="0"/>
                        </a:rPr>
                        <a:t>中查找模式</a:t>
                      </a:r>
                      <a:r>
                        <a:rPr lang="zh-CN" altLang="en-US" sz="1600" b="0" u="none">
                          <a:latin typeface="Consolas" panose="020B0609020204030204" charset="0"/>
                          <a:ea typeface="宋体" panose="02010600030101010101" pitchFamily="2" charset="-122"/>
                          <a:cs typeface="Consolas" panose="020B0609020204030204" charset="0"/>
                        </a:rPr>
                        <a:t>匹配项，返回</a:t>
                      </a:r>
                      <a:r>
                        <a:rPr lang="en-US" altLang="zh-CN" sz="1600" b="0" u="none">
                          <a:latin typeface="Consolas" panose="020B0609020204030204" charset="0"/>
                          <a:ea typeface="宋体" panose="02010600030101010101" pitchFamily="2" charset="-122"/>
                          <a:cs typeface="Consolas" panose="020B0609020204030204" charset="0"/>
                        </a:rPr>
                        <a:t>Match</a:t>
                      </a:r>
                      <a:r>
                        <a:rPr lang="zh-CN" altLang="en-US" sz="1600" b="0" u="none">
                          <a:latin typeface="Consolas" panose="020B0609020204030204" charset="0"/>
                          <a:ea typeface="宋体" panose="02010600030101010101" pitchFamily="2" charset="-122"/>
                          <a:cs typeface="Consolas" panose="020B0609020204030204" charset="0"/>
                        </a:rPr>
                        <a:t>对象或</a:t>
                      </a:r>
                      <a:r>
                        <a:rPr lang="en-US" altLang="zh-CN" sz="1600" b="0" u="none">
                          <a:latin typeface="Consolas" panose="020B0609020204030204" charset="0"/>
                          <a:ea typeface="宋体" panose="02010600030101010101" pitchFamily="2" charset="-122"/>
                          <a:cs typeface="Consolas" panose="020B0609020204030204" charset="0"/>
                        </a:rPr>
                        <a:t>None</a:t>
                      </a:r>
                      <a:endParaRPr lang="en-US"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925">
                <a:tc>
                  <a:txBody>
                    <a:bodyPr/>
                    <a:p>
                      <a:pPr marL="0" indent="0" algn="l">
                        <a:buNone/>
                      </a:pPr>
                      <a:r>
                        <a:rPr lang="en-US" altLang="zh-CN" sz="1600" b="0" u="none">
                          <a:latin typeface="Consolas" panose="020B0609020204030204" charset="0"/>
                          <a:ea typeface="宋体" panose="02010600030101010101" pitchFamily="2" charset="-122"/>
                          <a:cs typeface="Consolas" panose="020B0609020204030204" charset="0"/>
                        </a:rPr>
                        <a:t>split(pattern, string[, maxsplit=0])</a:t>
                      </a:r>
                      <a:endParaRPr lang="en-US" altLang="zh-CN"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宋体" panose="02010600030101010101" pitchFamily="2" charset="-122"/>
                        </a:rPr>
                        <a:t>根据模式匹配项分隔字符串</a:t>
                      </a:r>
                      <a:endParaRPr lang="zh-CN" altLang="en-US" sz="1600" b="0" u="none">
                        <a:latin typeface="Consolas" panose="020B0609020204030204" charset="0"/>
                        <a:ea typeface="宋体" panose="02010600030101010101" pitchFamily="2" charset="-122"/>
                        <a:cs typeface="宋体" panose="02010600030101010101" pitchFamily="2" charset="-122"/>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8485">
                <a:tc>
                  <a:txBody>
                    <a:bodyPr/>
                    <a:p>
                      <a:pPr marL="0" indent="0" algn="l">
                        <a:buNone/>
                      </a:pPr>
                      <a:r>
                        <a:rPr lang="en-US" altLang="zh-CN" sz="1600" b="0" u="none">
                          <a:latin typeface="Consolas" panose="020B0609020204030204" charset="0"/>
                          <a:ea typeface="宋体" panose="02010600030101010101" pitchFamily="2" charset="-122"/>
                          <a:cs typeface="Consolas" panose="020B0609020204030204" charset="0"/>
                        </a:rPr>
                        <a:t>sub(pat, repl, string[, count=0])</a:t>
                      </a:r>
                      <a:endParaRPr lang="en-US" altLang="zh-CN"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将字符串中所有与</a:t>
                      </a:r>
                      <a:r>
                        <a:rPr lang="en-US" altLang="zh-CN" sz="1600" b="0" u="none">
                          <a:latin typeface="Consolas" panose="020B0609020204030204" charset="0"/>
                          <a:ea typeface="宋体" panose="02010600030101010101" pitchFamily="2" charset="-122"/>
                          <a:cs typeface="Consolas" panose="020B0609020204030204" charset="0"/>
                        </a:rPr>
                        <a:t>pat</a:t>
                      </a:r>
                      <a:r>
                        <a:rPr lang="zh-CN" altLang="en-US" sz="1600" b="0" u="none">
                          <a:latin typeface="Consolas" panose="020B0609020204030204" charset="0"/>
                          <a:ea typeface="宋体" panose="02010600030101010101" pitchFamily="2" charset="-122"/>
                          <a:cs typeface="Consolas" panose="020B0609020204030204" charset="0"/>
                        </a:rPr>
                        <a:t>匹配的项用</a:t>
                      </a:r>
                      <a:r>
                        <a:rPr lang="en-US" altLang="zh-CN" sz="1600" b="0" u="none">
                          <a:latin typeface="Consolas" panose="020B0609020204030204" charset="0"/>
                          <a:ea typeface="宋体" panose="02010600030101010101" pitchFamily="2" charset="-122"/>
                          <a:cs typeface="Consolas" panose="020B0609020204030204" charset="0"/>
                        </a:rPr>
                        <a:t>repl</a:t>
                      </a:r>
                      <a:r>
                        <a:rPr lang="zh-CN" altLang="en-US" sz="1600" b="0" u="none">
                          <a:latin typeface="Consolas" panose="020B0609020204030204" charset="0"/>
                          <a:ea typeface="宋体" panose="02010600030101010101" pitchFamily="2" charset="-122"/>
                          <a:cs typeface="Consolas" panose="020B0609020204030204" charset="0"/>
                        </a:rPr>
                        <a:t>替换或处理，返回新字符串，</a:t>
                      </a:r>
                      <a:r>
                        <a:rPr lang="en-US" altLang="zh-CN" sz="1600" b="0" u="none">
                          <a:latin typeface="Consolas" panose="020B0609020204030204" charset="0"/>
                          <a:ea typeface="宋体" panose="02010600030101010101" pitchFamily="2" charset="-122"/>
                          <a:cs typeface="Consolas" panose="020B0609020204030204" charset="0"/>
                        </a:rPr>
                        <a:t>repl</a:t>
                      </a:r>
                      <a:r>
                        <a:rPr lang="zh-CN" altLang="en-US" sz="1600" b="0" u="none">
                          <a:latin typeface="Consolas" panose="020B0609020204030204" charset="0"/>
                          <a:ea typeface="宋体" panose="02010600030101010101" pitchFamily="2" charset="-122"/>
                          <a:cs typeface="Consolas" panose="020B0609020204030204" charset="0"/>
                        </a:rPr>
                        <a:t>可以是字符串，也可以是返回字符串的可调用对象（作用于每个匹配的</a:t>
                      </a:r>
                      <a:r>
                        <a:rPr lang="en-US" altLang="zh-CN" sz="1600" b="0" u="none">
                          <a:latin typeface="Consolas" panose="020B0609020204030204" charset="0"/>
                          <a:ea typeface="宋体" panose="02010600030101010101" pitchFamily="2" charset="-122"/>
                          <a:cs typeface="Consolas" panose="020B0609020204030204" charset="0"/>
                        </a:rPr>
                        <a:t>Match</a:t>
                      </a:r>
                      <a:r>
                        <a:rPr lang="zh-CN" altLang="en-US" sz="1600" b="0" u="none">
                          <a:latin typeface="Consolas" panose="020B0609020204030204" charset="0"/>
                          <a:ea typeface="宋体" panose="02010600030101010101" pitchFamily="2" charset="-122"/>
                          <a:cs typeface="Consolas" panose="020B0609020204030204" charset="0"/>
                        </a:rPr>
                        <a:t>对象）</a:t>
                      </a:r>
                      <a:endParaRPr lang="en-US"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867410">
                <a:tc>
                  <a:txBody>
                    <a:bodyPr/>
                    <a:p>
                      <a:pPr marL="0" indent="0" algn="l">
                        <a:buNone/>
                      </a:pPr>
                      <a:r>
                        <a:rPr lang="en-US" altLang="zh-CN" sz="1600" b="0" u="none">
                          <a:latin typeface="Consolas" panose="020B0609020204030204" charset="0"/>
                          <a:ea typeface="宋体" panose="02010600030101010101" pitchFamily="2" charset="-122"/>
                          <a:cs typeface="Consolas" panose="020B0609020204030204" charset="0"/>
                        </a:rPr>
                        <a:t>subn(pat, repl, string[, count=0])</a:t>
                      </a:r>
                      <a:endParaRPr lang="en-US" altLang="zh-CN"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marL="0" indent="0" algn="l">
                        <a:buNone/>
                      </a:pPr>
                      <a:r>
                        <a:rPr lang="zh-CN" altLang="en-US" sz="1600" b="0" u="none">
                          <a:latin typeface="Consolas" panose="020B0609020204030204" charset="0"/>
                          <a:ea typeface="宋体" panose="02010600030101010101" pitchFamily="2" charset="-122"/>
                          <a:cs typeface="Consolas" panose="020B0609020204030204" charset="0"/>
                        </a:rPr>
                        <a:t>将字符串中所有</a:t>
                      </a:r>
                      <a:r>
                        <a:rPr lang="en-US" altLang="zh-CN" sz="1600" b="0" u="none">
                          <a:latin typeface="Consolas" panose="020B0609020204030204" charset="0"/>
                          <a:ea typeface="宋体" panose="02010600030101010101" pitchFamily="2" charset="-122"/>
                          <a:cs typeface="Consolas" panose="020B0609020204030204" charset="0"/>
                        </a:rPr>
                        <a:t>pat</a:t>
                      </a:r>
                      <a:r>
                        <a:rPr lang="zh-CN" altLang="en-US" sz="1600" b="0" u="none">
                          <a:latin typeface="Consolas" panose="020B0609020204030204" charset="0"/>
                          <a:ea typeface="宋体" panose="02010600030101010101" pitchFamily="2" charset="-122"/>
                          <a:cs typeface="Consolas" panose="020B0609020204030204" charset="0"/>
                        </a:rPr>
                        <a:t>的匹配项用</a:t>
                      </a:r>
                      <a:r>
                        <a:rPr lang="en-US" altLang="zh-CN" sz="1600" b="0" u="none">
                          <a:latin typeface="Consolas" panose="020B0609020204030204" charset="0"/>
                          <a:ea typeface="宋体" panose="02010600030101010101" pitchFamily="2" charset="-122"/>
                          <a:cs typeface="Consolas" panose="020B0609020204030204" charset="0"/>
                        </a:rPr>
                        <a:t>repl</a:t>
                      </a:r>
                      <a:r>
                        <a:rPr lang="zh-CN" altLang="en-US" sz="1600" b="0" u="none">
                          <a:latin typeface="Consolas" panose="020B0609020204030204" charset="0"/>
                          <a:ea typeface="宋体" panose="02010600030101010101" pitchFamily="2" charset="-122"/>
                          <a:cs typeface="Consolas" panose="020B0609020204030204" charset="0"/>
                        </a:rPr>
                        <a:t>替换，返回包含新字符串和替换次数的二元元组，</a:t>
                      </a:r>
                      <a:r>
                        <a:rPr lang="en-US" altLang="zh-CN" sz="1600" b="0" u="none">
                          <a:latin typeface="Consolas" panose="020B0609020204030204" charset="0"/>
                          <a:ea typeface="宋体" panose="02010600030101010101" pitchFamily="2" charset="-122"/>
                          <a:cs typeface="Consolas" panose="020B0609020204030204" charset="0"/>
                        </a:rPr>
                        <a:t>repl</a:t>
                      </a:r>
                      <a:r>
                        <a:rPr lang="zh-CN" altLang="en-US" sz="1600" b="0" u="none">
                          <a:latin typeface="Consolas" panose="020B0609020204030204" charset="0"/>
                          <a:ea typeface="宋体" panose="02010600030101010101" pitchFamily="2" charset="-122"/>
                          <a:cs typeface="Consolas" panose="020B0609020204030204" charset="0"/>
                        </a:rPr>
                        <a:t>可以是字符串或返回字符串的可调用对象（作用于每个匹配的</a:t>
                      </a:r>
                      <a:r>
                        <a:rPr lang="en-US" altLang="zh-CN" sz="1600" b="0" u="none">
                          <a:latin typeface="Consolas" panose="020B0609020204030204" charset="0"/>
                          <a:ea typeface="宋体" panose="02010600030101010101" pitchFamily="2" charset="-122"/>
                          <a:cs typeface="Consolas" panose="020B0609020204030204" charset="0"/>
                        </a:rPr>
                        <a:t>Match</a:t>
                      </a:r>
                      <a:r>
                        <a:rPr lang="zh-CN" altLang="en-US" sz="1600" b="0" u="none">
                          <a:latin typeface="Consolas" panose="020B0609020204030204" charset="0"/>
                          <a:ea typeface="宋体" panose="02010600030101010101" pitchFamily="2" charset="-122"/>
                          <a:cs typeface="Consolas" panose="020B0609020204030204" charset="0"/>
                        </a:rPr>
                        <a:t>对象）</a:t>
                      </a:r>
                      <a:endParaRPr lang="en-US" sz="1600" b="0" u="none">
                        <a:latin typeface="Consolas" panose="020B0609020204030204" charset="0"/>
                        <a:ea typeface="宋体" panose="02010600030101010101" pitchFamily="2" charset="-122"/>
                        <a:cs typeface="Consolas" panose="020B0609020204030204" charset="0"/>
                      </a:endParaRPr>
                    </a:p>
                  </a:txBody>
                  <a:tcPr marL="36195"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sym typeface="+mn-ea"/>
              </a:rPr>
              <a:t>8.2  使用正则表达式模块re</a:t>
            </a:r>
            <a:r>
              <a:rPr lang="zh-CN" altLang="en-US">
                <a:sym typeface="+mn-ea"/>
              </a:rPr>
              <a:t>的函数</a:t>
            </a:r>
            <a:r>
              <a:rPr lang="en-US" altLang="zh-CN">
                <a:sym typeface="+mn-ea"/>
              </a:rPr>
              <a:t>处理字符串</a:t>
            </a:r>
            <a:endParaRPr lang="zh-CN" altLang="en-US"/>
          </a:p>
        </p:txBody>
      </p:sp>
      <p:sp>
        <p:nvSpPr>
          <p:cNvPr id="3" name="内容占位符 2"/>
          <p:cNvSpPr>
            <a:spLocks noGrp="1"/>
          </p:cNvSpPr>
          <p:nvPr>
            <p:ph idx="1"/>
          </p:nvPr>
        </p:nvSpPr>
        <p:spPr>
          <a:xfrm>
            <a:off x="838200" y="1321435"/>
            <a:ext cx="11028680" cy="4639945"/>
          </a:xfrm>
        </p:spPr>
        <p:txBody>
          <a:bodyPr>
            <a:normAutofit lnSpcReduction="10000"/>
          </a:bodyPr>
          <a:p>
            <a:pPr fontAlgn="auto">
              <a:lnSpc>
                <a:spcPct val="150000"/>
              </a:lnSpc>
              <a:spcBef>
                <a:spcPts val="400"/>
              </a:spcBef>
            </a:pPr>
            <a:r>
              <a:rPr lang="zh-CN" altLang="en-US" sz="2400">
                <a:latin typeface="Consolas" panose="020B0609020204030204" charset="0"/>
                <a:cs typeface="Consolas" panose="020B0609020204030204" charset="0"/>
              </a:rPr>
              <a:t>其中函数参数“flags”的值可以是下面几个</a:t>
            </a:r>
            <a:r>
              <a:rPr lang="zh-CN" altLang="en-US" sz="2400">
                <a:latin typeface="Consolas" panose="020B0609020204030204" charset="0"/>
                <a:cs typeface="Consolas" panose="020B0609020204030204" charset="0"/>
                <a:sym typeface="+mn-ea"/>
              </a:rPr>
              <a:t>的不同组合（使用“|”进行组合）：</a:t>
            </a:r>
            <a:endParaRPr lang="zh-CN" altLang="en-US" sz="2400">
              <a:latin typeface="Consolas" panose="020B0609020204030204" charset="0"/>
              <a:cs typeface="Consolas" panose="020B0609020204030204" charset="0"/>
            </a:endParaRPr>
          </a:p>
          <a:p>
            <a:pPr fontAlgn="auto">
              <a:lnSpc>
                <a:spcPct val="150000"/>
              </a:lnSpc>
              <a:spcBef>
                <a:spcPts val="400"/>
              </a:spcBef>
              <a:buFont typeface="Wingdings" panose="05000000000000000000" charset="0"/>
              <a:buChar char=""/>
            </a:pPr>
            <a:r>
              <a:rPr lang="zh-CN" altLang="en-US" sz="2000">
                <a:latin typeface="Consolas" panose="020B0609020204030204" charset="0"/>
                <a:cs typeface="Consolas" panose="020B0609020204030204" charset="0"/>
              </a:rPr>
              <a:t>re.I（忽略大小写）</a:t>
            </a:r>
            <a:endParaRPr lang="zh-CN" altLang="en-US" sz="2000">
              <a:latin typeface="Consolas" panose="020B0609020204030204" charset="0"/>
              <a:cs typeface="Consolas" panose="020B0609020204030204" charset="0"/>
            </a:endParaRPr>
          </a:p>
          <a:p>
            <a:pPr fontAlgn="auto">
              <a:lnSpc>
                <a:spcPct val="150000"/>
              </a:lnSpc>
              <a:spcBef>
                <a:spcPts val="400"/>
              </a:spcBef>
              <a:buFont typeface="Wingdings" panose="05000000000000000000" charset="0"/>
              <a:buChar char=""/>
            </a:pPr>
            <a:r>
              <a:rPr lang="zh-CN" altLang="en-US" sz="2000">
                <a:latin typeface="Consolas" panose="020B0609020204030204" charset="0"/>
                <a:cs typeface="Consolas" panose="020B0609020204030204" charset="0"/>
              </a:rPr>
              <a:t>re.L（支持本地字符集的字符）</a:t>
            </a:r>
            <a:endParaRPr lang="zh-CN" altLang="en-US" sz="2000">
              <a:latin typeface="Consolas" panose="020B0609020204030204" charset="0"/>
              <a:cs typeface="Consolas" panose="020B0609020204030204" charset="0"/>
            </a:endParaRPr>
          </a:p>
          <a:p>
            <a:pPr fontAlgn="auto">
              <a:lnSpc>
                <a:spcPct val="150000"/>
              </a:lnSpc>
              <a:spcBef>
                <a:spcPts val="400"/>
              </a:spcBef>
              <a:buFont typeface="Wingdings" panose="05000000000000000000" charset="0"/>
              <a:buChar char=""/>
            </a:pPr>
            <a:r>
              <a:rPr lang="zh-CN" altLang="en-US" sz="2000">
                <a:latin typeface="Consolas" panose="020B0609020204030204" charset="0"/>
                <a:cs typeface="Consolas" panose="020B0609020204030204" charset="0"/>
              </a:rPr>
              <a:t>re.M（多行匹配模式）</a:t>
            </a:r>
            <a:endParaRPr lang="zh-CN" altLang="en-US" sz="2000">
              <a:latin typeface="Consolas" panose="020B0609020204030204" charset="0"/>
              <a:cs typeface="Consolas" panose="020B0609020204030204" charset="0"/>
            </a:endParaRPr>
          </a:p>
          <a:p>
            <a:pPr fontAlgn="auto">
              <a:lnSpc>
                <a:spcPct val="150000"/>
              </a:lnSpc>
              <a:spcBef>
                <a:spcPts val="400"/>
              </a:spcBef>
              <a:buFont typeface="Wingdings" panose="05000000000000000000" charset="0"/>
              <a:buChar char=""/>
            </a:pPr>
            <a:r>
              <a:rPr lang="zh-CN" altLang="en-US" sz="2000">
                <a:latin typeface="Consolas" panose="020B0609020204030204" charset="0"/>
                <a:cs typeface="Consolas" panose="020B0609020204030204" charset="0"/>
              </a:rPr>
              <a:t>re.S（使元字符“.”匹配任意字符，包括换行符）</a:t>
            </a:r>
            <a:endParaRPr lang="zh-CN" altLang="en-US" sz="2000">
              <a:latin typeface="Consolas" panose="020B0609020204030204" charset="0"/>
              <a:cs typeface="Consolas" panose="020B0609020204030204" charset="0"/>
            </a:endParaRPr>
          </a:p>
          <a:p>
            <a:pPr fontAlgn="auto">
              <a:lnSpc>
                <a:spcPct val="150000"/>
              </a:lnSpc>
              <a:spcBef>
                <a:spcPts val="400"/>
              </a:spcBef>
              <a:buFont typeface="Wingdings" panose="05000000000000000000" charset="0"/>
              <a:buChar char=""/>
            </a:pPr>
            <a:r>
              <a:rPr lang="zh-CN" altLang="en-US" sz="2000">
                <a:latin typeface="Consolas" panose="020B0609020204030204" charset="0"/>
                <a:cs typeface="Consolas" panose="020B0609020204030204" charset="0"/>
              </a:rPr>
              <a:t>re.U（匹配Unicode字符）</a:t>
            </a:r>
            <a:endParaRPr lang="zh-CN" altLang="en-US" sz="2000">
              <a:latin typeface="Consolas" panose="020B0609020204030204" charset="0"/>
              <a:cs typeface="Consolas" panose="020B0609020204030204" charset="0"/>
            </a:endParaRPr>
          </a:p>
          <a:p>
            <a:pPr fontAlgn="auto">
              <a:lnSpc>
                <a:spcPct val="150000"/>
              </a:lnSpc>
              <a:spcBef>
                <a:spcPts val="400"/>
              </a:spcBef>
              <a:buFont typeface="Wingdings" panose="05000000000000000000" charset="0"/>
              <a:buChar char=""/>
            </a:pPr>
            <a:r>
              <a:rPr lang="zh-CN" altLang="en-US" sz="2000">
                <a:latin typeface="Consolas" panose="020B0609020204030204" charset="0"/>
                <a:cs typeface="Consolas" panose="020B0609020204030204" charset="0"/>
              </a:rPr>
              <a:t>re.X（忽略模式中的空格，并可以使用#注释）</a:t>
            </a:r>
            <a:endParaRPr lang="zh-CN" altLang="en-US" sz="20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8.2  使用正则表达式模块re</a:t>
            </a:r>
            <a:r>
              <a:rPr lang="zh-CN" altLang="en-US">
                <a:sym typeface="+mn-ea"/>
              </a:rPr>
              <a:t>的函数</a:t>
            </a:r>
            <a:r>
              <a:rPr lang="en-US" altLang="zh-CN">
                <a:sym typeface="+mn-ea"/>
              </a:rPr>
              <a:t>处理字符串</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103426" name="文本占位符 53250"/>
          <p:cNvSpPr>
            <a:spLocks noGrp="1"/>
          </p:cNvSpPr>
          <p:nvPr>
            <p:ph idx="1"/>
          </p:nvPr>
        </p:nvSpPr>
        <p:spPr/>
        <p:txBody>
          <a:bodyPr anchor="t">
            <a:normAutofit lnSpcReduction="10000"/>
          </a:bodyPr>
          <a:p>
            <a:pPr defTabSz="914400">
              <a:lnSpc>
                <a:spcPct val="100000"/>
              </a:lnSpc>
              <a:spcBef>
                <a:spcPts val="600"/>
              </a:spcBef>
              <a:buSzPct val="70000"/>
              <a:buFont typeface="Wingdings" panose="05000000000000000000" pitchFamily="2" charset="2"/>
              <a:buNone/>
            </a:pPr>
            <a:r>
              <a:rPr lang="en-US" altLang="zh-CN" sz="2000">
                <a:latin typeface="Consolas" panose="020B0609020204030204" charset="0"/>
              </a:rPr>
              <a:t>&gt;&gt;&gt; import re                            # 导入re模块</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latin typeface="Consolas" panose="020B0609020204030204" charset="0"/>
              </a:rPr>
              <a:t>&gt;&gt;&gt; text = 'alpha. beta....gamma delta'  # 测试用的字符串</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latin typeface="Consolas" panose="020B0609020204030204" charset="0"/>
              </a:rPr>
              <a:t>&gt;&gt;&gt; re.split('[\. ]+', text)             # 使用指定字符作为分隔符进行分隔</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latin typeface="Consolas" panose="020B0609020204030204" charset="0"/>
              </a:rPr>
              <a:t>                                         # </a:t>
            </a:r>
            <a:r>
              <a:rPr lang="zh-CN" altLang="en-US" sz="2000">
                <a:latin typeface="Consolas" panose="020B0609020204030204" charset="0"/>
              </a:rPr>
              <a:t>反括号中的每个字符都表示字面值</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latin typeface="Consolas" panose="020B0609020204030204" charset="0"/>
              </a:rPr>
              <a:t>                                         # </a:t>
            </a:r>
            <a:r>
              <a:rPr lang="zh-CN" altLang="en-US" sz="2000">
                <a:latin typeface="Consolas" panose="020B0609020204030204" charset="0"/>
              </a:rPr>
              <a:t>在方括号中圆点前可以不加反斜线</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solidFill>
                  <a:srgbClr val="00B0F0"/>
                </a:solidFill>
                <a:latin typeface="Consolas" panose="020B0609020204030204" charset="0"/>
              </a:rPr>
              <a:t>['alpha', 'beta', 'gamma', 'delta']</a:t>
            </a:r>
            <a:endParaRPr lang="en-US" altLang="zh-CN" sz="2000">
              <a:solidFill>
                <a:srgbClr val="00B0F0"/>
              </a:solidFill>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latin typeface="Consolas" panose="020B0609020204030204" charset="0"/>
              </a:rPr>
              <a:t>&gt;&gt;&gt; re.split('[\. ]+', text, maxsplit=2) # 最多分隔2次</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solidFill>
                  <a:srgbClr val="00B0F0"/>
                </a:solidFill>
                <a:latin typeface="Consolas" panose="020B0609020204030204" charset="0"/>
              </a:rPr>
              <a:t>['alpha', 'beta', 'gamma delta']</a:t>
            </a:r>
            <a:endParaRPr lang="en-US" altLang="zh-CN" sz="2000">
              <a:solidFill>
                <a:srgbClr val="00B0F0"/>
              </a:solidFill>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latin typeface="Consolas" panose="020B0609020204030204" charset="0"/>
              </a:rPr>
              <a:t>&gt;&gt;&gt; re.split('[\. ]+', text, maxsplit=1) # 最多分隔1次</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solidFill>
                  <a:srgbClr val="00B0F0"/>
                </a:solidFill>
                <a:latin typeface="Consolas" panose="020B0609020204030204" charset="0"/>
              </a:rPr>
              <a:t>['alpha', 'beta....gamma delta']</a:t>
            </a:r>
            <a:endParaRPr lang="en-US" altLang="zh-CN" sz="2000">
              <a:solidFill>
                <a:srgbClr val="00B0F0"/>
              </a:solidFill>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latin typeface="Consolas" panose="020B0609020204030204" charset="0"/>
              </a:rPr>
              <a:t>&gt;&gt;&gt; pat = '[a-zA-Z]+'</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latin typeface="Consolas" panose="020B0609020204030204" charset="0"/>
              </a:rPr>
              <a:t>&gt;&gt;&gt; re.findall(pat, text)                # 查找</a:t>
            </a:r>
            <a:r>
              <a:rPr lang="zh-CN" altLang="en-US" sz="2000">
                <a:latin typeface="Consolas" panose="020B0609020204030204" charset="0"/>
              </a:rPr>
              <a:t>连续的字母组合</a:t>
            </a:r>
            <a:endParaRPr lang="en-US" altLang="zh-CN" sz="200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zh-CN" sz="2000">
                <a:solidFill>
                  <a:srgbClr val="00B0F0"/>
                </a:solidFill>
                <a:latin typeface="Consolas" panose="020B0609020204030204" charset="0"/>
              </a:rPr>
              <a:t>['alpha', 'beta', 'gamma', 'delta']</a:t>
            </a:r>
            <a:endParaRPr lang="en-US" altLang="zh-CN" sz="2000">
              <a:solidFill>
                <a:srgbClr val="00B0F0"/>
              </a:solidFill>
              <a:latin typeface="Consolas" panose="020B060902020403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8.2  使用正则表达式模块re</a:t>
            </a:r>
            <a:r>
              <a:rPr lang="zh-CN" altLang="en-US">
                <a:sym typeface="+mn-ea"/>
              </a:rPr>
              <a:t>的函数</a:t>
            </a:r>
            <a:r>
              <a:rPr lang="en-US" altLang="zh-CN">
                <a:sym typeface="+mn-ea"/>
              </a:rPr>
              <a:t>处理字符串</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104450" name="文本占位符 54274"/>
          <p:cNvSpPr>
            <a:spLocks noGrp="1"/>
          </p:cNvSpPr>
          <p:nvPr>
            <p:ph idx="1"/>
          </p:nvPr>
        </p:nvSpPr>
        <p:spPr/>
        <p:txBody>
          <a:bodyPr anchor="t">
            <a:noAutofit/>
          </a:bodyPr>
          <a:p>
            <a:pPr marL="1905" indent="-1905" fontAlgn="auto">
              <a:lnSpc>
                <a:spcPct val="100000"/>
              </a:lnSpc>
              <a:spcBef>
                <a:spcPts val="0"/>
              </a:spcBef>
              <a:buNone/>
            </a:pPr>
            <a:r>
              <a:rPr lang="en-US" altLang="zh-CN" sz="2000">
                <a:latin typeface="Consolas" panose="020B0609020204030204" charset="0"/>
              </a:rPr>
              <a:t>&gt;&gt;&gt; pat = '{name}'</a:t>
            </a:r>
            <a:endParaRPr lang="en-US" altLang="zh-CN" sz="2000">
              <a:latin typeface="Consolas" panose="020B0609020204030204" charset="0"/>
            </a:endParaRPr>
          </a:p>
          <a:p>
            <a:pPr marL="1905" indent="-1905" fontAlgn="auto">
              <a:lnSpc>
                <a:spcPct val="100000"/>
              </a:lnSpc>
              <a:spcBef>
                <a:spcPts val="0"/>
              </a:spcBef>
              <a:buNone/>
            </a:pPr>
            <a:r>
              <a:rPr lang="en-US" altLang="zh-CN" sz="2000">
                <a:latin typeface="Consolas" panose="020B0609020204030204" charset="0"/>
              </a:rPr>
              <a:t>&gt;&gt;&gt; text = 'Dear {name}...'</a:t>
            </a:r>
            <a:endParaRPr lang="en-US" altLang="zh-CN" sz="2000">
              <a:latin typeface="Consolas" panose="020B0609020204030204" charset="0"/>
            </a:endParaRPr>
          </a:p>
          <a:p>
            <a:pPr marL="1905" indent="-1905" fontAlgn="auto">
              <a:lnSpc>
                <a:spcPct val="100000"/>
              </a:lnSpc>
              <a:spcBef>
                <a:spcPts val="0"/>
              </a:spcBef>
              <a:buNone/>
            </a:pPr>
            <a:r>
              <a:rPr lang="en-US" altLang="zh-CN" sz="2000">
                <a:latin typeface="Consolas" panose="020B0609020204030204" charset="0"/>
              </a:rPr>
              <a:t>&gt;&gt;&gt; re.sub(pat, 'Mr.Dong', text)        # 字符串替换</a:t>
            </a:r>
            <a:endParaRPr lang="en-US" altLang="zh-CN" sz="2000">
              <a:latin typeface="Consolas" panose="020B0609020204030204" charset="0"/>
            </a:endParaRPr>
          </a:p>
          <a:p>
            <a:pPr marL="1905" indent="-1905" fontAlgn="auto">
              <a:lnSpc>
                <a:spcPct val="100000"/>
              </a:lnSpc>
              <a:spcBef>
                <a:spcPts val="0"/>
              </a:spcBef>
              <a:buNone/>
            </a:pPr>
            <a:r>
              <a:rPr lang="en-US" altLang="zh-CN" sz="2000">
                <a:solidFill>
                  <a:srgbClr val="00B0F0"/>
                </a:solidFill>
                <a:latin typeface="Consolas" panose="020B0609020204030204" charset="0"/>
              </a:rPr>
              <a:t>'Dear Mr.Dong...'</a:t>
            </a:r>
            <a:endParaRPr lang="en-US" altLang="zh-CN" sz="2000">
              <a:solidFill>
                <a:srgbClr val="00B0F0"/>
              </a:solidFill>
              <a:latin typeface="Consolas" panose="020B0609020204030204" charset="0"/>
            </a:endParaRPr>
          </a:p>
          <a:p>
            <a:pPr marL="1905" indent="-1905" fontAlgn="auto">
              <a:lnSpc>
                <a:spcPct val="100000"/>
              </a:lnSpc>
              <a:spcBef>
                <a:spcPts val="0"/>
              </a:spcBef>
              <a:buNone/>
            </a:pPr>
            <a:r>
              <a:rPr lang="en-US" altLang="zh-CN" sz="2000">
                <a:latin typeface="Consolas" panose="020B0609020204030204" charset="0"/>
              </a:rPr>
              <a:t>&gt;&gt;&gt; s = 'a s d'</a:t>
            </a:r>
            <a:endParaRPr lang="en-US" altLang="zh-CN" sz="2000">
              <a:latin typeface="Consolas" panose="020B0609020204030204" charset="0"/>
            </a:endParaRPr>
          </a:p>
          <a:p>
            <a:pPr marL="1905" indent="-1905" fontAlgn="auto">
              <a:lnSpc>
                <a:spcPct val="100000"/>
              </a:lnSpc>
              <a:spcBef>
                <a:spcPts val="0"/>
              </a:spcBef>
              <a:buNone/>
            </a:pPr>
            <a:r>
              <a:rPr lang="en-US" altLang="zh-CN" sz="2000">
                <a:latin typeface="Consolas" panose="020B0609020204030204" charset="0"/>
              </a:rPr>
              <a:t>&gt;&gt;&gt; re.sub('a|s|d', 'good', s)          # 字符串替换</a:t>
            </a:r>
            <a:endParaRPr lang="en-US" altLang="zh-CN" sz="2000">
              <a:latin typeface="Consolas" panose="020B0609020204030204" charset="0"/>
            </a:endParaRPr>
          </a:p>
          <a:p>
            <a:pPr marL="1905" indent="-1905" fontAlgn="auto">
              <a:lnSpc>
                <a:spcPct val="100000"/>
              </a:lnSpc>
              <a:spcBef>
                <a:spcPts val="0"/>
              </a:spcBef>
              <a:buNone/>
            </a:pPr>
            <a:r>
              <a:rPr lang="en-US" altLang="zh-CN" sz="2000">
                <a:solidFill>
                  <a:srgbClr val="00B0F0"/>
                </a:solidFill>
                <a:latin typeface="Consolas" panose="020B0609020204030204" charset="0"/>
              </a:rPr>
              <a:t>'good good good'</a:t>
            </a:r>
            <a:endParaRPr lang="en-US" altLang="zh-CN" sz="2000">
              <a:solidFill>
                <a:srgbClr val="00B0F0"/>
              </a:solidFill>
              <a:latin typeface="Consolas" panose="020B0609020204030204" charset="0"/>
            </a:endParaRPr>
          </a:p>
          <a:p>
            <a:pPr marL="1905" indent="-1905" fontAlgn="auto">
              <a:lnSpc>
                <a:spcPct val="100000"/>
              </a:lnSpc>
              <a:spcBef>
                <a:spcPts val="0"/>
              </a:spcBef>
              <a:buNone/>
            </a:pPr>
            <a:r>
              <a:rPr lang="en-US" altLang="zh-CN" sz="2000">
                <a:latin typeface="Consolas" panose="020B0609020204030204" charset="0"/>
              </a:rPr>
              <a:t>&gt;&gt;&gt; s = "It's a very good good idea"</a:t>
            </a:r>
            <a:endParaRPr lang="en-US" altLang="zh-CN" sz="2000">
              <a:latin typeface="Consolas" panose="020B0609020204030204" charset="0"/>
            </a:endParaRPr>
          </a:p>
          <a:p>
            <a:pPr marL="1905" indent="-1905" fontAlgn="auto">
              <a:lnSpc>
                <a:spcPct val="100000"/>
              </a:lnSpc>
              <a:spcBef>
                <a:spcPts val="0"/>
              </a:spcBef>
              <a:buNone/>
            </a:pPr>
            <a:r>
              <a:rPr lang="en-US" altLang="zh-CN" sz="2000">
                <a:latin typeface="Consolas" panose="020B0609020204030204" charset="0"/>
              </a:rPr>
              <a:t>&gt;&gt;&gt; re.sub(r'(\b\w+) \1', r'\1', s)     # 处理连续的重复单词</a:t>
            </a:r>
            <a:endParaRPr lang="en-US" altLang="zh-CN" sz="2000">
              <a:latin typeface="Consolas" panose="020B0609020204030204" charset="0"/>
            </a:endParaRPr>
          </a:p>
          <a:p>
            <a:pPr marL="1905" indent="-1905" fontAlgn="auto">
              <a:lnSpc>
                <a:spcPct val="100000"/>
              </a:lnSpc>
              <a:spcBef>
                <a:spcPts val="0"/>
              </a:spcBef>
              <a:buNone/>
            </a:pPr>
            <a:r>
              <a:rPr lang="en-US" altLang="zh-CN" sz="2000">
                <a:solidFill>
                  <a:srgbClr val="00B0F0"/>
                </a:solidFill>
                <a:latin typeface="Consolas" panose="020B0609020204030204" charset="0"/>
              </a:rPr>
              <a:t>"It's a very good idea"</a:t>
            </a:r>
            <a:endParaRPr lang="en-US" altLang="zh-CN" sz="2000">
              <a:solidFill>
                <a:srgbClr val="00B0F0"/>
              </a:solidFill>
              <a:latin typeface="Consolas" panose="020B0609020204030204" charset="0"/>
            </a:endParaRPr>
          </a:p>
          <a:p>
            <a:pPr marL="1905" indent="-1905" fontAlgn="auto">
              <a:lnSpc>
                <a:spcPct val="100000"/>
              </a:lnSpc>
              <a:spcBef>
                <a:spcPts val="0"/>
              </a:spcBef>
              <a:buNone/>
            </a:pPr>
            <a:r>
              <a:rPr lang="en-US" altLang="zh-CN" sz="2000">
                <a:latin typeface="Consolas" panose="020B0609020204030204" charset="0"/>
              </a:rPr>
              <a:t>&gt;&gt;&gt; re.sub(r'((\w+) )\1', r'\2', s)     # </a:t>
            </a:r>
            <a:r>
              <a:rPr lang="zh-CN" altLang="en-US" sz="2000">
                <a:latin typeface="Consolas" panose="020B0609020204030204" charset="0"/>
              </a:rPr>
              <a:t>这个处理结果不太理想</a:t>
            </a:r>
            <a:endParaRPr lang="en-US" altLang="zh-CN" sz="2000">
              <a:latin typeface="Consolas" panose="020B0609020204030204" charset="0"/>
            </a:endParaRPr>
          </a:p>
          <a:p>
            <a:pPr marL="1905" indent="-1905" fontAlgn="auto">
              <a:lnSpc>
                <a:spcPct val="100000"/>
              </a:lnSpc>
              <a:spcBef>
                <a:spcPts val="0"/>
              </a:spcBef>
              <a:buNone/>
            </a:pPr>
            <a:r>
              <a:rPr lang="en-US" altLang="zh-CN" sz="2000">
                <a:solidFill>
                  <a:srgbClr val="00B0F0"/>
                </a:solidFill>
                <a:latin typeface="Consolas" panose="020B0609020204030204" charset="0"/>
              </a:rPr>
              <a:t>"It's a very goodidea"</a:t>
            </a:r>
            <a:endParaRPr lang="en-US" altLang="zh-CN" sz="2000">
              <a:solidFill>
                <a:srgbClr val="00B0F0"/>
              </a:solidFill>
              <a:latin typeface="Consolas" panose="020B0609020204030204" charset="0"/>
            </a:endParaRPr>
          </a:p>
          <a:p>
            <a:pPr marL="1905" indent="-1905" fontAlgn="auto">
              <a:lnSpc>
                <a:spcPct val="100000"/>
              </a:lnSpc>
              <a:spcBef>
                <a:spcPts val="0"/>
              </a:spcBef>
              <a:buNone/>
            </a:pPr>
            <a:r>
              <a:rPr lang="en-US" altLang="zh-CN" sz="2000">
                <a:latin typeface="Consolas" panose="020B0609020204030204" charset="0"/>
              </a:rPr>
              <a:t>&gt;&gt;&gt; re.sub('a', lambda x: x.group(0).upper(), 'aaa abc abde')</a:t>
            </a:r>
            <a:endParaRPr lang="en-US" altLang="zh-CN" sz="2000">
              <a:latin typeface="Consolas" panose="020B0609020204030204" charset="0"/>
            </a:endParaRPr>
          </a:p>
          <a:p>
            <a:pPr marL="1905" indent="-1905" fontAlgn="auto">
              <a:lnSpc>
                <a:spcPct val="100000"/>
              </a:lnSpc>
              <a:spcBef>
                <a:spcPts val="0"/>
              </a:spcBef>
              <a:buNone/>
            </a:pPr>
            <a:r>
              <a:rPr lang="en-US" altLang="zh-CN" sz="2000">
                <a:latin typeface="Consolas" panose="020B0609020204030204" charset="0"/>
              </a:rPr>
              <a:t>                                        # repl</a:t>
            </a:r>
            <a:r>
              <a:rPr lang="zh-CN" altLang="en-US" sz="2000">
                <a:latin typeface="Consolas" panose="020B0609020204030204" charset="0"/>
              </a:rPr>
              <a:t>可以</a:t>
            </a:r>
            <a:r>
              <a:rPr lang="en-US" altLang="zh-CN" sz="2000">
                <a:latin typeface="Consolas" panose="020B0609020204030204" charset="0"/>
              </a:rPr>
              <a:t>为可调用对象</a:t>
            </a:r>
            <a:endParaRPr lang="en-US" altLang="zh-CN" sz="2000">
              <a:latin typeface="Consolas" panose="020B0609020204030204" charset="0"/>
            </a:endParaRPr>
          </a:p>
          <a:p>
            <a:pPr marL="1905" indent="-1905" fontAlgn="auto">
              <a:lnSpc>
                <a:spcPct val="100000"/>
              </a:lnSpc>
              <a:spcBef>
                <a:spcPts val="0"/>
              </a:spcBef>
              <a:buNone/>
            </a:pPr>
            <a:r>
              <a:rPr lang="en-US" altLang="zh-CN" sz="2000">
                <a:solidFill>
                  <a:srgbClr val="00B0F0"/>
                </a:solidFill>
                <a:latin typeface="Consolas" panose="020B0609020204030204" charset="0"/>
              </a:rPr>
              <a:t>'AAA Abc Abde'</a:t>
            </a:r>
            <a:endParaRPr lang="en-US" altLang="zh-CN" sz="2000">
              <a:solidFill>
                <a:srgbClr val="00B0F0"/>
              </a:solidFill>
              <a:latin typeface="Consolas" panose="020B0609020204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8.2  使用正则表达式模块re</a:t>
            </a:r>
            <a:r>
              <a:rPr lang="zh-CN" altLang="en-US">
                <a:sym typeface="+mn-ea"/>
              </a:rPr>
              <a:t>的函数</a:t>
            </a:r>
            <a:r>
              <a:rPr lang="en-US" altLang="zh-CN">
                <a:sym typeface="+mn-ea"/>
              </a:rPr>
              <a:t>处理字符串</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105474" name="文本占位符 55298"/>
          <p:cNvSpPr>
            <a:spLocks noGrp="1"/>
          </p:cNvSpPr>
          <p:nvPr>
            <p:ph idx="1"/>
          </p:nvPr>
        </p:nvSpPr>
        <p:spPr/>
        <p:txBody>
          <a:bodyPr anchor="t"/>
          <a:p>
            <a:pPr defTabSz="914400">
              <a:lnSpc>
                <a:spcPct val="100000"/>
              </a:lnSpc>
              <a:spcBef>
                <a:spcPts val="600"/>
              </a:spcBef>
              <a:buSzPct val="70000"/>
              <a:buFont typeface="Wingdings" panose="05000000000000000000" pitchFamily="2" charset="2"/>
              <a:buNone/>
            </a:pPr>
            <a:r>
              <a:rPr lang="en-US" altLang="x-none" sz="2000" dirty="0">
                <a:latin typeface="Consolas" panose="020B0609020204030204" charset="0"/>
              </a:rPr>
              <a:t>&gt;&gt;&gt; re.sub('[a-z]', lambda x: x.group(0).upper(), 'aaa abc abde')</a:t>
            </a:r>
            <a:endParaRPr lang="en-US" altLang="x-none" sz="2000" dirty="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x-none" sz="2000" dirty="0">
                <a:solidFill>
                  <a:srgbClr val="00B0F0"/>
                </a:solidFill>
                <a:latin typeface="Consolas" panose="020B0609020204030204" charset="0"/>
              </a:rPr>
              <a:t>'AAA ABC ABDE'</a:t>
            </a:r>
            <a:endParaRPr lang="en-US" altLang="x-none" sz="2000" dirty="0">
              <a:solidFill>
                <a:srgbClr val="00B0F0"/>
              </a:solidFill>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x-none" sz="2000" dirty="0">
                <a:latin typeface="Consolas" panose="020B0609020204030204" charset="0"/>
              </a:rPr>
              <a:t>&gt;&gt;&gt; re.sub('[a-zA-z]', lambda x: chr(ord(x.group(0))^32), 'aaa aBc abde')</a:t>
            </a:r>
            <a:endParaRPr lang="en-US" altLang="x-none" sz="2000" dirty="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x-none" sz="2000" dirty="0">
                <a:solidFill>
                  <a:srgbClr val="00B0F0"/>
                </a:solidFill>
                <a:latin typeface="Consolas" panose="020B0609020204030204" charset="0"/>
                <a:sym typeface="+mn-ea"/>
              </a:rPr>
              <a:t>'AAA AbC ABDE'</a:t>
            </a:r>
            <a:endParaRPr lang="en-US" altLang="x-none" sz="2000" dirty="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x-none" sz="2000" dirty="0">
                <a:latin typeface="Consolas" panose="020B0609020204030204" charset="0"/>
              </a:rPr>
              <a:t>&gt;&gt;&gt; re.sub('[a-zA-z]', lambda x: x.group(0).swapcase(), 'aaa aBc abde') </a:t>
            </a:r>
            <a:endParaRPr lang="en-US" altLang="x-none" sz="2000" dirty="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x-none" sz="2000" dirty="0">
                <a:latin typeface="Consolas" panose="020B0609020204030204" charset="0"/>
              </a:rPr>
              <a:t>                                            # 英文字母大小写互换</a:t>
            </a:r>
            <a:endParaRPr lang="en-US" altLang="x-none" sz="2000" dirty="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x-none" sz="2000" dirty="0">
                <a:solidFill>
                  <a:srgbClr val="00B0F0"/>
                </a:solidFill>
                <a:latin typeface="Consolas" panose="020B0609020204030204" charset="0"/>
              </a:rPr>
              <a:t>'AAA AbC ABDE'</a:t>
            </a:r>
            <a:endParaRPr lang="en-US" altLang="x-none" sz="2000" dirty="0">
              <a:solidFill>
                <a:srgbClr val="00B0F0"/>
              </a:solidFill>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x-none" sz="2000" dirty="0">
                <a:latin typeface="Consolas" panose="020B0609020204030204" charset="0"/>
              </a:rPr>
              <a:t>&gt;&gt;&gt; re.subn('a', 'dfg', 'aaa abc abde')     # 返回新字符串和替换次数</a:t>
            </a:r>
            <a:endParaRPr lang="en-US" altLang="x-none" sz="2000" dirty="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x-none" sz="2000" dirty="0">
                <a:solidFill>
                  <a:srgbClr val="00B0F0"/>
                </a:solidFill>
                <a:latin typeface="Consolas" panose="020B0609020204030204" charset="0"/>
              </a:rPr>
              <a:t>('dfgdfgdfg dfgbc dfgbde', 5)</a:t>
            </a:r>
            <a:endParaRPr lang="en-US" altLang="x-none" sz="2000" dirty="0">
              <a:solidFill>
                <a:srgbClr val="00B0F0"/>
              </a:solidFill>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x-none" sz="2000" dirty="0">
                <a:latin typeface="Consolas" panose="020B0609020204030204" charset="0"/>
              </a:rPr>
              <a:t>&gt;&gt;&gt; re.sub('a', 'dfg', 'aaa abc abde')</a:t>
            </a:r>
            <a:endParaRPr lang="en-US" altLang="x-none" sz="2000" dirty="0">
              <a:latin typeface="Consolas" panose="020B0609020204030204" charset="0"/>
            </a:endParaRPr>
          </a:p>
          <a:p>
            <a:pPr defTabSz="914400">
              <a:lnSpc>
                <a:spcPct val="100000"/>
              </a:lnSpc>
              <a:spcBef>
                <a:spcPts val="600"/>
              </a:spcBef>
              <a:buSzPct val="70000"/>
              <a:buFont typeface="Wingdings" panose="05000000000000000000" pitchFamily="2" charset="2"/>
              <a:buNone/>
            </a:pPr>
            <a:r>
              <a:rPr lang="en-US" altLang="x-none" sz="2000" dirty="0">
                <a:solidFill>
                  <a:srgbClr val="00B0F0"/>
                </a:solidFill>
                <a:latin typeface="Consolas" panose="020B0609020204030204" charset="0"/>
              </a:rPr>
              <a:t>'dfgdfgdfg dfgbc dfgbde'</a:t>
            </a:r>
            <a:endParaRPr lang="en-US" altLang="x-none" sz="2000" dirty="0">
              <a:solidFill>
                <a:srgbClr val="00B0F0"/>
              </a:solidFill>
              <a:latin typeface="Consolas" panose="020B06090202040302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8.2  使用正则表达式模块re</a:t>
            </a:r>
            <a:r>
              <a:rPr lang="zh-CN" altLang="en-US">
                <a:sym typeface="+mn-ea"/>
              </a:rPr>
              <a:t>的函数</a:t>
            </a:r>
            <a:r>
              <a:rPr lang="en-US" altLang="zh-CN">
                <a:sym typeface="+mn-ea"/>
              </a:rPr>
              <a:t>处理字符串</a:t>
            </a:r>
            <a:endParaRPr lang="zh-CN" altLang="en-US"/>
          </a:p>
        </p:txBody>
      </p:sp>
      <p:sp>
        <p:nvSpPr>
          <p:cNvPr id="3" name="内容占位符 2"/>
          <p:cNvSpPr>
            <a:spLocks noGrp="1"/>
          </p:cNvSpPr>
          <p:nvPr>
            <p:ph idx="1"/>
          </p:nvPr>
        </p:nvSpPr>
        <p:spPr/>
        <p:txBody>
          <a:bodyPr>
            <a:normAutofit lnSpcReduction="10000"/>
          </a:bodyPr>
          <a:p>
            <a:pPr marL="0" indent="0">
              <a:buNone/>
            </a:pPr>
            <a:r>
              <a:rPr lang="zh-CN" altLang="en-US" sz="2000">
                <a:latin typeface="Consolas" panose="020B0609020204030204" charset="0"/>
              </a:rPr>
              <a:t>&gt;&gt;&gt; print(re.match('done|quit', 'done'))         # 匹配成功，返回match对象</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&lt;re.Match object; span=(0, 4), match='done'&gt;</a:t>
            </a:r>
            <a:endParaRPr lang="zh-CN" altLang="en-US" sz="2000">
              <a:solidFill>
                <a:srgbClr val="00B0F0"/>
              </a:solidFill>
              <a:latin typeface="Consolas" panose="020B0609020204030204" charset="0"/>
            </a:endParaRPr>
          </a:p>
          <a:p>
            <a:pPr marL="0" indent="0">
              <a:buNone/>
            </a:pPr>
            <a:r>
              <a:rPr lang="zh-CN" altLang="en-US" sz="2000">
                <a:latin typeface="Consolas" panose="020B0609020204030204" charset="0"/>
              </a:rPr>
              <a:t>&gt;&gt;&gt; print(re.match('done|quit', 'done!'))        # 匹配成功</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&lt;re.Match object; span=(0, 4), match='done'&gt; </a:t>
            </a:r>
            <a:endParaRPr lang="zh-CN" altLang="en-US" sz="2000">
              <a:solidFill>
                <a:srgbClr val="00B0F0"/>
              </a:solidFill>
              <a:latin typeface="Consolas" panose="020B0609020204030204" charset="0"/>
            </a:endParaRPr>
          </a:p>
          <a:p>
            <a:pPr marL="0" indent="0">
              <a:buNone/>
            </a:pPr>
            <a:r>
              <a:rPr lang="zh-CN" altLang="en-US" sz="2000">
                <a:latin typeface="Consolas" panose="020B0609020204030204" charset="0"/>
                <a:sym typeface="+mn-ea"/>
              </a:rPr>
              <a:t>&gt;&gt;&gt; print(re.search('done|quit', 'd!one!done'))  # 匹配成功</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sym typeface="+mn-ea"/>
              </a:rPr>
              <a:t>&lt;re.Match object; span=(6, 10), match='done'&gt;</a:t>
            </a:r>
            <a:endParaRPr lang="zh-CN" altLang="en-US" sz="2000">
              <a:solidFill>
                <a:srgbClr val="00B0F0"/>
              </a:solidFill>
              <a:latin typeface="Consolas" panose="020B0609020204030204" charset="0"/>
              <a:sym typeface="+mn-ea"/>
            </a:endParaRPr>
          </a:p>
          <a:p>
            <a:pPr marL="0" indent="0">
              <a:buNone/>
            </a:pPr>
            <a:r>
              <a:rPr lang="zh-CN" altLang="en-US" sz="2000">
                <a:latin typeface="Consolas" panose="020B0609020204030204" charset="0"/>
              </a:rPr>
              <a:t>&gt;&gt;&gt; print(re.match('done|quit', 'doe!'))         # 匹配不成功，返回空值None</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None</a:t>
            </a:r>
            <a:endParaRPr lang="zh-CN" altLang="en-US" sz="2000">
              <a:solidFill>
                <a:srgbClr val="00B0F0"/>
              </a:solidFill>
              <a:latin typeface="Consolas" panose="020B0609020204030204" charset="0"/>
            </a:endParaRPr>
          </a:p>
          <a:p>
            <a:pPr marL="0" indent="0">
              <a:buNone/>
            </a:pPr>
            <a:r>
              <a:rPr lang="zh-CN" altLang="en-US" sz="2000">
                <a:latin typeface="Consolas" panose="020B0609020204030204" charset="0"/>
              </a:rPr>
              <a:t>&gt;&gt;&gt; print(re.match('done|quit', 'd!one!'))       # 匹配不成功</a:t>
            </a:r>
            <a:endParaRPr lang="zh-CN" altLang="en-US" sz="2000">
              <a:latin typeface="Consolas" panose="020B0609020204030204" charset="0"/>
            </a:endParaRPr>
          </a:p>
          <a:p>
            <a:pPr marL="0" indent="0">
              <a:buNone/>
            </a:pPr>
            <a:r>
              <a:rPr lang="zh-CN" altLang="en-US" sz="2000">
                <a:solidFill>
                  <a:srgbClr val="00B0F0"/>
                </a:solidFill>
                <a:latin typeface="Consolas" panose="020B0609020204030204" charset="0"/>
              </a:rPr>
              <a:t>None</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8.2  使用正则表达式模块re</a:t>
            </a:r>
            <a:r>
              <a:rPr lang="zh-CN" altLang="en-US">
                <a:sym typeface="+mn-ea"/>
              </a:rPr>
              <a:t>的函数</a:t>
            </a:r>
            <a:r>
              <a:rPr lang="en-US" altLang="zh-CN">
                <a:sym typeface="+mn-ea"/>
              </a:rPr>
              <a:t>处理字符串</a:t>
            </a:r>
            <a:endParaRPr lang="zh-CN" altLang="en-US"/>
          </a:p>
        </p:txBody>
      </p:sp>
      <p:sp>
        <p:nvSpPr>
          <p:cNvPr id="3" name="内容占位符 2"/>
          <p:cNvSpPr>
            <a:spLocks noGrp="1"/>
          </p:cNvSpPr>
          <p:nvPr>
            <p:ph idx="1"/>
          </p:nvPr>
        </p:nvSpPr>
        <p:spPr>
          <a:xfrm>
            <a:off x="838200" y="1321435"/>
            <a:ext cx="11168380" cy="4639945"/>
          </a:xfrm>
        </p:spPr>
        <p:txBody>
          <a:bodyPr>
            <a:normAutofit lnSpcReduction="20000"/>
          </a:bodyPr>
          <a:p>
            <a:pPr fontAlgn="auto">
              <a:lnSpc>
                <a:spcPct val="140000"/>
              </a:lnSpc>
              <a:spcBef>
                <a:spcPts val="0"/>
              </a:spcBef>
              <a:buFont typeface="Arial" panose="020B0604020202020204" pitchFamily="34" charset="0"/>
              <a:buChar char="•"/>
            </a:pPr>
            <a:r>
              <a:rPr lang="zh-CN" altLang="en-US" sz="2400"/>
              <a:t>下面的代码使用不同的方法删除字符串中多余的空格，如果遇到连续多个空格则只保留一个，同时删除字符串两侧的所有空白字符。</a:t>
            </a:r>
            <a:endParaRPr lang="zh-CN" altLang="en-US" sz="2400"/>
          </a:p>
          <a:p>
            <a:pPr marL="0" indent="0" fontAlgn="auto">
              <a:lnSpc>
                <a:spcPct val="100000"/>
              </a:lnSpc>
              <a:spcBef>
                <a:spcPts val="0"/>
              </a:spcBef>
              <a:buNone/>
            </a:pPr>
            <a:r>
              <a:rPr lang="zh-CN" altLang="en-US" sz="2000">
                <a:latin typeface="Consolas" panose="020B0609020204030204" charset="0"/>
              </a:rPr>
              <a:t>&gt;&gt;&gt; import re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s = 'aaa      bb      c d e   fff    '</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 '.join(s.split())                    # 直接使用字符串对象的方法</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'aaa bb c d e fff'</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 '.join(re.split('[\s]+', s.strip())) # 同时使用re中的函数和字符串对象的方法</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'aaa bb c d e fff'</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&gt;&gt;&gt; ' '.join(re.split('\s+', s.strip()))   # 与上一行代码等价</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sym typeface="+mn-ea"/>
              </a:rPr>
              <a:t>'aaa bb c d e fff'</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re.split('\s+', s)</a:t>
            </a:r>
            <a:r>
              <a:rPr lang="en-US" altLang="zh-CN" sz="2000">
                <a:latin typeface="Consolas" panose="020B0609020204030204" charset="0"/>
              </a:rPr>
              <a:t>                     # </a:t>
            </a:r>
            <a:r>
              <a:rPr lang="zh-CN" altLang="en-US" sz="2000">
                <a:latin typeface="Consolas" panose="020B0609020204030204" charset="0"/>
              </a:rPr>
              <a:t>注意最后的空</a:t>
            </a:r>
            <a:r>
              <a:rPr lang="zh-CN" altLang="en-US" sz="2000">
                <a:latin typeface="Consolas" panose="020B0609020204030204" charset="0"/>
              </a:rPr>
              <a:t>字符串</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['aaa', 'bb', 'c', 'd', 'e', 'fff', '']</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re.sub('\s+', ' ', s.strip())          # 直接使用re模块的字符串替换方法</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'aaa bb c d e fff'</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8.2  使用正则表达式模块re</a:t>
            </a:r>
            <a:r>
              <a:rPr lang="zh-CN" altLang="en-US">
                <a:sym typeface="+mn-ea"/>
              </a:rPr>
              <a:t>的函数</a:t>
            </a:r>
            <a:r>
              <a:rPr lang="en-US" altLang="zh-CN">
                <a:sym typeface="+mn-ea"/>
              </a:rPr>
              <a:t>处理字符串</a:t>
            </a:r>
            <a:endParaRPr lang="zh-CN" altLang="en-US"/>
          </a:p>
        </p:txBody>
      </p:sp>
      <p:sp>
        <p:nvSpPr>
          <p:cNvPr id="3" name="内容占位符 2"/>
          <p:cNvSpPr>
            <a:spLocks noGrp="1"/>
          </p:cNvSpPr>
          <p:nvPr>
            <p:ph idx="1"/>
          </p:nvPr>
        </p:nvSpPr>
        <p:spPr>
          <a:xfrm>
            <a:off x="838200" y="1321435"/>
            <a:ext cx="10771505" cy="4639945"/>
          </a:xfrm>
        </p:spPr>
        <p:txBody>
          <a:bodyPr>
            <a:normAutofit lnSpcReduction="10000"/>
          </a:bodyPr>
          <a:p>
            <a:pPr fontAlgn="auto">
              <a:lnSpc>
                <a:spcPct val="130000"/>
              </a:lnSpc>
              <a:spcBef>
                <a:spcPts val="0"/>
              </a:spcBef>
            </a:pPr>
            <a:r>
              <a:rPr lang="zh-CN" altLang="en-US" sz="2400"/>
              <a:t>下面的代码使用几种不同的方法来删除字符串中指定内容：</a:t>
            </a:r>
            <a:endParaRPr lang="zh-CN" altLang="en-US" sz="2400"/>
          </a:p>
          <a:p>
            <a:pPr marL="0" indent="0" fontAlgn="auto">
              <a:lnSpc>
                <a:spcPct val="100000"/>
              </a:lnSpc>
              <a:spcBef>
                <a:spcPts val="0"/>
              </a:spcBef>
              <a:buNone/>
            </a:pPr>
            <a:r>
              <a:rPr lang="zh-CN" altLang="en-US" sz="2000">
                <a:latin typeface="Consolas" panose="020B0609020204030204" charset="0"/>
              </a:rPr>
              <a:t>&gt;&gt;&gt; email = </a:t>
            </a:r>
            <a:r>
              <a:rPr lang="zh-CN" altLang="en-US" sz="2000">
                <a:latin typeface="Consolas" panose="020B0609020204030204" charset="0"/>
                <a:sym typeface="+mn-ea"/>
              </a:rPr>
              <a:t>'</a:t>
            </a:r>
            <a:r>
              <a:rPr lang="zh-CN" altLang="en-US" sz="2000">
                <a:latin typeface="Consolas" panose="020B0609020204030204" charset="0"/>
              </a:rPr>
              <a:t>dongfuguo2005@remove_this126.com</a:t>
            </a:r>
            <a:r>
              <a:rPr lang="zh-CN" altLang="en-US" sz="2000">
                <a:latin typeface="Consolas" panose="020B0609020204030204" charset="0"/>
                <a:sym typeface="+mn-ea"/>
              </a:rPr>
              <a:t>'</a:t>
            </a:r>
            <a:endParaRPr lang="zh-CN" altLang="en-US" sz="2000">
              <a:latin typeface="Consolas" panose="020B0609020204030204" charset="0"/>
            </a:endParaRPr>
          </a:p>
          <a:p>
            <a:pPr marL="0" indent="0" fontAlgn="auto">
              <a:lnSpc>
                <a:spcPct val="120000"/>
              </a:lnSpc>
              <a:spcBef>
                <a:spcPts val="0"/>
              </a:spcBef>
              <a:buNone/>
            </a:pPr>
            <a:r>
              <a:rPr lang="zh-CN" altLang="en-US" sz="2000">
                <a:latin typeface="Consolas" panose="020B0609020204030204" charset="0"/>
              </a:rPr>
              <a:t>&gt;&gt;&gt; m = re.search(</a:t>
            </a:r>
            <a:r>
              <a:rPr lang="zh-CN" altLang="en-US" sz="2000">
                <a:latin typeface="Consolas" panose="020B0609020204030204" charset="0"/>
                <a:sym typeface="+mn-ea"/>
              </a:rPr>
              <a:t>'</a:t>
            </a:r>
            <a:r>
              <a:rPr lang="zh-CN" altLang="en-US" sz="2000">
                <a:latin typeface="Consolas" panose="020B0609020204030204" charset="0"/>
              </a:rPr>
              <a:t>remove_this</a:t>
            </a:r>
            <a:r>
              <a:rPr lang="zh-CN" altLang="en-US" sz="2000">
                <a:latin typeface="Consolas" panose="020B0609020204030204" charset="0"/>
                <a:sym typeface="+mn-ea"/>
              </a:rPr>
              <a:t>'</a:t>
            </a:r>
            <a:r>
              <a:rPr lang="zh-CN" altLang="en-US" sz="2000">
                <a:latin typeface="Consolas" panose="020B0609020204030204" charset="0"/>
              </a:rPr>
              <a:t>, email)  </a:t>
            </a:r>
            <a:r>
              <a:rPr lang="en-US" altLang="zh-CN" sz="2000">
                <a:latin typeface="Consolas" panose="020B0609020204030204" charset="0"/>
              </a:rPr>
              <a:t> </a:t>
            </a:r>
            <a:r>
              <a:rPr lang="zh-CN" altLang="en-US" sz="2000">
                <a:latin typeface="Consolas" panose="020B0609020204030204" charset="0"/>
              </a:rPr>
              <a:t> # 使用search()方法返回的</a:t>
            </a:r>
            <a:r>
              <a:rPr lang="en-US" altLang="zh-CN" sz="2000">
                <a:latin typeface="Consolas" panose="020B0609020204030204" charset="0"/>
              </a:rPr>
              <a:t>M</a:t>
            </a:r>
            <a:r>
              <a:rPr lang="zh-CN" altLang="en-US" sz="2000">
                <a:latin typeface="Consolas" panose="020B0609020204030204" charset="0"/>
              </a:rPr>
              <a:t>atch对象</a:t>
            </a:r>
            <a:endParaRPr lang="zh-CN" altLang="en-US" sz="2000">
              <a:latin typeface="Consolas" panose="020B0609020204030204" charset="0"/>
            </a:endParaRPr>
          </a:p>
          <a:p>
            <a:pPr marL="0" indent="0" fontAlgn="auto">
              <a:lnSpc>
                <a:spcPct val="120000"/>
              </a:lnSpc>
              <a:spcBef>
                <a:spcPts val="0"/>
              </a:spcBef>
              <a:buNone/>
            </a:pPr>
            <a:r>
              <a:rPr lang="zh-CN" altLang="en-US" sz="2000">
                <a:latin typeface="Consolas" panose="020B0609020204030204" charset="0"/>
              </a:rPr>
              <a:t>&gt;&gt;&gt; email[:m.start()] + email[m.end():]    # 字符串切片</a:t>
            </a:r>
            <a:endParaRPr lang="zh-CN" altLang="en-US" sz="2000">
              <a:latin typeface="Consolas" panose="020B0609020204030204" charset="0"/>
            </a:endParaRPr>
          </a:p>
          <a:p>
            <a:pPr marL="0" indent="0" fontAlgn="auto">
              <a:lnSpc>
                <a:spcPct val="120000"/>
              </a:lnSpc>
              <a:spcBef>
                <a:spcPts val="0"/>
              </a:spcBef>
              <a:buNone/>
            </a:pPr>
            <a:r>
              <a:rPr lang="zh-CN" altLang="en-US" sz="2000">
                <a:solidFill>
                  <a:srgbClr val="00B0F0"/>
                </a:solidFill>
                <a:latin typeface="Consolas" panose="020B0609020204030204" charset="0"/>
              </a:rPr>
              <a:t>'dongfuguo2005@126.com'</a:t>
            </a:r>
            <a:endParaRPr lang="zh-CN" altLang="en-US" sz="2000">
              <a:solidFill>
                <a:srgbClr val="00B0F0"/>
              </a:solidFill>
              <a:latin typeface="Consolas" panose="020B0609020204030204" charset="0"/>
            </a:endParaRPr>
          </a:p>
          <a:p>
            <a:pPr marL="0" indent="0" fontAlgn="auto">
              <a:lnSpc>
                <a:spcPct val="120000"/>
              </a:lnSpc>
              <a:spcBef>
                <a:spcPts val="0"/>
              </a:spcBef>
              <a:buNone/>
            </a:pPr>
            <a:r>
              <a:rPr lang="zh-CN" altLang="en-US" sz="2000">
                <a:latin typeface="Consolas" panose="020B0609020204030204" charset="0"/>
              </a:rPr>
              <a:t>&gt;&gt;&gt; re.sub('remove_this', '', email)       # 直接使用re模块的sub()方法</a:t>
            </a:r>
            <a:endParaRPr lang="zh-CN" altLang="en-US" sz="2000">
              <a:latin typeface="Consolas" panose="020B0609020204030204" charset="0"/>
            </a:endParaRPr>
          </a:p>
          <a:p>
            <a:pPr marL="0" indent="0" fontAlgn="auto">
              <a:lnSpc>
                <a:spcPct val="120000"/>
              </a:lnSpc>
              <a:spcBef>
                <a:spcPts val="0"/>
              </a:spcBef>
              <a:buNone/>
            </a:pPr>
            <a:r>
              <a:rPr lang="zh-CN" altLang="en-US" sz="2000">
                <a:solidFill>
                  <a:srgbClr val="00B0F0"/>
                </a:solidFill>
                <a:latin typeface="Consolas" panose="020B0609020204030204" charset="0"/>
              </a:rPr>
              <a:t>'dongfuguo2005@126.com'</a:t>
            </a:r>
            <a:endParaRPr lang="zh-CN" altLang="en-US" sz="2000">
              <a:solidFill>
                <a:srgbClr val="00B0F0"/>
              </a:solidFill>
              <a:latin typeface="Consolas" panose="020B0609020204030204" charset="0"/>
            </a:endParaRPr>
          </a:p>
          <a:p>
            <a:pPr marL="0" indent="0" fontAlgn="auto">
              <a:lnSpc>
                <a:spcPct val="120000"/>
              </a:lnSpc>
              <a:spcBef>
                <a:spcPts val="0"/>
              </a:spcBef>
              <a:buNone/>
            </a:pPr>
            <a:r>
              <a:rPr lang="zh-CN" altLang="en-US" sz="2000">
                <a:latin typeface="Consolas" panose="020B0609020204030204" charset="0"/>
              </a:rPr>
              <a:t>&gt;&gt;&gt; email.replace('remove_this', '')       # 直接使用字符串替换方法</a:t>
            </a:r>
            <a:endParaRPr lang="zh-CN" altLang="en-US" sz="2000">
              <a:latin typeface="Consolas" panose="020B0609020204030204" charset="0"/>
            </a:endParaRPr>
          </a:p>
          <a:p>
            <a:pPr marL="0" indent="0" fontAlgn="auto">
              <a:lnSpc>
                <a:spcPct val="120000"/>
              </a:lnSpc>
              <a:spcBef>
                <a:spcPts val="0"/>
              </a:spcBef>
              <a:buNone/>
            </a:pPr>
            <a:r>
              <a:rPr lang="zh-CN" altLang="en-US" sz="2000">
                <a:solidFill>
                  <a:srgbClr val="00B0F0"/>
                </a:solidFill>
                <a:latin typeface="Consolas" panose="020B0609020204030204" charset="0"/>
              </a:rPr>
              <a:t>'dongfuguo2005@126.com'</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8.2  使用正则表达式模块re</a:t>
            </a:r>
            <a:r>
              <a:rPr lang="zh-CN" altLang="en-US">
                <a:sym typeface="+mn-ea"/>
              </a:rPr>
              <a:t>的函数</a:t>
            </a:r>
            <a:r>
              <a:rPr lang="en-US" altLang="zh-CN">
                <a:sym typeface="+mn-ea"/>
              </a:rPr>
              <a:t>处理字符串</a:t>
            </a:r>
            <a:endParaRPr lang="zh-CN" altLang="en-US"/>
          </a:p>
        </p:txBody>
      </p:sp>
      <p:sp>
        <p:nvSpPr>
          <p:cNvPr id="3" name="内容占位符 2"/>
          <p:cNvSpPr>
            <a:spLocks noGrp="1"/>
          </p:cNvSpPr>
          <p:nvPr>
            <p:ph idx="1"/>
          </p:nvPr>
        </p:nvSpPr>
        <p:spPr>
          <a:xfrm>
            <a:off x="838200" y="1321435"/>
            <a:ext cx="10884535" cy="4639945"/>
          </a:xfrm>
        </p:spPr>
        <p:txBody>
          <a:bodyPr>
            <a:normAutofit/>
          </a:bodyPr>
          <a:p>
            <a:pPr fontAlgn="auto">
              <a:lnSpc>
                <a:spcPct val="130000"/>
              </a:lnSpc>
              <a:spcBef>
                <a:spcPts val="0"/>
              </a:spcBef>
              <a:buFont typeface="Arial" panose="020B0604020202020204" pitchFamily="34" charset="0"/>
              <a:buChar char="•"/>
            </a:pPr>
            <a:r>
              <a:rPr lang="zh-CN" altLang="en-US" sz="2400"/>
              <a:t>下面的代码使用以“\”开头的元字符来实现字符串的特定搜索。</a:t>
            </a:r>
            <a:endParaRPr lang="zh-CN" altLang="en-US" sz="2400"/>
          </a:p>
          <a:p>
            <a:pPr marL="0" indent="0" fontAlgn="auto">
              <a:lnSpc>
                <a:spcPct val="100000"/>
              </a:lnSpc>
              <a:spcBef>
                <a:spcPts val="0"/>
              </a:spcBef>
              <a:buNone/>
            </a:pPr>
            <a:r>
              <a:rPr lang="zh-CN" altLang="en-US" sz="2000">
                <a:latin typeface="Consolas" panose="020B0609020204030204" charset="0"/>
              </a:rPr>
              <a:t>&gt;&gt;&gt; import re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example = 'Beautiful is better than ugly.'</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re.findall('\\bb.+?\\b', example) </a:t>
            </a:r>
            <a:r>
              <a:rPr lang="en-US" altLang="zh-CN" sz="2000">
                <a:latin typeface="Consolas" panose="020B0609020204030204" charset="0"/>
              </a:rPr>
              <a:t> </a:t>
            </a:r>
            <a:r>
              <a:rPr lang="zh-CN" altLang="en-US" sz="2000">
                <a:latin typeface="Consolas" panose="020B0609020204030204" charset="0"/>
              </a:rPr>
              <a:t> # 以字母b开头的单词，问号表示非贪心模式</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a:t>
            </a:r>
            <a:r>
              <a:rPr lang="en-US" altLang="zh-CN" sz="2000">
                <a:latin typeface="Consolas" panose="020B0609020204030204" charset="0"/>
              </a:rPr>
              <a:t>                                       # \\b</a:t>
            </a:r>
            <a:r>
              <a:rPr lang="zh-CN" altLang="en-US" sz="2000">
                <a:latin typeface="Consolas" panose="020B0609020204030204" charset="0"/>
              </a:rPr>
              <a:t>是为了避免和转义字符</a:t>
            </a:r>
            <a:r>
              <a:rPr lang="en-US" altLang="zh-CN" sz="2000">
                <a:latin typeface="Consolas" panose="020B0609020204030204" charset="0"/>
              </a:rPr>
              <a:t>\b</a:t>
            </a:r>
            <a:r>
              <a:rPr lang="zh-CN" altLang="en-US" sz="2000">
                <a:latin typeface="Consolas" panose="020B0609020204030204" charset="0"/>
              </a:rPr>
              <a:t>冲突</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['better']</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re.findall('\\bb.+\\b', example)    # 贪心模式，且</a:t>
            </a:r>
            <a:r>
              <a:rPr lang="zh-CN" altLang="en-US" sz="2000">
                <a:latin typeface="Consolas" panose="020B0609020204030204" charset="0"/>
              </a:rPr>
              <a:t>此处圆点可以</a:t>
            </a:r>
            <a:r>
              <a:rPr lang="zh-CN" altLang="en-US" sz="2000">
                <a:latin typeface="Consolas" panose="020B0609020204030204" charset="0"/>
              </a:rPr>
              <a:t>匹配空格</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['better than ugly']</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re.findall('\\bb\w*\\b', example)</a:t>
            </a:r>
            <a:r>
              <a:rPr lang="en-US" altLang="zh-CN" sz="2000">
                <a:latin typeface="Consolas" panose="020B0609020204030204" charset="0"/>
              </a:rPr>
              <a:t>   # \w</a:t>
            </a:r>
            <a:r>
              <a:rPr lang="zh-CN" altLang="en-US" sz="2000">
                <a:latin typeface="Consolas" panose="020B0609020204030204" charset="0"/>
              </a:rPr>
              <a:t>不能匹配</a:t>
            </a:r>
            <a:r>
              <a:rPr lang="zh-CN" altLang="en-US" sz="2000">
                <a:latin typeface="Consolas" panose="020B0609020204030204" charset="0"/>
              </a:rPr>
              <a:t>空格</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['better']</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re.findall('\\Bh.+?\\b', example)   # 不以h开头且含有h字母的单词剩余部分</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['han']</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8.2  使用正则表达式模块re</a:t>
            </a:r>
            <a:r>
              <a:rPr lang="zh-CN" altLang="en-US">
                <a:sym typeface="+mn-ea"/>
              </a:rPr>
              <a:t>的函数</a:t>
            </a:r>
            <a:r>
              <a:rPr lang="en-US" altLang="zh-CN">
                <a:sym typeface="+mn-ea"/>
              </a:rPr>
              <a:t>处理字符串</a:t>
            </a:r>
            <a:endParaRPr lang="zh-CN" altLang="en-US"/>
          </a:p>
        </p:txBody>
      </p:sp>
      <p:sp>
        <p:nvSpPr>
          <p:cNvPr id="3" name="内容占位符 2"/>
          <p:cNvSpPr>
            <a:spLocks noGrp="1"/>
          </p:cNvSpPr>
          <p:nvPr>
            <p:ph idx="1"/>
          </p:nvPr>
        </p:nvSpPr>
        <p:spPr>
          <a:xfrm>
            <a:off x="838200" y="1321435"/>
            <a:ext cx="10965180" cy="5292725"/>
          </a:xfrm>
        </p:spPr>
        <p:txBody>
          <a:bodyPr>
            <a:normAutofit/>
          </a:bodyPr>
          <a:p>
            <a:pPr marL="0" indent="0" fontAlgn="auto">
              <a:lnSpc>
                <a:spcPct val="100000"/>
              </a:lnSpc>
              <a:spcBef>
                <a:spcPts val="0"/>
              </a:spcBef>
              <a:buNone/>
            </a:pPr>
            <a:r>
              <a:rPr lang="zh-CN" altLang="en-US" sz="2000">
                <a:latin typeface="Consolas" panose="020B0609020204030204" charset="0"/>
              </a:rPr>
              <a:t>&gt;&gt;&gt; re.findall('\\b\w.+?\\b', example)           # 所有单词</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['Beautiful', 'is', 'better', 'than', 'ugly']</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sym typeface="+mn-ea"/>
              </a:rPr>
              <a:t>&gt;&gt;&gt; re.findall(r'\b\w.+?\b', example)            # 使用原始字符串</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sym typeface="+mn-ea"/>
              </a:rPr>
              <a:t>['Beautiful', 'is', 'better', 'than', 'ugly']</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re.findall('\w+', example)                   # 等价写法</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['Beautiful', 'is', 'better', 'than', 'ugly']</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re.split('\s', example)                      # 使用任何空白字符分隔字符串</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['Beautiful', 'is', 'better', 'than', 'ugly.']</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re.findall('\d+\.\d+\.\d+', 'Python 2.7.1</a:t>
            </a:r>
            <a:r>
              <a:rPr lang="en-US" altLang="zh-CN" sz="2000">
                <a:latin typeface="Consolas" panose="020B0609020204030204" charset="0"/>
              </a:rPr>
              <a:t>8</a:t>
            </a:r>
            <a:r>
              <a:rPr lang="zh-CN" altLang="en-US" sz="2000">
                <a:latin typeface="Consolas" panose="020B0609020204030204" charset="0"/>
              </a:rPr>
              <a:t>') # 查找并返回x.x.x形式的数字</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['2.7.1</a:t>
            </a:r>
            <a:r>
              <a:rPr lang="en-US" altLang="zh-CN" sz="2000">
                <a:solidFill>
                  <a:srgbClr val="00B0F0"/>
                </a:solidFill>
                <a:latin typeface="Consolas" panose="020B0609020204030204" charset="0"/>
              </a:rPr>
              <a:t>8</a:t>
            </a:r>
            <a:r>
              <a:rPr lang="zh-CN" altLang="en-US" sz="2000">
                <a:solidFill>
                  <a:srgbClr val="00B0F0"/>
                </a:solidFill>
                <a:latin typeface="Consolas" panose="020B0609020204030204" charset="0"/>
              </a:rPr>
              <a:t>']</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re.findall('\d+\.\d+\.\d+', 'Python 2.7.1</a:t>
            </a:r>
            <a:r>
              <a:rPr lang="en-US" altLang="zh-CN" sz="2000">
                <a:latin typeface="Consolas" panose="020B0609020204030204" charset="0"/>
              </a:rPr>
              <a:t>8</a:t>
            </a:r>
            <a:r>
              <a:rPr lang="zh-CN" altLang="en-US" sz="2000">
                <a:latin typeface="Consolas" panose="020B0609020204030204" charset="0"/>
              </a:rPr>
              <a:t>,Python 3.</a:t>
            </a:r>
            <a:r>
              <a:rPr lang="en-US" altLang="zh-CN" sz="2000">
                <a:latin typeface="Consolas" panose="020B0609020204030204" charset="0"/>
              </a:rPr>
              <a:t>9</a:t>
            </a:r>
            <a:r>
              <a:rPr lang="zh-CN" altLang="en-US" sz="2000">
                <a:latin typeface="Consolas" panose="020B0609020204030204" charset="0"/>
              </a:rPr>
              <a:t>.0')</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['2.7.1</a:t>
            </a:r>
            <a:r>
              <a:rPr lang="en-US" altLang="zh-CN" sz="2000">
                <a:solidFill>
                  <a:srgbClr val="00B0F0"/>
                </a:solidFill>
                <a:latin typeface="Consolas" panose="020B0609020204030204" charset="0"/>
              </a:rPr>
              <a:t>8</a:t>
            </a:r>
            <a:r>
              <a:rPr lang="zh-CN" altLang="en-US" sz="2000">
                <a:solidFill>
                  <a:srgbClr val="00B0F0"/>
                </a:solidFill>
                <a:latin typeface="Consolas" panose="020B0609020204030204" charset="0"/>
              </a:rPr>
              <a:t>', '3.</a:t>
            </a:r>
            <a:r>
              <a:rPr lang="en-US" altLang="zh-CN" sz="2000">
                <a:solidFill>
                  <a:srgbClr val="00B0F0"/>
                </a:solidFill>
                <a:latin typeface="Consolas" panose="020B0609020204030204" charset="0"/>
              </a:rPr>
              <a:t>9</a:t>
            </a:r>
            <a:r>
              <a:rPr lang="zh-CN" altLang="en-US" sz="2000">
                <a:solidFill>
                  <a:srgbClr val="00B0F0"/>
                </a:solidFill>
                <a:latin typeface="Consolas" panose="020B0609020204030204" charset="0"/>
              </a:rPr>
              <a:t>.0']</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8.2  使用正则表达式模块re</a:t>
            </a:r>
            <a:r>
              <a:rPr lang="zh-CN" altLang="en-US">
                <a:sym typeface="+mn-ea"/>
              </a:rPr>
              <a:t>的函数</a:t>
            </a:r>
            <a:r>
              <a:rPr lang="en-US" altLang="zh-CN">
                <a:sym typeface="+mn-ea"/>
              </a:rPr>
              <a:t>处理字符串</a:t>
            </a:r>
            <a:endParaRPr lang="zh-CN" altLang="en-US"/>
          </a:p>
        </p:txBody>
      </p:sp>
      <p:sp>
        <p:nvSpPr>
          <p:cNvPr id="3" name="内容占位符 2"/>
          <p:cNvSpPr>
            <a:spLocks noGrp="1"/>
          </p:cNvSpPr>
          <p:nvPr>
            <p:ph idx="1"/>
          </p:nvPr>
        </p:nvSpPr>
        <p:spPr>
          <a:xfrm>
            <a:off x="838200" y="1321435"/>
            <a:ext cx="10955020" cy="4639945"/>
          </a:xfrm>
        </p:spPr>
        <p:txBody>
          <a:bodyPr>
            <a:normAutofit/>
          </a:bodyPr>
          <a:p>
            <a:pPr marL="0" indent="0" fontAlgn="auto">
              <a:lnSpc>
                <a:spcPct val="100000"/>
              </a:lnSpc>
              <a:spcBef>
                <a:spcPts val="0"/>
              </a:spcBef>
              <a:buNone/>
            </a:pPr>
            <a:r>
              <a:rPr lang="zh-CN" altLang="en-US" sz="2000">
                <a:latin typeface="Consolas" panose="020B0609020204030204" charset="0"/>
                <a:cs typeface="Consolas" panose="020B0609020204030204" charset="0"/>
                <a:sym typeface="+mn-ea"/>
              </a:rPr>
              <a:t>&gt;&gt;&gt; s = '&lt;html&gt;&lt;head&gt;This is head.&lt;/head&gt;&lt;body&gt;This is body.&lt;/body&gt;&lt;/html&gt;'</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sym typeface="+mn-ea"/>
              </a:rPr>
              <a:t>&gt;&gt;&gt; pattern = r'&lt;html&gt;&lt;head&gt;(.+)&lt;/head&gt;&lt;body&gt;(.+)&lt;/body&gt;&lt;/html&gt;'</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sym typeface="+mn-ea"/>
              </a:rPr>
              <a:t>&gt;&gt;&gt; result = re.search(pattern, s)</a:t>
            </a:r>
            <a:endParaRPr lang="zh-CN" altLang="en-US" sz="2000">
              <a:latin typeface="Consolas" panose="020B0609020204030204" charset="0"/>
              <a:cs typeface="Consolas" panose="020B0609020204030204" charset="0"/>
              <a:sym typeface="+mn-ea"/>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result.group(0)</a:t>
            </a:r>
            <a:r>
              <a:rPr lang="en-US" altLang="zh-CN" sz="2000">
                <a:latin typeface="Consolas" panose="020B0609020204030204" charset="0"/>
                <a:cs typeface="Consolas" panose="020B0609020204030204" charset="0"/>
              </a:rPr>
              <a:t>                     # </a:t>
            </a:r>
            <a:r>
              <a:rPr lang="zh-CN" altLang="en-US" sz="2000">
                <a:latin typeface="Consolas" panose="020B0609020204030204" charset="0"/>
                <a:cs typeface="Consolas" panose="020B0609020204030204" charset="0"/>
              </a:rPr>
              <a:t>整个正则表达式匹配到的内容为模式</a:t>
            </a:r>
            <a:r>
              <a:rPr lang="en-US" altLang="zh-CN" sz="2000">
                <a:latin typeface="Consolas" panose="020B0609020204030204" charset="0"/>
                <a:cs typeface="Consolas" panose="020B0609020204030204" charset="0"/>
              </a:rPr>
              <a:t>0</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'&lt;html&gt;&lt;head&gt;This is head.&lt;/head&gt;&lt;body&gt;This is body.&lt;/body&gt;&lt;/html&gt;'</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sym typeface="+mn-ea"/>
              </a:rPr>
              <a:t>&gt;&gt;&gt; result.group(1)                     # 第一个子模式</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sym typeface="+mn-ea"/>
              </a:rPr>
              <a:t>'This is head.'</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sym typeface="+mn-ea"/>
              </a:rPr>
              <a:t>&gt;&gt;&gt; result.group(2)                     # 第二个子模式</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sym typeface="+mn-ea"/>
              </a:rPr>
              <a:t>'This is body.'</a:t>
            </a:r>
            <a:endParaRPr lang="zh-CN" altLang="en-US" sz="2000">
              <a:solidFill>
                <a:srgbClr val="00B0F0"/>
              </a:solidFill>
              <a:latin typeface="Consolas" panose="020B0609020204030204" charset="0"/>
              <a:cs typeface="Consolas" panose="020B0609020204030204" charset="0"/>
              <a:sym typeface="+mn-ea"/>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re.findall(pattern, s)</a:t>
            </a:r>
            <a:r>
              <a:rPr lang="en-US" altLang="zh-CN" sz="2000">
                <a:latin typeface="Consolas" panose="020B0609020204030204" charset="0"/>
                <a:cs typeface="Consolas" panose="020B0609020204030204" charset="0"/>
              </a:rPr>
              <a:t>              # </a:t>
            </a:r>
            <a:r>
              <a:rPr lang="zh-CN" altLang="en-US" sz="2000">
                <a:latin typeface="Consolas" panose="020B0609020204030204" charset="0"/>
                <a:cs typeface="Consolas" panose="020B0609020204030204" charset="0"/>
              </a:rPr>
              <a:t>正则表达式中含有</a:t>
            </a:r>
            <a:r>
              <a:rPr lang="zh-CN" altLang="en-US" sz="2000">
                <a:latin typeface="Consolas" panose="020B0609020204030204" charset="0"/>
                <a:cs typeface="Consolas" panose="020B0609020204030204" charset="0"/>
              </a:rPr>
              <a:t>子模式</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a:t>
            </a:r>
            <a:r>
              <a:rPr lang="en-US" altLang="zh-CN" sz="2000">
                <a:latin typeface="Consolas" panose="020B0609020204030204" charset="0"/>
                <a:cs typeface="Consolas" panose="020B0609020204030204" charset="0"/>
              </a:rPr>
              <a:t>                                       # </a:t>
            </a:r>
            <a:r>
              <a:rPr lang="zh-CN" altLang="en-US" sz="2000">
                <a:latin typeface="Consolas" panose="020B0609020204030204" charset="0"/>
                <a:cs typeface="Consolas" panose="020B0609020204030204" charset="0"/>
              </a:rPr>
              <a:t>此时</a:t>
            </a:r>
            <a:r>
              <a:rPr lang="en-US" altLang="zh-CN" sz="2000">
                <a:latin typeface="Consolas" panose="020B0609020204030204" charset="0"/>
                <a:cs typeface="Consolas" panose="020B0609020204030204" charset="0"/>
              </a:rPr>
              <a:t>findall()</a:t>
            </a:r>
            <a:r>
              <a:rPr lang="zh-CN" altLang="en-US" sz="2000">
                <a:latin typeface="Consolas" panose="020B0609020204030204" charset="0"/>
                <a:cs typeface="Consolas" panose="020B0609020204030204" charset="0"/>
              </a:rPr>
              <a:t>只返回子模式匹配的</a:t>
            </a:r>
            <a:r>
              <a:rPr lang="zh-CN" altLang="en-US" sz="2000">
                <a:latin typeface="Consolas" panose="020B0609020204030204" charset="0"/>
                <a:cs typeface="Consolas" panose="020B0609020204030204" charset="0"/>
              </a:rPr>
              <a:t>内容</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[('This is head.', 'This is body.')]</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8.3  </a:t>
            </a:r>
            <a:r>
              <a:rPr lang="zh-CN" altLang="en-US"/>
              <a:t>使用正则表达式对象处理字符串</a:t>
            </a:r>
            <a:endParaRPr lang="zh-CN" altLang="en-US"/>
          </a:p>
        </p:txBody>
      </p:sp>
      <p:sp>
        <p:nvSpPr>
          <p:cNvPr id="3" name="内容占位符 2"/>
          <p:cNvSpPr>
            <a:spLocks noGrp="1"/>
          </p:cNvSpPr>
          <p:nvPr>
            <p:ph idx="1"/>
          </p:nvPr>
        </p:nvSpPr>
        <p:spPr/>
        <p:txBody>
          <a:bodyPr>
            <a:normAutofit lnSpcReduction="20000"/>
          </a:bodyPr>
          <a:p>
            <a:pPr defTabSz="914400" fontAlgn="auto">
              <a:lnSpc>
                <a:spcPct val="150000"/>
              </a:lnSpc>
              <a:spcBef>
                <a:spcPts val="600"/>
              </a:spcBef>
              <a:spcAft>
                <a:spcPts val="600"/>
              </a:spcAft>
              <a:buSzPct val="70000"/>
              <a:buFont typeface="Wingdings" panose="05000000000000000000" charset="0"/>
              <a:buChar char=""/>
            </a:pPr>
            <a:r>
              <a:rPr lang="zh-CN" altLang="en-US" sz="2400" dirty="0">
                <a:latin typeface="宋体" panose="02010600030101010101" pitchFamily="2" charset="-122"/>
                <a:sym typeface="+mn-ea"/>
              </a:rPr>
              <a:t>首先使用re模块的compile()</a:t>
            </a:r>
            <a:r>
              <a:rPr lang="zh-CN" altLang="en-US" sz="2400" dirty="0">
                <a:latin typeface="宋体" panose="02010600030101010101" pitchFamily="2" charset="-122"/>
                <a:sym typeface="+mn-ea"/>
              </a:rPr>
              <a:t>函数将正则表达式编译生成正则表达式对象，然后再使用正则表达式对象提供的方法进行字符串处理。</a:t>
            </a:r>
            <a:endParaRPr lang="zh-CN" altLang="en-US" sz="2400" dirty="0">
              <a:latin typeface="宋体" panose="02010600030101010101" pitchFamily="2" charset="-122"/>
            </a:endParaRPr>
          </a:p>
          <a:p>
            <a:pPr defTabSz="914400" fontAlgn="auto">
              <a:lnSpc>
                <a:spcPct val="150000"/>
              </a:lnSpc>
              <a:spcBef>
                <a:spcPts val="600"/>
              </a:spcBef>
              <a:spcAft>
                <a:spcPts val="600"/>
              </a:spcAft>
              <a:buSzPct val="70000"/>
              <a:buFont typeface="Wingdings" panose="05000000000000000000" charset="0"/>
              <a:buChar char=""/>
            </a:pPr>
            <a:r>
              <a:rPr lang="zh-CN" altLang="en-US" sz="2400" dirty="0">
                <a:latin typeface="宋体" panose="02010600030101010101" pitchFamily="2" charset="-122"/>
                <a:sym typeface="+mn-ea"/>
              </a:rPr>
              <a:t>使用编译后的正则表达式对象可以</a:t>
            </a:r>
            <a:r>
              <a:rPr lang="zh-CN" altLang="en-US" sz="2400" dirty="0">
                <a:solidFill>
                  <a:srgbClr val="FF0000"/>
                </a:solidFill>
                <a:latin typeface="宋体" panose="02010600030101010101" pitchFamily="2" charset="-122"/>
                <a:sym typeface="+mn-ea"/>
              </a:rPr>
              <a:t>提高字符串处理速度</a:t>
            </a:r>
            <a:r>
              <a:rPr lang="zh-CN" altLang="en-US" sz="2400" dirty="0">
                <a:latin typeface="宋体" panose="02010600030101010101" pitchFamily="2" charset="-122"/>
                <a:sym typeface="+mn-ea"/>
              </a:rPr>
              <a:t>，</a:t>
            </a:r>
            <a:r>
              <a:rPr lang="zh-CN" altLang="en-US" sz="2400" dirty="0">
                <a:solidFill>
                  <a:srgbClr val="FF0000"/>
                </a:solidFill>
                <a:latin typeface="宋体" panose="02010600030101010101" pitchFamily="2" charset="-122"/>
                <a:sym typeface="+mn-ea"/>
              </a:rPr>
              <a:t>也提供了更强大的文本处理功能</a:t>
            </a:r>
            <a:r>
              <a:rPr lang="zh-CN" altLang="en-US" sz="2400" dirty="0">
                <a:latin typeface="宋体" panose="02010600030101010101" pitchFamily="2" charset="-122"/>
                <a:sym typeface="+mn-ea"/>
              </a:rPr>
              <a:t>。</a:t>
            </a:r>
            <a:endParaRPr lang="zh-CN" altLang="en-US" sz="24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8.3  </a:t>
            </a:r>
            <a:r>
              <a:rPr lang="zh-CN" altLang="en-US">
                <a:sym typeface="+mn-ea"/>
              </a:rPr>
              <a:t>使用正则表达式对象处理字符串</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Content Placeholder 2"/>
          <p:cNvSpPr>
            <a:spLocks noGrp="1"/>
          </p:cNvSpPr>
          <p:nvPr>
            <p:ph idx="1"/>
          </p:nvPr>
        </p:nvSpPr>
        <p:spPr/>
        <p:txBody>
          <a:bodyPr/>
          <a:p>
            <a:pPr marL="492760" indent="-492760" fontAlgn="base">
              <a:buFont typeface="Wingdings" panose="05000000000000000000" charset="0"/>
              <a:buChar char=""/>
            </a:pPr>
            <a:r>
              <a:rPr lang="en-US" sz="2400" strike="noStrike" noProof="1">
                <a:latin typeface="Consolas" panose="020B0609020204030204" charset="0"/>
                <a:cs typeface="Consolas" panose="020B0609020204030204" charset="0"/>
              </a:rPr>
              <a:t>match()、search()、findall()</a:t>
            </a:r>
            <a:endParaRPr lang="en-US" sz="2400" strike="noStrike" noProof="1">
              <a:latin typeface="Consolas" panose="020B0609020204030204" charset="0"/>
              <a:cs typeface="Consolas" panose="020B0609020204030204" charset="0"/>
            </a:endParaRPr>
          </a:p>
          <a:p>
            <a:pPr marL="492760" indent="-492760" fontAlgn="base">
              <a:lnSpc>
                <a:spcPct val="150000"/>
              </a:lnSpc>
              <a:spcBef>
                <a:spcPts val="0"/>
              </a:spcBef>
              <a:spcAft>
                <a:spcPts val="1200"/>
              </a:spcAft>
              <a:buFont typeface="Wingdings" panose="05000000000000000000" charset="0"/>
              <a:buChar char="ü"/>
            </a:pPr>
            <a:r>
              <a:rPr lang="en-US" sz="2000" strike="noStrike" noProof="1">
                <a:latin typeface="Consolas" panose="020B0609020204030204" charset="0"/>
                <a:cs typeface="Consolas" panose="020B0609020204030204" charset="0"/>
              </a:rPr>
              <a:t>match(string[, pos[, endpos]])方法在字符串开头或指定</a:t>
            </a:r>
            <a:r>
              <a:rPr lang="zh-CN" altLang="en-US" sz="2000" strike="noStrike" noProof="1">
                <a:latin typeface="Consolas" panose="020B0609020204030204" charset="0"/>
                <a:cs typeface="Consolas" panose="020B0609020204030204" charset="0"/>
              </a:rPr>
              <a:t>范围的开始</a:t>
            </a:r>
            <a:r>
              <a:rPr lang="en-US" sz="2000" strike="noStrike" noProof="1">
                <a:latin typeface="Consolas" panose="020B0609020204030204" charset="0"/>
                <a:cs typeface="Consolas" panose="020B0609020204030204" charset="0"/>
              </a:rPr>
              <a:t>位置进行搜索，</a:t>
            </a:r>
            <a:r>
              <a:rPr lang="en-US" sz="2000" strike="noStrike" noProof="1">
                <a:solidFill>
                  <a:srgbClr val="FF0000"/>
                </a:solidFill>
                <a:latin typeface="Consolas" panose="020B0609020204030204" charset="0"/>
                <a:cs typeface="Consolas" panose="020B0609020204030204" charset="0"/>
              </a:rPr>
              <a:t>模式必须出现在字符串开头或指定</a:t>
            </a:r>
            <a:r>
              <a:rPr lang="zh-CN" altLang="en-US" sz="2000" strike="noStrike" noProof="1">
                <a:solidFill>
                  <a:srgbClr val="FF0000"/>
                </a:solidFill>
                <a:latin typeface="Consolas" panose="020B0609020204030204" charset="0"/>
                <a:cs typeface="Consolas" panose="020B0609020204030204" charset="0"/>
              </a:rPr>
              <a:t>范围的开始</a:t>
            </a:r>
            <a:r>
              <a:rPr lang="en-US" sz="2000" strike="noStrike" noProof="1">
                <a:solidFill>
                  <a:srgbClr val="FF0000"/>
                </a:solidFill>
                <a:latin typeface="Consolas" panose="020B0609020204030204" charset="0"/>
                <a:cs typeface="Consolas" panose="020B0609020204030204" charset="0"/>
              </a:rPr>
              <a:t>位置</a:t>
            </a:r>
            <a:r>
              <a:rPr lang="en-US" sz="2000" strike="noStrike" noProof="1">
                <a:latin typeface="Consolas" panose="020B0609020204030204" charset="0"/>
                <a:cs typeface="Consolas" panose="020B0609020204030204" charset="0"/>
              </a:rPr>
              <a:t>；</a:t>
            </a:r>
            <a:endParaRPr lang="en-US" sz="2000" strike="noStrike" noProof="1">
              <a:latin typeface="Consolas" panose="020B0609020204030204" charset="0"/>
              <a:cs typeface="Consolas" panose="020B0609020204030204" charset="0"/>
            </a:endParaRPr>
          </a:p>
          <a:p>
            <a:pPr marL="492760" indent="-492760" fontAlgn="base">
              <a:lnSpc>
                <a:spcPct val="150000"/>
              </a:lnSpc>
              <a:spcBef>
                <a:spcPts val="0"/>
              </a:spcBef>
              <a:spcAft>
                <a:spcPts val="1200"/>
              </a:spcAft>
              <a:buFont typeface="Wingdings" panose="05000000000000000000" charset="0"/>
              <a:buChar char="ü"/>
            </a:pPr>
            <a:r>
              <a:rPr lang="en-US" sz="2000" strike="noStrike" noProof="1">
                <a:latin typeface="Consolas" panose="020B0609020204030204" charset="0"/>
                <a:cs typeface="Consolas" panose="020B0609020204030204" charset="0"/>
              </a:rPr>
              <a:t>search(string[, pos[, endpos]])方法在</a:t>
            </a:r>
            <a:r>
              <a:rPr lang="en-US" sz="2000" strike="noStrike" noProof="1">
                <a:solidFill>
                  <a:srgbClr val="FF0000"/>
                </a:solidFill>
                <a:latin typeface="Consolas" panose="020B0609020204030204" charset="0"/>
                <a:cs typeface="Consolas" panose="020B0609020204030204" charset="0"/>
              </a:rPr>
              <a:t>整个字符串或指定范围</a:t>
            </a:r>
            <a:r>
              <a:rPr lang="en-US" sz="2000" strike="noStrike" noProof="1">
                <a:latin typeface="Consolas" panose="020B0609020204030204" charset="0"/>
                <a:cs typeface="Consolas" panose="020B0609020204030204" charset="0"/>
              </a:rPr>
              <a:t>中进行搜索；</a:t>
            </a:r>
            <a:endParaRPr lang="en-US" sz="2000" strike="noStrike" noProof="1">
              <a:latin typeface="Consolas" panose="020B0609020204030204" charset="0"/>
              <a:cs typeface="Consolas" panose="020B0609020204030204" charset="0"/>
            </a:endParaRPr>
          </a:p>
          <a:p>
            <a:pPr marL="492760" indent="-492760" fontAlgn="base">
              <a:lnSpc>
                <a:spcPct val="150000"/>
              </a:lnSpc>
              <a:spcBef>
                <a:spcPts val="0"/>
              </a:spcBef>
              <a:spcAft>
                <a:spcPts val="1200"/>
              </a:spcAft>
              <a:buFont typeface="Wingdings" panose="05000000000000000000" charset="0"/>
              <a:buChar char="ü"/>
            </a:pPr>
            <a:r>
              <a:rPr lang="en-US" sz="2000" strike="noStrike" noProof="1">
                <a:latin typeface="Consolas" panose="020B0609020204030204" charset="0"/>
                <a:cs typeface="Consolas" panose="020B0609020204030204" charset="0"/>
              </a:rPr>
              <a:t>findall(string[, pos[, endpos]])方法</a:t>
            </a:r>
            <a:r>
              <a:rPr lang="zh-CN" altLang="en-US" sz="2000" strike="noStrike" noProof="1">
                <a:latin typeface="Consolas" panose="020B0609020204030204" charset="0"/>
                <a:cs typeface="Consolas" panose="020B0609020204030204" charset="0"/>
              </a:rPr>
              <a:t>在</a:t>
            </a:r>
            <a:r>
              <a:rPr lang="en-US" sz="2000" strike="noStrike" noProof="1">
                <a:latin typeface="Consolas" panose="020B0609020204030204" charset="0"/>
                <a:cs typeface="Consolas" panose="020B0609020204030204" charset="0"/>
              </a:rPr>
              <a:t>字符串</a:t>
            </a:r>
            <a:r>
              <a:rPr lang="zh-CN" altLang="en-US" sz="2000" strike="noStrike" noProof="1">
                <a:solidFill>
                  <a:srgbClr val="FF0000"/>
                </a:solidFill>
                <a:latin typeface="Consolas" panose="020B0609020204030204" charset="0"/>
                <a:cs typeface="Consolas" panose="020B0609020204030204" charset="0"/>
              </a:rPr>
              <a:t>指定范围</a:t>
            </a:r>
            <a:r>
              <a:rPr lang="en-US" sz="2000" strike="noStrike" noProof="1">
                <a:latin typeface="Consolas" panose="020B0609020204030204" charset="0"/>
                <a:cs typeface="Consolas" panose="020B0609020204030204" charset="0"/>
              </a:rPr>
              <a:t>中</a:t>
            </a:r>
            <a:r>
              <a:rPr lang="en-US" sz="2000" strike="noStrike" noProof="1">
                <a:solidFill>
                  <a:srgbClr val="FF0000"/>
                </a:solidFill>
                <a:latin typeface="Consolas" panose="020B0609020204030204" charset="0"/>
                <a:cs typeface="Consolas" panose="020B0609020204030204" charset="0"/>
              </a:rPr>
              <a:t>查找所有</a:t>
            </a:r>
            <a:r>
              <a:rPr lang="en-US" sz="2000" strike="noStrike" noProof="1">
                <a:latin typeface="Consolas" panose="020B0609020204030204" charset="0"/>
                <a:cs typeface="Consolas" panose="020B0609020204030204" charset="0"/>
              </a:rPr>
              <a:t>符合正则表达式的字符串并以列表形式返回。</a:t>
            </a:r>
            <a:endParaRPr lang="en-US" sz="2000" strike="noStrike" noProof="1">
              <a:latin typeface="Consolas" panose="020B0609020204030204" charset="0"/>
              <a:cs typeface="Consolas" panose="020B06090202040302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8.3  </a:t>
            </a:r>
            <a:r>
              <a:rPr lang="zh-CN" altLang="en-US">
                <a:sym typeface="+mn-ea"/>
              </a:rPr>
              <a:t>使用正则表达式对象处理字符串</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112641" name="Content Placeholder 2"/>
          <p:cNvSpPr>
            <a:spLocks noGrp="1"/>
          </p:cNvSpPr>
          <p:nvPr>
            <p:ph idx="1"/>
          </p:nvPr>
        </p:nvSpPr>
        <p:spPr>
          <a:xfrm>
            <a:off x="838200" y="1321435"/>
            <a:ext cx="11067415" cy="5035550"/>
          </a:xfrm>
        </p:spPr>
        <p:txBody>
          <a:bodyPr anchor="t">
            <a:normAutofit/>
          </a:bodyPr>
          <a:p>
            <a:pPr marL="0" indent="0">
              <a:lnSpc>
                <a:spcPct val="120000"/>
              </a:lnSpc>
              <a:spcBef>
                <a:spcPct val="0"/>
              </a:spcBef>
              <a:buNone/>
            </a:pPr>
            <a:r>
              <a:rPr lang="en-US" altLang="en-US" sz="1800">
                <a:latin typeface="Consolas" panose="020B0609020204030204" charset="0"/>
              </a:rPr>
              <a:t>&gt;&gt;&gt; import re</a:t>
            </a:r>
            <a:endParaRPr lang="en-US" altLang="en-US" sz="1800">
              <a:latin typeface="Consolas" panose="020B0609020204030204" charset="0"/>
            </a:endParaRPr>
          </a:p>
          <a:p>
            <a:pPr marL="0" indent="0">
              <a:lnSpc>
                <a:spcPct val="120000"/>
              </a:lnSpc>
              <a:spcBef>
                <a:spcPct val="0"/>
              </a:spcBef>
              <a:buNone/>
            </a:pPr>
            <a:r>
              <a:rPr lang="en-US" altLang="en-US" sz="1800">
                <a:latin typeface="Consolas" panose="020B0609020204030204" charset="0"/>
              </a:rPr>
              <a:t>&gt;&gt;&gt; example = 'ShanDong Institute of Business and Technology'</a:t>
            </a:r>
            <a:endParaRPr lang="en-US" altLang="en-US" sz="1800">
              <a:latin typeface="Consolas" panose="020B0609020204030204" charset="0"/>
            </a:endParaRPr>
          </a:p>
          <a:p>
            <a:pPr marL="0" indent="0">
              <a:lnSpc>
                <a:spcPct val="120000"/>
              </a:lnSpc>
              <a:spcBef>
                <a:spcPct val="0"/>
              </a:spcBef>
              <a:buNone/>
            </a:pPr>
            <a:r>
              <a:rPr lang="en-US" altLang="en-US" sz="1800">
                <a:latin typeface="Consolas" panose="020B0609020204030204" charset="0"/>
              </a:rPr>
              <a:t>&gt;&gt;&gt; pattern = re.compile(r'\bB\w+\b')          # 查找以B开头的单词</a:t>
            </a:r>
            <a:endParaRPr lang="en-US" altLang="en-US" sz="1800">
              <a:latin typeface="Consolas" panose="020B0609020204030204" charset="0"/>
            </a:endParaRPr>
          </a:p>
          <a:p>
            <a:pPr marL="0" indent="0">
              <a:lnSpc>
                <a:spcPct val="120000"/>
              </a:lnSpc>
              <a:spcBef>
                <a:spcPct val="0"/>
              </a:spcBef>
              <a:buNone/>
            </a:pPr>
            <a:r>
              <a:rPr lang="en-US" altLang="en-US" sz="1800">
                <a:latin typeface="Consolas" panose="020B0609020204030204" charset="0"/>
              </a:rPr>
              <a:t>&gt;&gt;&gt; pattern.findall(example)                   # 使用正则表达式对象的findall()方法</a:t>
            </a:r>
            <a:endParaRPr lang="en-US" altLang="en-US" sz="1800">
              <a:latin typeface="Consolas" panose="020B0609020204030204" charset="0"/>
            </a:endParaRPr>
          </a:p>
          <a:p>
            <a:pPr marL="0" indent="0">
              <a:lnSpc>
                <a:spcPct val="120000"/>
              </a:lnSpc>
              <a:spcBef>
                <a:spcPct val="0"/>
              </a:spcBef>
              <a:buNone/>
            </a:pPr>
            <a:r>
              <a:rPr lang="en-US" altLang="en-US" sz="1800">
                <a:solidFill>
                  <a:srgbClr val="00B0F0"/>
                </a:solidFill>
                <a:latin typeface="Consolas" panose="020B0609020204030204" charset="0"/>
              </a:rPr>
              <a:t>['Business']</a:t>
            </a:r>
            <a:endParaRPr lang="en-US" altLang="en-US" sz="1800">
              <a:solidFill>
                <a:srgbClr val="00B0F0"/>
              </a:solidFill>
              <a:latin typeface="Consolas" panose="020B0609020204030204" charset="0"/>
            </a:endParaRPr>
          </a:p>
          <a:p>
            <a:pPr marL="0" indent="0">
              <a:lnSpc>
                <a:spcPct val="120000"/>
              </a:lnSpc>
              <a:spcBef>
                <a:spcPct val="0"/>
              </a:spcBef>
              <a:buNone/>
            </a:pPr>
            <a:r>
              <a:rPr lang="en-US" altLang="en-US" sz="1800">
                <a:latin typeface="Consolas" panose="020B0609020204030204" charset="0"/>
              </a:rPr>
              <a:t>&gt;&gt;&gt; pattern = re.compile(r'\w+g\b')            # 查找以字母g结尾的单词</a:t>
            </a:r>
            <a:endParaRPr lang="en-US" altLang="en-US" sz="1800">
              <a:latin typeface="Consolas" panose="020B0609020204030204" charset="0"/>
            </a:endParaRPr>
          </a:p>
          <a:p>
            <a:pPr marL="0" indent="0">
              <a:lnSpc>
                <a:spcPct val="120000"/>
              </a:lnSpc>
              <a:spcBef>
                <a:spcPct val="0"/>
              </a:spcBef>
              <a:buNone/>
            </a:pPr>
            <a:r>
              <a:rPr lang="en-US" altLang="en-US" sz="1800">
                <a:latin typeface="Consolas" panose="020B0609020204030204" charset="0"/>
              </a:rPr>
              <a:t>&gt;&gt;&gt; pattern.findall(example)</a:t>
            </a:r>
            <a:endParaRPr lang="en-US" altLang="en-US" sz="1800">
              <a:latin typeface="Consolas" panose="020B0609020204030204" charset="0"/>
            </a:endParaRPr>
          </a:p>
          <a:p>
            <a:pPr marL="0" indent="0">
              <a:lnSpc>
                <a:spcPct val="120000"/>
              </a:lnSpc>
              <a:spcBef>
                <a:spcPct val="0"/>
              </a:spcBef>
              <a:buNone/>
            </a:pPr>
            <a:r>
              <a:rPr lang="en-US" altLang="en-US" sz="1800">
                <a:solidFill>
                  <a:srgbClr val="00B0F0"/>
                </a:solidFill>
                <a:latin typeface="Consolas" panose="020B0609020204030204" charset="0"/>
              </a:rPr>
              <a:t>['ShanDong']</a:t>
            </a:r>
            <a:endParaRPr lang="en-US" altLang="en-US" sz="1800">
              <a:solidFill>
                <a:srgbClr val="00B0F0"/>
              </a:solidFill>
              <a:latin typeface="Consolas" panose="020B0609020204030204" charset="0"/>
            </a:endParaRPr>
          </a:p>
          <a:p>
            <a:pPr marL="0" indent="0">
              <a:lnSpc>
                <a:spcPct val="120000"/>
              </a:lnSpc>
              <a:spcBef>
                <a:spcPct val="0"/>
              </a:spcBef>
              <a:buNone/>
            </a:pPr>
            <a:r>
              <a:rPr lang="en-US" altLang="en-US" sz="1800">
                <a:latin typeface="Consolas" panose="020B0609020204030204" charset="0"/>
              </a:rPr>
              <a:t>&gt;&gt;&gt; pattern = re.compile(r'\b[a-zA-Z]{3}\b')   # 查找3个字母长的单词</a:t>
            </a:r>
            <a:endParaRPr lang="en-US" altLang="en-US" sz="1800">
              <a:latin typeface="Consolas" panose="020B0609020204030204" charset="0"/>
            </a:endParaRPr>
          </a:p>
          <a:p>
            <a:pPr marL="0" indent="0">
              <a:lnSpc>
                <a:spcPct val="120000"/>
              </a:lnSpc>
              <a:spcBef>
                <a:spcPct val="0"/>
              </a:spcBef>
              <a:buNone/>
            </a:pPr>
            <a:r>
              <a:rPr lang="en-US" altLang="en-US" sz="1800">
                <a:latin typeface="Consolas" panose="020B0609020204030204" charset="0"/>
              </a:rPr>
              <a:t>&gt;&gt;&gt; pattern.findall(example)</a:t>
            </a:r>
            <a:endParaRPr lang="en-US" altLang="en-US" sz="1800">
              <a:latin typeface="Consolas" panose="020B0609020204030204" charset="0"/>
            </a:endParaRPr>
          </a:p>
          <a:p>
            <a:pPr marL="0" indent="0">
              <a:lnSpc>
                <a:spcPct val="120000"/>
              </a:lnSpc>
              <a:spcBef>
                <a:spcPct val="0"/>
              </a:spcBef>
              <a:buNone/>
            </a:pPr>
            <a:r>
              <a:rPr lang="en-US" altLang="en-US" sz="1800">
                <a:solidFill>
                  <a:srgbClr val="00B0F0"/>
                </a:solidFill>
                <a:latin typeface="Consolas" panose="020B0609020204030204" charset="0"/>
              </a:rPr>
              <a:t>['and']</a:t>
            </a:r>
            <a:endParaRPr lang="en-US" altLang="en-US" sz="1800">
              <a:solidFill>
                <a:srgbClr val="00B0F0"/>
              </a:solidFill>
              <a:latin typeface="Consolas" panose="020B06090202040302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8.3  </a:t>
            </a:r>
            <a:r>
              <a:rPr lang="zh-CN" altLang="en-US">
                <a:sym typeface="+mn-ea"/>
              </a:rPr>
              <a:t>使用正则表达式对象处理字符串</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113665" name="Content Placeholder 2"/>
          <p:cNvSpPr>
            <a:spLocks noGrp="1"/>
          </p:cNvSpPr>
          <p:nvPr>
            <p:ph idx="1"/>
          </p:nvPr>
        </p:nvSpPr>
        <p:spPr/>
        <p:txBody>
          <a:bodyPr anchor="t"/>
          <a:p>
            <a:pPr marL="0" indent="0">
              <a:buNone/>
            </a:pPr>
            <a:r>
              <a:rPr lang="en-US" altLang="en-US" sz="2000">
                <a:latin typeface="Consolas" panose="020B0609020204030204" charset="0"/>
              </a:rPr>
              <a:t>&gt;&gt;&gt; pattern.match(example)               # 从字符串开头开始匹配，失败返回空值</a:t>
            </a:r>
            <a:endParaRPr lang="en-US" altLang="en-US" sz="2000">
              <a:latin typeface="Consolas" panose="020B0609020204030204" charset="0"/>
            </a:endParaRPr>
          </a:p>
          <a:p>
            <a:pPr marL="0" indent="0">
              <a:buNone/>
            </a:pPr>
            <a:r>
              <a:rPr lang="en-US" altLang="en-US" sz="2000">
                <a:latin typeface="Consolas" panose="020B0609020204030204" charset="0"/>
              </a:rPr>
              <a:t>&gt;&gt;&gt; pattern.search(example)              # 在整个字符串中搜索，成功</a:t>
            </a:r>
            <a:endParaRPr lang="en-US" altLang="en-US" sz="2000">
              <a:latin typeface="Consolas" panose="020B0609020204030204" charset="0"/>
            </a:endParaRPr>
          </a:p>
          <a:p>
            <a:pPr marL="0" indent="0">
              <a:buNone/>
            </a:pPr>
            <a:r>
              <a:rPr lang="en-US" altLang="en-US" sz="2000">
                <a:solidFill>
                  <a:srgbClr val="00B0F0"/>
                </a:solidFill>
                <a:latin typeface="Consolas" panose="020B0609020204030204" charset="0"/>
              </a:rPr>
              <a:t>&lt;_sre.SRE_Match object; span=(31, 34), match='and'&gt;</a:t>
            </a:r>
            <a:endParaRPr lang="en-US" altLang="en-US" sz="2000">
              <a:solidFill>
                <a:srgbClr val="00B0F0"/>
              </a:solidFill>
              <a:latin typeface="Consolas" panose="020B0609020204030204" charset="0"/>
            </a:endParaRPr>
          </a:p>
          <a:p>
            <a:pPr marL="0" indent="0">
              <a:buNone/>
            </a:pPr>
            <a:r>
              <a:rPr lang="en-US" altLang="en-US" sz="2000">
                <a:latin typeface="Consolas" panose="020B0609020204030204" charset="0"/>
              </a:rPr>
              <a:t>&gt;&gt;&gt; pattern = re.compile(r'\b\w*a\w*\b') # 查找所有含有字母a的单词</a:t>
            </a:r>
            <a:endParaRPr lang="en-US" altLang="en-US" sz="2000">
              <a:latin typeface="Consolas" panose="020B0609020204030204" charset="0"/>
            </a:endParaRPr>
          </a:p>
          <a:p>
            <a:pPr marL="0" indent="0">
              <a:buNone/>
            </a:pPr>
            <a:r>
              <a:rPr lang="en-US" altLang="en-US" sz="2000">
                <a:latin typeface="Consolas" panose="020B0609020204030204" charset="0"/>
              </a:rPr>
              <a:t>&gt;&gt;&gt; pattern.findall(example)</a:t>
            </a:r>
            <a:endParaRPr lang="en-US" altLang="en-US" sz="2000">
              <a:latin typeface="Consolas" panose="020B0609020204030204" charset="0"/>
            </a:endParaRPr>
          </a:p>
          <a:p>
            <a:pPr marL="0" indent="0">
              <a:buNone/>
            </a:pPr>
            <a:r>
              <a:rPr lang="en-US" altLang="en-US" sz="2000">
                <a:solidFill>
                  <a:srgbClr val="00B0F0"/>
                </a:solidFill>
                <a:latin typeface="Consolas" panose="020B0609020204030204" charset="0"/>
              </a:rPr>
              <a:t>['ShanDong', 'and']</a:t>
            </a:r>
            <a:endParaRPr lang="en-US" altLang="en-US" sz="2000">
              <a:solidFill>
                <a:srgbClr val="00B0F0"/>
              </a:solidFill>
              <a:latin typeface="Consolas" panose="020B0609020204030204" charset="0"/>
            </a:endParaRPr>
          </a:p>
          <a:p>
            <a:pPr marL="0" indent="0">
              <a:buNone/>
            </a:pPr>
            <a:r>
              <a:rPr lang="en-US" altLang="en-US" sz="2000">
                <a:latin typeface="Consolas" panose="020B0609020204030204" charset="0"/>
              </a:rPr>
              <a:t>&gt;&gt;&gt; text = </a:t>
            </a:r>
            <a:r>
              <a:rPr lang="en-US" altLang="en-US" sz="2000">
                <a:latin typeface="Consolas" panose="020B0609020204030204" charset="0"/>
                <a:sym typeface="+mn-ea"/>
              </a:rPr>
              <a:t>'</a:t>
            </a:r>
            <a:r>
              <a:rPr lang="en-US" altLang="en-US" sz="2000">
                <a:latin typeface="Consolas" panose="020B0609020204030204" charset="0"/>
              </a:rPr>
              <a:t>He was carefully disguised but captured quickly by police.</a:t>
            </a:r>
            <a:r>
              <a:rPr lang="en-US" altLang="en-US" sz="2000">
                <a:latin typeface="Consolas" panose="020B0609020204030204" charset="0"/>
                <a:sym typeface="+mn-ea"/>
              </a:rPr>
              <a:t>'</a:t>
            </a:r>
            <a:endParaRPr lang="en-US" altLang="en-US" sz="2000">
              <a:latin typeface="Consolas" panose="020B0609020204030204" charset="0"/>
            </a:endParaRPr>
          </a:p>
          <a:p>
            <a:pPr marL="0" indent="0">
              <a:buNone/>
            </a:pPr>
            <a:r>
              <a:rPr lang="en-US" altLang="en-US" sz="2000">
                <a:latin typeface="Consolas" panose="020B0609020204030204" charset="0"/>
              </a:rPr>
              <a:t>&gt;&gt;&gt; re.findall(r</a:t>
            </a:r>
            <a:r>
              <a:rPr lang="en-US" altLang="en-US" sz="2000">
                <a:latin typeface="Consolas" panose="020B0609020204030204" charset="0"/>
                <a:sym typeface="+mn-ea"/>
              </a:rPr>
              <a:t>'</a:t>
            </a:r>
            <a:r>
              <a:rPr lang="en-US" altLang="en-US" sz="2000">
                <a:latin typeface="Consolas" panose="020B0609020204030204" charset="0"/>
              </a:rPr>
              <a:t>\w+ly</a:t>
            </a:r>
            <a:r>
              <a:rPr lang="en-US" altLang="en-US" sz="2000">
                <a:latin typeface="Consolas" panose="020B0609020204030204" charset="0"/>
                <a:sym typeface="+mn-ea"/>
              </a:rPr>
              <a:t>'</a:t>
            </a:r>
            <a:r>
              <a:rPr lang="en-US" altLang="en-US" sz="2000">
                <a:latin typeface="Consolas" panose="020B0609020204030204" charset="0"/>
              </a:rPr>
              <a:t>, text)           # 查找所有以字母组合ly结尾的单词</a:t>
            </a:r>
            <a:endParaRPr lang="en-US" altLang="en-US" sz="2000">
              <a:latin typeface="Consolas" panose="020B0609020204030204" charset="0"/>
            </a:endParaRPr>
          </a:p>
          <a:p>
            <a:pPr marL="0" indent="0">
              <a:buNone/>
            </a:pPr>
            <a:r>
              <a:rPr lang="en-US" altLang="en-US" sz="2000">
                <a:solidFill>
                  <a:srgbClr val="00B0F0"/>
                </a:solidFill>
                <a:latin typeface="Consolas" panose="020B0609020204030204" charset="0"/>
              </a:rPr>
              <a:t>['carefully', 'quickly']</a:t>
            </a:r>
            <a:endParaRPr lang="en-US" altLang="en-US" sz="2000">
              <a:solidFill>
                <a:srgbClr val="00B0F0"/>
              </a:solidFill>
              <a:latin typeface="Consolas" panose="020B06090202040302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8.3  </a:t>
            </a:r>
            <a:r>
              <a:rPr lang="zh-CN" altLang="en-US">
                <a:sym typeface="+mn-ea"/>
              </a:rPr>
              <a:t>使用正则表达式对象处理字符串</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Content Placeholder 2"/>
          <p:cNvSpPr>
            <a:spLocks noGrp="1"/>
          </p:cNvSpPr>
          <p:nvPr>
            <p:ph idx="1"/>
          </p:nvPr>
        </p:nvSpPr>
        <p:spPr/>
        <p:txBody>
          <a:bodyPr/>
          <a:p>
            <a:pPr marL="436880" indent="-436880" fontAlgn="base">
              <a:buFont typeface="Wingdings" panose="05000000000000000000" charset="0"/>
              <a:buChar char=""/>
            </a:pPr>
            <a:r>
              <a:rPr lang="en-US" sz="2400" strike="noStrike" noProof="1"/>
              <a:t>sub()、subn()</a:t>
            </a:r>
            <a:endParaRPr lang="en-US" sz="2400" strike="noStrike" noProof="1"/>
          </a:p>
          <a:p>
            <a:pPr marL="285750" indent="-285750" fontAlgn="base">
              <a:lnSpc>
                <a:spcPct val="150000"/>
              </a:lnSpc>
              <a:spcBef>
                <a:spcPts val="0"/>
              </a:spcBef>
              <a:buFont typeface="Wingdings" panose="05000000000000000000" charset="0"/>
              <a:buChar char="ü"/>
            </a:pPr>
            <a:r>
              <a:rPr lang="en-US" sz="2000" strike="noStrike" noProof="1"/>
              <a:t>正则表达式对象的sub(repl, string[, count = 0])和subn(repl, string[, count = 0])方法用来实现字符串替换功能，其中</a:t>
            </a:r>
            <a:r>
              <a:rPr lang="en-US" sz="2000" strike="noStrike" noProof="1">
                <a:solidFill>
                  <a:srgbClr val="FF0000"/>
                </a:solidFill>
              </a:rPr>
              <a:t>参数repl可以为字符串或返回字符串的可调用对象</a:t>
            </a:r>
            <a:r>
              <a:rPr lang="en-US" sz="2000" strike="noStrike" noProof="1"/>
              <a:t>。</a:t>
            </a:r>
            <a:endParaRPr lang="en-US" sz="2000" strike="noStrike" noProof="1"/>
          </a:p>
          <a:p>
            <a:pPr marL="0" indent="0" fontAlgn="base">
              <a:buFont typeface="Wingdings" panose="05000000000000000000" charset="0"/>
              <a:buNone/>
            </a:pPr>
            <a:r>
              <a:rPr lang="en-US" sz="2000" strike="noStrike" noProof="1">
                <a:latin typeface="Consolas" panose="020B0609020204030204" charset="0"/>
              </a:rPr>
              <a:t>&gt;&gt;&gt; example = '''Beautiful is better than ugly.</a:t>
            </a:r>
            <a:endParaRPr lang="en-US" sz="2000" strike="noStrike" noProof="1">
              <a:latin typeface="Consolas" panose="020B0609020204030204" charset="0"/>
            </a:endParaRPr>
          </a:p>
          <a:p>
            <a:pPr marL="0" indent="0" fontAlgn="base">
              <a:buFont typeface="Wingdings" panose="05000000000000000000" charset="0"/>
              <a:buNone/>
            </a:pPr>
            <a:r>
              <a:rPr lang="en-US" sz="2000" strike="noStrike" noProof="1">
                <a:latin typeface="Consolas" panose="020B0609020204030204" charset="0"/>
              </a:rPr>
              <a:t>Explicit is better than implicit.</a:t>
            </a:r>
            <a:endParaRPr lang="en-US" sz="2000" strike="noStrike" noProof="1">
              <a:latin typeface="Consolas" panose="020B0609020204030204" charset="0"/>
            </a:endParaRPr>
          </a:p>
          <a:p>
            <a:pPr marL="0" indent="0" fontAlgn="base">
              <a:buFont typeface="Wingdings" panose="05000000000000000000" charset="0"/>
              <a:buNone/>
            </a:pPr>
            <a:r>
              <a:rPr lang="en-US" sz="2000" strike="noStrike" noProof="1">
                <a:latin typeface="Consolas" panose="020B0609020204030204" charset="0"/>
              </a:rPr>
              <a:t>Simple is better than complex.</a:t>
            </a:r>
            <a:endParaRPr lang="en-US" sz="2000" strike="noStrike" noProof="1">
              <a:latin typeface="Consolas" panose="020B0609020204030204" charset="0"/>
            </a:endParaRPr>
          </a:p>
          <a:p>
            <a:pPr marL="0" indent="0" fontAlgn="base">
              <a:buFont typeface="Wingdings" panose="05000000000000000000" charset="0"/>
              <a:buNone/>
            </a:pPr>
            <a:r>
              <a:rPr lang="en-US" sz="2000" strike="noStrike" noProof="1">
                <a:latin typeface="Consolas" panose="020B0609020204030204" charset="0"/>
              </a:rPr>
              <a:t>Complex is better than complicated.</a:t>
            </a:r>
            <a:endParaRPr lang="en-US" sz="2000" strike="noStrike" noProof="1">
              <a:latin typeface="Consolas" panose="020B0609020204030204" charset="0"/>
            </a:endParaRPr>
          </a:p>
          <a:p>
            <a:pPr marL="0" indent="0" fontAlgn="base">
              <a:buFont typeface="Wingdings" panose="05000000000000000000" charset="0"/>
              <a:buNone/>
            </a:pPr>
            <a:r>
              <a:rPr lang="en-US" sz="2000" strike="noStrike" noProof="1">
                <a:latin typeface="Consolas" panose="020B0609020204030204" charset="0"/>
              </a:rPr>
              <a:t>Flat is better than nested.</a:t>
            </a:r>
            <a:endParaRPr lang="en-US" sz="2000" strike="noStrike" noProof="1">
              <a:latin typeface="Consolas" panose="020B0609020204030204" charset="0"/>
            </a:endParaRPr>
          </a:p>
          <a:p>
            <a:pPr marL="0" indent="0" fontAlgn="base">
              <a:buFont typeface="Wingdings" panose="05000000000000000000" charset="0"/>
              <a:buNone/>
            </a:pPr>
            <a:r>
              <a:rPr lang="en-US" sz="2000" strike="noStrike" noProof="1">
                <a:latin typeface="Consolas" panose="020B0609020204030204" charset="0"/>
              </a:rPr>
              <a:t>Sparse is better than dense.</a:t>
            </a:r>
            <a:endParaRPr lang="en-US" sz="2000" strike="noStrike" noProof="1">
              <a:latin typeface="Consolas" panose="020B0609020204030204" charset="0"/>
            </a:endParaRPr>
          </a:p>
          <a:p>
            <a:pPr marL="0" indent="0" fontAlgn="base">
              <a:buFont typeface="Wingdings" panose="05000000000000000000" charset="0"/>
              <a:buNone/>
            </a:pPr>
            <a:r>
              <a:rPr lang="en-US" sz="2000" strike="noStrike" noProof="1">
                <a:latin typeface="Consolas" panose="020B0609020204030204" charset="0"/>
              </a:rPr>
              <a:t>Readability counts.'''</a:t>
            </a:r>
            <a:endParaRPr lang="en-US" sz="2000" strike="noStrike" noProof="1">
              <a:latin typeface="Consolas" panose="020B06090202040302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8.3  </a:t>
            </a:r>
            <a:r>
              <a:rPr lang="zh-CN" altLang="en-US">
                <a:sym typeface="+mn-ea"/>
              </a:rPr>
              <a:t>使用正则表达式对象处理字符串</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115713" name="Content Placeholder 2"/>
          <p:cNvSpPr>
            <a:spLocks noGrp="1"/>
          </p:cNvSpPr>
          <p:nvPr>
            <p:ph idx="1"/>
          </p:nvPr>
        </p:nvSpPr>
        <p:spPr/>
        <p:txBody>
          <a:bodyPr anchor="t"/>
          <a:p>
            <a:pPr marL="0" indent="0">
              <a:buFont typeface="Wingdings" panose="05000000000000000000" charset="0"/>
              <a:buNone/>
            </a:pPr>
            <a:r>
              <a:rPr lang="en-US" altLang="en-US" sz="2000">
                <a:latin typeface="Consolas" panose="020B0609020204030204" charset="0"/>
              </a:rPr>
              <a:t>&gt;&gt;&gt; pattern = re.compile(r'\bb\w*\b', re.I) # 匹配以b或B开头的单词</a:t>
            </a:r>
            <a:endParaRPr lang="en-US" altLang="en-US" sz="2000">
              <a:latin typeface="Consolas" panose="020B0609020204030204" charset="0"/>
            </a:endParaRPr>
          </a:p>
          <a:p>
            <a:pPr marL="0" indent="0">
              <a:buFont typeface="Wingdings" panose="05000000000000000000" charset="0"/>
              <a:buNone/>
            </a:pPr>
            <a:r>
              <a:rPr lang="en-US" altLang="en-US" sz="2000">
                <a:latin typeface="Consolas" panose="020B0609020204030204" charset="0"/>
              </a:rPr>
              <a:t>                                            # re.I</a:t>
            </a:r>
            <a:r>
              <a:rPr lang="zh-CN" altLang="en-US" sz="2000">
                <a:latin typeface="Consolas" panose="020B0609020204030204" charset="0"/>
              </a:rPr>
              <a:t>表示忽略大小写</a:t>
            </a:r>
            <a:endParaRPr lang="en-US" altLang="en-US" sz="2000">
              <a:latin typeface="Consolas" panose="020B0609020204030204" charset="0"/>
            </a:endParaRPr>
          </a:p>
          <a:p>
            <a:pPr marL="0" indent="0">
              <a:buFont typeface="Wingdings" panose="05000000000000000000" charset="0"/>
              <a:buNone/>
            </a:pPr>
            <a:r>
              <a:rPr lang="en-US" altLang="en-US" sz="2000">
                <a:latin typeface="Consolas" panose="020B0609020204030204" charset="0"/>
              </a:rPr>
              <a:t>&gt;&gt;&gt; print(pattern.sub('*', example))        # 将符合条件的单词替换为*</a:t>
            </a:r>
            <a:endParaRPr lang="en-US" altLang="en-US" sz="2000">
              <a:latin typeface="Consolas" panose="020B0609020204030204" charset="0"/>
            </a:endParaRPr>
          </a:p>
          <a:p>
            <a:pPr marL="0" indent="0">
              <a:buFont typeface="Wingdings" panose="05000000000000000000" charset="0"/>
              <a:buNone/>
            </a:pPr>
            <a:r>
              <a:rPr lang="en-US" altLang="en-US" sz="2000">
                <a:solidFill>
                  <a:srgbClr val="00B0F0"/>
                </a:solidFill>
                <a:latin typeface="Consolas" panose="020B0609020204030204" charset="0"/>
              </a:rPr>
              <a:t>* is * than ugly.</a:t>
            </a:r>
            <a:endParaRPr lang="en-US" altLang="en-US" sz="2000">
              <a:solidFill>
                <a:srgbClr val="00B0F0"/>
              </a:solidFill>
              <a:latin typeface="Consolas" panose="020B0609020204030204" charset="0"/>
            </a:endParaRPr>
          </a:p>
          <a:p>
            <a:pPr marL="0" indent="0">
              <a:buFont typeface="Wingdings" panose="05000000000000000000" charset="0"/>
              <a:buNone/>
            </a:pPr>
            <a:r>
              <a:rPr lang="en-US" altLang="en-US" sz="2000">
                <a:solidFill>
                  <a:srgbClr val="00B0F0"/>
                </a:solidFill>
                <a:latin typeface="Consolas" panose="020B0609020204030204" charset="0"/>
              </a:rPr>
              <a:t>Explicit is * than implicit.</a:t>
            </a:r>
            <a:endParaRPr lang="en-US" altLang="en-US" sz="2000">
              <a:solidFill>
                <a:srgbClr val="00B0F0"/>
              </a:solidFill>
              <a:latin typeface="Consolas" panose="020B0609020204030204" charset="0"/>
            </a:endParaRPr>
          </a:p>
          <a:p>
            <a:pPr marL="0" indent="0">
              <a:buFont typeface="Wingdings" panose="05000000000000000000" charset="0"/>
              <a:buNone/>
            </a:pPr>
            <a:r>
              <a:rPr lang="en-US" altLang="en-US" sz="2000">
                <a:solidFill>
                  <a:srgbClr val="00B0F0"/>
                </a:solidFill>
                <a:latin typeface="Consolas" panose="020B0609020204030204" charset="0"/>
              </a:rPr>
              <a:t>Simple is * than complex.</a:t>
            </a:r>
            <a:endParaRPr lang="en-US" altLang="en-US" sz="2000">
              <a:solidFill>
                <a:srgbClr val="00B0F0"/>
              </a:solidFill>
              <a:latin typeface="Consolas" panose="020B0609020204030204" charset="0"/>
            </a:endParaRPr>
          </a:p>
          <a:p>
            <a:pPr marL="0" indent="0">
              <a:buFont typeface="Wingdings" panose="05000000000000000000" charset="0"/>
              <a:buNone/>
            </a:pPr>
            <a:r>
              <a:rPr lang="en-US" altLang="en-US" sz="2000">
                <a:solidFill>
                  <a:srgbClr val="00B0F0"/>
                </a:solidFill>
                <a:latin typeface="Consolas" panose="020B0609020204030204" charset="0"/>
              </a:rPr>
              <a:t>Complex is * than complicated.</a:t>
            </a:r>
            <a:endParaRPr lang="en-US" altLang="en-US" sz="2000">
              <a:solidFill>
                <a:srgbClr val="00B0F0"/>
              </a:solidFill>
              <a:latin typeface="Consolas" panose="020B0609020204030204" charset="0"/>
            </a:endParaRPr>
          </a:p>
          <a:p>
            <a:pPr marL="0" indent="0">
              <a:buFont typeface="Wingdings" panose="05000000000000000000" charset="0"/>
              <a:buNone/>
            </a:pPr>
            <a:r>
              <a:rPr lang="en-US" altLang="en-US" sz="2000">
                <a:solidFill>
                  <a:srgbClr val="00B0F0"/>
                </a:solidFill>
                <a:latin typeface="Consolas" panose="020B0609020204030204" charset="0"/>
              </a:rPr>
              <a:t>Flat is * than nested.</a:t>
            </a:r>
            <a:endParaRPr lang="en-US" altLang="en-US" sz="2000">
              <a:solidFill>
                <a:srgbClr val="00B0F0"/>
              </a:solidFill>
              <a:latin typeface="Consolas" panose="020B0609020204030204" charset="0"/>
            </a:endParaRPr>
          </a:p>
          <a:p>
            <a:pPr marL="0" indent="0">
              <a:buFont typeface="Wingdings" panose="05000000000000000000" charset="0"/>
              <a:buNone/>
            </a:pPr>
            <a:r>
              <a:rPr lang="en-US" altLang="en-US" sz="2000">
                <a:solidFill>
                  <a:srgbClr val="00B0F0"/>
                </a:solidFill>
                <a:latin typeface="Consolas" panose="020B0609020204030204" charset="0"/>
              </a:rPr>
              <a:t>Sparse is * than dense.</a:t>
            </a:r>
            <a:endParaRPr lang="en-US" altLang="en-US" sz="2000">
              <a:solidFill>
                <a:srgbClr val="00B0F0"/>
              </a:solidFill>
              <a:latin typeface="Consolas" panose="020B0609020204030204" charset="0"/>
            </a:endParaRPr>
          </a:p>
          <a:p>
            <a:pPr marL="0" indent="0">
              <a:buFont typeface="Wingdings" panose="05000000000000000000" charset="0"/>
              <a:buNone/>
            </a:pPr>
            <a:r>
              <a:rPr lang="en-US" altLang="en-US" sz="2000">
                <a:solidFill>
                  <a:srgbClr val="00B0F0"/>
                </a:solidFill>
                <a:latin typeface="Consolas" panose="020B0609020204030204" charset="0"/>
              </a:rPr>
              <a:t>Readability counts.</a:t>
            </a:r>
            <a:endParaRPr lang="en-US" altLang="en-US" sz="2000">
              <a:solidFill>
                <a:srgbClr val="00B0F0"/>
              </a:solidFill>
              <a:latin typeface="Consolas" panose="020B0609020204030204" charset="0"/>
            </a:endParaRPr>
          </a:p>
          <a:p>
            <a:pPr marL="0" indent="0">
              <a:buNone/>
            </a:pPr>
            <a:endParaRPr lang="en-US" altLang="en-US" sz="2000">
              <a:latin typeface="Times New Roman" panose="02020603050405020304" pitchFamily="2"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8.3  </a:t>
            </a:r>
            <a:r>
              <a:rPr lang="zh-CN" altLang="en-US">
                <a:sym typeface="+mn-ea"/>
              </a:rPr>
              <a:t>使用正则表达式对象处理字符串</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116737" name="Content Placeholder 2"/>
          <p:cNvSpPr>
            <a:spLocks noGrp="1"/>
          </p:cNvSpPr>
          <p:nvPr>
            <p:ph idx="1"/>
          </p:nvPr>
        </p:nvSpPr>
        <p:spPr/>
        <p:txBody>
          <a:bodyPr anchor="t"/>
          <a:p>
            <a:pPr marL="0" indent="0">
              <a:buNone/>
            </a:pPr>
            <a:r>
              <a:rPr lang="en-US" altLang="en-US" sz="2000">
                <a:latin typeface="Consolas" panose="020B0609020204030204" charset="0"/>
              </a:rPr>
              <a:t>&gt;&gt;&gt; print(pattern.sub(lambda x: x.group(0).upper(), example))</a:t>
            </a:r>
            <a:endParaRPr lang="en-US" altLang="en-US" sz="2000">
              <a:latin typeface="Consolas" panose="020B0609020204030204" charset="0"/>
            </a:endParaRPr>
          </a:p>
          <a:p>
            <a:pPr marL="0" indent="0">
              <a:buNone/>
            </a:pPr>
            <a:r>
              <a:rPr lang="en-US" altLang="en-US" sz="2000">
                <a:latin typeface="Consolas" panose="020B0609020204030204" charset="0"/>
              </a:rPr>
              <a:t>                                     # 把所有匹配项都改为大写</a:t>
            </a:r>
            <a:endParaRPr lang="en-US" altLang="en-US" sz="2000">
              <a:latin typeface="Consolas" panose="020B0609020204030204" charset="0"/>
            </a:endParaRPr>
          </a:p>
          <a:p>
            <a:pPr marL="0" indent="0">
              <a:buNone/>
            </a:pPr>
            <a:endParaRPr lang="en-US" altLang="en-US" sz="2000">
              <a:latin typeface="Consolas" panose="020B0609020204030204" charset="0"/>
            </a:endParaRPr>
          </a:p>
          <a:p>
            <a:pPr marL="0" indent="0">
              <a:buNone/>
            </a:pPr>
            <a:r>
              <a:rPr lang="en-US" altLang="en-US" sz="2000">
                <a:solidFill>
                  <a:srgbClr val="00B0F0"/>
                </a:solidFill>
                <a:latin typeface="Consolas" panose="020B0609020204030204" charset="0"/>
              </a:rPr>
              <a:t>BEAUTIFUL is BETTER than ugly.</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Explicit is BETTER than implicit.</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Simple is BETTER than complex.</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Complex is BETTER than complicated.</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Flat is BETTER than nested.</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Sparse is BETTER than dense.</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Readability counts.</a:t>
            </a:r>
            <a:endParaRPr lang="en-US" altLang="en-US" sz="2000">
              <a:solidFill>
                <a:srgbClr val="00B0F0"/>
              </a:solidFill>
              <a:latin typeface="Consolas" panose="020B06090202040302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8.3  </a:t>
            </a:r>
            <a:r>
              <a:rPr lang="zh-CN" altLang="en-US">
                <a:sym typeface="+mn-ea"/>
              </a:rPr>
              <a:t>使用正则表达式对象处理字符串</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117761" name="Content Placeholder 2"/>
          <p:cNvSpPr>
            <a:spLocks noGrp="1"/>
          </p:cNvSpPr>
          <p:nvPr>
            <p:ph idx="1"/>
          </p:nvPr>
        </p:nvSpPr>
        <p:spPr/>
        <p:txBody>
          <a:bodyPr anchor="t"/>
          <a:p>
            <a:pPr marL="0" indent="0">
              <a:buNone/>
            </a:pPr>
            <a:r>
              <a:rPr lang="en-US" altLang="en-US" sz="2000">
                <a:latin typeface="Consolas" panose="020B0609020204030204" charset="0"/>
              </a:rPr>
              <a:t>&gt;&gt;&gt; print(pattern.sub('*', example, 1))      # 只替换1次</a:t>
            </a:r>
            <a:endParaRPr lang="en-US" altLang="en-US" sz="2000">
              <a:latin typeface="Consolas" panose="020B0609020204030204" charset="0"/>
            </a:endParaRPr>
          </a:p>
          <a:p>
            <a:pPr marL="0" indent="0">
              <a:buNone/>
            </a:pPr>
            <a:endParaRPr lang="en-US" altLang="en-US" sz="2000">
              <a:latin typeface="Consolas" panose="020B0609020204030204" charset="0"/>
            </a:endParaRPr>
          </a:p>
          <a:p>
            <a:pPr marL="0" indent="0">
              <a:buNone/>
            </a:pPr>
            <a:r>
              <a:rPr lang="en-US" altLang="en-US" sz="2000">
                <a:solidFill>
                  <a:srgbClr val="00B0F0"/>
                </a:solidFill>
                <a:latin typeface="Consolas" panose="020B0609020204030204" charset="0"/>
              </a:rPr>
              <a:t>* is better than ugly.</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Explicit is better than implicit.</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Simple is better than complex.</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Complex is better than complicated.</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Flat is better than nested.</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Sparse is better than dense.</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Readability counts.</a:t>
            </a:r>
            <a:endParaRPr lang="en-US" altLang="en-US" sz="2000">
              <a:solidFill>
                <a:srgbClr val="00B0F0"/>
              </a:solidFill>
              <a:latin typeface="Consolas" panose="020B06090202040302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8.3  </a:t>
            </a:r>
            <a:r>
              <a:rPr lang="zh-CN" altLang="en-US">
                <a:sym typeface="+mn-ea"/>
              </a:rPr>
              <a:t>使用正则表达式对象处理字符串</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118785" name="Content Placeholder 2"/>
          <p:cNvSpPr>
            <a:spLocks noGrp="1"/>
          </p:cNvSpPr>
          <p:nvPr>
            <p:ph idx="1"/>
          </p:nvPr>
        </p:nvSpPr>
        <p:spPr/>
        <p:txBody>
          <a:bodyPr anchor="t"/>
          <a:p>
            <a:pPr marL="0" indent="0">
              <a:buNone/>
            </a:pPr>
            <a:r>
              <a:rPr lang="en-US" altLang="en-US" sz="2000">
                <a:latin typeface="Consolas" panose="020B0609020204030204" charset="0"/>
              </a:rPr>
              <a:t>&gt;&gt;&gt; pattern = re.compile(r'\bb\w*\b')   # 匹配以字母b开头的单词</a:t>
            </a:r>
            <a:r>
              <a:rPr lang="zh-CN" altLang="en-US" sz="2000">
                <a:latin typeface="Consolas" panose="020B0609020204030204" charset="0"/>
              </a:rPr>
              <a:t>，区分大小写</a:t>
            </a:r>
            <a:endParaRPr lang="en-US" altLang="en-US" sz="2000">
              <a:latin typeface="Consolas" panose="020B0609020204030204" charset="0"/>
            </a:endParaRPr>
          </a:p>
          <a:p>
            <a:pPr marL="0" indent="0">
              <a:buNone/>
            </a:pPr>
            <a:r>
              <a:rPr lang="en-US" altLang="en-US" sz="2000">
                <a:latin typeface="Consolas" panose="020B0609020204030204" charset="0"/>
              </a:rPr>
              <a:t>&gt;&gt;&gt; print(pattern.sub('*', example, 1)) # 将符合条件的单词替换为*</a:t>
            </a:r>
            <a:endParaRPr lang="en-US" altLang="en-US" sz="2000">
              <a:latin typeface="Consolas" panose="020B0609020204030204" charset="0"/>
            </a:endParaRPr>
          </a:p>
          <a:p>
            <a:pPr marL="0" indent="0">
              <a:buNone/>
            </a:pPr>
            <a:r>
              <a:rPr lang="en-US" altLang="en-US" sz="2000">
                <a:latin typeface="Consolas" panose="020B0609020204030204" charset="0"/>
              </a:rPr>
              <a:t>                                        # 只替换1次</a:t>
            </a:r>
            <a:endParaRPr lang="en-US" altLang="en-US" sz="2000">
              <a:latin typeface="Consolas" panose="020B0609020204030204" charset="0"/>
            </a:endParaRPr>
          </a:p>
          <a:p>
            <a:pPr marL="0" indent="0">
              <a:buNone/>
            </a:pPr>
            <a:r>
              <a:rPr lang="en-US" altLang="en-US" sz="2000">
                <a:solidFill>
                  <a:srgbClr val="00B0F0"/>
                </a:solidFill>
                <a:latin typeface="Consolas" panose="020B0609020204030204" charset="0"/>
              </a:rPr>
              <a:t>Beautiful is * than ugly.</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Explicit is better than implicit.</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Simple is better than complex.</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Complex is better than complicated.</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Flat is better than nested.</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Sparse is better than dense.</a:t>
            </a:r>
            <a:endParaRPr lang="en-US" altLang="en-US" sz="2000">
              <a:solidFill>
                <a:srgbClr val="00B0F0"/>
              </a:solidFill>
              <a:latin typeface="Consolas" panose="020B0609020204030204" charset="0"/>
            </a:endParaRPr>
          </a:p>
          <a:p>
            <a:pPr marL="0" indent="0">
              <a:buNone/>
            </a:pPr>
            <a:r>
              <a:rPr lang="en-US" altLang="en-US" sz="2000">
                <a:solidFill>
                  <a:srgbClr val="00B0F0"/>
                </a:solidFill>
                <a:latin typeface="Consolas" panose="020B0609020204030204" charset="0"/>
              </a:rPr>
              <a:t>Readability counts.</a:t>
            </a:r>
            <a:endParaRPr lang="en-US" altLang="en-US" sz="2000">
              <a:solidFill>
                <a:srgbClr val="00B0F0"/>
              </a:solidFill>
              <a:latin typeface="Consolas" panose="020B06090202040302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8.3  </a:t>
            </a:r>
            <a:r>
              <a:rPr lang="zh-CN" altLang="en-US">
                <a:sym typeface="+mn-ea"/>
              </a:rPr>
              <a:t>使用正则表达式对象处理字符串</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Content Placeholder 2"/>
          <p:cNvSpPr>
            <a:spLocks noGrp="1"/>
          </p:cNvSpPr>
          <p:nvPr>
            <p:ph idx="1"/>
          </p:nvPr>
        </p:nvSpPr>
        <p:spPr>
          <a:xfrm>
            <a:off x="750570" y="1094105"/>
            <a:ext cx="11205845" cy="4526280"/>
          </a:xfrm>
        </p:spPr>
        <p:txBody>
          <a:bodyPr>
            <a:normAutofit lnSpcReduction="20000"/>
          </a:bodyPr>
          <a:p>
            <a:pPr marL="455295" indent="-455295" fontAlgn="base">
              <a:lnSpc>
                <a:spcPct val="150000"/>
              </a:lnSpc>
              <a:spcBef>
                <a:spcPts val="0"/>
              </a:spcBef>
              <a:buFont typeface="Wingdings" panose="05000000000000000000" charset="0"/>
              <a:buChar char=""/>
            </a:pPr>
            <a:r>
              <a:rPr lang="en-US" sz="2400" strike="noStrike" noProof="1"/>
              <a:t>正则表达式对象的split(string[, maxsplit = 0])方法用来实现字符串分隔。</a:t>
            </a:r>
            <a:endParaRPr lang="en-US" sz="2400" strike="noStrike" noProof="1"/>
          </a:p>
          <a:p>
            <a:pPr marL="0" indent="0" fontAlgn="base">
              <a:lnSpc>
                <a:spcPct val="100000"/>
              </a:lnSpc>
              <a:spcBef>
                <a:spcPts val="300"/>
              </a:spcBef>
              <a:buNone/>
            </a:pPr>
            <a:r>
              <a:rPr lang="en-US" sz="2000" strike="noStrike" noProof="1">
                <a:latin typeface="Consolas" panose="020B0609020204030204" charset="0"/>
              </a:rPr>
              <a:t>&gt;&gt;&gt; example = r'one,two,three.four/five\six?seven[eight]nine|ten'</a:t>
            </a:r>
            <a:endParaRPr lang="en-US" sz="2000" strike="noStrike" noProof="1">
              <a:latin typeface="Consolas" panose="020B0609020204030204" charset="0"/>
            </a:endParaRPr>
          </a:p>
          <a:p>
            <a:pPr marL="0" indent="0" fontAlgn="base">
              <a:lnSpc>
                <a:spcPct val="100000"/>
              </a:lnSpc>
              <a:spcBef>
                <a:spcPts val="300"/>
              </a:spcBef>
              <a:buNone/>
            </a:pPr>
            <a:r>
              <a:rPr lang="en-US" sz="2000" strike="noStrike" noProof="1">
                <a:latin typeface="Consolas" panose="020B0609020204030204" charset="0"/>
              </a:rPr>
              <a:t>&gt;&gt;&gt; pattern = re.compile(r'[,./\\?[\]\|]')     # 指定多个可能的分隔符</a:t>
            </a:r>
            <a:endParaRPr lang="en-US" sz="2000" strike="noStrike" noProof="1">
              <a:latin typeface="Consolas" panose="020B0609020204030204" charset="0"/>
            </a:endParaRPr>
          </a:p>
          <a:p>
            <a:pPr marL="0" indent="0" fontAlgn="base">
              <a:lnSpc>
                <a:spcPct val="100000"/>
              </a:lnSpc>
              <a:spcBef>
                <a:spcPts val="300"/>
              </a:spcBef>
              <a:buNone/>
            </a:pPr>
            <a:r>
              <a:rPr lang="en-US" sz="2000" strike="noStrike" noProof="1">
                <a:latin typeface="Consolas" panose="020B0609020204030204" charset="0"/>
              </a:rPr>
              <a:t>&gt;&gt;&gt; pattern.split(example)</a:t>
            </a:r>
            <a:endParaRPr lang="en-US" sz="2000" strike="noStrike" noProof="1">
              <a:latin typeface="Consolas" panose="020B0609020204030204" charset="0"/>
            </a:endParaRPr>
          </a:p>
          <a:p>
            <a:pPr marL="0" indent="0" fontAlgn="base">
              <a:lnSpc>
                <a:spcPct val="100000"/>
              </a:lnSpc>
              <a:spcBef>
                <a:spcPts val="300"/>
              </a:spcBef>
              <a:buNone/>
            </a:pPr>
            <a:r>
              <a:rPr lang="en-US" sz="2000" strike="noStrike" noProof="1">
                <a:solidFill>
                  <a:srgbClr val="00B0F0"/>
                </a:solidFill>
                <a:latin typeface="Consolas" panose="020B0609020204030204" charset="0"/>
              </a:rPr>
              <a:t>['one', 'two', 'three', 'four', 'five', 'six', 'seven', 'eight', 'nine', 'ten']</a:t>
            </a:r>
            <a:endParaRPr lang="en-US" sz="2000" strike="noStrike" noProof="1">
              <a:solidFill>
                <a:srgbClr val="00B0F0"/>
              </a:solidFill>
              <a:latin typeface="Consolas" panose="020B0609020204030204" charset="0"/>
            </a:endParaRPr>
          </a:p>
          <a:p>
            <a:pPr marL="0" indent="0" fontAlgn="base">
              <a:lnSpc>
                <a:spcPct val="100000"/>
              </a:lnSpc>
              <a:spcBef>
                <a:spcPts val="300"/>
              </a:spcBef>
              <a:buNone/>
            </a:pPr>
            <a:r>
              <a:rPr lang="en-US" sz="2000" strike="noStrike" noProof="1">
                <a:latin typeface="Consolas" panose="020B0609020204030204" charset="0"/>
              </a:rPr>
              <a:t>&gt;&gt;&gt; example = r'one1two2three3four4five5six6seven7eight8nine9ten'</a:t>
            </a:r>
            <a:endParaRPr lang="en-US" sz="2000" strike="noStrike" noProof="1">
              <a:latin typeface="Consolas" panose="020B0609020204030204" charset="0"/>
            </a:endParaRPr>
          </a:p>
          <a:p>
            <a:pPr marL="0" indent="0" fontAlgn="base">
              <a:lnSpc>
                <a:spcPct val="100000"/>
              </a:lnSpc>
              <a:spcBef>
                <a:spcPts val="300"/>
              </a:spcBef>
              <a:buNone/>
            </a:pPr>
            <a:r>
              <a:rPr lang="en-US" sz="2000" strike="noStrike" noProof="1">
                <a:latin typeface="Consolas" panose="020B0609020204030204" charset="0"/>
              </a:rPr>
              <a:t>&gt;&gt;&gt; pattern = re.compile(r'\d+')               # 使用数字作为分隔符</a:t>
            </a:r>
            <a:endParaRPr lang="en-US" sz="2000" strike="noStrike" noProof="1">
              <a:latin typeface="Consolas" panose="020B0609020204030204" charset="0"/>
            </a:endParaRPr>
          </a:p>
          <a:p>
            <a:pPr marL="0" indent="0" fontAlgn="base">
              <a:lnSpc>
                <a:spcPct val="100000"/>
              </a:lnSpc>
              <a:spcBef>
                <a:spcPts val="300"/>
              </a:spcBef>
              <a:buNone/>
            </a:pPr>
            <a:r>
              <a:rPr lang="en-US" sz="2000" strike="noStrike" noProof="1">
                <a:latin typeface="Consolas" panose="020B0609020204030204" charset="0"/>
              </a:rPr>
              <a:t>&gt;&gt;&gt; pattern.split(example)</a:t>
            </a:r>
            <a:endParaRPr lang="en-US" sz="2000" strike="noStrike" noProof="1">
              <a:latin typeface="Consolas" panose="020B0609020204030204" charset="0"/>
            </a:endParaRPr>
          </a:p>
          <a:p>
            <a:pPr marL="0" indent="0" fontAlgn="base">
              <a:lnSpc>
                <a:spcPct val="100000"/>
              </a:lnSpc>
              <a:spcBef>
                <a:spcPts val="300"/>
              </a:spcBef>
              <a:buNone/>
            </a:pPr>
            <a:r>
              <a:rPr lang="en-US" sz="2000" strike="noStrike" noProof="1">
                <a:solidFill>
                  <a:srgbClr val="00B0F0"/>
                </a:solidFill>
                <a:latin typeface="Consolas" panose="020B0609020204030204" charset="0"/>
              </a:rPr>
              <a:t>['one', 'two', 'three', 'four', 'five', 'six', 'seven', 'eight', 'nine', 'ten']</a:t>
            </a:r>
            <a:endParaRPr lang="en-US" sz="2000" strike="noStrike" noProof="1">
              <a:solidFill>
                <a:srgbClr val="00B0F0"/>
              </a:solidFill>
              <a:latin typeface="Consolas" panose="020B0609020204030204" charset="0"/>
            </a:endParaRPr>
          </a:p>
          <a:p>
            <a:pPr marL="0" indent="0" fontAlgn="base">
              <a:lnSpc>
                <a:spcPct val="100000"/>
              </a:lnSpc>
              <a:spcBef>
                <a:spcPts val="300"/>
              </a:spcBef>
              <a:buNone/>
            </a:pPr>
            <a:r>
              <a:rPr lang="en-US" sz="2000" strike="noStrike" noProof="1">
                <a:latin typeface="Consolas" panose="020B0609020204030204" charset="0"/>
              </a:rPr>
              <a:t>&gt;&gt;&gt; example = r'one two    three  four,five.six.seven,eight,nine9ten'</a:t>
            </a:r>
            <a:endParaRPr lang="en-US" sz="2000" strike="noStrike" noProof="1">
              <a:latin typeface="Consolas" panose="020B0609020204030204" charset="0"/>
            </a:endParaRPr>
          </a:p>
          <a:p>
            <a:pPr marL="0" indent="0" fontAlgn="base">
              <a:lnSpc>
                <a:spcPct val="100000"/>
              </a:lnSpc>
              <a:spcBef>
                <a:spcPts val="300"/>
              </a:spcBef>
              <a:buNone/>
            </a:pPr>
            <a:r>
              <a:rPr lang="en-US" sz="2000" strike="noStrike" noProof="1">
                <a:latin typeface="Consolas" panose="020B0609020204030204" charset="0"/>
              </a:rPr>
              <a:t>&gt;&gt;&gt; pattern = re.compile(r'[\s,.\d]+')         # 允许分隔符重复</a:t>
            </a:r>
            <a:endParaRPr lang="en-US" sz="2000" strike="noStrike" noProof="1">
              <a:latin typeface="Consolas" panose="020B0609020204030204" charset="0"/>
            </a:endParaRPr>
          </a:p>
          <a:p>
            <a:pPr marL="0" indent="0" fontAlgn="base">
              <a:lnSpc>
                <a:spcPct val="100000"/>
              </a:lnSpc>
              <a:spcBef>
                <a:spcPts val="300"/>
              </a:spcBef>
              <a:buNone/>
            </a:pPr>
            <a:r>
              <a:rPr lang="en-US" sz="2000" strike="noStrike" noProof="1">
                <a:latin typeface="Consolas" panose="020B0609020204030204" charset="0"/>
              </a:rPr>
              <a:t>&gt;&gt;&gt; pattern.split(example)</a:t>
            </a:r>
            <a:endParaRPr lang="en-US" sz="2000" strike="noStrike" noProof="1">
              <a:latin typeface="Consolas" panose="020B0609020204030204" charset="0"/>
            </a:endParaRPr>
          </a:p>
          <a:p>
            <a:pPr marL="0" indent="0" fontAlgn="base">
              <a:lnSpc>
                <a:spcPct val="100000"/>
              </a:lnSpc>
              <a:spcBef>
                <a:spcPts val="300"/>
              </a:spcBef>
              <a:buNone/>
            </a:pPr>
            <a:r>
              <a:rPr lang="en-US" sz="2000" strike="noStrike" noProof="1">
                <a:solidFill>
                  <a:srgbClr val="00B0F0"/>
                </a:solidFill>
                <a:latin typeface="Consolas" panose="020B0609020204030204" charset="0"/>
              </a:rPr>
              <a:t>['one', 'two', 'three', 'four', 'five', 'six', 'seven', 'eight', 'nine', 'ten']</a:t>
            </a:r>
            <a:endParaRPr lang="en-US" sz="2000" strike="noStrike" noProof="1">
              <a:solidFill>
                <a:srgbClr val="00B0F0"/>
              </a:solidFill>
              <a:latin typeface="Consolas" panose="020B060902020403020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8.4  Match</a:t>
            </a:r>
            <a:r>
              <a:rPr lang="zh-CN" altLang="en-US"/>
              <a:t>对象</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122882" name="文本占位符 67586"/>
          <p:cNvSpPr>
            <a:spLocks noGrp="1"/>
          </p:cNvSpPr>
          <p:nvPr>
            <p:ph idx="1"/>
          </p:nvPr>
        </p:nvSpPr>
        <p:spPr>
          <a:xfrm>
            <a:off x="803910" y="1133475"/>
            <a:ext cx="10549255" cy="4525645"/>
          </a:xfrm>
        </p:spPr>
        <p:txBody>
          <a:bodyPr anchor="t"/>
          <a:p>
            <a:pPr defTabSz="914400">
              <a:lnSpc>
                <a:spcPct val="150000"/>
              </a:lnSpc>
              <a:spcBef>
                <a:spcPts val="600"/>
              </a:spcBef>
              <a:spcAft>
                <a:spcPts val="600"/>
              </a:spcAft>
              <a:buSzPct val="70000"/>
              <a:buFont typeface="Wingdings" panose="05000000000000000000" charset="0"/>
              <a:buChar char="n"/>
            </a:pPr>
            <a:r>
              <a:rPr lang="zh-CN" altLang="en-US" sz="2400" dirty="0">
                <a:latin typeface="宋体" panose="02010600030101010101" pitchFamily="2" charset="-122"/>
              </a:rPr>
              <a:t>正则表达式对象的</a:t>
            </a:r>
            <a:r>
              <a:rPr lang="en-US" altLang="x-none" sz="2400" dirty="0">
                <a:latin typeface="宋体" panose="02010600030101010101" pitchFamily="2" charset="-122"/>
              </a:rPr>
              <a:t>match()</a:t>
            </a:r>
            <a:r>
              <a:rPr lang="zh-CN" altLang="en-US" sz="2400" dirty="0">
                <a:latin typeface="宋体" panose="02010600030101010101" pitchFamily="2" charset="-122"/>
              </a:rPr>
              <a:t>方法和</a:t>
            </a:r>
            <a:r>
              <a:rPr lang="en-US" altLang="x-none" sz="2400" dirty="0">
                <a:latin typeface="宋体" panose="02010600030101010101" pitchFamily="2" charset="-122"/>
              </a:rPr>
              <a:t>search()</a:t>
            </a:r>
            <a:r>
              <a:rPr lang="zh-CN" altLang="en-US" sz="2400" dirty="0">
                <a:latin typeface="宋体" panose="02010600030101010101" pitchFamily="2" charset="-122"/>
              </a:rPr>
              <a:t>方法以及</a:t>
            </a:r>
            <a:r>
              <a:rPr lang="en-US" altLang="zh-CN" sz="2400" dirty="0">
                <a:latin typeface="宋体" panose="02010600030101010101" pitchFamily="2" charset="-122"/>
              </a:rPr>
              <a:t>re</a:t>
            </a:r>
            <a:r>
              <a:rPr lang="zh-CN" altLang="en-US" sz="2400" dirty="0">
                <a:latin typeface="宋体" panose="02010600030101010101" pitchFamily="2" charset="-122"/>
              </a:rPr>
              <a:t>模块的同名</a:t>
            </a:r>
            <a:r>
              <a:rPr lang="zh-CN" altLang="en-US" sz="2400" dirty="0">
                <a:latin typeface="宋体" panose="02010600030101010101" pitchFamily="2" charset="-122"/>
              </a:rPr>
              <a:t>函数匹配成功后返回</a:t>
            </a:r>
            <a:r>
              <a:rPr lang="en-US" altLang="x-none" sz="2400" dirty="0">
                <a:solidFill>
                  <a:srgbClr val="FF0000"/>
                </a:solidFill>
                <a:latin typeface="宋体" panose="02010600030101010101" pitchFamily="2" charset="-122"/>
              </a:rPr>
              <a:t>Match</a:t>
            </a:r>
            <a:r>
              <a:rPr lang="zh-CN" altLang="en-US" sz="2400" dirty="0">
                <a:solidFill>
                  <a:srgbClr val="FF0000"/>
                </a:solidFill>
                <a:latin typeface="宋体" panose="02010600030101010101" pitchFamily="2" charset="-122"/>
              </a:rPr>
              <a:t>对象</a:t>
            </a:r>
            <a:r>
              <a:rPr lang="zh-CN" altLang="en-US" sz="2400" dirty="0">
                <a:latin typeface="宋体" panose="02010600030101010101" pitchFamily="2" charset="-122"/>
              </a:rPr>
              <a:t>。</a:t>
            </a:r>
            <a:r>
              <a:rPr lang="en-US" altLang="zh-CN" sz="2400" dirty="0">
                <a:latin typeface="宋体" panose="02010600030101010101" pitchFamily="2" charset="-122"/>
              </a:rPr>
              <a:t>M</a:t>
            </a:r>
            <a:r>
              <a:rPr lang="zh-CN" altLang="en-US" sz="2400" dirty="0">
                <a:latin typeface="宋体" panose="02010600030101010101" pitchFamily="2" charset="-122"/>
              </a:rPr>
              <a:t>atch对象的主要方法有：</a:t>
            </a:r>
            <a:endParaRPr lang="zh-CN" altLang="en-US" sz="2400" dirty="0">
              <a:latin typeface="宋体" panose="02010600030101010101" pitchFamily="2" charset="-122"/>
            </a:endParaRPr>
          </a:p>
          <a:p>
            <a:pPr defTabSz="914400">
              <a:spcBef>
                <a:spcPts val="600"/>
              </a:spcBef>
              <a:spcAft>
                <a:spcPts val="600"/>
              </a:spcAft>
              <a:buSzPct val="70000"/>
              <a:buFont typeface="Wingdings" panose="05000000000000000000" charset="0"/>
              <a:buChar char="ü"/>
            </a:pPr>
            <a:r>
              <a:rPr lang="zh-CN" altLang="en-US" sz="2000" dirty="0">
                <a:latin typeface="宋体" panose="02010600030101010101" pitchFamily="2" charset="-122"/>
              </a:rPr>
              <a:t>group()：返回匹配的一个或多个子模式内容</a:t>
            </a:r>
            <a:endParaRPr lang="zh-CN" altLang="en-US" sz="2000" dirty="0">
              <a:latin typeface="宋体" panose="02010600030101010101" pitchFamily="2" charset="-122"/>
            </a:endParaRPr>
          </a:p>
          <a:p>
            <a:pPr defTabSz="914400">
              <a:spcBef>
                <a:spcPts val="600"/>
              </a:spcBef>
              <a:spcAft>
                <a:spcPts val="600"/>
              </a:spcAft>
              <a:buSzPct val="70000"/>
              <a:buFont typeface="Wingdings" panose="05000000000000000000" charset="0"/>
              <a:buChar char="ü"/>
            </a:pPr>
            <a:r>
              <a:rPr lang="zh-CN" altLang="en-US" sz="2000" dirty="0">
                <a:latin typeface="宋体" panose="02010600030101010101" pitchFamily="2" charset="-122"/>
              </a:rPr>
              <a:t>groups()：返回一个包含匹配的所有子模式内容的元组</a:t>
            </a:r>
            <a:endParaRPr lang="zh-CN" altLang="en-US" sz="2000" dirty="0">
              <a:latin typeface="宋体" panose="02010600030101010101" pitchFamily="2" charset="-122"/>
            </a:endParaRPr>
          </a:p>
          <a:p>
            <a:pPr defTabSz="914400">
              <a:spcBef>
                <a:spcPts val="600"/>
              </a:spcBef>
              <a:spcAft>
                <a:spcPts val="600"/>
              </a:spcAft>
              <a:buSzPct val="70000"/>
              <a:buFont typeface="Wingdings" panose="05000000000000000000" charset="0"/>
              <a:buChar char="ü"/>
            </a:pPr>
            <a:r>
              <a:rPr lang="zh-CN" altLang="en-US" sz="2000" dirty="0">
                <a:latin typeface="宋体" panose="02010600030101010101" pitchFamily="2" charset="-122"/>
              </a:rPr>
              <a:t>groupdict()：返回包含匹配的所有命名子模式内容的字典</a:t>
            </a:r>
            <a:endParaRPr lang="zh-CN" altLang="en-US" sz="2000" dirty="0">
              <a:latin typeface="宋体" panose="02010600030101010101" pitchFamily="2" charset="-122"/>
            </a:endParaRPr>
          </a:p>
          <a:p>
            <a:pPr defTabSz="914400">
              <a:spcBef>
                <a:spcPts val="600"/>
              </a:spcBef>
              <a:spcAft>
                <a:spcPts val="600"/>
              </a:spcAft>
              <a:buSzPct val="70000"/>
              <a:buFont typeface="Wingdings" panose="05000000000000000000" charset="0"/>
              <a:buChar char="ü"/>
            </a:pPr>
            <a:r>
              <a:rPr lang="zh-CN" altLang="en-US" sz="2000" dirty="0">
                <a:latin typeface="宋体" panose="02010600030101010101" pitchFamily="2" charset="-122"/>
              </a:rPr>
              <a:t>start()：返回指定子模式内容的起始位置</a:t>
            </a:r>
            <a:endParaRPr lang="zh-CN" altLang="en-US" sz="2000" dirty="0">
              <a:latin typeface="宋体" panose="02010600030101010101" pitchFamily="2" charset="-122"/>
            </a:endParaRPr>
          </a:p>
          <a:p>
            <a:pPr defTabSz="914400">
              <a:spcBef>
                <a:spcPts val="600"/>
              </a:spcBef>
              <a:spcAft>
                <a:spcPts val="600"/>
              </a:spcAft>
              <a:buSzPct val="70000"/>
              <a:buFont typeface="Wingdings" panose="05000000000000000000" charset="0"/>
              <a:buChar char="ü"/>
            </a:pPr>
            <a:r>
              <a:rPr lang="zh-CN" altLang="en-US" sz="2000" dirty="0">
                <a:latin typeface="宋体" panose="02010600030101010101" pitchFamily="2" charset="-122"/>
              </a:rPr>
              <a:t>end()：返回指定子模式内容的结束位置的</a:t>
            </a:r>
            <a:r>
              <a:rPr lang="zh-CN" altLang="en-US" sz="2000" dirty="0">
                <a:latin typeface="宋体" panose="02010600030101010101" pitchFamily="2" charset="-122"/>
              </a:rPr>
              <a:t>下一个位置</a:t>
            </a:r>
            <a:endParaRPr lang="zh-CN" altLang="en-US" sz="2000" dirty="0">
              <a:latin typeface="宋体" panose="02010600030101010101" pitchFamily="2" charset="-122"/>
            </a:endParaRPr>
          </a:p>
          <a:p>
            <a:pPr defTabSz="914400">
              <a:spcBef>
                <a:spcPts val="600"/>
              </a:spcBef>
              <a:spcAft>
                <a:spcPts val="600"/>
              </a:spcAft>
              <a:buSzPct val="70000"/>
              <a:buFont typeface="Wingdings" panose="05000000000000000000" charset="0"/>
              <a:buChar char="ü"/>
            </a:pPr>
            <a:r>
              <a:rPr lang="zh-CN" altLang="en-US" sz="2000" dirty="0">
                <a:latin typeface="宋体" panose="02010600030101010101" pitchFamily="2" charset="-122"/>
              </a:rPr>
              <a:t>span()：返回一个包含指定子模式内容起始位置和结束位置</a:t>
            </a:r>
            <a:r>
              <a:rPr lang="zh-CN" altLang="en-US" sz="2000" dirty="0">
                <a:latin typeface="宋体" panose="02010600030101010101" pitchFamily="2" charset="-122"/>
              </a:rPr>
              <a:t>下一个位置的元组。</a:t>
            </a:r>
            <a:endParaRPr lang="zh-CN" altLang="en-US" sz="2000" dirty="0">
              <a:latin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8.4  Match</a:t>
            </a:r>
            <a:r>
              <a:rPr lang="zh-CN" altLang="en-US">
                <a:sym typeface="+mn-ea"/>
              </a:rPr>
              <a:t>对象</a:t>
            </a:r>
            <a:endParaRPr lang="zh-CN" altLang="en-US"/>
          </a:p>
        </p:txBody>
      </p:sp>
      <p:sp>
        <p:nvSpPr>
          <p:cNvPr id="3" name="内容占位符 2"/>
          <p:cNvSpPr>
            <a:spLocks noGrp="1"/>
          </p:cNvSpPr>
          <p:nvPr>
            <p:ph idx="1"/>
          </p:nvPr>
        </p:nvSpPr>
        <p:spPr/>
        <p:txBody>
          <a:bodyPr>
            <a:normAutofit/>
          </a:bodyPr>
          <a:p>
            <a:pPr marL="0" indent="0" fontAlgn="base">
              <a:buNone/>
            </a:pPr>
            <a:r>
              <a:rPr lang="zh-CN" altLang="en-US" sz="2000">
                <a:latin typeface="Consolas" panose="020B0609020204030204" charset="0"/>
                <a:sym typeface="+mn-ea"/>
              </a:rPr>
              <a:t>&gt;&gt;&gt; m = re.match(r</a:t>
            </a:r>
            <a:r>
              <a:rPr lang="en-US" sz="2000">
                <a:latin typeface="Consolas" panose="020B0609020204030204" charset="0"/>
                <a:sym typeface="+mn-ea"/>
              </a:rPr>
              <a:t>'</a:t>
            </a:r>
            <a:r>
              <a:rPr lang="zh-CN" altLang="en-US" sz="2000">
                <a:latin typeface="Consolas" panose="020B0609020204030204" charset="0"/>
                <a:sym typeface="+mn-ea"/>
              </a:rPr>
              <a:t>(\w+) (\w+)</a:t>
            </a:r>
            <a:r>
              <a:rPr lang="en-US" sz="2000">
                <a:latin typeface="Consolas" panose="020B0609020204030204" charset="0"/>
                <a:sym typeface="+mn-ea"/>
              </a:rPr>
              <a:t>'</a:t>
            </a:r>
            <a:r>
              <a:rPr lang="zh-CN" altLang="en-US" sz="2000">
                <a:latin typeface="Consolas" panose="020B0609020204030204" charset="0"/>
                <a:sym typeface="+mn-ea"/>
              </a:rPr>
              <a:t>, </a:t>
            </a:r>
            <a:r>
              <a:rPr lang="en-US" sz="2000">
                <a:latin typeface="Consolas" panose="020B0609020204030204" charset="0"/>
                <a:sym typeface="+mn-ea"/>
              </a:rPr>
              <a:t>'</a:t>
            </a:r>
            <a:r>
              <a:rPr lang="zh-CN" altLang="en-US" sz="2000">
                <a:latin typeface="Consolas" panose="020B0609020204030204" charset="0"/>
                <a:sym typeface="+mn-ea"/>
              </a:rPr>
              <a:t>Isaac Newton, physicist</a:t>
            </a:r>
            <a:r>
              <a:rPr lang="en-US" sz="2000">
                <a:latin typeface="Consolas" panose="020B0609020204030204" charset="0"/>
                <a:sym typeface="+mn-ea"/>
              </a:rPr>
              <a:t>'</a:t>
            </a:r>
            <a:r>
              <a:rPr lang="zh-CN" altLang="en-US" sz="2000">
                <a:latin typeface="Consolas" panose="020B0609020204030204" charset="0"/>
                <a:sym typeface="+mn-ea"/>
              </a:rPr>
              <a:t>)</a:t>
            </a:r>
            <a:endParaRPr lang="zh-CN" altLang="en-US" sz="2000" strike="noStrike" noProof="1">
              <a:latin typeface="Consolas" panose="020B0609020204030204" charset="0"/>
            </a:endParaRPr>
          </a:p>
          <a:p>
            <a:pPr marL="0" indent="0" fontAlgn="base">
              <a:buNone/>
            </a:pPr>
            <a:r>
              <a:rPr lang="zh-CN" altLang="en-US" sz="2000">
                <a:latin typeface="Consolas" panose="020B0609020204030204" charset="0"/>
                <a:sym typeface="+mn-ea"/>
              </a:rPr>
              <a:t>&gt;&gt;&gt; m.group(0)                   # 返回整个模式</a:t>
            </a:r>
            <a:r>
              <a:rPr lang="zh-CN" altLang="en-US" sz="2000">
                <a:latin typeface="Consolas" panose="020B0609020204030204" charset="0"/>
                <a:sym typeface="+mn-ea"/>
              </a:rPr>
              <a:t>匹配到的内容</a:t>
            </a:r>
            <a:endParaRPr lang="zh-CN" altLang="en-US" sz="2000" strike="noStrike" noProof="1">
              <a:latin typeface="Consolas" panose="020B0609020204030204" charset="0"/>
            </a:endParaRPr>
          </a:p>
          <a:p>
            <a:pPr marL="0" indent="0" fontAlgn="base">
              <a:buNone/>
            </a:pPr>
            <a:r>
              <a:rPr lang="zh-CN" altLang="en-US" sz="2000">
                <a:solidFill>
                  <a:srgbClr val="00B0F0"/>
                </a:solidFill>
                <a:latin typeface="Consolas" panose="020B0609020204030204" charset="0"/>
                <a:sym typeface="+mn-ea"/>
              </a:rPr>
              <a:t>'Isaac Newton'</a:t>
            </a:r>
            <a:endParaRPr lang="zh-CN" altLang="en-US" sz="2000" strike="noStrike" noProof="1">
              <a:solidFill>
                <a:srgbClr val="00B0F0"/>
              </a:solidFill>
              <a:latin typeface="Consolas" panose="020B0609020204030204" charset="0"/>
            </a:endParaRPr>
          </a:p>
          <a:p>
            <a:pPr marL="0" indent="0" fontAlgn="base">
              <a:buNone/>
            </a:pPr>
            <a:r>
              <a:rPr lang="zh-CN" altLang="en-US" sz="2000">
                <a:latin typeface="Consolas" panose="020B0609020204030204" charset="0"/>
                <a:sym typeface="+mn-ea"/>
              </a:rPr>
              <a:t>&gt;&gt;&gt; m.group(1)                   # 返回第1个子模式</a:t>
            </a:r>
            <a:r>
              <a:rPr lang="zh-CN" altLang="en-US" sz="2000">
                <a:latin typeface="Consolas" panose="020B0609020204030204" charset="0"/>
                <a:sym typeface="+mn-ea"/>
              </a:rPr>
              <a:t>匹配到的</a:t>
            </a:r>
            <a:r>
              <a:rPr lang="zh-CN" altLang="en-US" sz="2000">
                <a:latin typeface="Consolas" panose="020B0609020204030204" charset="0"/>
                <a:sym typeface="+mn-ea"/>
              </a:rPr>
              <a:t>内容</a:t>
            </a:r>
            <a:endParaRPr lang="zh-CN" altLang="en-US" sz="2000" strike="noStrike" noProof="1">
              <a:latin typeface="Consolas" panose="020B0609020204030204" charset="0"/>
            </a:endParaRPr>
          </a:p>
          <a:p>
            <a:pPr marL="0" indent="0" fontAlgn="base">
              <a:buNone/>
            </a:pPr>
            <a:r>
              <a:rPr lang="zh-CN" altLang="en-US" sz="2000">
                <a:solidFill>
                  <a:srgbClr val="00B0F0"/>
                </a:solidFill>
                <a:latin typeface="Consolas" panose="020B0609020204030204" charset="0"/>
                <a:sym typeface="+mn-ea"/>
              </a:rPr>
              <a:t>'Isaac'</a:t>
            </a:r>
            <a:endParaRPr lang="zh-CN" altLang="en-US" sz="2000" strike="noStrike" noProof="1">
              <a:solidFill>
                <a:srgbClr val="00B0F0"/>
              </a:solidFill>
              <a:latin typeface="Consolas" panose="020B0609020204030204" charset="0"/>
            </a:endParaRPr>
          </a:p>
          <a:p>
            <a:pPr marL="0" indent="0" fontAlgn="base">
              <a:buNone/>
            </a:pPr>
            <a:r>
              <a:rPr lang="zh-CN" altLang="en-US" sz="2000">
                <a:latin typeface="Consolas" panose="020B0609020204030204" charset="0"/>
                <a:sym typeface="+mn-ea"/>
              </a:rPr>
              <a:t>&gt;&gt;&gt; m.group(2)                   # 返回第2个子模式</a:t>
            </a:r>
            <a:r>
              <a:rPr lang="zh-CN" altLang="en-US" sz="2000">
                <a:latin typeface="Consolas" panose="020B0609020204030204" charset="0"/>
                <a:sym typeface="+mn-ea"/>
              </a:rPr>
              <a:t>匹配到的</a:t>
            </a:r>
            <a:r>
              <a:rPr lang="zh-CN" altLang="en-US" sz="2000">
                <a:latin typeface="Consolas" panose="020B0609020204030204" charset="0"/>
                <a:sym typeface="+mn-ea"/>
              </a:rPr>
              <a:t>内容</a:t>
            </a:r>
            <a:endParaRPr lang="zh-CN" altLang="en-US" sz="2000" strike="noStrike" noProof="1">
              <a:latin typeface="Consolas" panose="020B0609020204030204" charset="0"/>
            </a:endParaRPr>
          </a:p>
          <a:p>
            <a:pPr marL="0" indent="0" fontAlgn="base">
              <a:buNone/>
            </a:pPr>
            <a:r>
              <a:rPr lang="zh-CN" altLang="en-US" sz="2000">
                <a:solidFill>
                  <a:srgbClr val="00B0F0"/>
                </a:solidFill>
                <a:latin typeface="Consolas" panose="020B0609020204030204" charset="0"/>
                <a:sym typeface="+mn-ea"/>
              </a:rPr>
              <a:t>'Newton'</a:t>
            </a:r>
            <a:endParaRPr lang="zh-CN" altLang="en-US" sz="2000" strike="noStrike" noProof="1">
              <a:solidFill>
                <a:srgbClr val="00B0F0"/>
              </a:solidFill>
              <a:latin typeface="Consolas" panose="020B0609020204030204" charset="0"/>
            </a:endParaRPr>
          </a:p>
          <a:p>
            <a:pPr marL="0" indent="0" fontAlgn="base">
              <a:buNone/>
            </a:pPr>
            <a:r>
              <a:rPr lang="zh-CN" altLang="en-US" sz="2000">
                <a:latin typeface="Consolas" panose="020B0609020204030204" charset="0"/>
                <a:sym typeface="+mn-ea"/>
              </a:rPr>
              <a:t>&gt;&gt;&gt; m.group(1, 2)                # 返回指定的多个子模式</a:t>
            </a:r>
            <a:r>
              <a:rPr lang="zh-CN" altLang="en-US" sz="2000">
                <a:latin typeface="Consolas" panose="020B0609020204030204" charset="0"/>
                <a:sym typeface="+mn-ea"/>
              </a:rPr>
              <a:t>匹配到的</a:t>
            </a:r>
            <a:r>
              <a:rPr lang="zh-CN" altLang="en-US" sz="2000">
                <a:latin typeface="Consolas" panose="020B0609020204030204" charset="0"/>
                <a:sym typeface="+mn-ea"/>
              </a:rPr>
              <a:t>内容</a:t>
            </a:r>
            <a:endParaRPr lang="zh-CN" altLang="en-US" sz="2000" strike="noStrike" noProof="1">
              <a:latin typeface="Consolas" panose="020B0609020204030204" charset="0"/>
            </a:endParaRPr>
          </a:p>
          <a:p>
            <a:pPr marL="0" indent="0" fontAlgn="base">
              <a:buNone/>
            </a:pPr>
            <a:r>
              <a:rPr lang="zh-CN" altLang="en-US" sz="2000">
                <a:solidFill>
                  <a:srgbClr val="00B0F0"/>
                </a:solidFill>
                <a:latin typeface="Consolas" panose="020B0609020204030204" charset="0"/>
                <a:sym typeface="+mn-ea"/>
              </a:rPr>
              <a:t>('Isaac', 'Newton')</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8.4  Match</a:t>
            </a:r>
            <a:r>
              <a:rPr lang="zh-CN" altLang="en-US">
                <a:sym typeface="+mn-ea"/>
              </a:rPr>
              <a:t>对象</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126978" name="内容占位符 2"/>
          <p:cNvSpPr>
            <a:spLocks noGrp="1"/>
          </p:cNvSpPr>
          <p:nvPr>
            <p:ph idx="1"/>
          </p:nvPr>
        </p:nvSpPr>
        <p:spPr>
          <a:xfrm>
            <a:off x="838200" y="1321435"/>
            <a:ext cx="10931525" cy="4639945"/>
          </a:xfrm>
        </p:spPr>
        <p:txBody>
          <a:bodyPr anchor="t">
            <a:normAutofit lnSpcReduction="20000"/>
          </a:bodyPr>
          <a:p>
            <a:pPr marL="0" indent="0" defTabSz="914400">
              <a:buSzPct val="70000"/>
              <a:buFont typeface="Wingdings" panose="05000000000000000000" pitchFamily="2" charset="2"/>
              <a:buNone/>
            </a:pPr>
            <a:r>
              <a:rPr lang="zh-CN" altLang="en-US" sz="2000">
                <a:latin typeface="Consolas" panose="020B0609020204030204" charset="0"/>
              </a:rPr>
              <a:t>&gt;&gt;&gt; m = re.match(r</a:t>
            </a:r>
            <a:r>
              <a:rPr lang="en-US" sz="2000">
                <a:latin typeface="Consolas" panose="020B0609020204030204" charset="0"/>
                <a:sym typeface="+mn-ea"/>
              </a:rPr>
              <a:t>'</a:t>
            </a:r>
            <a:r>
              <a:rPr lang="zh-CN" altLang="en-US" sz="2000">
                <a:latin typeface="Consolas" panose="020B0609020204030204" charset="0"/>
              </a:rPr>
              <a:t>(?P&lt;first_name&gt;\w+) (?P&lt;last_name&gt;\w+)</a:t>
            </a:r>
            <a:r>
              <a:rPr lang="en-US" sz="2000">
                <a:latin typeface="Consolas" panose="020B0609020204030204" charset="0"/>
                <a:sym typeface="+mn-ea"/>
              </a:rPr>
              <a:t>'</a:t>
            </a:r>
            <a:r>
              <a:rPr lang="zh-CN" altLang="en-US" sz="2000">
                <a:latin typeface="Consolas" panose="020B0609020204030204" charset="0"/>
              </a:rPr>
              <a:t>,</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latin typeface="Consolas" panose="020B0609020204030204" charset="0"/>
              </a:rPr>
              <a:t> </a:t>
            </a:r>
            <a:r>
              <a:rPr lang="en-US" altLang="zh-CN" sz="2000">
                <a:latin typeface="Consolas" panose="020B0609020204030204" charset="0"/>
              </a:rPr>
              <a:t>               </a:t>
            </a:r>
            <a:r>
              <a:rPr lang="zh-CN" altLang="en-US" sz="2000">
                <a:latin typeface="Consolas" panose="020B0609020204030204" charset="0"/>
              </a:rPr>
              <a:t> </a:t>
            </a:r>
            <a:r>
              <a:rPr lang="en-US" sz="2000">
                <a:latin typeface="Consolas" panose="020B0609020204030204" charset="0"/>
                <a:sym typeface="+mn-ea"/>
              </a:rPr>
              <a:t>'</a:t>
            </a:r>
            <a:r>
              <a:rPr lang="zh-CN" altLang="en-US" sz="2000">
                <a:latin typeface="Consolas" panose="020B0609020204030204" charset="0"/>
              </a:rPr>
              <a:t>Malcolm Reynolds</a:t>
            </a:r>
            <a:r>
              <a:rPr lang="en-US" sz="2000">
                <a:latin typeface="Consolas" panose="020B0609020204030204" charset="0"/>
                <a:sym typeface="+mn-ea"/>
              </a:rPr>
              <a:t>'</a:t>
            </a:r>
            <a:r>
              <a:rPr lang="zh-CN" altLang="en-US" sz="2000">
                <a:latin typeface="Consolas" panose="020B0609020204030204" charset="0"/>
              </a:rPr>
              <a:t>)</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latin typeface="Consolas" panose="020B0609020204030204" charset="0"/>
              </a:rPr>
              <a:t>&gt;&gt;&gt; m.group('first_name')      # 使用命名的子模式</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solidFill>
                  <a:srgbClr val="00B0F0"/>
                </a:solidFill>
                <a:latin typeface="Consolas" panose="020B0609020204030204" charset="0"/>
              </a:rPr>
              <a:t>'Malcolm'</a:t>
            </a:r>
            <a:endParaRPr lang="zh-CN" altLang="en-US" sz="2000">
              <a:solidFill>
                <a:srgbClr val="00B0F0"/>
              </a:solidFill>
              <a:latin typeface="Consolas" panose="020B0609020204030204" charset="0"/>
            </a:endParaRPr>
          </a:p>
          <a:p>
            <a:pPr marL="0" indent="0" defTabSz="914400">
              <a:buSzPct val="70000"/>
              <a:buFont typeface="Wingdings" panose="05000000000000000000" pitchFamily="2" charset="2"/>
              <a:buNone/>
            </a:pPr>
            <a:r>
              <a:rPr lang="zh-CN" altLang="en-US" sz="2000">
                <a:latin typeface="Consolas" panose="020B0609020204030204" charset="0"/>
              </a:rPr>
              <a:t>&gt;&gt;&gt; m.group('last_name')</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solidFill>
                  <a:srgbClr val="00B0F0"/>
                </a:solidFill>
                <a:latin typeface="Consolas" panose="020B0609020204030204" charset="0"/>
              </a:rPr>
              <a:t>'Reynolds'</a:t>
            </a:r>
            <a:endParaRPr lang="zh-CN" altLang="en-US" sz="2000">
              <a:solidFill>
                <a:srgbClr val="00B0F0"/>
              </a:solidFill>
              <a:latin typeface="Consolas" panose="020B0609020204030204" charset="0"/>
            </a:endParaRPr>
          </a:p>
          <a:p>
            <a:pPr marL="0" indent="0" defTabSz="914400">
              <a:buSzPct val="70000"/>
              <a:buFont typeface="Wingdings" panose="05000000000000000000" pitchFamily="2" charset="2"/>
              <a:buNone/>
            </a:pPr>
            <a:r>
              <a:rPr lang="zh-CN" altLang="en-US" sz="2000">
                <a:latin typeface="Consolas" panose="020B0609020204030204" charset="0"/>
              </a:rPr>
              <a:t>&gt;&gt;&gt; m = re.match(r</a:t>
            </a:r>
            <a:r>
              <a:rPr lang="en-US" sz="2000">
                <a:latin typeface="Consolas" panose="020B0609020204030204" charset="0"/>
                <a:sym typeface="+mn-ea"/>
              </a:rPr>
              <a:t>'</a:t>
            </a:r>
            <a:r>
              <a:rPr lang="zh-CN" altLang="en-US" sz="2000">
                <a:latin typeface="Consolas" panose="020B0609020204030204" charset="0"/>
              </a:rPr>
              <a:t>(\d+)\.(\d+)</a:t>
            </a:r>
            <a:r>
              <a:rPr lang="en-US" sz="2000">
                <a:latin typeface="Consolas" panose="020B0609020204030204" charset="0"/>
                <a:sym typeface="+mn-ea"/>
              </a:rPr>
              <a:t>'</a:t>
            </a:r>
            <a:r>
              <a:rPr lang="zh-CN" altLang="en-US" sz="2000">
                <a:latin typeface="Consolas" panose="020B0609020204030204" charset="0"/>
              </a:rPr>
              <a:t>, </a:t>
            </a:r>
            <a:r>
              <a:rPr lang="en-US" sz="2000">
                <a:latin typeface="Consolas" panose="020B0609020204030204" charset="0"/>
                <a:sym typeface="+mn-ea"/>
              </a:rPr>
              <a:t>'</a:t>
            </a:r>
            <a:r>
              <a:rPr lang="zh-CN" altLang="en-US" sz="2000">
                <a:latin typeface="Consolas" panose="020B0609020204030204" charset="0"/>
              </a:rPr>
              <a:t>24.1632</a:t>
            </a:r>
            <a:r>
              <a:rPr lang="en-US" sz="2000">
                <a:latin typeface="Consolas" panose="020B0609020204030204" charset="0"/>
                <a:sym typeface="+mn-ea"/>
              </a:rPr>
              <a:t>'</a:t>
            </a:r>
            <a:r>
              <a:rPr lang="zh-CN" altLang="en-US" sz="2000">
                <a:latin typeface="Consolas" panose="020B0609020204030204" charset="0"/>
              </a:rPr>
              <a:t>)</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latin typeface="Consolas" panose="020B0609020204030204" charset="0"/>
              </a:rPr>
              <a:t>&gt;&gt;&gt; m.groups()                 # 返回所有匹配的子模式（不包括第0个）</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solidFill>
                  <a:srgbClr val="00B0F0"/>
                </a:solidFill>
                <a:latin typeface="Consolas" panose="020B0609020204030204" charset="0"/>
              </a:rPr>
              <a:t>('24', '1632')</a:t>
            </a:r>
            <a:endParaRPr lang="zh-CN" altLang="en-US" sz="2000">
              <a:solidFill>
                <a:srgbClr val="00B0F0"/>
              </a:solidFill>
              <a:latin typeface="Consolas" panose="020B0609020204030204" charset="0"/>
            </a:endParaRPr>
          </a:p>
          <a:p>
            <a:pPr marL="0" indent="0" defTabSz="914400">
              <a:buSzPct val="70000"/>
              <a:buFont typeface="Wingdings" panose="05000000000000000000" pitchFamily="2" charset="2"/>
              <a:buNone/>
            </a:pPr>
            <a:r>
              <a:rPr lang="zh-CN" altLang="en-US" sz="2000">
                <a:latin typeface="Consolas" panose="020B0609020204030204" charset="0"/>
                <a:sym typeface="+mn-ea"/>
              </a:rPr>
              <a:t>&gt;&gt;&gt; m = re.match(r</a:t>
            </a:r>
            <a:r>
              <a:rPr lang="en-US" sz="2000">
                <a:latin typeface="Consolas" panose="020B0609020204030204" charset="0"/>
                <a:sym typeface="+mn-ea"/>
              </a:rPr>
              <a:t>'</a:t>
            </a:r>
            <a:r>
              <a:rPr lang="zh-CN" altLang="en-US" sz="2000">
                <a:latin typeface="Consolas" panose="020B0609020204030204" charset="0"/>
                <a:sym typeface="+mn-ea"/>
              </a:rPr>
              <a:t>(?P&lt;first_name&gt;\w+) (?P&lt;last_name&gt;\w+)</a:t>
            </a:r>
            <a:r>
              <a:rPr lang="en-US" sz="2000">
                <a:latin typeface="Consolas" panose="020B0609020204030204" charset="0"/>
                <a:sym typeface="+mn-ea"/>
              </a:rPr>
              <a:t>'</a:t>
            </a:r>
            <a:r>
              <a:rPr lang="zh-CN" altLang="en-US" sz="2000">
                <a:latin typeface="Consolas" panose="020B0609020204030204" charset="0"/>
                <a:sym typeface="+mn-ea"/>
              </a:rPr>
              <a:t>,</a:t>
            </a:r>
            <a:endParaRPr lang="zh-CN" altLang="en-US" sz="2000">
              <a:latin typeface="Consolas" panose="020B0609020204030204" charset="0"/>
              <a:sym typeface="+mn-ea"/>
            </a:endParaRPr>
          </a:p>
          <a:p>
            <a:pPr marL="0" indent="0" defTabSz="914400">
              <a:buSzPct val="70000"/>
              <a:buFont typeface="Wingdings" panose="05000000000000000000" pitchFamily="2" charset="2"/>
              <a:buNone/>
            </a:pPr>
            <a:r>
              <a:rPr lang="zh-CN" altLang="en-US" sz="2000">
                <a:latin typeface="Consolas" panose="020B0609020204030204" charset="0"/>
                <a:sym typeface="+mn-ea"/>
              </a:rPr>
              <a:t> </a:t>
            </a:r>
            <a:r>
              <a:rPr lang="en-US" altLang="zh-CN" sz="2000">
                <a:latin typeface="Consolas" panose="020B0609020204030204" charset="0"/>
                <a:sym typeface="+mn-ea"/>
              </a:rPr>
              <a:t>               </a:t>
            </a:r>
            <a:r>
              <a:rPr lang="zh-CN" altLang="en-US" sz="2000">
                <a:latin typeface="Consolas" panose="020B0609020204030204" charset="0"/>
                <a:sym typeface="+mn-ea"/>
              </a:rPr>
              <a:t> </a:t>
            </a:r>
            <a:r>
              <a:rPr lang="en-US" sz="2000">
                <a:latin typeface="Consolas" panose="020B0609020204030204" charset="0"/>
                <a:sym typeface="+mn-ea"/>
              </a:rPr>
              <a:t>'</a:t>
            </a:r>
            <a:r>
              <a:rPr lang="zh-CN" altLang="en-US" sz="2000">
                <a:latin typeface="Consolas" panose="020B0609020204030204" charset="0"/>
                <a:sym typeface="+mn-ea"/>
              </a:rPr>
              <a:t>Malcolm Reynolds</a:t>
            </a:r>
            <a:r>
              <a:rPr lang="en-US" sz="2000">
                <a:latin typeface="Consolas" panose="020B0609020204030204" charset="0"/>
                <a:sym typeface="+mn-ea"/>
              </a:rPr>
              <a:t>'</a:t>
            </a:r>
            <a:r>
              <a:rPr lang="zh-CN" altLang="en-US" sz="2000">
                <a:latin typeface="Consolas" panose="020B0609020204030204" charset="0"/>
                <a:sym typeface="+mn-ea"/>
              </a:rPr>
              <a:t>)</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latin typeface="Consolas" panose="020B0609020204030204" charset="0"/>
                <a:sym typeface="+mn-ea"/>
              </a:rPr>
              <a:t>&gt;&gt;&gt; m.groupdict()              # 以字典形式返回匹配的结果</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solidFill>
                  <a:srgbClr val="00B0F0"/>
                </a:solidFill>
                <a:latin typeface="Consolas" panose="020B0609020204030204" charset="0"/>
                <a:sym typeface="+mn-ea"/>
              </a:rPr>
              <a:t>{'first_name': 'Malcolm', 'last_name': 'Reynolds'}</a:t>
            </a:r>
            <a:endParaRPr lang="zh-CN" altLang="en-US" sz="2000">
              <a:solidFill>
                <a:srgbClr val="00B0F0"/>
              </a:solidFill>
              <a:latin typeface="Consolas" panose="020B060902020403020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8.4  Match</a:t>
            </a:r>
            <a:r>
              <a:rPr lang="zh-CN" altLang="en-US">
                <a:sym typeface="+mn-ea"/>
              </a:rPr>
              <a:t>对象</a:t>
            </a:r>
            <a:endParaRPr lang="zh-CN" altLang="en-US"/>
          </a:p>
        </p:txBody>
      </p:sp>
      <p:sp>
        <p:nvSpPr>
          <p:cNvPr id="3" name="内容占位符 2"/>
          <p:cNvSpPr>
            <a:spLocks noGrp="1"/>
          </p:cNvSpPr>
          <p:nvPr>
            <p:ph idx="1"/>
          </p:nvPr>
        </p:nvSpPr>
        <p:spPr/>
        <p:txBody>
          <a:bodyPr>
            <a:normAutofit/>
          </a:bodyPr>
          <a:p>
            <a:pPr marL="0" indent="0" defTabSz="914400">
              <a:buSzPct val="70000"/>
              <a:buFont typeface="Wingdings" panose="05000000000000000000" pitchFamily="2" charset="2"/>
              <a:buNone/>
            </a:pPr>
            <a:r>
              <a:rPr lang="zh-CN" altLang="en-US" sz="2000">
                <a:latin typeface="Consolas" panose="020B0609020204030204" charset="0"/>
                <a:sym typeface="+mn-ea"/>
              </a:rPr>
              <a:t>&gt;&gt;&gt; exampleString = '''There should be one-- and preferably only one --obvious way to do it.</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latin typeface="Consolas" panose="020B0609020204030204" charset="0"/>
                <a:sym typeface="+mn-ea"/>
              </a:rPr>
              <a:t>Although that way may not be obvious at first unless you're Dutch.</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latin typeface="Consolas" panose="020B0609020204030204" charset="0"/>
                <a:sym typeface="+mn-ea"/>
              </a:rPr>
              <a:t>Now is better than never.</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latin typeface="Consolas" panose="020B0609020204030204" charset="0"/>
                <a:sym typeface="+mn-ea"/>
              </a:rPr>
              <a:t>Although never is often better than right now.'''</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latin typeface="Consolas" panose="020B0609020204030204" charset="0"/>
                <a:sym typeface="+mn-ea"/>
              </a:rPr>
              <a:t>&gt;&gt;&gt; pattern = re.compile(r'(?&lt;=\w\s)never(?=\s\w)')</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latin typeface="Consolas" panose="020B0609020204030204" charset="0"/>
                <a:sym typeface="+mn-ea"/>
              </a:rPr>
              <a:t>                                # 查找不在句子开头和结尾的</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solidFill>
                  <a:srgbClr val="00B0F0"/>
                </a:solidFill>
                <a:latin typeface="Consolas" panose="020B0609020204030204" charset="0"/>
                <a:sym typeface="+mn-ea"/>
              </a:rPr>
              <a:t>never</a:t>
            </a:r>
            <a:endParaRPr lang="zh-CN" altLang="en-US" sz="2000">
              <a:solidFill>
                <a:srgbClr val="00B0F0"/>
              </a:solidFill>
              <a:latin typeface="Consolas" panose="020B0609020204030204" charset="0"/>
            </a:endParaRPr>
          </a:p>
          <a:p>
            <a:pPr marL="0" indent="0" defTabSz="914400">
              <a:buSzPct val="70000"/>
              <a:buFont typeface="Wingdings" panose="05000000000000000000" pitchFamily="2" charset="2"/>
              <a:buNone/>
            </a:pPr>
            <a:r>
              <a:rPr lang="zh-CN" altLang="en-US" sz="2000">
                <a:latin typeface="Consolas" panose="020B0609020204030204" charset="0"/>
                <a:sym typeface="+mn-ea"/>
              </a:rPr>
              <a:t>&gt;&gt;&gt; matchResult = pattern.search(exampleString)</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latin typeface="Consolas" panose="020B0609020204030204" charset="0"/>
                <a:sym typeface="+mn-ea"/>
              </a:rPr>
              <a:t>&gt;&gt;&gt; matchResult.span()</a:t>
            </a:r>
            <a:endParaRPr lang="zh-CN" altLang="en-US" sz="2000">
              <a:latin typeface="Consolas" panose="020B0609020204030204" charset="0"/>
            </a:endParaRPr>
          </a:p>
          <a:p>
            <a:pPr marL="0" indent="0" defTabSz="914400">
              <a:buSzPct val="70000"/>
              <a:buFont typeface="Wingdings" panose="05000000000000000000" pitchFamily="2" charset="2"/>
              <a:buNone/>
            </a:pPr>
            <a:r>
              <a:rPr lang="zh-CN" altLang="en-US" sz="2000">
                <a:solidFill>
                  <a:srgbClr val="00B0F0"/>
                </a:solidFill>
                <a:latin typeface="Consolas" panose="020B0609020204030204" charset="0"/>
                <a:sym typeface="+mn-ea"/>
              </a:rPr>
              <a:t>(172, 177)</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8.4  Match</a:t>
            </a:r>
            <a:r>
              <a:rPr lang="zh-CN" altLang="en-US">
                <a:sym typeface="+mn-ea"/>
              </a:rPr>
              <a:t>对象</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129026" name="内容占位符 2"/>
          <p:cNvSpPr>
            <a:spLocks noGrp="1"/>
          </p:cNvSpPr>
          <p:nvPr>
            <p:ph idx="1"/>
          </p:nvPr>
        </p:nvSpPr>
        <p:spPr/>
        <p:txBody>
          <a:bodyPr anchor="t"/>
          <a:p>
            <a:pPr marL="0" indent="0" defTabSz="914400">
              <a:spcBef>
                <a:spcPct val="0"/>
              </a:spcBef>
              <a:buSzPct val="70000"/>
              <a:buFont typeface="Wingdings" panose="05000000000000000000" pitchFamily="2" charset="2"/>
              <a:buNone/>
            </a:pPr>
            <a:r>
              <a:rPr lang="zh-CN" altLang="en-US" sz="2000">
                <a:latin typeface="Consolas" panose="020B0609020204030204" charset="0"/>
              </a:rPr>
              <a:t>&gt;&gt;&gt; pattern = re.compile(r'\b(?i)n\w+\b')    # 查找以n或N字母开头的所有单词</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&gt;&gt;&gt; index = 0</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&gt;&gt;&gt; while True:</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    matchResult = pattern.search(exampleString, index)</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    if not matchResult:</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        break</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    print(matchResult.group(0), ':', matchResult.span(0))</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    index = matchResult.end(0)</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solidFill>
                  <a:srgbClr val="00B0F0"/>
                </a:solidFill>
                <a:latin typeface="Consolas" panose="020B0609020204030204" charset="0"/>
              </a:rPr>
              <a:t>not : (92, 95)</a:t>
            </a:r>
            <a:endParaRPr lang="zh-CN" altLang="en-US" sz="2000">
              <a:solidFill>
                <a:srgbClr val="00B0F0"/>
              </a:solidFill>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solidFill>
                  <a:srgbClr val="00B0F0"/>
                </a:solidFill>
                <a:latin typeface="Consolas" panose="020B0609020204030204" charset="0"/>
              </a:rPr>
              <a:t>Now : (137, 140)</a:t>
            </a:r>
            <a:endParaRPr lang="zh-CN" altLang="en-US" sz="2000">
              <a:solidFill>
                <a:srgbClr val="00B0F0"/>
              </a:solidFill>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solidFill>
                  <a:srgbClr val="00B0F0"/>
                </a:solidFill>
                <a:latin typeface="Consolas" panose="020B0609020204030204" charset="0"/>
              </a:rPr>
              <a:t>never : (156, 161)</a:t>
            </a:r>
            <a:endParaRPr lang="zh-CN" altLang="en-US" sz="2000">
              <a:solidFill>
                <a:srgbClr val="00B0F0"/>
              </a:solidFill>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solidFill>
                  <a:srgbClr val="00B0F0"/>
                </a:solidFill>
                <a:latin typeface="Consolas" panose="020B0609020204030204" charset="0"/>
              </a:rPr>
              <a:t>never : (172, 177)</a:t>
            </a:r>
            <a:endParaRPr lang="zh-CN" altLang="en-US" sz="2000">
              <a:solidFill>
                <a:srgbClr val="00B0F0"/>
              </a:solidFill>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solidFill>
                  <a:srgbClr val="00B0F0"/>
                </a:solidFill>
                <a:latin typeface="Consolas" panose="020B0609020204030204" charset="0"/>
              </a:rPr>
              <a:t>now : (205, 208)</a:t>
            </a:r>
            <a:endParaRPr lang="zh-CN" altLang="en-US" sz="2000">
              <a:solidFill>
                <a:srgbClr val="00B0F0"/>
              </a:solidFill>
              <a:latin typeface="Consolas" panose="020B060902020403020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8.4  Match</a:t>
            </a:r>
            <a:r>
              <a:rPr lang="zh-CN" altLang="en-US">
                <a:sym typeface="+mn-ea"/>
              </a:rPr>
              <a:t>对象</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130050" name="内容占位符 2"/>
          <p:cNvSpPr>
            <a:spLocks noGrp="1"/>
          </p:cNvSpPr>
          <p:nvPr>
            <p:ph idx="1"/>
          </p:nvPr>
        </p:nvSpPr>
        <p:spPr/>
        <p:txBody>
          <a:bodyPr anchor="t"/>
          <a:p>
            <a:pPr marL="0" indent="0" defTabSz="914400">
              <a:spcBef>
                <a:spcPct val="0"/>
              </a:spcBef>
              <a:buSzPct val="70000"/>
              <a:buFont typeface="Wingdings" panose="05000000000000000000" pitchFamily="2" charset="2"/>
              <a:buNone/>
            </a:pPr>
            <a:r>
              <a:rPr lang="zh-CN" altLang="en-US" sz="2000">
                <a:latin typeface="Consolas" panose="020B0609020204030204" charset="0"/>
              </a:rPr>
              <a:t>&gt;&gt;&gt; pattern = re.compile(r'(?&lt;!not\s)be\b')</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                                      # 查找前面没有单词not的单词be</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&gt;&gt;&gt; index = 0</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&gt;&gt;&gt; while True:</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    matchResult = pattern.search(exampleString, index)</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    if not matchResult:</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        break</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    print(matchResult.group(0), ':', matchResult.span(0))</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    index = matchResult.end(0)</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solidFill>
                  <a:srgbClr val="00B0F0"/>
                </a:solidFill>
                <a:latin typeface="Consolas" panose="020B0609020204030204" charset="0"/>
              </a:rPr>
              <a:t>be : (13, 15)</a:t>
            </a:r>
            <a:endParaRPr lang="zh-CN" altLang="en-US" sz="2000">
              <a:solidFill>
                <a:srgbClr val="00B0F0"/>
              </a:solidFill>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latin typeface="Consolas" panose="020B0609020204030204" charset="0"/>
              </a:rPr>
              <a:t>&gt;&gt;&gt; exampleString[13:20]              # 验证一下结果是否正确</a:t>
            </a:r>
            <a:endParaRPr lang="zh-CN" altLang="en-US" sz="2000">
              <a:latin typeface="Consolas" panose="020B0609020204030204" charset="0"/>
            </a:endParaRPr>
          </a:p>
          <a:p>
            <a:pPr marL="0" indent="0" defTabSz="914400">
              <a:spcBef>
                <a:spcPct val="0"/>
              </a:spcBef>
              <a:buSzPct val="70000"/>
              <a:buFont typeface="Wingdings" panose="05000000000000000000" pitchFamily="2" charset="2"/>
              <a:buNone/>
            </a:pPr>
            <a:r>
              <a:rPr lang="zh-CN" altLang="en-US" sz="2000">
                <a:solidFill>
                  <a:srgbClr val="00B0F0"/>
                </a:solidFill>
                <a:latin typeface="Consolas" panose="020B0609020204030204" charset="0"/>
              </a:rPr>
              <a:t>'be one-'</a:t>
            </a:r>
            <a:endParaRPr lang="zh-CN" altLang="en-US" sz="2000">
              <a:solidFill>
                <a:srgbClr val="00B0F0"/>
              </a:solidFill>
              <a:latin typeface="Consolas" panose="020B060902020403020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8.4  Match</a:t>
            </a:r>
            <a:r>
              <a:rPr lang="zh-CN" altLang="en-US">
                <a:sym typeface="+mn-ea"/>
              </a:rPr>
              <a:t>对象</a:t>
            </a:r>
            <a:endParaRPr lang="zh-CN" altLang="en-US"/>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131074" name="内容占位符 2"/>
          <p:cNvSpPr>
            <a:spLocks noGrp="1"/>
          </p:cNvSpPr>
          <p:nvPr>
            <p:ph idx="1"/>
          </p:nvPr>
        </p:nvSpPr>
        <p:spPr>
          <a:xfrm>
            <a:off x="838200" y="1350010"/>
            <a:ext cx="10824210" cy="4526280"/>
          </a:xfrm>
        </p:spPr>
        <p:txBody>
          <a:bodyPr anchor="t">
            <a:noAutofit/>
          </a:bodyPr>
          <a:p>
            <a:pPr marL="0" indent="0" defTabSz="914400" fontAlgn="auto">
              <a:lnSpc>
                <a:spcPct val="100000"/>
              </a:lnSpc>
              <a:spcBef>
                <a:spcPts val="400"/>
              </a:spcBef>
              <a:buSzPct val="70000"/>
              <a:buFont typeface="Wingdings" panose="05000000000000000000" pitchFamily="2" charset="2"/>
              <a:buNone/>
            </a:pPr>
            <a:r>
              <a:rPr lang="zh-CN" altLang="en-US" sz="1800">
                <a:latin typeface="Consolas" panose="020B0609020204030204" charset="0"/>
              </a:rPr>
              <a:t>&gt;&gt;&gt; pattern = re.compile(r'(\b\w*(?P&lt;f&gt;\w+)(?P=f)\w*\b)')    # 有连续相同字母的单词</a:t>
            </a:r>
            <a:endParaRPr lang="zh-CN" altLang="en-US" sz="1800">
              <a:latin typeface="Consolas" panose="020B0609020204030204" charset="0"/>
            </a:endParaRPr>
          </a:p>
          <a:p>
            <a:pPr marL="0" indent="0" defTabSz="914400" fontAlgn="auto">
              <a:lnSpc>
                <a:spcPct val="100000"/>
              </a:lnSpc>
              <a:spcBef>
                <a:spcPts val="400"/>
              </a:spcBef>
              <a:buSzPct val="70000"/>
              <a:buFont typeface="Wingdings" panose="05000000000000000000" pitchFamily="2" charset="2"/>
              <a:buNone/>
            </a:pPr>
            <a:r>
              <a:rPr lang="zh-CN" altLang="en-US" sz="1800">
                <a:latin typeface="Consolas" panose="020B0609020204030204" charset="0"/>
              </a:rPr>
              <a:t>&gt;&gt;&gt; index = 0</a:t>
            </a:r>
            <a:endParaRPr lang="zh-CN" altLang="en-US" sz="1800">
              <a:latin typeface="Consolas" panose="020B0609020204030204" charset="0"/>
            </a:endParaRPr>
          </a:p>
          <a:p>
            <a:pPr marL="0" indent="0" defTabSz="914400" fontAlgn="auto">
              <a:lnSpc>
                <a:spcPct val="100000"/>
              </a:lnSpc>
              <a:spcBef>
                <a:spcPts val="400"/>
              </a:spcBef>
              <a:buSzPct val="70000"/>
              <a:buFont typeface="Wingdings" panose="05000000000000000000" pitchFamily="2" charset="2"/>
              <a:buNone/>
            </a:pPr>
            <a:r>
              <a:rPr lang="zh-CN" altLang="en-US" sz="1800">
                <a:latin typeface="Consolas" panose="020B0609020204030204" charset="0"/>
              </a:rPr>
              <a:t>&gt;&gt;&gt; while True:</a:t>
            </a:r>
            <a:endParaRPr lang="zh-CN" altLang="en-US" sz="1800">
              <a:latin typeface="Consolas" panose="020B0609020204030204" charset="0"/>
            </a:endParaRPr>
          </a:p>
          <a:p>
            <a:pPr marL="0" indent="0" defTabSz="914400" fontAlgn="auto">
              <a:lnSpc>
                <a:spcPct val="100000"/>
              </a:lnSpc>
              <a:spcBef>
                <a:spcPts val="400"/>
              </a:spcBef>
              <a:buSzPct val="70000"/>
              <a:buFont typeface="Wingdings" panose="05000000000000000000" pitchFamily="2" charset="2"/>
              <a:buNone/>
            </a:pPr>
            <a:r>
              <a:rPr lang="zh-CN" altLang="en-US" sz="1800">
                <a:latin typeface="Consolas" panose="020B0609020204030204" charset="0"/>
              </a:rPr>
              <a:t>    matchResult = pattern.search(exampleString, index)</a:t>
            </a:r>
            <a:endParaRPr lang="zh-CN" altLang="en-US" sz="1800">
              <a:latin typeface="Consolas" panose="020B0609020204030204" charset="0"/>
            </a:endParaRPr>
          </a:p>
          <a:p>
            <a:pPr marL="0" indent="0" defTabSz="914400" fontAlgn="auto">
              <a:lnSpc>
                <a:spcPct val="100000"/>
              </a:lnSpc>
              <a:spcBef>
                <a:spcPts val="400"/>
              </a:spcBef>
              <a:buSzPct val="70000"/>
              <a:buFont typeface="Wingdings" panose="05000000000000000000" pitchFamily="2" charset="2"/>
              <a:buNone/>
            </a:pPr>
            <a:r>
              <a:rPr lang="zh-CN" altLang="en-US" sz="1800">
                <a:latin typeface="Consolas" panose="020B0609020204030204" charset="0"/>
              </a:rPr>
              <a:t>    if not matchResult:</a:t>
            </a:r>
            <a:endParaRPr lang="zh-CN" altLang="en-US" sz="1800">
              <a:latin typeface="Consolas" panose="020B0609020204030204" charset="0"/>
            </a:endParaRPr>
          </a:p>
          <a:p>
            <a:pPr marL="0" indent="0" defTabSz="914400" fontAlgn="auto">
              <a:lnSpc>
                <a:spcPct val="100000"/>
              </a:lnSpc>
              <a:spcBef>
                <a:spcPts val="400"/>
              </a:spcBef>
              <a:buSzPct val="70000"/>
              <a:buFont typeface="Wingdings" panose="05000000000000000000" pitchFamily="2" charset="2"/>
              <a:buNone/>
            </a:pPr>
            <a:r>
              <a:rPr lang="zh-CN" altLang="en-US" sz="1800">
                <a:latin typeface="Consolas" panose="020B0609020204030204" charset="0"/>
              </a:rPr>
              <a:t>        break</a:t>
            </a:r>
            <a:endParaRPr lang="zh-CN" altLang="en-US" sz="1800">
              <a:latin typeface="Consolas" panose="020B0609020204030204" charset="0"/>
            </a:endParaRPr>
          </a:p>
          <a:p>
            <a:pPr marL="0" indent="0" defTabSz="914400" fontAlgn="auto">
              <a:lnSpc>
                <a:spcPct val="100000"/>
              </a:lnSpc>
              <a:spcBef>
                <a:spcPts val="400"/>
              </a:spcBef>
              <a:buSzPct val="70000"/>
              <a:buFont typeface="Wingdings" panose="05000000000000000000" pitchFamily="2" charset="2"/>
              <a:buNone/>
            </a:pPr>
            <a:r>
              <a:rPr lang="zh-CN" altLang="en-US" sz="1800">
                <a:latin typeface="Consolas" panose="020B0609020204030204" charset="0"/>
              </a:rPr>
              <a:t>    print(matchResult.group(0), ':', matchResult.group(2))</a:t>
            </a:r>
            <a:endParaRPr lang="zh-CN" altLang="en-US" sz="1800">
              <a:latin typeface="Consolas" panose="020B0609020204030204" charset="0"/>
            </a:endParaRPr>
          </a:p>
          <a:p>
            <a:pPr marL="0" indent="0" defTabSz="914400" fontAlgn="auto">
              <a:lnSpc>
                <a:spcPct val="100000"/>
              </a:lnSpc>
              <a:spcBef>
                <a:spcPts val="400"/>
              </a:spcBef>
              <a:buSzPct val="70000"/>
              <a:buFont typeface="Wingdings" panose="05000000000000000000" pitchFamily="2" charset="2"/>
              <a:buNone/>
            </a:pPr>
            <a:r>
              <a:rPr lang="zh-CN" altLang="en-US" sz="1800">
                <a:latin typeface="Consolas" panose="020B0609020204030204" charset="0"/>
              </a:rPr>
              <a:t>    index = matchResult.end(0) + 1</a:t>
            </a:r>
            <a:endParaRPr lang="zh-CN" altLang="en-US" sz="1800">
              <a:latin typeface="Consolas" panose="020B0609020204030204" charset="0"/>
            </a:endParaRPr>
          </a:p>
          <a:p>
            <a:pPr marL="0" indent="0" defTabSz="914400" fontAlgn="auto">
              <a:lnSpc>
                <a:spcPct val="100000"/>
              </a:lnSpc>
              <a:spcBef>
                <a:spcPts val="400"/>
              </a:spcBef>
              <a:buSzPct val="70000"/>
              <a:buFont typeface="Wingdings" panose="05000000000000000000" pitchFamily="2" charset="2"/>
              <a:buNone/>
            </a:pPr>
            <a:r>
              <a:rPr lang="zh-CN" altLang="en-US" sz="1800">
                <a:solidFill>
                  <a:srgbClr val="00B0F0"/>
                </a:solidFill>
                <a:latin typeface="Consolas" panose="020B0609020204030204" charset="0"/>
              </a:rPr>
              <a:t>unless : s</a:t>
            </a:r>
            <a:endParaRPr lang="zh-CN" altLang="en-US" sz="1800">
              <a:solidFill>
                <a:srgbClr val="00B0F0"/>
              </a:solidFill>
              <a:latin typeface="Consolas" panose="020B0609020204030204" charset="0"/>
            </a:endParaRPr>
          </a:p>
          <a:p>
            <a:pPr marL="0" indent="0" defTabSz="914400" fontAlgn="auto">
              <a:lnSpc>
                <a:spcPct val="100000"/>
              </a:lnSpc>
              <a:spcBef>
                <a:spcPts val="400"/>
              </a:spcBef>
              <a:buSzPct val="70000"/>
              <a:buFont typeface="Wingdings" panose="05000000000000000000" pitchFamily="2" charset="2"/>
              <a:buNone/>
            </a:pPr>
            <a:r>
              <a:rPr lang="zh-CN" altLang="en-US" sz="1800">
                <a:solidFill>
                  <a:srgbClr val="00B0F0"/>
                </a:solidFill>
                <a:latin typeface="Consolas" panose="020B0609020204030204" charset="0"/>
              </a:rPr>
              <a:t>better : t</a:t>
            </a:r>
            <a:endParaRPr lang="zh-CN" altLang="en-US" sz="1800">
              <a:solidFill>
                <a:srgbClr val="00B0F0"/>
              </a:solidFill>
              <a:latin typeface="Consolas" panose="020B0609020204030204" charset="0"/>
            </a:endParaRPr>
          </a:p>
          <a:p>
            <a:pPr marL="0" indent="0" defTabSz="914400" fontAlgn="auto">
              <a:lnSpc>
                <a:spcPct val="100000"/>
              </a:lnSpc>
              <a:spcBef>
                <a:spcPts val="400"/>
              </a:spcBef>
              <a:buSzPct val="70000"/>
              <a:buFont typeface="Wingdings" panose="05000000000000000000" pitchFamily="2" charset="2"/>
              <a:buNone/>
            </a:pPr>
            <a:r>
              <a:rPr lang="zh-CN" altLang="en-US" sz="1800">
                <a:solidFill>
                  <a:srgbClr val="00B0F0"/>
                </a:solidFill>
                <a:latin typeface="Consolas" panose="020B0609020204030204" charset="0"/>
              </a:rPr>
              <a:t>better : t</a:t>
            </a:r>
            <a:endParaRPr lang="zh-CN" altLang="en-US" sz="1800">
              <a:solidFill>
                <a:srgbClr val="00B0F0"/>
              </a:solidFill>
              <a:latin typeface="Consolas" panose="020B0609020204030204" charset="0"/>
            </a:endParaRPr>
          </a:p>
          <a:p>
            <a:pPr marL="0" indent="0" defTabSz="914400" fontAlgn="auto">
              <a:lnSpc>
                <a:spcPct val="100000"/>
              </a:lnSpc>
              <a:spcBef>
                <a:spcPts val="400"/>
              </a:spcBef>
              <a:buSzPct val="70000"/>
              <a:buFont typeface="Wingdings" panose="05000000000000000000" pitchFamily="2" charset="2"/>
              <a:buNone/>
            </a:pPr>
            <a:r>
              <a:rPr lang="zh-CN" altLang="en-US" sz="1800">
                <a:latin typeface="Consolas" panose="020B0609020204030204" charset="0"/>
              </a:rPr>
              <a:t>&gt;&gt;&gt; s </a:t>
            </a:r>
            <a:r>
              <a:rPr lang="en-US" altLang="zh-CN" sz="1800">
                <a:latin typeface="Consolas" panose="020B0609020204030204" charset="0"/>
              </a:rPr>
              <a:t>= </a:t>
            </a:r>
            <a:r>
              <a:rPr lang="zh-CN" altLang="en-US" sz="1800">
                <a:latin typeface="Consolas" panose="020B0609020204030204" charset="0"/>
              </a:rPr>
              <a:t>'aabc abcd abbcd abccd abcdd'</a:t>
            </a:r>
            <a:endParaRPr lang="zh-CN" altLang="en-US" sz="1800">
              <a:latin typeface="Consolas" panose="020B0609020204030204" charset="0"/>
            </a:endParaRPr>
          </a:p>
          <a:p>
            <a:pPr marL="0" indent="0" defTabSz="914400" fontAlgn="auto">
              <a:lnSpc>
                <a:spcPct val="100000"/>
              </a:lnSpc>
              <a:spcBef>
                <a:spcPts val="400"/>
              </a:spcBef>
              <a:buSzPct val="70000"/>
              <a:buFont typeface="Wingdings" panose="05000000000000000000" pitchFamily="2" charset="2"/>
              <a:buNone/>
            </a:pPr>
            <a:r>
              <a:rPr lang="zh-CN" altLang="en-US" sz="1800">
                <a:latin typeface="Consolas" panose="020B0609020204030204" charset="0"/>
              </a:rPr>
              <a:t>&gt;&gt;&gt; p</a:t>
            </a:r>
            <a:r>
              <a:rPr lang="en-US" altLang="zh-CN" sz="1800">
                <a:latin typeface="Consolas" panose="020B0609020204030204" charset="0"/>
              </a:rPr>
              <a:t>attern</a:t>
            </a:r>
            <a:r>
              <a:rPr lang="zh-CN" altLang="en-US" sz="1800">
                <a:latin typeface="Consolas" panose="020B0609020204030204" charset="0"/>
              </a:rPr>
              <a:t>.findall(s)</a:t>
            </a:r>
            <a:endParaRPr lang="zh-CN" altLang="en-US" sz="1800">
              <a:latin typeface="Consolas" panose="020B0609020204030204" charset="0"/>
            </a:endParaRPr>
          </a:p>
          <a:p>
            <a:pPr marL="0" indent="0" defTabSz="914400" fontAlgn="auto">
              <a:lnSpc>
                <a:spcPct val="100000"/>
              </a:lnSpc>
              <a:spcBef>
                <a:spcPts val="400"/>
              </a:spcBef>
              <a:buSzPct val="70000"/>
              <a:buFont typeface="Wingdings" panose="05000000000000000000" pitchFamily="2" charset="2"/>
              <a:buNone/>
            </a:pPr>
            <a:r>
              <a:rPr lang="zh-CN" altLang="en-US" sz="1800">
                <a:solidFill>
                  <a:srgbClr val="00B0F0"/>
                </a:solidFill>
                <a:latin typeface="Consolas" panose="020B0609020204030204" charset="0"/>
              </a:rPr>
              <a:t>[('aabc', 'a'), ('abbcd', 'b'), ('abccd', 'c'), ('abcdd', 'd')]</a:t>
            </a:r>
            <a:endParaRPr lang="zh-CN" altLang="en-US" sz="1800">
              <a:solidFill>
                <a:srgbClr val="00B0F0"/>
              </a:solidFill>
              <a:latin typeface="Consolas" panose="020B060902020403020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8.5  </a:t>
            </a:r>
            <a:r>
              <a:rPr lang="zh-CN" altLang="en-US"/>
              <a:t>精彩案例赏析</a:t>
            </a:r>
            <a:endParaRPr lang="zh-CN" altLang="en-US"/>
          </a:p>
        </p:txBody>
      </p:sp>
      <p:sp>
        <p:nvSpPr>
          <p:cNvPr id="3" name="内容占位符 2"/>
          <p:cNvSpPr>
            <a:spLocks noGrp="1"/>
          </p:cNvSpPr>
          <p:nvPr>
            <p:ph idx="1"/>
          </p:nvPr>
        </p:nvSpPr>
        <p:spPr>
          <a:xfrm>
            <a:off x="838200" y="1321435"/>
            <a:ext cx="10515600" cy="4971415"/>
          </a:xfrm>
        </p:spPr>
        <p:txBody>
          <a:bodyPr>
            <a:normAutofit/>
          </a:bodyPr>
          <a:p>
            <a:pPr marL="339090" indent="-339090" fontAlgn="auto">
              <a:lnSpc>
                <a:spcPct val="100000"/>
              </a:lnSpc>
              <a:spcBef>
                <a:spcPts val="0"/>
              </a:spcBef>
            </a:pPr>
            <a:r>
              <a:rPr lang="zh-CN" altLang="en-US" sz="2400" b="1"/>
              <a:t>例8-1</a:t>
            </a:r>
            <a:r>
              <a:rPr lang="zh-CN" altLang="en-US" sz="2400"/>
              <a:t>  使用正则表达式提取字符串中的电话号码。</a:t>
            </a:r>
            <a:r>
              <a:rPr lang="zh-CN" altLang="en-US" sz="2400">
                <a:hlinkClick r:id="rId1" action="ppaction://hlinkfile"/>
              </a:rPr>
              <a:t>code\例8-1.py</a:t>
            </a:r>
            <a:endParaRPr lang="zh-CN" altLang="en-US" sz="2400"/>
          </a:p>
          <a:p>
            <a:pPr marL="0" indent="0" fontAlgn="auto">
              <a:lnSpc>
                <a:spcPct val="100000"/>
              </a:lnSpc>
              <a:spcBef>
                <a:spcPts val="0"/>
              </a:spcBef>
              <a:buNone/>
            </a:pPr>
            <a:r>
              <a:rPr lang="zh-CN" altLang="en-US" sz="2000">
                <a:latin typeface="Consolas" panose="020B0609020204030204" charset="0"/>
                <a:cs typeface="Consolas" panose="020B0609020204030204" charset="0"/>
              </a:rPr>
              <a:t>import re</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在三引号内每行后面加反斜线，表示不换行</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telNumber = '''Suppose my Phone No. is 0535-1234567,\</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yours is 010-12345678,\</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his is 025-87654321.'''</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pattern = r'\d{3,4}-\d{7,8}'</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print(re.findall(pattern, telNumber))</a:t>
            </a:r>
            <a:endParaRPr lang="zh-CN" altLang="en-US" sz="20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8.5  </a:t>
            </a:r>
            <a:r>
              <a:rPr lang="zh-CN" altLang="en-US">
                <a:sym typeface="+mn-ea"/>
              </a:rPr>
              <a:t>精彩案例赏析</a:t>
            </a:r>
            <a:endParaRPr lang="zh-CN" altLang="en-US"/>
          </a:p>
        </p:txBody>
      </p:sp>
      <p:sp>
        <p:nvSpPr>
          <p:cNvPr id="3" name="内容占位符 2"/>
          <p:cNvSpPr>
            <a:spLocks noGrp="1"/>
          </p:cNvSpPr>
          <p:nvPr>
            <p:ph idx="1"/>
          </p:nvPr>
        </p:nvSpPr>
        <p:spPr>
          <a:xfrm>
            <a:off x="838200" y="1321435"/>
            <a:ext cx="10515600" cy="5250180"/>
          </a:xfrm>
        </p:spPr>
        <p:txBody>
          <a:bodyPr>
            <a:normAutofit/>
          </a:bodyPr>
          <a:p>
            <a:pPr fontAlgn="auto">
              <a:lnSpc>
                <a:spcPct val="100000"/>
              </a:lnSpc>
              <a:spcBef>
                <a:spcPts val="0"/>
              </a:spcBef>
            </a:pPr>
            <a:r>
              <a:rPr lang="zh-CN" altLang="en-US" b="1"/>
              <a:t>例8-</a:t>
            </a:r>
            <a:r>
              <a:rPr lang="en-US" altLang="zh-CN" b="1"/>
              <a:t>2</a:t>
            </a:r>
            <a:r>
              <a:rPr lang="zh-CN" altLang="en-US"/>
              <a:t>  使用正则表达式批量检查网页文件是否被嵌入iframe框架。</a:t>
            </a:r>
            <a:r>
              <a:rPr lang="zh-CN" altLang="en-US">
                <a:hlinkClick r:id="rId1" action="ppaction://hlinkfile"/>
              </a:rPr>
              <a:t>code\例8-2.py</a:t>
            </a:r>
            <a:endParaRPr lang="zh-CN" altLang="en-US"/>
          </a:p>
          <a:p>
            <a:pPr marL="0" indent="0" fontAlgn="auto">
              <a:lnSpc>
                <a:spcPct val="100000"/>
              </a:lnSpc>
              <a:spcBef>
                <a:spcPts val="0"/>
              </a:spcBef>
              <a:buNone/>
            </a:pPr>
            <a:r>
              <a:rPr lang="zh-CN" altLang="en-US" sz="1800">
                <a:latin typeface="Consolas" panose="020B0609020204030204" charset="0"/>
              </a:rPr>
              <a:t>import os</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import re</a:t>
            </a:r>
            <a:endParaRPr lang="zh-CN" altLang="en-US" sz="1800">
              <a:latin typeface="Consolas" panose="020B0609020204030204" charset="0"/>
            </a:endParaRPr>
          </a:p>
          <a:p>
            <a:pPr marL="0" indent="0" fontAlgn="auto">
              <a:lnSpc>
                <a:spcPct val="100000"/>
              </a:lnSpc>
              <a:spcBef>
                <a:spcPts val="0"/>
              </a:spcBef>
              <a:buNone/>
            </a:pP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def detectIframe(fn):</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with open(fn, encoding='utf8') as fp:</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a:t>
            </a:r>
            <a:r>
              <a:rPr lang="en-US" altLang="zh-CN" sz="1800">
                <a:latin typeface="Consolas" panose="020B0609020204030204" charset="0"/>
              </a:rPr>
              <a:t>content = fp.read()</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 正则表达式</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m = re.findall(r'&lt;iframe\s+src=.*?&gt;&lt;/iframe&gt;', content)</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if m:</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 返回文件名和被嵌入的框架</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return {fn:m}</a:t>
            </a:r>
            <a:endParaRPr lang="zh-CN" altLang="en-US" sz="1800">
              <a:latin typeface="Consolas" panose="020B0609020204030204" charset="0"/>
            </a:endParaRPr>
          </a:p>
          <a:p>
            <a:pPr marL="0" indent="0" fontAlgn="auto">
              <a:lnSpc>
                <a:spcPct val="100000"/>
              </a:lnSpc>
              <a:spcBef>
                <a:spcPts val="0"/>
              </a:spcBef>
              <a:buNone/>
            </a:pPr>
            <a:r>
              <a:rPr lang="zh-CN" altLang="en-US" sz="1800">
                <a:latin typeface="Consolas" panose="020B0609020204030204" charset="0"/>
              </a:rPr>
              <a:t>    return False</a:t>
            </a:r>
            <a:endParaRPr lang="zh-CN" altLang="en-US" sz="18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8.5  </a:t>
            </a:r>
            <a:r>
              <a:rPr lang="zh-CN" altLang="en-US">
                <a:sym typeface="+mn-ea"/>
              </a:rPr>
              <a:t>精彩案例赏析</a:t>
            </a:r>
            <a:endParaRPr lang="zh-CN" altLang="en-US"/>
          </a:p>
        </p:txBody>
      </p:sp>
      <p:sp>
        <p:nvSpPr>
          <p:cNvPr id="3" name="内容占位符 2"/>
          <p:cNvSpPr>
            <a:spLocks noGrp="1"/>
          </p:cNvSpPr>
          <p:nvPr>
            <p:ph idx="1"/>
          </p:nvPr>
        </p:nvSpPr>
        <p:spPr/>
        <p:txBody>
          <a:bodyPr>
            <a:normAutofit/>
          </a:bodyPr>
          <a:p>
            <a:pPr marL="0" indent="0" fontAlgn="auto">
              <a:lnSpc>
                <a:spcPct val="100000"/>
              </a:lnSpc>
              <a:spcBef>
                <a:spcPts val="0"/>
              </a:spcBef>
              <a:buNone/>
            </a:pPr>
            <a:r>
              <a:rPr lang="zh-CN" altLang="en-US" sz="2000">
                <a:latin typeface="Consolas" panose="020B0609020204030204" charset="0"/>
              </a:rPr>
              <a:t># 遍历当前文件夹中所有html和htm文件并检查是否被嵌入框架</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for fn in (f for f in os.listdir('.') if f.endswith(('.html','.htm'))):</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r = detectIframe(fn)</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if not r:</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continue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 输出检查结果</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for k, v in r.items():</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print(k)</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for vv in v:</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print('\t', vv)</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8.5  </a:t>
            </a:r>
            <a:r>
              <a:rPr lang="zh-CN" altLang="en-US">
                <a:sym typeface="+mn-ea"/>
              </a:rPr>
              <a:t>精彩案例赏析</a:t>
            </a:r>
            <a:endParaRPr lang="zh-CN" altLang="en-US"/>
          </a:p>
        </p:txBody>
      </p:sp>
      <p:sp>
        <p:nvSpPr>
          <p:cNvPr id="3" name="内容占位符 2"/>
          <p:cNvSpPr>
            <a:spLocks noGrp="1"/>
          </p:cNvSpPr>
          <p:nvPr>
            <p:ph idx="1"/>
          </p:nvPr>
        </p:nvSpPr>
        <p:spPr>
          <a:xfrm>
            <a:off x="838200" y="1321435"/>
            <a:ext cx="10904220" cy="4639945"/>
          </a:xfrm>
        </p:spPr>
        <p:txBody>
          <a:bodyPr>
            <a:normAutofit fontScale="40000"/>
          </a:bodyPr>
          <a:p>
            <a:pPr>
              <a:lnSpc>
                <a:spcPct val="120000"/>
              </a:lnSpc>
            </a:pPr>
            <a:r>
              <a:rPr lang="zh-CN" altLang="en-US" sz="6000" b="1"/>
              <a:t>例8-3</a:t>
            </a:r>
            <a:r>
              <a:rPr lang="zh-CN" altLang="en-US" sz="6000"/>
              <a:t>  在手机上安装“学习强国”APP，然后搜索一篇文章“气壮山河的凯歌 永载史册的丰碑——写在中国人民志愿军抗美援朝出国作战70周年之际”，复制其中的文字并保存到当前文件夹中以文章标题为名的记事本文件中。然后编写程序，使用正则表达式提取其中的关键日期和事件。</a:t>
            </a:r>
            <a:r>
              <a:rPr lang="zh-CN" altLang="en-US" sz="6000">
                <a:hlinkClick r:id="rId1" action="ppaction://hlinkfile"/>
              </a:rPr>
              <a:t>code\例8-3.py</a:t>
            </a:r>
            <a:endParaRPr lang="zh-CN" altLang="en-US" sz="6000"/>
          </a:p>
          <a:p>
            <a:pPr marL="0" indent="0" fontAlgn="auto">
              <a:lnSpc>
                <a:spcPct val="100000"/>
              </a:lnSpc>
              <a:spcBef>
                <a:spcPts val="0"/>
              </a:spcBef>
              <a:buNone/>
            </a:pPr>
            <a:r>
              <a:rPr lang="zh-CN" altLang="en-US" sz="3500">
                <a:latin typeface="Consolas" panose="020B0609020204030204" charset="0"/>
                <a:cs typeface="Consolas" panose="020B0609020204030204" charset="0"/>
              </a:rPr>
              <a:t>from re import findall</a:t>
            </a:r>
            <a:endParaRPr lang="zh-CN" altLang="en-US" sz="3500">
              <a:latin typeface="Consolas" panose="020B0609020204030204" charset="0"/>
              <a:cs typeface="Consolas" panose="020B0609020204030204" charset="0"/>
            </a:endParaRPr>
          </a:p>
          <a:p>
            <a:pPr marL="0" indent="0" fontAlgn="auto">
              <a:lnSpc>
                <a:spcPct val="100000"/>
              </a:lnSpc>
              <a:spcBef>
                <a:spcPts val="0"/>
              </a:spcBef>
              <a:buNone/>
            </a:pPr>
            <a:endParaRPr lang="zh-CN" altLang="en-US" sz="3500">
              <a:latin typeface="Consolas" panose="020B0609020204030204" charset="0"/>
              <a:cs typeface="Consolas" panose="020B0609020204030204" charset="0"/>
            </a:endParaRPr>
          </a:p>
          <a:p>
            <a:pPr marL="0" indent="0" fontAlgn="auto">
              <a:lnSpc>
                <a:spcPct val="100000"/>
              </a:lnSpc>
              <a:spcBef>
                <a:spcPts val="0"/>
              </a:spcBef>
              <a:buNone/>
            </a:pPr>
            <a:r>
              <a:rPr lang="zh-CN" altLang="en-US" sz="3500">
                <a:latin typeface="Consolas" panose="020B0609020204030204" charset="0"/>
                <a:cs typeface="Consolas" panose="020B0609020204030204" charset="0"/>
              </a:rPr>
              <a:t>fn = r'气壮山河的凯歌 永载史册的丰碑——写在中国人民志愿军抗美援朝出国作战70周年之际.txt'</a:t>
            </a:r>
            <a:endParaRPr lang="zh-CN" altLang="en-US" sz="3500">
              <a:latin typeface="Consolas" panose="020B0609020204030204" charset="0"/>
              <a:cs typeface="Consolas" panose="020B0609020204030204" charset="0"/>
            </a:endParaRPr>
          </a:p>
          <a:p>
            <a:pPr marL="0" indent="0" fontAlgn="auto">
              <a:lnSpc>
                <a:spcPct val="100000"/>
              </a:lnSpc>
              <a:spcBef>
                <a:spcPts val="0"/>
              </a:spcBef>
              <a:buNone/>
            </a:pPr>
            <a:endParaRPr lang="zh-CN" altLang="en-US" sz="3500">
              <a:latin typeface="Consolas" panose="020B0609020204030204" charset="0"/>
              <a:cs typeface="Consolas" panose="020B0609020204030204" charset="0"/>
            </a:endParaRPr>
          </a:p>
          <a:p>
            <a:pPr marL="0" indent="0" fontAlgn="auto">
              <a:lnSpc>
                <a:spcPct val="100000"/>
              </a:lnSpc>
              <a:spcBef>
                <a:spcPts val="0"/>
              </a:spcBef>
              <a:buNone/>
            </a:pPr>
            <a:r>
              <a:rPr lang="zh-CN" altLang="en-US" sz="3500">
                <a:latin typeface="Consolas" panose="020B0609020204030204" charset="0"/>
                <a:cs typeface="Consolas" panose="020B0609020204030204" charset="0"/>
              </a:rPr>
              <a:t>with open(fn, encoding='utf8') as fp:</a:t>
            </a:r>
            <a:endParaRPr lang="zh-CN" altLang="en-US" sz="3500">
              <a:latin typeface="Consolas" panose="020B0609020204030204" charset="0"/>
              <a:cs typeface="Consolas" panose="020B0609020204030204" charset="0"/>
            </a:endParaRPr>
          </a:p>
          <a:p>
            <a:pPr marL="0" indent="0" fontAlgn="auto">
              <a:lnSpc>
                <a:spcPct val="100000"/>
              </a:lnSpc>
              <a:spcBef>
                <a:spcPts val="0"/>
              </a:spcBef>
              <a:buNone/>
            </a:pPr>
            <a:r>
              <a:rPr lang="zh-CN" altLang="en-US" sz="3500">
                <a:latin typeface="Consolas" panose="020B0609020204030204" charset="0"/>
                <a:cs typeface="Consolas" panose="020B0609020204030204" charset="0"/>
              </a:rPr>
              <a:t>    content = fp.read()</a:t>
            </a:r>
            <a:endParaRPr lang="zh-CN" altLang="en-US" sz="3500">
              <a:latin typeface="Consolas" panose="020B0609020204030204" charset="0"/>
              <a:cs typeface="Consolas" panose="020B0609020204030204" charset="0"/>
            </a:endParaRPr>
          </a:p>
          <a:p>
            <a:pPr marL="0" indent="0" fontAlgn="auto">
              <a:lnSpc>
                <a:spcPct val="100000"/>
              </a:lnSpc>
              <a:spcBef>
                <a:spcPts val="0"/>
              </a:spcBef>
              <a:buNone/>
            </a:pPr>
            <a:endParaRPr lang="zh-CN" altLang="en-US" sz="3500">
              <a:latin typeface="Consolas" panose="020B0609020204030204" charset="0"/>
              <a:cs typeface="Consolas" panose="020B0609020204030204" charset="0"/>
            </a:endParaRPr>
          </a:p>
          <a:p>
            <a:pPr marL="0" indent="0" fontAlgn="auto">
              <a:lnSpc>
                <a:spcPct val="100000"/>
              </a:lnSpc>
              <a:spcBef>
                <a:spcPts val="0"/>
              </a:spcBef>
              <a:buNone/>
            </a:pPr>
            <a:r>
              <a:rPr lang="zh-CN" altLang="en-US" sz="3500">
                <a:latin typeface="Consolas" panose="020B0609020204030204" charset="0"/>
                <a:cs typeface="Consolas" panose="020B0609020204030204" charset="0"/>
              </a:rPr>
              <a:t>pattern = r'((((\d{4}年)?\d{1,2}月\d{1,2}日)|(\d{4}年)).+?。”?)'</a:t>
            </a:r>
            <a:endParaRPr lang="zh-CN" altLang="en-US" sz="3500">
              <a:latin typeface="Consolas" panose="020B0609020204030204" charset="0"/>
              <a:cs typeface="Consolas" panose="020B0609020204030204" charset="0"/>
            </a:endParaRPr>
          </a:p>
          <a:p>
            <a:pPr marL="0" indent="0" fontAlgn="auto">
              <a:lnSpc>
                <a:spcPct val="100000"/>
              </a:lnSpc>
              <a:spcBef>
                <a:spcPts val="0"/>
              </a:spcBef>
              <a:buNone/>
            </a:pPr>
            <a:r>
              <a:rPr lang="zh-CN" altLang="en-US" sz="3500">
                <a:latin typeface="Consolas" panose="020B0609020204030204" charset="0"/>
                <a:cs typeface="Consolas" panose="020B0609020204030204" charset="0"/>
              </a:rPr>
              <a:t>result = findall(pattern, content)</a:t>
            </a:r>
            <a:endParaRPr lang="zh-CN" altLang="en-US" sz="3500">
              <a:latin typeface="Consolas" panose="020B0609020204030204" charset="0"/>
              <a:cs typeface="Consolas" panose="020B0609020204030204" charset="0"/>
            </a:endParaRPr>
          </a:p>
          <a:p>
            <a:pPr marL="0" indent="0" fontAlgn="auto">
              <a:lnSpc>
                <a:spcPct val="100000"/>
              </a:lnSpc>
              <a:spcBef>
                <a:spcPts val="0"/>
              </a:spcBef>
              <a:buNone/>
            </a:pPr>
            <a:r>
              <a:rPr lang="zh-CN" altLang="en-US" sz="3500">
                <a:latin typeface="Consolas" panose="020B0609020204030204" charset="0"/>
                <a:cs typeface="Consolas" panose="020B0609020204030204" charset="0"/>
              </a:rPr>
              <a:t>for item in result:</a:t>
            </a:r>
            <a:endParaRPr lang="zh-CN" altLang="en-US" sz="3500">
              <a:latin typeface="Consolas" panose="020B0609020204030204" charset="0"/>
              <a:cs typeface="Consolas" panose="020B0609020204030204" charset="0"/>
            </a:endParaRPr>
          </a:p>
          <a:p>
            <a:pPr marL="0" indent="0" fontAlgn="auto">
              <a:lnSpc>
                <a:spcPct val="100000"/>
              </a:lnSpc>
              <a:spcBef>
                <a:spcPts val="0"/>
              </a:spcBef>
              <a:buNone/>
            </a:pPr>
            <a:r>
              <a:rPr lang="zh-CN" altLang="en-US" sz="3500">
                <a:latin typeface="Consolas" panose="020B0609020204030204" charset="0"/>
                <a:cs typeface="Consolas" panose="020B0609020204030204" charset="0"/>
              </a:rPr>
              <a:t>    if '）' not in item[0]:</a:t>
            </a:r>
            <a:endParaRPr lang="zh-CN" altLang="en-US" sz="3500">
              <a:latin typeface="Consolas" panose="020B0609020204030204" charset="0"/>
              <a:cs typeface="Consolas" panose="020B0609020204030204" charset="0"/>
            </a:endParaRPr>
          </a:p>
          <a:p>
            <a:pPr marL="0" indent="0" fontAlgn="auto">
              <a:lnSpc>
                <a:spcPct val="100000"/>
              </a:lnSpc>
              <a:spcBef>
                <a:spcPts val="0"/>
              </a:spcBef>
              <a:buNone/>
            </a:pPr>
            <a:r>
              <a:rPr lang="zh-CN" altLang="en-US" sz="3500">
                <a:latin typeface="Consolas" panose="020B0609020204030204" charset="0"/>
                <a:cs typeface="Consolas" panose="020B0609020204030204" charset="0"/>
              </a:rPr>
              <a:t>        print(item[0])</a:t>
            </a:r>
            <a:endParaRPr lang="zh-CN" altLang="en-US" sz="35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tags/tag1.xml><?xml version="1.0" encoding="utf-8"?>
<p:tagLst xmlns:p="http://schemas.openxmlformats.org/presentationml/2006/main">
  <p:tag name="KSO_WM_UNIT_TABLE_BEAUTIFY" val="smartTable{4344671a-89f4-4fe4-9b92-23407c1ae2c8}"/>
  <p:tag name="TABLE_ENDDRAG_ORIGIN_RECT" val="752*429"/>
  <p:tag name="TABLE_ENDDRAG_RECT" val="65*99*752*429"/>
</p:tagLst>
</file>

<file path=ppt/tags/tag2.xml><?xml version="1.0" encoding="utf-8"?>
<p:tagLst xmlns:p="http://schemas.openxmlformats.org/presentationml/2006/main">
  <p:tag name="KSO_WM_UNIT_TABLE_BEAUTIFY" val="smartTable{cd2c52ee-1c11-41a4-b085-d75fb6679b5a}"/>
</p:tagLst>
</file>

<file path=ppt/tags/tag3.xml><?xml version="1.0" encoding="utf-8"?>
<p:tagLst xmlns:p="http://schemas.openxmlformats.org/presentationml/2006/main">
  <p:tag name="KSO_WM_UNIT_TABLE_BEAUTIFY" val="smartTable{3cd2bcf9-c23c-4d77-9deb-c2129ac27822}"/>
</p:tagLst>
</file>

<file path=ppt/tags/tag4.xml><?xml version="1.0" encoding="utf-8"?>
<p:tagLst xmlns:p="http://schemas.openxmlformats.org/presentationml/2006/main">
  <p:tag name="KSO_WM_UNIT_TABLE_BEAUTIFY" val="smartTable{9d52a2cc-cbee-4a93-b265-c8abab6b6f77}"/>
</p:tagLst>
</file>

<file path=ppt/tags/tag5.xml><?xml version="1.0" encoding="utf-8"?>
<p:tagLst xmlns:p="http://schemas.openxmlformats.org/presentationml/2006/main">
  <p:tag name="KSO_WPP_MARK_KEY" val="5dccf9a2-fb88-486c-9adb-d91e14c57f79"/>
  <p:tag name="COMMONDATA" val="eyJoZGlkIjoiZWMwMWVkZjUwNGEzMTlmNGFmZGY4NzhhZDIwNTc5Zm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16783</Words>
  <Application>WPS 演示</Application>
  <PresentationFormat>宽屏</PresentationFormat>
  <Paragraphs>792</Paragraphs>
  <Slides>44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44</vt:i4>
      </vt:variant>
    </vt:vector>
  </HeadingPairs>
  <TitlesOfParts>
    <vt:vector size="55" baseType="lpstr">
      <vt:lpstr>Arial</vt:lpstr>
      <vt:lpstr>宋体</vt:lpstr>
      <vt:lpstr>Wingdings</vt:lpstr>
      <vt:lpstr>Consolas</vt:lpstr>
      <vt:lpstr>Wingdings</vt:lpstr>
      <vt:lpstr>Calibri Light</vt:lpstr>
      <vt:lpstr>Calibri</vt:lpstr>
      <vt:lpstr>微软雅黑</vt:lpstr>
      <vt:lpstr>Arial Unicode MS</vt:lpstr>
      <vt:lpstr>Times New Roman</vt:lpstr>
      <vt:lpstr>Office 主题</vt:lpstr>
      <vt:lpstr>第8章  正则表达式</vt:lpstr>
      <vt:lpstr>第8章  正则表达式</vt:lpstr>
      <vt:lpstr>8.1  正则表达式语法</vt:lpstr>
      <vt:lpstr>8.1.1  正则表达式基本语法</vt:lpstr>
      <vt:lpstr>8.1.1  正则表达式基本语法</vt:lpstr>
      <vt:lpstr>8.1.1  正则表达式基本语法</vt:lpstr>
      <vt:lpstr>8.1.2  正则表达式扩展语法</vt:lpstr>
      <vt:lpstr>8.1.2  正则表达式扩展语法</vt:lpstr>
      <vt:lpstr>8.1.3  正则表达式集锦</vt:lpstr>
      <vt:lpstr>8.1.3  正则表达式集锦</vt:lpstr>
      <vt:lpstr>8.1.3  正则表达式集锦</vt:lpstr>
      <vt:lpstr>8.1.3  正则表达式集锦</vt:lpstr>
      <vt:lpstr>8.2  使用正则表达式模块re的函数处理字符串</vt:lpstr>
      <vt:lpstr>8.2  使用正则表达式模块re的函数处理字符串</vt:lpstr>
      <vt:lpstr>8.2  使用正则表达式模块re的函数处理字符串</vt:lpstr>
      <vt:lpstr>8.2  使用正则表达式模块re的函数处理字符串</vt:lpstr>
      <vt:lpstr>8.2  使用正则表达式模块re的函数处理字符串</vt:lpstr>
      <vt:lpstr>8.2  使用正则表达式模块re的函数处理字符串</vt:lpstr>
      <vt:lpstr>8.2  使用正则表达式模块re的函数处理字符串</vt:lpstr>
      <vt:lpstr>8.2  使用正则表达式模块re的函数处理字符串</vt:lpstr>
      <vt:lpstr>8.2  使用正则表达式模块re的函数处理字符串</vt:lpstr>
      <vt:lpstr>8.2  使用正则表达式模块re的函数处理字符串</vt:lpstr>
      <vt:lpstr>8.2  使用正则表达式模块re的函数处理字符串</vt:lpstr>
      <vt:lpstr>8.3  使用正则表达式对象处理字符串</vt:lpstr>
      <vt:lpstr>8.3  使用正则表达式对象处理字符串</vt:lpstr>
      <vt:lpstr>8.3  使用正则表达式对象处理字符串</vt:lpstr>
      <vt:lpstr>8.3  使用正则表达式对象处理字符串</vt:lpstr>
      <vt:lpstr>8.3  使用正则表达式对象处理字符串</vt:lpstr>
      <vt:lpstr>8.3  使用正则表达式对象处理字符串</vt:lpstr>
      <vt:lpstr>8.3  使用正则表达式对象处理字符串</vt:lpstr>
      <vt:lpstr>8.3  使用正则表达式对象处理字符串</vt:lpstr>
      <vt:lpstr>8.3  使用正则表达式对象处理字符串</vt:lpstr>
      <vt:lpstr>8.3  使用正则表达式对象处理字符串</vt:lpstr>
      <vt:lpstr>8.4  Match对象</vt:lpstr>
      <vt:lpstr>8.4  Match对象</vt:lpstr>
      <vt:lpstr>8.4  Match对象</vt:lpstr>
      <vt:lpstr>8.4  Match对象</vt:lpstr>
      <vt:lpstr>8.4  Match对象</vt:lpstr>
      <vt:lpstr>8.4  Match对象</vt:lpstr>
      <vt:lpstr>8.4  Match对象</vt:lpstr>
      <vt:lpstr>8.5  精彩案例赏析</vt:lpstr>
      <vt:lpstr>8.5  精彩案例赏析</vt:lpstr>
      <vt:lpstr>8.5  精彩案例赏析</vt:lpstr>
      <vt:lpstr>8.5  精彩案例赏析</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Dong</dc:creator>
  <cp:lastModifiedBy>文文</cp:lastModifiedBy>
  <cp:revision>394</cp:revision>
  <dcterms:created xsi:type="dcterms:W3CDTF">2015-05-05T08:02:00Z</dcterms:created>
  <dcterms:modified xsi:type="dcterms:W3CDTF">2025-05-18T14:23:54Z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2052-12.1.0.21171</vt:lpwstr>
  </property>
  <property fmtid="{D5CDD505-2E9C-101B-9397-08002B2CF9AE}" pid="3" name="ICV">
    <vt:lpwstr>93DC901669E04E438AD69E79C9381ABA_13</vt:lpwstr>
  </property>
</Properties>
</file>