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2" r:id="rId6"/>
    <p:sldId id="263" r:id="rId7"/>
    <p:sldId id="259" r:id="rId8"/>
    <p:sldId id="266" r:id="rId9"/>
    <p:sldId id="264" r:id="rId10"/>
    <p:sldId id="260" r:id="rId11"/>
    <p:sldId id="265" r:id="rId12"/>
    <p:sldId id="261" r:id="rId13"/>
    <p:sldId id="270" r:id="rId14"/>
    <p:sldId id="267" r:id="rId15"/>
    <p:sldId id="271" r:id="rId16"/>
    <p:sldId id="268" r:id="rId17"/>
    <p:sldId id="269" r:id="rId18"/>
  </p:sldIdLst>
  <p:sldSz cx="9144000" cy="6858000" type="screen4x3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143" y="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grpSp>
        <p:nvGrpSpPr>
          <p:cNvPr id="2" name="组合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任意多边形 6"/>
            <p:cNvSpPr/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任意多边形 7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任意多边形 10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日期占位符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8AFDE33-0F20-4C32-AC04-57C9D0D1A4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A29977D-0C67-40EF-B673-DB5D0069DC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DE33-0F20-4C32-AC04-57C9D0D1A4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9977D-0C67-40EF-B673-DB5D0069DC49}" type="slidenum">
              <a:rPr lang="zh-CN" altLang="en-US" smtClean="0"/>
            </a:fld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DE33-0F20-4C32-AC04-57C9D0D1A4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9977D-0C67-40EF-B673-DB5D0069DC49}" type="slidenum">
              <a:rPr lang="zh-CN" altLang="en-US" smtClean="0"/>
            </a:fld>
            <a:endParaRPr lang="zh-CN" altLang="en-US"/>
          </a:p>
        </p:txBody>
      </p:sp>
      <p:sp>
        <p:nvSpPr>
          <p:cNvPr id="7" name="燕尾形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燕尾形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DE33-0F20-4C32-AC04-57C9D0D1A4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9977D-0C67-40EF-B673-DB5D0069DC49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DE33-0F20-4C32-AC04-57C9D0D1A4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9977D-0C67-40EF-B673-DB5D0069DC49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DE33-0F20-4C32-AC04-57C9D0D1A4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9977D-0C67-40EF-B673-DB5D0069DC49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DE33-0F20-4C32-AC04-57C9D0D1A4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9977D-0C67-40EF-B673-DB5D0069DC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98AFDE33-0F20-4C32-AC04-57C9D0D1A4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9977D-0C67-40EF-B673-DB5D0069DC49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8AFDE33-0F20-4C32-AC04-57C9D0D1A4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29977D-0C67-40EF-B673-DB5D0069DC49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任意多边形 7"/>
          <p:cNvSpPr/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任意多边形 8"/>
          <p:cNvSpPr/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直角三角形 9"/>
          <p:cNvSpPr/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燕尾形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燕尾形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DE33-0F20-4C32-AC04-57C9D0D1A4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9977D-0C67-40EF-B673-DB5D0069DC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FDE33-0F20-4C32-AC04-57C9D0D1A4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9977D-0C67-40EF-B673-DB5D0069DC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12"/>
          <p:cNvSpPr/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任意多边形 11"/>
          <p:cNvSpPr/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直角三角形 13"/>
          <p:cNvSpPr/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  <a:p>
            <a:pPr lvl="1" eaLnBrk="1" latinLnBrk="0" hangingPunct="1"/>
            <a:r>
              <a:rPr kumimoji="0" lang="zh-CN" altLang="en-US" smtClean="0"/>
              <a:t>第二级</a:t>
            </a:r>
            <a:endParaRPr kumimoji="0" lang="zh-CN" altLang="en-US" smtClean="0"/>
          </a:p>
          <a:p>
            <a:pPr lvl="2" eaLnBrk="1" latinLnBrk="0" hangingPunct="1"/>
            <a:r>
              <a:rPr kumimoji="0" lang="zh-CN" altLang="en-US" smtClean="0"/>
              <a:t>第三级</a:t>
            </a:r>
            <a:endParaRPr kumimoji="0" lang="zh-CN" altLang="en-US" smtClean="0"/>
          </a:p>
          <a:p>
            <a:pPr lvl="3" eaLnBrk="1" latinLnBrk="0" hangingPunct="1"/>
            <a:r>
              <a:rPr kumimoji="0" lang="zh-CN" altLang="en-US" smtClean="0"/>
              <a:t>第四级</a:t>
            </a:r>
            <a:endParaRPr kumimoji="0" lang="zh-CN" altLang="en-US" smtClean="0"/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fld id="{98AFDE33-0F20-4C32-AC04-57C9D0D1A4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2A29977D-0C67-40EF-B673-DB5D0069DC4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65760" indent="-255905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 panose="05040102010807070707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665" indent="-228600" algn="l" rtl="0" eaLnBrk="1" latinLnBrk="0" hangingPunct="1">
        <a:spcBef>
          <a:spcPts val="325"/>
        </a:spcBef>
        <a:buClr>
          <a:schemeClr val="accent1"/>
        </a:buClr>
        <a:buFont typeface="Verdana" panose="020B0604030504040204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790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 panose="05020102010507070707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 panose="05020102010507070707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 panose="05020102010507070707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5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MYSQL</a:t>
            </a:r>
            <a:r>
              <a:rPr lang="zh-CN" altLang="en-US" dirty="0" smtClean="0"/>
              <a:t>应用教程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zh-CN" altLang="en-US" dirty="0" smtClean="0"/>
              <a:t>九章 日志管理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错误日志</a:t>
            </a:r>
            <a:endParaRPr lang="en-US" altLang="zh-CN" dirty="0" smtClean="0"/>
          </a:p>
          <a:p>
            <a:r>
              <a:rPr lang="zh-CN" altLang="en-US" dirty="0" smtClean="0"/>
              <a:t>慢查日志</a:t>
            </a:r>
            <a:endParaRPr lang="en-US" altLang="zh-CN" dirty="0" smtClean="0"/>
          </a:p>
          <a:p>
            <a:r>
              <a:rPr lang="zh-CN" altLang="en-US" dirty="0" smtClean="0">
                <a:sym typeface="+mn-ea"/>
              </a:rPr>
              <a:t>通用日志</a:t>
            </a:r>
            <a:endParaRPr lang="zh-CN" altLang="en-US" dirty="0"/>
          </a:p>
          <a:p>
            <a:r>
              <a:rPr lang="zh-CN" altLang="en-US" dirty="0" smtClean="0"/>
              <a:t>二进制日志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内容提要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错误日志是</a:t>
            </a:r>
            <a:r>
              <a:rPr lang="en-US" altLang="zh-CN" dirty="0" err="1" smtClean="0"/>
              <a:t>mysql</a:t>
            </a:r>
            <a:r>
              <a:rPr lang="zh-CN" altLang="en-US" dirty="0" smtClean="0"/>
              <a:t>数据库中最常用的一种日志。主要来记录</a:t>
            </a:r>
            <a:r>
              <a:rPr lang="en-US" altLang="zh-CN" dirty="0" err="1" smtClean="0"/>
              <a:t>mysql</a:t>
            </a:r>
            <a:r>
              <a:rPr lang="zh-CN" altLang="en-US" dirty="0" smtClean="0"/>
              <a:t>服务的开启、关闭和错误信息。</a:t>
            </a:r>
            <a:endParaRPr lang="en-US" altLang="zh-CN" dirty="0" smtClean="0"/>
          </a:p>
          <a:p>
            <a:r>
              <a:rPr lang="zh-CN" altLang="en-US" dirty="0" smtClean="0"/>
              <a:t>错误日志功能是默认开启的。而且错误日志无法被禁止。</a:t>
            </a:r>
            <a:endParaRPr lang="en-US" altLang="zh-CN" dirty="0" smtClean="0"/>
          </a:p>
          <a:p>
            <a:r>
              <a:rPr lang="zh-CN" altLang="en-US" dirty="0" smtClean="0"/>
              <a:t>错误日志默认存放在</a:t>
            </a:r>
            <a:r>
              <a:rPr lang="en-US" altLang="zh-CN" dirty="0" err="1" smtClean="0"/>
              <a:t>mysql</a:t>
            </a:r>
            <a:r>
              <a:rPr lang="en-US" altLang="zh-CN" dirty="0" smtClean="0"/>
              <a:t>\data</a:t>
            </a:r>
            <a:r>
              <a:rPr lang="zh-CN" altLang="en-US" dirty="0" smtClean="0"/>
              <a:t>目录下，文件名为</a:t>
            </a:r>
            <a:r>
              <a:rPr lang="en-US" altLang="zh-CN" dirty="0" err="1" smtClean="0"/>
              <a:t>mysql</a:t>
            </a:r>
            <a:r>
              <a:rPr lang="zh-CN" altLang="en-US" dirty="0" smtClean="0"/>
              <a:t>服务器的主机名。</a:t>
            </a:r>
            <a:endParaRPr lang="en-US" altLang="zh-CN" dirty="0" smtClean="0"/>
          </a:p>
          <a:p>
            <a:r>
              <a:rPr lang="zh-CN" altLang="en-US" dirty="0" smtClean="0"/>
              <a:t>错误日志的存储位置可以修改。到配置文件</a:t>
            </a:r>
            <a:r>
              <a:rPr lang="en-US" altLang="zh-CN" dirty="0" smtClean="0"/>
              <a:t>my.ini[</a:t>
            </a:r>
            <a:r>
              <a:rPr lang="en-US" altLang="zh-CN" dirty="0" err="1" smtClean="0"/>
              <a:t>mysqld</a:t>
            </a:r>
            <a:r>
              <a:rPr lang="en-US" altLang="zh-CN" dirty="0" smtClean="0"/>
              <a:t>]</a:t>
            </a:r>
            <a:r>
              <a:rPr lang="zh-CN" altLang="en-US" dirty="0" smtClean="0"/>
              <a:t>中添加如下：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  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 </a:t>
            </a:r>
            <a:r>
              <a:rPr lang="zh-CN" altLang="en-US" dirty="0" smtClean="0"/>
              <a:t>错误日志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462" y="5085184"/>
            <a:ext cx="8154538" cy="6287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altLang="zh-CN" sz="2800" b="1" kern="100" dirty="0" err="1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log_error</a:t>
            </a:r>
            <a:r>
              <a:rPr lang="en-US" altLang="zh-CN" sz="2800" b="1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——</a:t>
            </a:r>
            <a:r>
              <a:rPr lang="zh-CN" altLang="en-US" sz="2800" b="1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日志存放的路径</a:t>
            </a:r>
            <a:endParaRPr lang="en-US" altLang="zh-CN" sz="2800" b="1" kern="100" dirty="0" smtClean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zh-CN" altLang="zh-CN" sz="2800" b="1" kern="100" dirty="0" smtClean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800" b="1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log_error_verbosity=[1,2,3]——</a:t>
            </a:r>
            <a:r>
              <a:rPr lang="zh-CN" altLang="en-US" sz="2800" b="1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存放内容的级别</a:t>
            </a:r>
            <a:endParaRPr lang="en-US" altLang="zh-CN" sz="2800" b="1" kern="100" dirty="0" smtClean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28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109855" indent="0" algn="just">
              <a:buNone/>
            </a:pPr>
            <a:endParaRPr lang="en-US" altLang="zh-CN" sz="2800" b="1" kern="100" dirty="0" smtClean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109855" indent="0" algn="just">
              <a:buNone/>
            </a:pPr>
            <a:endParaRPr lang="en-US" altLang="zh-CN" sz="2800" b="1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109855" indent="0" algn="just">
              <a:buNone/>
            </a:pPr>
            <a:endParaRPr lang="en-US" altLang="zh-CN" sz="2800" b="1" kern="100" dirty="0" smtClean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109855" indent="0" algn="just">
              <a:buNone/>
            </a:pPr>
            <a:endParaRPr lang="en-US" altLang="zh-CN" sz="2800" b="1" kern="100" dirty="0" smtClean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109855" indent="0" algn="just">
              <a:buNone/>
            </a:pPr>
            <a:endParaRPr lang="en-US" altLang="zh-CN" sz="2800" b="1" kern="100" dirty="0" smtClean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800" b="1" kern="100" dirty="0" err="1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Log_timestamps</a:t>
            </a:r>
            <a:endParaRPr lang="en-US" altLang="zh-CN" sz="2800" b="1" kern="100" dirty="0" smtClean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109855" indent="0" algn="just">
              <a:buNone/>
            </a:pPr>
            <a:r>
              <a:rPr lang="en-US" altLang="zh-CN" sz="2800" b="1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——</a:t>
            </a:r>
            <a:r>
              <a:rPr lang="zh-CN" altLang="en-US" sz="2800" b="1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日志中的时间参数</a:t>
            </a:r>
            <a:r>
              <a:rPr lang="en-US" altLang="zh-CN" sz="2800" b="1" kern="1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UTC\SYSTEM</a:t>
            </a:r>
            <a:endParaRPr lang="zh-CN" altLang="zh-CN" sz="2800" b="1" kern="100" dirty="0" smtClean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109855" indent="0">
              <a:buNone/>
            </a:pPr>
            <a:endParaRPr lang="en-US" altLang="zh-CN" dirty="0" smtClean="0"/>
          </a:p>
          <a:p>
            <a:pPr marL="109855" indent="0">
              <a:buNone/>
            </a:pPr>
            <a:r>
              <a:rPr lang="zh-CN" altLang="en-US" dirty="0" smtClean="0">
                <a:hlinkClick r:id="rId1" action="ppaction://hlinksldjump"/>
              </a:rPr>
              <a:t>查看和修改全局变量的方式见附录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ln w="12700">
            <a:solidFill>
              <a:schemeClr val="tx1"/>
            </a:solidFill>
          </a:ln>
        </p:spPr>
        <p:txBody>
          <a:bodyPr/>
          <a:lstStyle/>
          <a:p>
            <a:r>
              <a:rPr lang="zh-CN" altLang="en-US" dirty="0" smtClean="0"/>
              <a:t>错误日志中的常用参数</a:t>
            </a:r>
            <a:endParaRPr lang="zh-CN" altLang="en-US" dirty="0"/>
          </a:p>
        </p:txBody>
      </p:sp>
      <p:sp>
        <p:nvSpPr>
          <p:cNvPr id="5" name="椭圆 4"/>
          <p:cNvSpPr/>
          <p:nvPr/>
        </p:nvSpPr>
        <p:spPr>
          <a:xfrm>
            <a:off x="511866" y="2965404"/>
            <a:ext cx="4104456" cy="50405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547664" y="2672324"/>
          <a:ext cx="5760640" cy="1594272"/>
        </p:xfrm>
        <a:graphic>
          <a:graphicData uri="http://schemas.openxmlformats.org/drawingml/2006/table">
            <a:tbl>
              <a:tblPr firstRow="1" firstCol="1" bandRow="1"/>
              <a:tblGrid>
                <a:gridCol w="1572906"/>
                <a:gridCol w="4187734"/>
              </a:tblGrid>
              <a:tr h="39856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verbosity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作用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856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Error messages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EA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856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Error and warning messages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856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 err="1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Error,warning,and</a:t>
                      </a:r>
                      <a:r>
                        <a:rPr lang="en-US" sz="20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 note message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C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140" y="3133318"/>
            <a:ext cx="8571719" cy="59136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924944"/>
            <a:ext cx="3828620" cy="54868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4508780"/>
            <a:ext cx="2213040" cy="816935"/>
          </a:xfrm>
          <a:prstGeom prst="rect">
            <a:avLst/>
          </a:prstGeom>
        </p:spPr>
      </p:pic>
      <p:cxnSp>
        <p:nvCxnSpPr>
          <p:cNvPr id="8" name="直接箭头连接符 7"/>
          <p:cNvCxnSpPr>
            <a:stCxn id="5" idx="2"/>
            <a:endCxn id="6" idx="0"/>
          </p:cNvCxnSpPr>
          <p:nvPr/>
        </p:nvCxnSpPr>
        <p:spPr>
          <a:xfrm flipH="1">
            <a:off x="2294144" y="3473632"/>
            <a:ext cx="15702" cy="10351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4572000" y="3068960"/>
            <a:ext cx="792088" cy="360040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5076056" y="2348880"/>
            <a:ext cx="720080" cy="648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5857800" y="2164214"/>
            <a:ext cx="1234480" cy="36933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错误类型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执行时间超过指定时间的查询语句会被记录到慢查日志。</a:t>
            </a:r>
            <a:endParaRPr lang="en-US" altLang="zh-CN" dirty="0" smtClean="0"/>
          </a:p>
          <a:p>
            <a:r>
              <a:rPr lang="zh-CN" altLang="en-US" dirty="0" smtClean="0"/>
              <a:t>默认情况是关闭的。</a:t>
            </a:r>
            <a:endParaRPr lang="en-US" altLang="zh-CN" dirty="0" smtClean="0"/>
          </a:p>
          <a:p>
            <a:r>
              <a:rPr lang="zh-CN" altLang="en-US" dirty="0" smtClean="0"/>
              <a:t>可以通过修改</a:t>
            </a:r>
            <a:r>
              <a:rPr lang="en-US" altLang="zh-CN" dirty="0" smtClean="0"/>
              <a:t>my.ini[</a:t>
            </a:r>
            <a:r>
              <a:rPr lang="en-US" altLang="zh-CN" dirty="0" err="1" smtClean="0"/>
              <a:t>mysqld</a:t>
            </a:r>
            <a:r>
              <a:rPr lang="en-US" altLang="zh-CN" dirty="0" smtClean="0"/>
              <a:t>]</a:t>
            </a:r>
            <a:r>
              <a:rPr lang="zh-CN" altLang="en-US" dirty="0" smtClean="0"/>
              <a:t>来开启</a:t>
            </a:r>
            <a:r>
              <a:rPr lang="en-US" altLang="zh-CN" dirty="0" smtClean="0"/>
              <a:t>,</a:t>
            </a:r>
            <a:r>
              <a:rPr lang="zh-CN" altLang="en-US" dirty="0" smtClean="0"/>
              <a:t>也可以动态修改</a:t>
            </a:r>
            <a:endParaRPr lang="en-US" altLang="zh-CN" dirty="0" smtClean="0"/>
          </a:p>
          <a:p>
            <a:endParaRPr lang="zh-CN" altLang="en-US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慢查日志可以通过文本工具查看</a:t>
            </a:r>
            <a:endParaRPr lang="en-US" altLang="zh-CN" dirty="0" smtClean="0"/>
          </a:p>
          <a:p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 </a:t>
            </a:r>
            <a:r>
              <a:rPr lang="zh-CN" altLang="en-US" dirty="0" smtClean="0"/>
              <a:t>慢查日志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4526" y="3645024"/>
            <a:ext cx="5034947" cy="8856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Slow_query_log</a:t>
            </a:r>
            <a:r>
              <a:rPr lang="en-US" altLang="zh-CN" dirty="0" smtClean="0"/>
              <a:t>=[ON|</a:t>
            </a:r>
            <a:r>
              <a:rPr lang="en-US" altLang="zh-CN" dirty="0" smtClean="0">
                <a:solidFill>
                  <a:srgbClr val="FF0000"/>
                </a:solidFill>
              </a:rPr>
              <a:t>OFF</a:t>
            </a:r>
            <a:r>
              <a:rPr lang="en-US" altLang="zh-CN" dirty="0" smtClean="0"/>
              <a:t>]</a:t>
            </a:r>
            <a:endParaRPr lang="en-US" altLang="zh-CN" dirty="0" smtClean="0"/>
          </a:p>
          <a:p>
            <a:pPr marL="109855" indent="0">
              <a:buNone/>
            </a:pPr>
            <a:r>
              <a:rPr lang="en-US" altLang="zh-CN" dirty="0" smtClean="0"/>
              <a:t>——</a:t>
            </a:r>
            <a:r>
              <a:rPr lang="zh-CN" altLang="en-US" dirty="0" smtClean="0"/>
              <a:t>日志开启、关闭</a:t>
            </a:r>
            <a:endParaRPr lang="en-US" altLang="zh-CN" dirty="0" smtClean="0"/>
          </a:p>
          <a:p>
            <a:r>
              <a:rPr lang="en-US" altLang="zh-CN" dirty="0" err="1" smtClean="0"/>
              <a:t>Slow_query_log_file</a:t>
            </a:r>
            <a:endParaRPr lang="en-US" altLang="zh-CN" dirty="0" smtClean="0"/>
          </a:p>
          <a:p>
            <a:pPr marL="109855" indent="0">
              <a:buNone/>
            </a:pPr>
            <a:r>
              <a:rPr lang="en-US" altLang="zh-CN" dirty="0" smtClean="0"/>
              <a:t>——</a:t>
            </a:r>
            <a:r>
              <a:rPr lang="zh-CN" altLang="en-US" dirty="0" smtClean="0"/>
              <a:t>日志存放路径</a:t>
            </a:r>
            <a:endParaRPr lang="en-US" altLang="zh-CN" dirty="0" smtClean="0"/>
          </a:p>
          <a:p>
            <a:r>
              <a:rPr lang="en-US" altLang="zh-CN" dirty="0" smtClean="0"/>
              <a:t>Long_query_time=xx</a:t>
            </a:r>
            <a:r>
              <a:rPr lang="zh-CN" altLang="en-US" dirty="0" smtClean="0"/>
              <a:t>秒</a:t>
            </a:r>
            <a:endParaRPr lang="en-US" altLang="zh-CN" dirty="0" smtClean="0"/>
          </a:p>
          <a:p>
            <a:pPr marL="109855" indent="0">
              <a:buNone/>
            </a:pPr>
            <a:r>
              <a:rPr lang="en-US" altLang="zh-CN" dirty="0" smtClean="0"/>
              <a:t>——</a:t>
            </a:r>
            <a:r>
              <a:rPr lang="zh-CN" altLang="en-US" dirty="0" smtClean="0"/>
              <a:t>时间阈值</a:t>
            </a:r>
            <a:endParaRPr lang="en-US" altLang="zh-CN" dirty="0" smtClean="0"/>
          </a:p>
          <a:p>
            <a:r>
              <a:rPr lang="en-US" altLang="zh-CN" dirty="0" err="1" smtClean="0"/>
              <a:t>log_queries_not_using_indexes</a:t>
            </a:r>
            <a:r>
              <a:rPr lang="en-US" altLang="zh-CN" dirty="0" smtClean="0"/>
              <a:t>=[ON|</a:t>
            </a:r>
            <a:r>
              <a:rPr lang="en-US" altLang="zh-CN" dirty="0" smtClean="0">
                <a:solidFill>
                  <a:srgbClr val="FF0000"/>
                </a:solidFill>
              </a:rPr>
              <a:t>OFF</a:t>
            </a:r>
            <a:r>
              <a:rPr lang="en-US" altLang="zh-CN" dirty="0" smtClean="0"/>
              <a:t>]</a:t>
            </a:r>
            <a:endParaRPr lang="en-US" altLang="zh-CN" dirty="0" smtClean="0"/>
          </a:p>
          <a:p>
            <a:pPr marL="109855" indent="0">
              <a:buNone/>
            </a:pPr>
            <a:r>
              <a:rPr lang="en-US" altLang="zh-CN" dirty="0" smtClean="0"/>
              <a:t>——</a:t>
            </a:r>
            <a:r>
              <a:rPr lang="zh-CN" altLang="en-US" dirty="0" smtClean="0"/>
              <a:t>记录不使用索引的查询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慢查日志常用参数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88" y="2773623"/>
            <a:ext cx="8035224" cy="13107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默认情况是关闭的。</a:t>
            </a:r>
            <a:endParaRPr lang="en-US" altLang="zh-CN" dirty="0" smtClean="0"/>
          </a:p>
          <a:p>
            <a:r>
              <a:rPr lang="zh-CN" altLang="en-US" dirty="0" smtClean="0"/>
              <a:t>可以通过修改</a:t>
            </a:r>
            <a:r>
              <a:rPr lang="en-US" altLang="zh-CN" dirty="0" smtClean="0"/>
              <a:t>my.ini[</a:t>
            </a:r>
            <a:r>
              <a:rPr lang="en-US" altLang="zh-CN" dirty="0" err="1" smtClean="0"/>
              <a:t>mysqld</a:t>
            </a:r>
            <a:r>
              <a:rPr lang="en-US" altLang="zh-CN" dirty="0" smtClean="0"/>
              <a:t>]</a:t>
            </a:r>
            <a:r>
              <a:rPr lang="zh-CN" altLang="en-US" dirty="0" smtClean="0"/>
              <a:t>来开启</a:t>
            </a:r>
            <a:r>
              <a:rPr lang="en-US" altLang="zh-CN" dirty="0" smtClean="0"/>
              <a:t>,</a:t>
            </a:r>
            <a:r>
              <a:rPr lang="zh-CN" altLang="en-US" dirty="0" smtClean="0"/>
              <a:t>也可以动态修改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通用日志会记录用户的所有</a:t>
            </a:r>
            <a:r>
              <a:rPr lang="zh-CN" altLang="en-US" smtClean="0"/>
              <a:t>操</a:t>
            </a:r>
            <a:r>
              <a:rPr lang="zh-CN" altLang="en-US" smtClean="0"/>
              <a:t>作</a:t>
            </a:r>
            <a:endParaRPr lang="en-US" altLang="zh-CN" smtClean="0"/>
          </a:p>
          <a:p>
            <a:endParaRPr lang="en-US" altLang="zh-CN" dirty="0" smtClean="0"/>
          </a:p>
          <a:p>
            <a:r>
              <a:rPr lang="zh-CN" altLang="en-US" dirty="0" smtClean="0"/>
              <a:t>通用日志可以通过文本工具查看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 </a:t>
            </a:r>
            <a:r>
              <a:rPr lang="zh-CN" altLang="en-US" dirty="0" smtClean="0"/>
              <a:t>通用日志</a:t>
            </a:r>
            <a:endParaRPr lang="zh-CN" altLang="en-US" dirty="0"/>
          </a:p>
        </p:txBody>
      </p:sp>
      <p:pic>
        <p:nvPicPr>
          <p:cNvPr id="5" name="图片 4" descr="TIM图片2018120622573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84" y="5221473"/>
            <a:ext cx="7795731" cy="157163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10444" y="2852936"/>
            <a:ext cx="6923112" cy="810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general_log</a:t>
            </a:r>
            <a:r>
              <a:rPr lang="en-US" altLang="zh-CN" dirty="0" smtClean="0"/>
              <a:t>=[ON|OFF]</a:t>
            </a:r>
            <a:endParaRPr lang="en-US" altLang="zh-CN" dirty="0" smtClean="0"/>
          </a:p>
          <a:p>
            <a:pPr marL="109855" indent="0">
              <a:buNone/>
            </a:pPr>
            <a:r>
              <a:rPr lang="en-US" altLang="zh-CN" dirty="0" smtClean="0"/>
              <a:t>——</a:t>
            </a:r>
            <a:r>
              <a:rPr lang="zh-CN" altLang="en-US" dirty="0" smtClean="0"/>
              <a:t>日志开启或关闭</a:t>
            </a:r>
            <a:endParaRPr lang="en-US" altLang="zh-CN" dirty="0" smtClean="0"/>
          </a:p>
          <a:p>
            <a:pPr marL="109855" indent="0">
              <a:buNone/>
            </a:pPr>
            <a:endParaRPr lang="en-US" altLang="zh-CN" dirty="0" smtClean="0"/>
          </a:p>
          <a:p>
            <a:r>
              <a:rPr lang="en-US" altLang="zh-CN" dirty="0" err="1" smtClean="0"/>
              <a:t>General_log_file</a:t>
            </a:r>
            <a:endParaRPr lang="en-US" altLang="zh-CN" dirty="0" smtClean="0"/>
          </a:p>
          <a:p>
            <a:pPr marL="109855" indent="0">
              <a:buNone/>
            </a:pPr>
            <a:r>
              <a:rPr lang="en-US" altLang="zh-CN" dirty="0" smtClean="0"/>
              <a:t>——</a:t>
            </a:r>
            <a:r>
              <a:rPr lang="zh-CN" altLang="en-US" dirty="0" smtClean="0"/>
              <a:t>日志存放路径</a:t>
            </a:r>
            <a:endParaRPr lang="en-US" altLang="zh-CN" dirty="0" smtClean="0"/>
          </a:p>
          <a:p>
            <a:pPr marL="109855" indent="0">
              <a:buNone/>
            </a:pPr>
            <a:endParaRPr lang="en-US" altLang="zh-CN" dirty="0" smtClean="0"/>
          </a:p>
          <a:p>
            <a:r>
              <a:rPr lang="en-US" altLang="zh-CN" dirty="0" err="1" smtClean="0"/>
              <a:t>log_output</a:t>
            </a:r>
            <a:r>
              <a:rPr lang="en-US" altLang="zh-CN" dirty="0" smtClean="0"/>
              <a:t>=[</a:t>
            </a:r>
            <a:r>
              <a:rPr lang="en-US" altLang="zh-CN" dirty="0" smtClean="0">
                <a:solidFill>
                  <a:srgbClr val="FF0000"/>
                </a:solidFill>
              </a:rPr>
              <a:t>FILE</a:t>
            </a:r>
            <a:r>
              <a:rPr lang="en-US" altLang="zh-CN" dirty="0" smtClean="0"/>
              <a:t>|TABLE|NONE]</a:t>
            </a:r>
            <a:endParaRPr lang="en-US" altLang="zh-CN" dirty="0" smtClean="0"/>
          </a:p>
          <a:p>
            <a:pPr marL="109855" indent="0">
              <a:buNone/>
            </a:pPr>
            <a:r>
              <a:rPr lang="en-US" altLang="zh-CN" dirty="0" smtClean="0"/>
              <a:t>——</a:t>
            </a:r>
            <a:r>
              <a:rPr lang="zh-CN" altLang="en-US" dirty="0" smtClean="0"/>
              <a:t>日志输出形式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通用日志的常用参数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35957" y="1628800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 smtClean="0"/>
              <a:t>二进制日志又称</a:t>
            </a:r>
            <a:r>
              <a:rPr lang="zh-CN" altLang="en-US" dirty="0" smtClean="0">
                <a:solidFill>
                  <a:srgbClr val="FF0000"/>
                </a:solidFill>
              </a:rPr>
              <a:t>变更日志</a:t>
            </a:r>
            <a:r>
              <a:rPr lang="zh-CN" altLang="en-US" dirty="0" smtClean="0"/>
              <a:t>，记录所有对数据库中数据的</a:t>
            </a:r>
            <a:r>
              <a:rPr lang="zh-CN" altLang="en-US" smtClean="0">
                <a:solidFill>
                  <a:srgbClr val="FF0000"/>
                </a:solidFill>
              </a:rPr>
              <a:t>修</a:t>
            </a:r>
            <a:r>
              <a:rPr lang="zh-CN" altLang="en-US" smtClean="0">
                <a:solidFill>
                  <a:srgbClr val="FF0000"/>
                </a:solidFill>
              </a:rPr>
              <a:t>改</a:t>
            </a:r>
            <a:endParaRPr lang="en-US" altLang="zh-CN">
              <a:solidFill>
                <a:srgbClr val="FF0000"/>
              </a:solidFill>
            </a:endParaRPr>
          </a:p>
          <a:p>
            <a:endParaRPr lang="en-US" altLang="zh-CN" smtClean="0">
              <a:solidFill>
                <a:srgbClr val="FF0000"/>
              </a:solidFill>
            </a:endParaRPr>
          </a:p>
          <a:p>
            <a:r>
              <a:rPr lang="zh-CN" altLang="en-US"/>
              <a:t>二</a:t>
            </a:r>
            <a:r>
              <a:rPr lang="zh-CN" altLang="en-US"/>
              <a:t>进</a:t>
            </a:r>
            <a:r>
              <a:rPr lang="zh-CN" altLang="en-US" smtClean="0"/>
              <a:t>制日志在</a:t>
            </a:r>
            <a:r>
              <a:rPr lang="en-US" altLang="zh-CN" smtClean="0"/>
              <a:t>MySql8.0</a:t>
            </a:r>
            <a:r>
              <a:rPr lang="zh-CN" altLang="en-US" smtClean="0"/>
              <a:t>中</a:t>
            </a:r>
            <a:r>
              <a:rPr lang="zh-CN" altLang="en-US" smtClean="0">
                <a:solidFill>
                  <a:srgbClr val="FF0000"/>
                </a:solidFill>
              </a:rPr>
              <a:t>默认开启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endParaRPr lang="en-US" altLang="zh-CN" dirty="0" smtClean="0"/>
          </a:p>
          <a:p>
            <a:r>
              <a:rPr lang="zh-CN" altLang="en-US"/>
              <a:t>必须</a:t>
            </a:r>
            <a:r>
              <a:rPr lang="zh-CN" altLang="en-US" smtClean="0"/>
              <a:t>通过修改</a:t>
            </a:r>
            <a:r>
              <a:rPr lang="en-US" altLang="zh-CN" smtClean="0"/>
              <a:t>my.ini[mysqld]</a:t>
            </a:r>
            <a:r>
              <a:rPr lang="zh-CN" altLang="en-US" smtClean="0"/>
              <a:t>来改变存储路径</a:t>
            </a:r>
            <a:endParaRPr lang="en-US" altLang="zh-CN" smtClean="0"/>
          </a:p>
          <a:p>
            <a:r>
              <a:rPr lang="en-US" altLang="zh-CN" smtClean="0"/>
              <a:t>       log_bin=D:/mysql/log/mysql_bin</a:t>
            </a:r>
            <a:endParaRPr lang="en-US" altLang="zh-CN"/>
          </a:p>
          <a:p>
            <a:endParaRPr lang="en-US" altLang="zh-CN" smtClean="0"/>
          </a:p>
          <a:p>
            <a:endParaRPr lang="en-US" altLang="zh-CN"/>
          </a:p>
          <a:p>
            <a:pPr lvl="0">
              <a:buClr>
                <a:srgbClr val="2DA2BF"/>
              </a:buClr>
            </a:pPr>
            <a:r>
              <a:rPr lang="zh-CN" altLang="en-US">
                <a:solidFill>
                  <a:prstClr val="black"/>
                </a:solidFill>
              </a:rPr>
              <a:t>必须通过修改</a:t>
            </a:r>
            <a:r>
              <a:rPr lang="en-US" altLang="zh-CN">
                <a:solidFill>
                  <a:prstClr val="black"/>
                </a:solidFill>
              </a:rPr>
              <a:t>my.ini[mysqld</a:t>
            </a:r>
            <a:r>
              <a:rPr lang="en-US" altLang="zh-CN">
                <a:solidFill>
                  <a:prstClr val="black"/>
                </a:solidFill>
              </a:rPr>
              <a:t>]</a:t>
            </a:r>
            <a:r>
              <a:rPr lang="zh-CN" altLang="en-US" smtClean="0">
                <a:solidFill>
                  <a:prstClr val="black"/>
                </a:solidFill>
              </a:rPr>
              <a:t>来关闭二进制日志</a:t>
            </a:r>
            <a:endParaRPr lang="en-US" altLang="zh-CN" smtClean="0">
              <a:solidFill>
                <a:prstClr val="black"/>
              </a:solidFill>
            </a:endParaRPr>
          </a:p>
          <a:p>
            <a:pPr lvl="0">
              <a:buClr>
                <a:srgbClr val="2DA2BF"/>
              </a:buClr>
            </a:pPr>
            <a:r>
              <a:rPr lang="en-US" altLang="zh-CN">
                <a:solidFill>
                  <a:prstClr val="black"/>
                </a:solidFill>
              </a:rPr>
              <a:t> </a:t>
            </a:r>
            <a:r>
              <a:rPr lang="en-US" altLang="zh-CN" smtClean="0">
                <a:solidFill>
                  <a:prstClr val="black"/>
                </a:solidFill>
              </a:rPr>
              <a:t>      skip-log-bin</a:t>
            </a:r>
            <a:endParaRPr lang="en-US" altLang="zh-CN">
              <a:solidFill>
                <a:prstClr val="black"/>
              </a:solidFill>
            </a:endParaRPr>
          </a:p>
          <a:p>
            <a:endParaRPr lang="en-US" altLang="zh-CN" dirty="0"/>
          </a:p>
          <a:p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 </a:t>
            </a:r>
            <a:r>
              <a:rPr lang="zh-CN" altLang="en-US" dirty="0" smtClean="0"/>
              <a:t>二进制日志</a:t>
            </a:r>
            <a:endParaRPr lang="zh-CN" altLang="en-US" dirty="0"/>
          </a:p>
        </p:txBody>
      </p:sp>
      <p:cxnSp>
        <p:nvCxnSpPr>
          <p:cNvPr id="7" name="直接箭头连接符 6"/>
          <p:cNvCxnSpPr>
            <a:stCxn id="5" idx="6"/>
            <a:endCxn id="9" idx="1"/>
          </p:cNvCxnSpPr>
          <p:nvPr/>
        </p:nvCxnSpPr>
        <p:spPr>
          <a:xfrm flipV="1">
            <a:off x="6833320" y="4134221"/>
            <a:ext cx="330968" cy="139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7164288" y="3949555"/>
            <a:ext cx="1907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二</a:t>
            </a:r>
            <a:r>
              <a:rPr lang="zh-CN" altLang="en-US">
                <a:solidFill>
                  <a:srgbClr val="FF0000"/>
                </a:solidFill>
              </a:rPr>
              <a:t>进</a:t>
            </a:r>
            <a:r>
              <a:rPr lang="zh-CN" altLang="en-US" smtClean="0">
                <a:solidFill>
                  <a:srgbClr val="FF0000"/>
                </a:solidFill>
              </a:rPr>
              <a:t>制日志前缀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" name="椭圆 4"/>
          <p:cNvSpPr/>
          <p:nvPr/>
        </p:nvSpPr>
        <p:spPr>
          <a:xfrm>
            <a:off x="5161778" y="3933056"/>
            <a:ext cx="1671542" cy="430132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二进制日志的更新</a:t>
            </a:r>
            <a:endParaRPr lang="zh-CN" altLang="en-US" dirty="0"/>
          </a:p>
          <a:p>
            <a:pPr marL="109855" indent="0">
              <a:buNone/>
            </a:pPr>
            <a:r>
              <a:rPr lang="zh-CN" altLang="en-US" dirty="0"/>
              <a:t>    </a:t>
            </a:r>
            <a:r>
              <a:rPr lang="en-US" altLang="zh-CN" dirty="0" smtClean="0"/>
              <a:t>FLUSH </a:t>
            </a:r>
            <a:r>
              <a:rPr lang="en-US" altLang="zh-CN"/>
              <a:t>LOGS</a:t>
            </a:r>
            <a:r>
              <a:rPr lang="zh-CN" altLang="en-US" smtClean="0"/>
              <a:t>；</a:t>
            </a:r>
            <a:endParaRPr lang="en-US" altLang="zh-CN" smtClean="0"/>
          </a:p>
          <a:p>
            <a:pPr marL="109855" indent="0">
              <a:buNone/>
            </a:pPr>
            <a:endParaRPr lang="zh-CN" altLang="en-US" dirty="0"/>
          </a:p>
          <a:p>
            <a:r>
              <a:rPr lang="zh-CN" altLang="en-US" dirty="0"/>
              <a:t>二进制日志的删除 </a:t>
            </a:r>
            <a:endParaRPr lang="zh-CN" altLang="en-US" dirty="0"/>
          </a:p>
          <a:p>
            <a:pPr marL="109855" indent="0">
              <a:buNone/>
            </a:pPr>
            <a:r>
              <a:rPr lang="zh-CN" altLang="en-US" dirty="0"/>
              <a:t>    </a:t>
            </a:r>
            <a:r>
              <a:rPr lang="en-US" altLang="zh-CN" dirty="0"/>
              <a:t>RESET </a:t>
            </a:r>
            <a:r>
              <a:rPr lang="en-US" altLang="zh-CN"/>
              <a:t>MASTER</a:t>
            </a:r>
            <a:r>
              <a:rPr lang="en-US" altLang="zh-CN" smtClean="0"/>
              <a:t>;</a:t>
            </a:r>
            <a:endParaRPr lang="en-US" altLang="zh-CN" smtClean="0"/>
          </a:p>
          <a:p>
            <a:pPr marL="109855" indent="0">
              <a:buNone/>
            </a:pPr>
            <a:endParaRPr lang="en-US" altLang="zh-CN" dirty="0"/>
          </a:p>
          <a:p>
            <a:r>
              <a:rPr lang="zh-CN" altLang="en-US" dirty="0"/>
              <a:t>二进制日志可</a:t>
            </a:r>
            <a:r>
              <a:rPr lang="zh-CN" altLang="en-US" dirty="0">
                <a:solidFill>
                  <a:srgbClr val="FF0000"/>
                </a:solidFill>
              </a:rPr>
              <a:t>用于基于时间点的备份和恢复</a:t>
            </a:r>
            <a:endParaRPr lang="zh-CN" altLang="en-US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二进制日志（续）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CN" dirty="0" err="1" smtClean="0"/>
              <a:t>Log_bin</a:t>
            </a:r>
            <a:r>
              <a:rPr lang="en-US" altLang="zh-CN" dirty="0" smtClean="0"/>
              <a:t>[=</a:t>
            </a:r>
            <a:r>
              <a:rPr lang="en-US" altLang="zh-CN" dirty="0" err="1" smtClean="0"/>
              <a:t>base_name</a:t>
            </a:r>
            <a:r>
              <a:rPr lang="en-US" altLang="zh-CN" dirty="0" smtClean="0"/>
              <a:t>]</a:t>
            </a:r>
            <a:endParaRPr lang="en-US" altLang="zh-CN" dirty="0" smtClean="0"/>
          </a:p>
          <a:p>
            <a:pPr marL="109855" indent="0">
              <a:buNone/>
            </a:pPr>
            <a:r>
              <a:rPr lang="en-US" altLang="zh-CN" dirty="0" smtClean="0"/>
              <a:t>——</a:t>
            </a:r>
            <a:r>
              <a:rPr lang="zh-CN" altLang="en-US" dirty="0" smtClean="0"/>
              <a:t>静态参数，只在配置文件中设置</a:t>
            </a:r>
            <a:endParaRPr lang="en-US" altLang="zh-CN" dirty="0" smtClean="0"/>
          </a:p>
          <a:p>
            <a:pPr marL="109855" indent="0">
              <a:buNone/>
            </a:pPr>
            <a:endParaRPr lang="en-US" altLang="zh-CN" dirty="0" smtClean="0"/>
          </a:p>
          <a:p>
            <a:r>
              <a:rPr lang="en-US" altLang="zh-CN" dirty="0" smtClean="0"/>
              <a:t>Binlog_format=[</a:t>
            </a:r>
            <a:r>
              <a:rPr lang="en-US" altLang="zh-CN" dirty="0" smtClean="0">
                <a:solidFill>
                  <a:srgbClr val="FF0000"/>
                </a:solidFill>
              </a:rPr>
              <a:t>ROW</a:t>
            </a:r>
            <a:r>
              <a:rPr lang="en-US" altLang="zh-CN" dirty="0" smtClean="0"/>
              <a:t>|STATEMENT|MIXED]</a:t>
            </a:r>
            <a:endParaRPr lang="en-US" altLang="zh-CN" dirty="0" smtClean="0"/>
          </a:p>
          <a:p>
            <a:pPr marL="109855" indent="0">
              <a:buNone/>
            </a:pPr>
            <a:r>
              <a:rPr lang="en-US" altLang="zh-CN" dirty="0" smtClean="0"/>
              <a:t>——</a:t>
            </a:r>
            <a:r>
              <a:rPr lang="zh-CN" altLang="en-US" dirty="0" smtClean="0"/>
              <a:t>二进制日志输出格式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CN" sz="2000" dirty="0"/>
              <a:t>statement</a:t>
            </a:r>
            <a:r>
              <a:rPr lang="zh-CN" altLang="en-US" sz="2000" dirty="0"/>
              <a:t>：基于</a:t>
            </a:r>
            <a:r>
              <a:rPr lang="en-US" altLang="zh-CN" sz="2000" dirty="0"/>
              <a:t>SQL</a:t>
            </a:r>
            <a:r>
              <a:rPr lang="zh-CN" altLang="en-US" sz="2000" dirty="0"/>
              <a:t>语句的</a:t>
            </a:r>
            <a:r>
              <a:rPr lang="zh-CN" altLang="en-US" sz="2000" dirty="0" smtClean="0"/>
              <a:t>模式。</a:t>
            </a:r>
            <a:endParaRPr lang="zh-CN" altLang="en-US" sz="20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CN" sz="2000" dirty="0"/>
              <a:t>row</a:t>
            </a:r>
            <a:r>
              <a:rPr lang="zh-CN" altLang="en-US" sz="2000" dirty="0"/>
              <a:t>：基于行的模式，记录的是行的变化，很安全。但是</a:t>
            </a:r>
            <a:r>
              <a:rPr lang="en-US" altLang="zh-CN" sz="2000" dirty="0" err="1"/>
              <a:t>binlog</a:t>
            </a:r>
            <a:r>
              <a:rPr lang="zh-CN" altLang="en-US" sz="2000" dirty="0"/>
              <a:t>会比其他两种模式大很多，在一些大表中清除大量数据时在</a:t>
            </a:r>
            <a:r>
              <a:rPr lang="en-US" altLang="zh-CN" sz="2000" dirty="0" err="1"/>
              <a:t>binlog</a:t>
            </a:r>
            <a:r>
              <a:rPr lang="zh-CN" altLang="en-US" sz="2000" dirty="0"/>
              <a:t>中会生成很多条语句，可能导致从库延迟变大。</a:t>
            </a:r>
            <a:endParaRPr lang="zh-CN" altLang="en-US" sz="20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CN" sz="2000" dirty="0"/>
              <a:t>mixed</a:t>
            </a:r>
            <a:r>
              <a:rPr lang="zh-CN" altLang="en-US" sz="2000" dirty="0"/>
              <a:t>：混合模式，根据语句来选用是</a:t>
            </a:r>
            <a:r>
              <a:rPr lang="en-US" altLang="zh-CN" sz="2000" dirty="0"/>
              <a:t>statement</a:t>
            </a:r>
            <a:r>
              <a:rPr lang="zh-CN" altLang="en-US" sz="2000" dirty="0"/>
              <a:t>还是</a:t>
            </a:r>
            <a:r>
              <a:rPr lang="en-US" altLang="zh-CN" sz="2000" dirty="0"/>
              <a:t>row</a:t>
            </a:r>
            <a:r>
              <a:rPr lang="zh-CN" altLang="en-US" sz="2000" dirty="0"/>
              <a:t>模式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ü"/>
            </a:pPr>
            <a:endParaRPr lang="en-US" altLang="zh-CN" sz="3200" dirty="0"/>
          </a:p>
          <a:p>
            <a:r>
              <a:rPr lang="en-US" altLang="zh-CN" sz="3200" dirty="0"/>
              <a:t>binlog_row_image</a:t>
            </a:r>
            <a:r>
              <a:rPr lang="en-US" altLang="zh-CN" sz="3200" dirty="0" smtClean="0"/>
              <a:t>==[</a:t>
            </a:r>
            <a:r>
              <a:rPr lang="en-US" altLang="zh-CN" sz="3200" dirty="0" smtClean="0">
                <a:solidFill>
                  <a:srgbClr val="FF0000"/>
                </a:solidFill>
              </a:rPr>
              <a:t>FULL</a:t>
            </a:r>
            <a:r>
              <a:rPr lang="en-US" altLang="zh-CN" sz="3200" dirty="0" smtClean="0"/>
              <a:t>|MINIMAL]</a:t>
            </a:r>
            <a:endParaRPr lang="en-US" altLang="zh-CN" sz="3200" dirty="0" smtClean="0"/>
          </a:p>
          <a:p>
            <a:pPr marL="109855" indent="0">
              <a:buNone/>
            </a:pPr>
            <a:r>
              <a:rPr lang="en-US" altLang="zh-CN" dirty="0" smtClean="0"/>
              <a:t>——</a:t>
            </a:r>
            <a:r>
              <a:rPr lang="zh-CN" altLang="en-US" dirty="0" smtClean="0"/>
              <a:t>输出格式为</a:t>
            </a:r>
            <a:r>
              <a:rPr lang="en-US" altLang="zh-CN" dirty="0" smtClean="0"/>
              <a:t>row</a:t>
            </a:r>
            <a:r>
              <a:rPr lang="zh-CN" altLang="en-US" dirty="0" smtClean="0"/>
              <a:t>时，</a:t>
            </a:r>
            <a:r>
              <a:rPr lang="en-US" altLang="zh-CN" dirty="0"/>
              <a:t>FULL</a:t>
            </a:r>
            <a:r>
              <a:rPr lang="zh-CN" altLang="en-US" dirty="0"/>
              <a:t>记录每一行的变更，</a:t>
            </a:r>
            <a:r>
              <a:rPr lang="en-US" altLang="zh-CN" dirty="0"/>
              <a:t>minimal</a:t>
            </a:r>
            <a:r>
              <a:rPr lang="zh-CN" altLang="en-US" dirty="0"/>
              <a:t>只记录影响后</a:t>
            </a:r>
            <a:r>
              <a:rPr lang="zh-CN" altLang="en-US"/>
              <a:t>的</a:t>
            </a:r>
            <a:r>
              <a:rPr lang="zh-CN" altLang="en-US" smtClean="0"/>
              <a:t>行的字段。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二进制日志常用参数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2DA2BF"/>
              </a:buClr>
            </a:pPr>
            <a:r>
              <a:rPr lang="zh-CN" altLang="en-US" dirty="0">
                <a:solidFill>
                  <a:prstClr val="black"/>
                </a:solidFill>
              </a:rPr>
              <a:t>二进制日志不能直接打开，需要使用</a:t>
            </a:r>
            <a:r>
              <a:rPr lang="zh-CN" altLang="en-US" dirty="0" smtClean="0">
                <a:solidFill>
                  <a:prstClr val="black"/>
                </a:solidFill>
              </a:rPr>
              <a:t>命令</a:t>
            </a:r>
            <a:r>
              <a:rPr lang="en-US" altLang="zh-CN" dirty="0" smtClean="0">
                <a:solidFill>
                  <a:prstClr val="black"/>
                </a:solidFill>
              </a:rPr>
              <a:t>:</a:t>
            </a:r>
            <a:endParaRPr lang="en-US" altLang="zh-CN" dirty="0" smtClean="0">
              <a:solidFill>
                <a:prstClr val="black"/>
              </a:solidFill>
            </a:endParaRPr>
          </a:p>
          <a:p>
            <a:pPr marL="109855" lvl="0" indent="0">
              <a:buClr>
                <a:srgbClr val="2DA2BF"/>
              </a:buClr>
              <a:buNone/>
            </a:pPr>
            <a:r>
              <a:rPr lang="en-US" altLang="zh-CN" dirty="0" smtClean="0">
                <a:solidFill>
                  <a:prstClr val="black"/>
                </a:solidFill>
              </a:rPr>
              <a:t>1. </a:t>
            </a:r>
            <a:r>
              <a:rPr lang="zh-CN" altLang="en-US" dirty="0" smtClean="0">
                <a:solidFill>
                  <a:prstClr val="black"/>
                </a:solidFill>
              </a:rPr>
              <a:t>二进制输出格式为</a:t>
            </a:r>
            <a:r>
              <a:rPr lang="en-US" altLang="zh-CN" dirty="0" smtClean="0">
                <a:solidFill>
                  <a:prstClr val="black"/>
                </a:solidFill>
              </a:rPr>
              <a:t>STATEMENT</a:t>
            </a:r>
            <a:r>
              <a:rPr lang="zh-CN" altLang="en-US" dirty="0" smtClean="0">
                <a:solidFill>
                  <a:prstClr val="black"/>
                </a:solidFill>
              </a:rPr>
              <a:t>时：</a:t>
            </a:r>
            <a:endParaRPr lang="en-US" altLang="zh-CN" dirty="0">
              <a:solidFill>
                <a:prstClr val="black"/>
              </a:solidFill>
            </a:endParaRPr>
          </a:p>
          <a:p>
            <a:pPr marL="109855" lvl="0" indent="0">
              <a:buClr>
                <a:srgbClr val="2DA2BF"/>
              </a:buClr>
              <a:buNone/>
            </a:pPr>
            <a:r>
              <a:rPr lang="en-US" altLang="zh-CN" dirty="0">
                <a:solidFill>
                  <a:prstClr val="black"/>
                </a:solidFill>
              </a:rPr>
              <a:t>   </a:t>
            </a:r>
            <a:r>
              <a:rPr lang="en-US" altLang="zh-CN" dirty="0" smtClean="0">
                <a:solidFill>
                  <a:prstClr val="black"/>
                </a:solidFill>
              </a:rPr>
              <a:t>Mysqlbinlog Filename.number</a:t>
            </a:r>
            <a:endParaRPr lang="en-US" altLang="zh-CN" dirty="0">
              <a:solidFill>
                <a:prstClr val="black"/>
              </a:solidFill>
            </a:endParaRPr>
          </a:p>
          <a:p>
            <a:pPr marL="109855" lvl="0" indent="0">
              <a:buClr>
                <a:srgbClr val="2DA2BF"/>
              </a:buClr>
              <a:buNone/>
            </a:pPr>
            <a:endParaRPr lang="en-US" altLang="zh-CN" dirty="0" smtClean="0">
              <a:solidFill>
                <a:prstClr val="black"/>
              </a:solidFill>
            </a:endParaRPr>
          </a:p>
          <a:p>
            <a:pPr marL="109855" lvl="0" indent="0">
              <a:buClr>
                <a:srgbClr val="2DA2BF"/>
              </a:buClr>
              <a:buNone/>
            </a:pPr>
            <a:r>
              <a:rPr lang="en-US" altLang="zh-CN" dirty="0" smtClean="0">
                <a:solidFill>
                  <a:prstClr val="black"/>
                </a:solidFill>
              </a:rPr>
              <a:t>2. </a:t>
            </a:r>
            <a:r>
              <a:rPr lang="zh-CN" altLang="en-US" dirty="0" smtClean="0">
                <a:solidFill>
                  <a:prstClr val="black"/>
                </a:solidFill>
              </a:rPr>
              <a:t>二进制</a:t>
            </a:r>
            <a:r>
              <a:rPr lang="zh-CN" altLang="en-US" dirty="0">
                <a:solidFill>
                  <a:prstClr val="black"/>
                </a:solidFill>
              </a:rPr>
              <a:t>输出格式</a:t>
            </a:r>
            <a:r>
              <a:rPr lang="zh-CN" altLang="en-US" dirty="0" smtClean="0">
                <a:solidFill>
                  <a:prstClr val="black"/>
                </a:solidFill>
              </a:rPr>
              <a:t>为</a:t>
            </a:r>
            <a:r>
              <a:rPr lang="en-US" altLang="zh-CN" dirty="0" smtClean="0">
                <a:solidFill>
                  <a:prstClr val="black"/>
                </a:solidFill>
              </a:rPr>
              <a:t>ROW</a:t>
            </a:r>
            <a:r>
              <a:rPr lang="zh-CN" altLang="en-US" dirty="0" smtClean="0">
                <a:solidFill>
                  <a:prstClr val="black"/>
                </a:solidFill>
              </a:rPr>
              <a:t>时</a:t>
            </a:r>
            <a:r>
              <a:rPr lang="zh-CN" altLang="en-US" dirty="0">
                <a:solidFill>
                  <a:prstClr val="black"/>
                </a:solidFill>
              </a:rPr>
              <a:t>：</a:t>
            </a:r>
            <a:endParaRPr lang="en-US" altLang="zh-CN" dirty="0">
              <a:solidFill>
                <a:prstClr val="black"/>
              </a:solidFill>
            </a:endParaRPr>
          </a:p>
          <a:p>
            <a:pPr marL="109855" lvl="0" indent="0">
              <a:buClr>
                <a:srgbClr val="2DA2BF"/>
              </a:buClr>
              <a:buNone/>
            </a:pPr>
            <a:r>
              <a:rPr lang="en-US" altLang="zh-CN" dirty="0" smtClean="0">
                <a:solidFill>
                  <a:prstClr val="black"/>
                </a:solidFill>
              </a:rPr>
              <a:t>  mysqlbinlog </a:t>
            </a:r>
            <a:r>
              <a:rPr lang="en-US" altLang="zh-CN" dirty="0">
                <a:solidFill>
                  <a:prstClr val="black"/>
                </a:solidFill>
              </a:rPr>
              <a:t>--no-defaults -v -v --base64-output=DECODE-ROWS Filename.number</a:t>
            </a:r>
            <a:endParaRPr lang="en-US" altLang="zh-CN" dirty="0">
              <a:solidFill>
                <a:prstClr val="black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二进制日志的读取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lnSpc>
                <a:spcPct val="170000"/>
              </a:lnSpc>
            </a:pPr>
            <a:r>
              <a:rPr lang="zh-CN" altLang="en-US" dirty="0" smtClean="0"/>
              <a:t>全局变量影响服务器整体操作。当服务器启动时，它将所有全局变量初始化为默认值。这些默认值可以在选项文件中或在命令行中指定的选项进行更改。要想更改全局变量，必须具有</a:t>
            </a:r>
            <a:r>
              <a:rPr lang="en-US" dirty="0" smtClean="0"/>
              <a:t>super</a:t>
            </a:r>
            <a:r>
              <a:rPr lang="zh-CN" altLang="en-US" dirty="0" smtClean="0"/>
              <a:t>权限。</a:t>
            </a:r>
            <a:r>
              <a:rPr lang="zh-CN" altLang="en-US" dirty="0" smtClean="0">
                <a:solidFill>
                  <a:srgbClr val="FF0000"/>
                </a:solidFill>
              </a:rPr>
              <a:t>全局变量作用于</a:t>
            </a:r>
            <a:r>
              <a:rPr lang="en-US" dirty="0" smtClean="0">
                <a:solidFill>
                  <a:srgbClr val="FF0000"/>
                </a:solidFill>
              </a:rPr>
              <a:t>server</a:t>
            </a:r>
            <a:r>
              <a:rPr lang="zh-CN" altLang="en-US" dirty="0" smtClean="0">
                <a:solidFill>
                  <a:srgbClr val="FF0000"/>
                </a:solidFill>
              </a:rPr>
              <a:t>的整个生命周期，但是不能跨重启。即重启后所有设置的全局变量均失效。</a:t>
            </a:r>
            <a:r>
              <a:rPr lang="zh-CN" altLang="en-US" dirty="0" smtClean="0"/>
              <a:t>要想让全局变量重启后继续生效，需要更改相应的配置文件。</a:t>
            </a:r>
            <a:endParaRPr lang="en-US" altLang="zh-CN" dirty="0" smtClean="0"/>
          </a:p>
          <a:p>
            <a:pPr>
              <a:lnSpc>
                <a:spcPct val="170000"/>
              </a:lnSpc>
            </a:pPr>
            <a:endParaRPr lang="zh-CN" altLang="en-US" dirty="0" smtClean="0"/>
          </a:p>
          <a:p>
            <a:r>
              <a:rPr lang="zh-CN" altLang="en-US" dirty="0" smtClean="0"/>
              <a:t>要设置一个全局变量，有如下两种方式：</a:t>
            </a:r>
            <a:endParaRPr lang="zh-CN" altLang="en-US" dirty="0" smtClean="0"/>
          </a:p>
          <a:p>
            <a:pPr marL="624205" indent="-514350">
              <a:buFont typeface="+mj-lt"/>
              <a:buAutoNum type="arabicPeriod"/>
            </a:pPr>
            <a:r>
              <a:rPr lang="en-US" dirty="0" smtClean="0"/>
              <a:t>set global </a:t>
            </a:r>
            <a:r>
              <a:rPr lang="en-US" dirty="0" err="1" smtClean="0"/>
              <a:t>var_name</a:t>
            </a:r>
            <a:r>
              <a:rPr lang="en-US" dirty="0" smtClean="0"/>
              <a:t> = value; //</a:t>
            </a:r>
            <a:r>
              <a:rPr lang="zh-CN" altLang="en-US" dirty="0" smtClean="0"/>
              <a:t>注意：此处的</a:t>
            </a:r>
            <a:r>
              <a:rPr lang="en-US" dirty="0" smtClean="0"/>
              <a:t>global</a:t>
            </a:r>
            <a:r>
              <a:rPr lang="zh-CN" altLang="en-US" dirty="0" smtClean="0"/>
              <a:t>不能省略。根据手册，</a:t>
            </a:r>
            <a:r>
              <a:rPr lang="en-US" dirty="0" smtClean="0"/>
              <a:t>set</a:t>
            </a:r>
            <a:r>
              <a:rPr lang="zh-CN" altLang="en-US" dirty="0" smtClean="0"/>
              <a:t>命令设置变量时若不指定</a:t>
            </a:r>
            <a:r>
              <a:rPr lang="en-US" dirty="0" smtClean="0"/>
              <a:t>GLOBAL</a:t>
            </a:r>
            <a:r>
              <a:rPr lang="zh-CN" altLang="en-US" dirty="0" smtClean="0"/>
              <a:t>、</a:t>
            </a:r>
            <a:r>
              <a:rPr lang="en-US" dirty="0" smtClean="0"/>
              <a:t>SESSION</a:t>
            </a:r>
            <a:r>
              <a:rPr lang="zh-CN" altLang="en-US" dirty="0" smtClean="0"/>
              <a:t>或者</a:t>
            </a:r>
            <a:r>
              <a:rPr lang="en-US" dirty="0" smtClean="0"/>
              <a:t>LOCAL</a:t>
            </a:r>
            <a:r>
              <a:rPr lang="zh-CN" altLang="en-US" dirty="0" smtClean="0"/>
              <a:t>，默认使用</a:t>
            </a:r>
            <a:r>
              <a:rPr lang="en-US" dirty="0" smtClean="0"/>
              <a:t>SESSION</a:t>
            </a:r>
            <a:endParaRPr lang="en-US" dirty="0" smtClean="0"/>
          </a:p>
          <a:p>
            <a:pPr marL="624205" indent="-514350">
              <a:buFont typeface="+mj-lt"/>
              <a:buAutoNum type="arabicPeriod"/>
            </a:pPr>
            <a:endParaRPr lang="en-US" dirty="0" smtClean="0"/>
          </a:p>
          <a:p>
            <a:pPr marL="624205" indent="-514350">
              <a:buFont typeface="+mj-lt"/>
              <a:buAutoNum type="arabicPeriod"/>
            </a:pPr>
            <a:r>
              <a:rPr lang="en-US" dirty="0" smtClean="0"/>
              <a:t>set </a:t>
            </a:r>
            <a:r>
              <a:rPr lang="en-US" b="1" dirty="0" smtClean="0"/>
              <a:t>@@</a:t>
            </a:r>
            <a:r>
              <a:rPr lang="en-US" b="1" dirty="0" err="1" smtClean="0"/>
              <a:t>global</a:t>
            </a:r>
            <a:r>
              <a:rPr lang="en-US" dirty="0" err="1" smtClean="0"/>
              <a:t>.var_name</a:t>
            </a:r>
            <a:r>
              <a:rPr lang="en-US" dirty="0" smtClean="0"/>
              <a:t> = value; //</a:t>
            </a:r>
            <a:r>
              <a:rPr lang="zh-CN" altLang="en-US" dirty="0" smtClean="0"/>
              <a:t>同上 </a:t>
            </a:r>
            <a:endParaRPr lang="en-US" altLang="zh-CN" dirty="0" smtClean="0"/>
          </a:p>
          <a:p>
            <a:pPr marL="624205" indent="-514350">
              <a:buFont typeface="+mj-lt"/>
              <a:buAutoNum type="arabicPeriod"/>
            </a:pPr>
            <a:endParaRPr lang="en-US" altLang="zh-CN" dirty="0" smtClean="0"/>
          </a:p>
          <a:p>
            <a:pPr marL="624205" indent="-514350"/>
            <a:r>
              <a:rPr lang="zh-CN" altLang="en-US" dirty="0" smtClean="0"/>
              <a:t>查看所有的全局变量</a:t>
            </a:r>
            <a:r>
              <a:rPr lang="en-US" dirty="0" smtClean="0"/>
              <a:t> </a:t>
            </a:r>
            <a:endParaRPr lang="zh-CN" altLang="en-US" dirty="0" smtClean="0"/>
          </a:p>
          <a:p>
            <a:pPr marL="624205" indent="-514350">
              <a:buFont typeface="+mj-lt"/>
              <a:buAutoNum type="arabicPeriod"/>
            </a:pPr>
            <a:r>
              <a:rPr lang="en-US" dirty="0" smtClean="0"/>
              <a:t>show global variables; </a:t>
            </a:r>
            <a:endParaRPr lang="en-US" dirty="0" smtClean="0"/>
          </a:p>
          <a:p>
            <a:pPr marL="624205" indent="-514350">
              <a:buFont typeface="+mj-lt"/>
              <a:buAutoNum type="arabicPeriod"/>
            </a:pPr>
            <a:endParaRPr lang="en-US" dirty="0" smtClean="0"/>
          </a:p>
          <a:p>
            <a:pPr marL="624205" indent="-514350"/>
            <a:r>
              <a:rPr lang="zh-CN" altLang="en-US" dirty="0" smtClean="0"/>
              <a:t>要想查看一个全局变量，有如下两种方式：</a:t>
            </a:r>
            <a:endParaRPr lang="zh-CN" altLang="en-US" dirty="0" smtClean="0"/>
          </a:p>
          <a:p>
            <a:pPr marL="624205" indent="-514350">
              <a:buFont typeface="+mj-lt"/>
              <a:buAutoNum type="arabicPeriod"/>
            </a:pPr>
            <a:r>
              <a:rPr lang="en-US" dirty="0" smtClean="0"/>
              <a:t>select </a:t>
            </a:r>
            <a:r>
              <a:rPr lang="en-US" b="1" dirty="0" smtClean="0"/>
              <a:t>@@</a:t>
            </a:r>
            <a:r>
              <a:rPr lang="en-US" b="1" dirty="0" err="1" smtClean="0"/>
              <a:t>global</a:t>
            </a:r>
            <a:r>
              <a:rPr lang="en-US" dirty="0" err="1" smtClean="0"/>
              <a:t>.var_name</a:t>
            </a:r>
            <a:r>
              <a:rPr lang="en-US" dirty="0" smtClean="0"/>
              <a:t>;</a:t>
            </a:r>
            <a:endParaRPr lang="en-US" dirty="0" smtClean="0"/>
          </a:p>
          <a:p>
            <a:pPr marL="624205" indent="-514350">
              <a:buFont typeface="+mj-lt"/>
              <a:buAutoNum type="arabicPeriod"/>
            </a:pPr>
            <a:r>
              <a:rPr lang="en-US" dirty="0" smtClean="0"/>
              <a:t>show global variables like “%</a:t>
            </a:r>
            <a:r>
              <a:rPr lang="en-US" dirty="0" err="1" smtClean="0"/>
              <a:t>var</a:t>
            </a:r>
            <a:r>
              <a:rPr lang="en-US" dirty="0" smtClean="0"/>
              <a:t>%”;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附录</a:t>
            </a:r>
            <a:r>
              <a:rPr lang="en-US" altLang="zh-CN" dirty="0" smtClean="0"/>
              <a:t> </a:t>
            </a:r>
            <a:r>
              <a:rPr lang="zh-CN" altLang="en-US" dirty="0" smtClean="0"/>
              <a:t>全局变量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876256" y="6007291"/>
            <a:ext cx="1224136" cy="374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hlinkClick r:id="rId1" action="ppaction://hlinksldjump"/>
              </a:rPr>
              <a:t>返回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lnSpc>
                <a:spcPct val="170000"/>
              </a:lnSpc>
            </a:pPr>
            <a:r>
              <a:rPr lang="zh-CN" altLang="en-US" dirty="0" smtClean="0"/>
              <a:t>服务器为每个连接的客户端维护一系列会话变量。在客户端连接数据库实例时，使用相应全局变量的当前值对客户端的会话变量进行初始化。设置会话变量不需要特殊权限，但客户端只能更改自己的会话变量，而不能更改其它客户端的会话变量。</a:t>
            </a:r>
            <a:r>
              <a:rPr lang="zh-CN" altLang="en-US" b="1" dirty="0" smtClean="0">
                <a:solidFill>
                  <a:srgbClr val="FF0000"/>
                </a:solidFill>
              </a:rPr>
              <a:t>会话变量的作用域与用户变量一样，仅限于当前连接。当当前连接断开后，其设置的所有会话变量均失效。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>
              <a:lnSpc>
                <a:spcPct val="170000"/>
              </a:lnSpc>
            </a:pPr>
            <a:endParaRPr lang="zh-CN" altLang="en-US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设置会话变量有如下三种方式更改会话变量的值：</a:t>
            </a:r>
            <a:endParaRPr lang="zh-CN" altLang="en-US" dirty="0" smtClean="0"/>
          </a:p>
          <a:p>
            <a:pPr marL="624205" indent="-514350">
              <a:buFont typeface="+mj-lt"/>
              <a:buAutoNum type="arabicPeriod"/>
            </a:pPr>
            <a:r>
              <a:rPr lang="en-US" dirty="0" smtClean="0"/>
              <a:t>set session </a:t>
            </a:r>
            <a:r>
              <a:rPr lang="en-US" dirty="0" err="1" smtClean="0"/>
              <a:t>var_name</a:t>
            </a:r>
            <a:r>
              <a:rPr lang="en-US" dirty="0" smtClean="0"/>
              <a:t> = value;</a:t>
            </a:r>
            <a:endParaRPr lang="en-US" dirty="0" smtClean="0"/>
          </a:p>
          <a:p>
            <a:pPr marL="624205" indent="-514350">
              <a:buFont typeface="+mj-lt"/>
              <a:buAutoNum type="arabicPeriod"/>
            </a:pPr>
            <a:r>
              <a:rPr lang="en-US" dirty="0" smtClean="0"/>
              <a:t>set </a:t>
            </a:r>
            <a:r>
              <a:rPr lang="en-US" b="1" dirty="0" smtClean="0"/>
              <a:t>@@</a:t>
            </a:r>
            <a:r>
              <a:rPr lang="en-US" b="1" dirty="0" err="1" smtClean="0"/>
              <a:t>session</a:t>
            </a:r>
            <a:r>
              <a:rPr lang="en-US" dirty="0" err="1" smtClean="0"/>
              <a:t>.var_name</a:t>
            </a:r>
            <a:r>
              <a:rPr lang="en-US" dirty="0" smtClean="0"/>
              <a:t> = value;</a:t>
            </a:r>
            <a:endParaRPr lang="en-US" dirty="0" smtClean="0"/>
          </a:p>
          <a:p>
            <a:pPr marL="624205" indent="-514350">
              <a:buFont typeface="+mj-lt"/>
              <a:buAutoNum type="arabicPeriod"/>
            </a:pPr>
            <a:r>
              <a:rPr lang="en-US" dirty="0" smtClean="0"/>
              <a:t>set </a:t>
            </a:r>
            <a:r>
              <a:rPr lang="en-US" dirty="0" err="1" smtClean="0"/>
              <a:t>var_name</a:t>
            </a:r>
            <a:r>
              <a:rPr lang="en-US" dirty="0" smtClean="0"/>
              <a:t> = value;  #</a:t>
            </a:r>
            <a:r>
              <a:rPr lang="zh-CN" altLang="en-US" dirty="0" smtClean="0"/>
              <a:t>缺省</a:t>
            </a:r>
            <a:r>
              <a:rPr lang="en-US" dirty="0" smtClean="0"/>
              <a:t>session</a:t>
            </a:r>
            <a:r>
              <a:rPr lang="zh-CN" altLang="en-US" dirty="0" smtClean="0"/>
              <a:t>关键字默认认为是</a:t>
            </a:r>
            <a:r>
              <a:rPr lang="en-US" dirty="0" smtClean="0"/>
              <a:t>session </a:t>
            </a:r>
            <a:endParaRPr lang="en-US" dirty="0" smtClean="0"/>
          </a:p>
          <a:p>
            <a:pPr marL="624205" indent="-514350">
              <a:buFont typeface="+mj-lt"/>
              <a:buAutoNum type="arabicPeriod"/>
            </a:pPr>
            <a:endParaRPr lang="en-US" dirty="0" smtClean="0"/>
          </a:p>
          <a:p>
            <a:r>
              <a:rPr lang="zh-CN" altLang="en-US" dirty="0" smtClean="0"/>
              <a:t>查看所有的会话变量</a:t>
            </a:r>
            <a:r>
              <a:rPr lang="en-US" dirty="0" smtClean="0"/>
              <a:t>show session variables;</a:t>
            </a:r>
            <a:r>
              <a:rPr lang="zh-CN" altLang="en-US" dirty="0" smtClean="0"/>
              <a:t> 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查看一个会话变量也有如下三种方式：</a:t>
            </a:r>
            <a:endParaRPr lang="zh-CN" altLang="en-US" dirty="0" smtClean="0"/>
          </a:p>
          <a:p>
            <a:pPr marL="624205" indent="-514350">
              <a:buFont typeface="+mj-lt"/>
              <a:buAutoNum type="arabicPeriod"/>
            </a:pPr>
            <a:r>
              <a:rPr lang="en-US" dirty="0" smtClean="0"/>
              <a:t>select </a:t>
            </a:r>
            <a:r>
              <a:rPr lang="en-US" b="1" dirty="0" smtClean="0"/>
              <a:t>@@</a:t>
            </a:r>
            <a:r>
              <a:rPr lang="en-US" b="1" dirty="0" err="1" smtClean="0"/>
              <a:t>var_name</a:t>
            </a:r>
            <a:r>
              <a:rPr lang="en-US" dirty="0" smtClean="0"/>
              <a:t>;</a:t>
            </a:r>
            <a:endParaRPr lang="en-US" dirty="0" smtClean="0"/>
          </a:p>
          <a:p>
            <a:pPr marL="624205" indent="-514350">
              <a:buFont typeface="+mj-lt"/>
              <a:buAutoNum type="arabicPeriod"/>
            </a:pPr>
            <a:r>
              <a:rPr lang="en-US" dirty="0" smtClean="0"/>
              <a:t>select </a:t>
            </a:r>
            <a:r>
              <a:rPr lang="en-US" b="1" dirty="0" smtClean="0"/>
              <a:t>@@</a:t>
            </a:r>
            <a:r>
              <a:rPr lang="en-US" b="1" dirty="0" err="1" smtClean="0"/>
              <a:t>session</a:t>
            </a:r>
            <a:r>
              <a:rPr lang="en-US" dirty="0" err="1" smtClean="0"/>
              <a:t>.var_name</a:t>
            </a:r>
            <a:r>
              <a:rPr lang="en-US" dirty="0" smtClean="0"/>
              <a:t>;</a:t>
            </a:r>
            <a:endParaRPr lang="en-US" dirty="0" smtClean="0"/>
          </a:p>
          <a:p>
            <a:pPr marL="624205" indent="-514350">
              <a:buFont typeface="+mj-lt"/>
              <a:buAutoNum type="arabicPeriod"/>
            </a:pPr>
            <a:r>
              <a:rPr lang="en-US" dirty="0" smtClean="0"/>
              <a:t>show session variables like "%</a:t>
            </a:r>
            <a:r>
              <a:rPr lang="en-US" dirty="0" err="1" smtClean="0"/>
              <a:t>var</a:t>
            </a:r>
            <a:r>
              <a:rPr lang="en-US" dirty="0" smtClean="0"/>
              <a:t>%";</a:t>
            </a:r>
            <a:r>
              <a:rPr lang="zh-CN" altLang="en-US" dirty="0" smtClean="0"/>
              <a:t> 凡是上面提到的</a:t>
            </a:r>
            <a:r>
              <a:rPr lang="en-US" dirty="0" smtClean="0"/>
              <a:t>session</a:t>
            </a:r>
            <a:r>
              <a:rPr lang="zh-CN" altLang="en-US" dirty="0" smtClean="0"/>
              <a:t>，都可以用</a:t>
            </a:r>
            <a:r>
              <a:rPr lang="en-US" dirty="0" smtClean="0"/>
              <a:t>local</a:t>
            </a:r>
            <a:r>
              <a:rPr lang="zh-CN" altLang="en-US" dirty="0" smtClean="0"/>
              <a:t>这个关键字来代替。</a:t>
            </a:r>
            <a:r>
              <a:rPr lang="en-US" dirty="0" smtClean="0"/>
              <a:t> </a:t>
            </a:r>
            <a:endParaRPr lang="zh-CN" altLang="en-US" dirty="0" smtClean="0"/>
          </a:p>
          <a:p>
            <a:pPr marL="624205" indent="-514350">
              <a:buNone/>
            </a:pPr>
            <a:r>
              <a:rPr lang="zh-CN" altLang="en-US" dirty="0" smtClean="0"/>
              <a:t>       比如：</a:t>
            </a:r>
            <a:r>
              <a:rPr lang="en-US" dirty="0" smtClean="0"/>
              <a:t> </a:t>
            </a:r>
            <a:endParaRPr lang="zh-CN" altLang="en-US" dirty="0" smtClean="0"/>
          </a:p>
          <a:p>
            <a:pPr marL="624205" indent="-514350">
              <a:buNone/>
            </a:pPr>
            <a:r>
              <a:rPr lang="en-US" dirty="0" smtClean="0"/>
              <a:t>        select </a:t>
            </a:r>
            <a:r>
              <a:rPr lang="en-US" b="1" dirty="0" smtClean="0"/>
              <a:t>@@</a:t>
            </a:r>
            <a:r>
              <a:rPr lang="en-US" b="1" dirty="0" err="1" smtClean="0"/>
              <a:t>local</a:t>
            </a:r>
            <a:r>
              <a:rPr lang="en-US" dirty="0" err="1" smtClean="0"/>
              <a:t>.sort_buffer_size</a:t>
            </a:r>
            <a:r>
              <a:rPr lang="en-US" dirty="0" smtClean="0"/>
              <a:t> local</a:t>
            </a:r>
            <a:r>
              <a:rPr lang="zh-CN" altLang="en-US" dirty="0" smtClean="0"/>
              <a:t>是</a:t>
            </a:r>
            <a:r>
              <a:rPr lang="en-US" dirty="0" smtClean="0"/>
              <a:t>session</a:t>
            </a:r>
            <a:r>
              <a:rPr lang="zh-CN" altLang="en-US" dirty="0" smtClean="0"/>
              <a:t>的近义词。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附录</a:t>
            </a:r>
            <a:r>
              <a:rPr lang="en-US" altLang="zh-CN" dirty="0" smtClean="0"/>
              <a:t> </a:t>
            </a:r>
            <a:r>
              <a:rPr lang="zh-CN" altLang="en-US" dirty="0" smtClean="0"/>
              <a:t>会话变量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876256" y="6007291"/>
            <a:ext cx="1224136" cy="374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hlinkClick r:id="rId1" action="ppaction://hlinksldjump"/>
              </a:rPr>
              <a:t>返回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PP_MARK_KEY" val="a0a6de5b-118d-4419-8672-9c1115ebd63e"/>
  <p:tag name="COMMONDATA" val="eyJoZGlkIjoiZDIzZGQ4YzQzMzZhZWVjY2UzYTQzZDA4MDdmMWY4YTI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聚合">
  <a:themeElements>
    <a:clrScheme name="聚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聚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聚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0</TotalTime>
  <Words>2492</Words>
  <Application>WPS 演示</Application>
  <PresentationFormat>全屏显示(4:3)</PresentationFormat>
  <Paragraphs>187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Arial</vt:lpstr>
      <vt:lpstr>宋体</vt:lpstr>
      <vt:lpstr>Wingdings</vt:lpstr>
      <vt:lpstr>Wingdings 3</vt:lpstr>
      <vt:lpstr>Verdana</vt:lpstr>
      <vt:lpstr>Wingdings 2</vt:lpstr>
      <vt:lpstr>等线</vt:lpstr>
      <vt:lpstr>Times New Roman</vt:lpstr>
      <vt:lpstr>Lucida Sans Unicode</vt:lpstr>
      <vt:lpstr>黑体</vt:lpstr>
      <vt:lpstr>微软雅黑</vt:lpstr>
      <vt:lpstr>Arial Unicode MS</vt:lpstr>
      <vt:lpstr>Calibri</vt:lpstr>
      <vt:lpstr>聚合</vt:lpstr>
      <vt:lpstr>MYSQL应用教程</vt:lpstr>
      <vt:lpstr>内容提要</vt:lpstr>
      <vt:lpstr>1 错误日志</vt:lpstr>
      <vt:lpstr>错误日志中的常用参数</vt:lpstr>
      <vt:lpstr>PowerPoint 演示文稿</vt:lpstr>
      <vt:lpstr>2 慢查日志</vt:lpstr>
      <vt:lpstr>慢查日志常用参数</vt:lpstr>
      <vt:lpstr>PowerPoint 演示文稿</vt:lpstr>
      <vt:lpstr>3 通用日志</vt:lpstr>
      <vt:lpstr>通用日志的常用参数</vt:lpstr>
      <vt:lpstr>4 二进制日志</vt:lpstr>
      <vt:lpstr>二进制日志（续）</vt:lpstr>
      <vt:lpstr>二进制日志常用参数</vt:lpstr>
      <vt:lpstr>二进制日志的读取</vt:lpstr>
      <vt:lpstr>附录 全局变量</vt:lpstr>
      <vt:lpstr>附录 会话变量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MYSQL应用教程</dc:title>
  <dc:creator>微软用户</dc:creator>
  <cp:lastModifiedBy>陈蕾</cp:lastModifiedBy>
  <cp:revision>39</cp:revision>
  <dcterms:created xsi:type="dcterms:W3CDTF">2018-12-06T09:28:00Z</dcterms:created>
  <dcterms:modified xsi:type="dcterms:W3CDTF">2022-11-23T03:24:38Z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8A4AAC9B0F9A4500A918529EA73A4314</vt:lpwstr>
  </property>
  <property fmtid="{D5CDD505-2E9C-101B-9397-08002B2CF9AE}" pid="3" name="KSOProductBuildVer">
    <vt:lpwstr>2052-11.1.0.12763</vt:lpwstr>
  </property>
</Properties>
</file>