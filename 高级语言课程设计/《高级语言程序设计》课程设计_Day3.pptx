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47" r:id="rId2"/>
    <p:sldId id="585" r:id="rId3"/>
    <p:sldId id="569" r:id="rId4"/>
    <p:sldId id="570" r:id="rId5"/>
    <p:sldId id="586" r:id="rId6"/>
    <p:sldId id="587" r:id="rId7"/>
    <p:sldId id="588" r:id="rId8"/>
    <p:sldId id="589" r:id="rId9"/>
    <p:sldId id="590" r:id="rId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" initials="D" lastIdx="1" clrIdx="0">
    <p:extLst>
      <p:ext uri="{19B8F6BF-5375-455C-9EA6-DF929625EA0E}">
        <p15:presenceInfo xmlns:p15="http://schemas.microsoft.com/office/powerpoint/2012/main" userId="c0dae3c0225ac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000000"/>
    <a:srgbClr val="FF33CC"/>
    <a:srgbClr val="FF0000"/>
    <a:srgbClr val="FFFF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0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797D23-B8E0-4ECE-A4D8-379C36FFDF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59D1B6A-953B-4E08-B013-6A32734132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8259552-4B8E-431D-AAF0-EB4804A91EAB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47C2BE0-3916-4BC1-A5B6-AF7A4D25923C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noProof="0"/>
              <a:t>单击此处编辑母版文本样式</a:t>
            </a:r>
          </a:p>
          <a:p>
            <a:pPr lvl="1"/>
            <a:r>
              <a:rPr lang="zh-CN" altLang="zh-CN" noProof="0"/>
              <a:t>第二级</a:t>
            </a:r>
          </a:p>
          <a:p>
            <a:pPr lvl="2"/>
            <a:r>
              <a:rPr lang="zh-CN" altLang="zh-CN" noProof="0"/>
              <a:t>第三级</a:t>
            </a:r>
          </a:p>
          <a:p>
            <a:pPr lvl="3"/>
            <a:r>
              <a:rPr lang="zh-CN" altLang="zh-CN" noProof="0"/>
              <a:t>第四级</a:t>
            </a:r>
          </a:p>
          <a:p>
            <a:pPr lvl="4"/>
            <a:r>
              <a:rPr lang="zh-CN" altLang="zh-CN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CAC8FEC-5CA2-49D4-84EF-F4AF435159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D915CC7-C322-43AD-B317-27AA4C0EB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609C2-2FD7-4825-8F42-B1D34E8A54B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4AB274-BCF5-4A1A-B30E-33E40C2F4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3F23E2-2000-45DC-98F6-A7BBF11960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0D9287-7CE1-4F9B-94E9-8C4EFB5D71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B0619-654D-4ADC-83D9-19D3F0E48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40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DD09A-31EC-4E9B-9967-7A1C1CF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6451EAA-6CAE-48E3-A144-6884A2798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E7249-3C24-4171-B81E-E10CB97F3D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8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FFB71-6B16-4C66-89CC-4CDE1582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14D41E6-C3A8-4F23-BF48-9550CDD234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DC9A-D0DF-45BC-AA5C-3EFAD36151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94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27CA1-8F1E-48C9-83AF-9548D530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98B4889C-F7EA-4565-BE01-4A6927784F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C29F9-199F-431A-B387-C015FFD994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8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6A3D4F-1656-43EC-9301-5AE8E37B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8">
            <a:extLst>
              <a:ext uri="{FF2B5EF4-FFF2-40B4-BE49-F238E27FC236}">
                <a16:creationId xmlns:a16="http://schemas.microsoft.com/office/drawing/2014/main" id="{364BBF4F-B1EF-455A-85CF-EF5F94E83A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EA694-AF73-4F21-B49B-F9BCAF0A70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14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38D7D2-59D9-4059-AE46-92A0746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D3ACB0F-97B6-4AF1-BEE4-AB55A206E5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08C5-27AA-4DA1-B0AA-E71676E8C0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24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E7839A-DFFA-4BFF-B117-D0284672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E2E6EA4B-F12F-4D26-89DA-F0DA95A79E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E2DE5-46F6-4408-865D-05AE1F5483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69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97D3F-21F0-439A-9D6F-3B0FB121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36EC318A-4602-4875-A945-49B2CB4E5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F5796-02BC-4AA2-A690-95C7D740B2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1805D-4C2C-492D-9D38-EC4574B2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51F058D3-6D02-4528-AFBE-99C8F85B7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C7929-A820-4229-BA8F-55FF1E7D77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30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4650C-DEB9-4335-93AB-8CB28387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668A402-A7F5-4CBD-80F9-EBB6D53A4A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35C23-489A-4EDE-A344-B8AB8714CB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70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21693-0514-472D-87D6-D8AA1D51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7A72D8-1604-48C3-9384-580C10D28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7C137-734B-4589-9CD0-B52F10793B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529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AD367-2C5D-4767-BF6F-9E8D6554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5F94A75-F1BF-4C53-AD8F-31034C0A8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5B00-2202-4BAF-9577-B9BCA87402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567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28774-EE17-47DB-AD5D-163237EA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6C2D794-DA38-4ED1-B0EC-773E01AA3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5F686-5F8C-4F31-B213-52607044D3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0D00C8-2945-4D02-93FD-5CD76793C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95CAF6-8558-4669-BBE0-8BAB4BF14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B6A222-A7E2-45F5-AB4A-568E6472F0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089FAA-E83A-4CF7-876F-74690FA138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7675F0-B44A-4CF4-9600-BEF534E044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EE4F0-593B-4518-B70E-879717E842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6" r:id="rId3"/>
    <p:sldLayoutId id="2147484227" r:id="rId4"/>
    <p:sldLayoutId id="2147484228" r:id="rId5"/>
    <p:sldLayoutId id="2147484229" r:id="rId6"/>
    <p:sldLayoutId id="2147484230" r:id="rId7"/>
    <p:sldLayoutId id="2147484231" r:id="rId8"/>
    <p:sldLayoutId id="2147484232" r:id="rId9"/>
    <p:sldLayoutId id="2147484233" r:id="rId10"/>
    <p:sldLayoutId id="2147484234" r:id="rId11"/>
    <p:sldLayoutId id="2147484235" r:id="rId12"/>
    <p:sldLayoutId id="2147484236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23CDFB4C-B160-4023-B106-82B8CD3B4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62E54F-ECB6-47FE-B365-6A4293C2D8ED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D68ABC6-9FB8-49B9-A492-704442B70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2684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《</a:t>
            </a: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高级语言程序设计</a:t>
            </a: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》</a:t>
            </a:r>
            <a:b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</a:b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课程设计</a:t>
            </a:r>
          </a:p>
        </p:txBody>
      </p:sp>
      <p:sp>
        <p:nvSpPr>
          <p:cNvPr id="15364" name="副标题 2">
            <a:extLst>
              <a:ext uri="{FF2B5EF4-FFF2-40B4-BE49-F238E27FC236}">
                <a16:creationId xmlns:a16="http://schemas.microsoft.com/office/drawing/2014/main" id="{C8EA317F-EAE0-445E-9D96-AD3168F04509}"/>
              </a:ext>
            </a:extLst>
          </p:cNvPr>
          <p:cNvSpPr txBox="1">
            <a:spLocks/>
          </p:cNvSpPr>
          <p:nvPr/>
        </p:nvSpPr>
        <p:spPr bwMode="auto">
          <a:xfrm>
            <a:off x="1568450" y="4076700"/>
            <a:ext cx="6172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信息与计算科学系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2024-2025-2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学期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D4630-C440-427F-BF2D-104075CF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74638"/>
            <a:ext cx="8435975" cy="1143000"/>
          </a:xfrm>
        </p:spPr>
        <p:txBody>
          <a:bodyPr/>
          <a:lstStyle/>
          <a:p>
            <a:pPr algn="l">
              <a:defRPr/>
            </a:pPr>
            <a:r>
              <a:rPr lang="en-US" altLang="zh-CN" sz="3400" b="1" dirty="0">
                <a:cs typeface="+mn-cs"/>
              </a:rPr>
              <a:t>S4</a:t>
            </a:r>
            <a:r>
              <a:rPr lang="zh-CN" altLang="en-US" sz="3400" b="1" dirty="0">
                <a:cs typeface="+mn-cs"/>
              </a:rPr>
              <a:t>：</a:t>
            </a:r>
            <a:r>
              <a:rPr lang="en-US" altLang="zh-CN" sz="3400" b="1" dirty="0">
                <a:cs typeface="+mn-cs"/>
              </a:rPr>
              <a:t>Account</a:t>
            </a:r>
            <a:r>
              <a:rPr lang="zh-CN" altLang="en-US" sz="3400" b="1" dirty="0">
                <a:cs typeface="+mn-cs"/>
              </a:rPr>
              <a:t>基类、</a:t>
            </a:r>
            <a:r>
              <a:rPr lang="en-US" altLang="zh-CN" sz="3400" b="1" dirty="0" err="1">
                <a:cs typeface="+mn-cs"/>
              </a:rPr>
              <a:t>SavingsAccount</a:t>
            </a:r>
            <a:r>
              <a:rPr lang="zh-CN" altLang="en-US" sz="3400" b="1" dirty="0">
                <a:cs typeface="+mn-cs"/>
              </a:rPr>
              <a:t>类、</a:t>
            </a:r>
            <a:r>
              <a:rPr lang="en-US" altLang="zh-CN" sz="3400" b="1" dirty="0" err="1">
                <a:cs typeface="+mn-cs"/>
              </a:rPr>
              <a:t>CreditAccount</a:t>
            </a:r>
            <a:r>
              <a:rPr lang="zh-CN" altLang="en-US" sz="3400" b="1" dirty="0">
                <a:cs typeface="+mn-cs"/>
              </a:rPr>
              <a:t>类的设计</a:t>
            </a:r>
          </a:p>
        </p:txBody>
      </p:sp>
      <p:sp>
        <p:nvSpPr>
          <p:cNvPr id="41987" name="灯片编号占位符 3">
            <a:extLst>
              <a:ext uri="{FF2B5EF4-FFF2-40B4-BE49-F238E27FC236}">
                <a16:creationId xmlns:a16="http://schemas.microsoft.com/office/drawing/2014/main" id="{526FA90D-BE69-4776-AFD4-C1DAB49E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AA4E7B-93F4-4976-9FA9-B81141CD257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/>
          </a:p>
        </p:txBody>
      </p:sp>
      <p:sp>
        <p:nvSpPr>
          <p:cNvPr id="41988" name="内容占位符 2">
            <a:extLst>
              <a:ext uri="{FF2B5EF4-FFF2-40B4-BE49-F238E27FC236}">
                <a16:creationId xmlns:a16="http://schemas.microsoft.com/office/drawing/2014/main" id="{30DBEDE4-4365-46B6-9B44-05752A8A8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的基础上进行改进：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、基类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的设计。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、设计一个新类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类，提供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计算一项数值的按日累加之和所需的接口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，在两个派生类中分别将该类实例化，通过该类的实例来计算利息。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、要求主函数中的账户放到一个数组中。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Tx/>
              <a:buNone/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>
            <a:extLst>
              <a:ext uri="{FF2B5EF4-FFF2-40B4-BE49-F238E27FC236}">
                <a16:creationId xmlns:a16="http://schemas.microsoft.com/office/drawing/2014/main" id="{9D80990F-74B5-425C-AD63-86CE5F463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7802E2-4F94-4BF9-814F-09CE11948D75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0BC952-BB2A-42F2-B64D-26711E98732D}"/>
              </a:ext>
            </a:extLst>
          </p:cNvPr>
          <p:cNvSpPr txBox="1"/>
          <p:nvPr/>
        </p:nvSpPr>
        <p:spPr>
          <a:xfrm>
            <a:off x="611560" y="1484784"/>
            <a:ext cx="7920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设计一个基类</a:t>
            </a:r>
            <a:r>
              <a:rPr lang="en-US" altLang="zh-CN" sz="2400" dirty="0"/>
              <a:t>Account</a:t>
            </a:r>
            <a:r>
              <a:rPr lang="zh-CN" altLang="en-US" sz="2400" dirty="0"/>
              <a:t>用来描述所有账户的共性，再从中派生出：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B0F0"/>
                </a:solidFill>
              </a:rPr>
              <a:t>SavingsAccount</a:t>
            </a:r>
            <a:r>
              <a:rPr lang="zh-CN" altLang="en-US" sz="2400" dirty="0">
                <a:solidFill>
                  <a:srgbClr val="00B0F0"/>
                </a:solidFill>
              </a:rPr>
              <a:t>类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B0F0"/>
                </a:solidFill>
              </a:rPr>
              <a:t>CreditAccount</a:t>
            </a:r>
            <a:r>
              <a:rPr lang="zh-CN" altLang="en-US" sz="2400" dirty="0">
                <a:solidFill>
                  <a:srgbClr val="00B0F0"/>
                </a:solidFill>
              </a:rPr>
              <a:t>类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两类账户的利息计算具有很大差异：</a:t>
            </a:r>
            <a:r>
              <a:rPr lang="zh-CN" altLang="en-US" sz="2400" dirty="0">
                <a:solidFill>
                  <a:srgbClr val="00B0F0"/>
                </a:solidFill>
              </a:rPr>
              <a:t>计算对象、计算周期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因此，计息的任务不能由基类</a:t>
            </a:r>
            <a:r>
              <a:rPr lang="en-US" altLang="zh-CN" sz="2400" dirty="0"/>
              <a:t>Account</a:t>
            </a:r>
            <a:r>
              <a:rPr lang="zh-CN" altLang="en-US" sz="2400" dirty="0"/>
              <a:t>完成。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>
            <a:extLst>
              <a:ext uri="{FF2B5EF4-FFF2-40B4-BE49-F238E27FC236}">
                <a16:creationId xmlns:a16="http://schemas.microsoft.com/office/drawing/2014/main" id="{C22B68C5-18AE-4B5C-9453-057D724646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FB07AC-FEB1-4759-9CCB-CDFA4334CDF2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EC3246-1B5E-4174-9C73-26B87C9CC6DC}"/>
              </a:ext>
            </a:extLst>
          </p:cNvPr>
          <p:cNvSpPr txBox="1"/>
          <p:nvPr/>
        </p:nvSpPr>
        <p:spPr>
          <a:xfrm>
            <a:off x="644118" y="980728"/>
            <a:ext cx="785576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两类账户在计算利息时都需要将某个数值（余额或者欠款金额）按日累加，为了避免编写重复代码，有</a:t>
            </a:r>
            <a:r>
              <a:rPr lang="zh-CN" altLang="en-US" sz="2400" dirty="0">
                <a:solidFill>
                  <a:srgbClr val="00B0F0"/>
                </a:solidFill>
              </a:rPr>
              <a:t>两种解决方法：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）在基类</a:t>
            </a:r>
            <a:r>
              <a:rPr lang="en-US" altLang="zh-CN" sz="2400" dirty="0"/>
              <a:t>Account</a:t>
            </a:r>
            <a:r>
              <a:rPr lang="zh-CN" altLang="en-US" sz="2400" dirty="0"/>
              <a:t>中</a:t>
            </a:r>
            <a:r>
              <a:rPr lang="zh-CN" altLang="en-US" sz="2400" b="1" dirty="0">
                <a:solidFill>
                  <a:srgbClr val="00B0F0"/>
                </a:solidFill>
              </a:rPr>
              <a:t>设立几个保护的成员函数</a:t>
            </a:r>
            <a:r>
              <a:rPr lang="zh-CN" altLang="en-US" sz="2400" dirty="0"/>
              <a:t>来协助利息计算，然后在派生类中通过调用这些函数来计算利息。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en-US" sz="2400" b="1" dirty="0">
                <a:solidFill>
                  <a:srgbClr val="00B0F0"/>
                </a:solidFill>
              </a:rPr>
              <a:t>建立一个新类</a:t>
            </a:r>
            <a:r>
              <a:rPr lang="zh-CN" altLang="en-US" sz="2400" dirty="0"/>
              <a:t>，由该类提供计算一项数值的按日累加之和所需要的接口，在两个派生类中分别将该类实例化，通过该类的实例来计算利息。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r>
              <a:rPr lang="zh-CN" altLang="en-US" sz="2400" dirty="0"/>
              <a:t>由于这项功能与其他账户管理功能相对独立，将</a:t>
            </a:r>
            <a:r>
              <a:rPr lang="zh-CN" altLang="en-US" sz="2400" b="1" dirty="0"/>
              <a:t>这项功能从账户类中分类出来</a:t>
            </a:r>
            <a:r>
              <a:rPr lang="zh-CN" altLang="en-US" sz="2400" dirty="0"/>
              <a:t>，从而降低账户类的复杂性，提高计算数值按日累加之和的代码的可复用性。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4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8793C16D-04D7-4408-A310-89E00D97C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CD38D829-986B-42C4-B217-89A7A2F9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BB839CC0-1DFF-4A67-9A74-6486E570DC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16B3B-2863-4463-93E2-DA7C18418DC2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  <p:pic>
        <p:nvPicPr>
          <p:cNvPr id="46085" name="图片 1">
            <a:extLst>
              <a:ext uri="{FF2B5EF4-FFF2-40B4-BE49-F238E27FC236}">
                <a16:creationId xmlns:a16="http://schemas.microsoft.com/office/drawing/2014/main" id="{AEA2C16D-DAD0-404E-A539-251E81047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846138"/>
            <a:ext cx="5184427" cy="5630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92CE8-EC4A-4047-9788-3F0B758B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E3B69-D6E9-43B6-B94B-7B90962CF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8D6C79-151A-4995-BF95-CCC82D03E2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725C8-883D-407F-B3E3-D1289C19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636"/>
            <a:ext cx="9144000" cy="574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8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0A9B9-D327-40DB-A626-C9BCA54F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C5474-C546-4F1A-A513-627334891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B1CD0D-F454-4F39-8F72-3BED1AB46D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4972F8-0817-4B1E-98C3-C7F4BBFDB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933"/>
            <a:ext cx="9144000" cy="416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0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5B463-A5ED-4F79-B461-9E39F8993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67B936-2111-495B-824E-56F66B028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5F0CB8-A753-457F-958D-6D1D888B94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6089CC-E800-4236-9C69-39A839605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666"/>
            <a:ext cx="9144000" cy="491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02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FBF5F-176F-4C1B-A63E-43A2B0DA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741D87-5670-4C0D-951C-B567213E4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059DB5-A475-41EB-8925-D90A47D34A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D02608-9A77-4223-84C4-0C122A9E4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41" y="298217"/>
            <a:ext cx="8298126" cy="655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1273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14967</TotalTime>
  <Pages>0</Pages>
  <Words>322</Words>
  <Characters>0</Characters>
  <Application>Microsoft Office PowerPoint</Application>
  <DocSecurity>0</DocSecurity>
  <PresentationFormat>全屏显示(4:3)</PresentationFormat>
  <Lines>0</Lines>
  <Paragraphs>27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默认设计模板</vt:lpstr>
      <vt:lpstr>《高级语言程序设计》 课程设计</vt:lpstr>
      <vt:lpstr>S4：Account基类、SavingsAccount类、CreditAccount类的设计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广西师范大学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C++的初步知识 </dc:title>
  <dc:subject/>
  <dc:creator>赵建州</dc:creator>
  <cp:keywords/>
  <dc:description/>
  <cp:lastModifiedBy>yanrui ding</cp:lastModifiedBy>
  <cp:revision>612</cp:revision>
  <cp:lastPrinted>1899-12-30T00:00:00Z</cp:lastPrinted>
  <dcterms:created xsi:type="dcterms:W3CDTF">2007-08-16T07:56:20Z</dcterms:created>
  <dcterms:modified xsi:type="dcterms:W3CDTF">2025-07-01T23:59:21Z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