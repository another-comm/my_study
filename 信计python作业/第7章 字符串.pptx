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9"/>
  </p:notesMasterIdLst>
  <p:handoutMasterIdLst>
    <p:handoutMasterId r:id="rId70"/>
  </p:handoutMasterIdLst>
  <p:sldIdLst>
    <p:sldId id="848" r:id="rId3"/>
    <p:sldId id="1773" r:id="rId4"/>
    <p:sldId id="1774" r:id="rId5"/>
    <p:sldId id="1775" r:id="rId6"/>
    <p:sldId id="1776" r:id="rId7"/>
    <p:sldId id="1778" r:id="rId8"/>
    <p:sldId id="1779" r:id="rId9"/>
    <p:sldId id="1780" r:id="rId10"/>
    <p:sldId id="1833" r:id="rId11"/>
    <p:sldId id="1781" r:id="rId12"/>
    <p:sldId id="1782" r:id="rId13"/>
    <p:sldId id="1783" r:id="rId14"/>
    <p:sldId id="1784" r:id="rId15"/>
    <p:sldId id="1968" r:id="rId16"/>
    <p:sldId id="1785" r:id="rId17"/>
    <p:sldId id="1786" r:id="rId18"/>
    <p:sldId id="1787" r:id="rId19"/>
    <p:sldId id="1788" r:id="rId20"/>
    <p:sldId id="1789" r:id="rId21"/>
    <p:sldId id="1790" r:id="rId22"/>
    <p:sldId id="1791" r:id="rId23"/>
    <p:sldId id="1884" r:id="rId24"/>
    <p:sldId id="1792" r:id="rId25"/>
    <p:sldId id="1969" r:id="rId26"/>
    <p:sldId id="1924" r:id="rId27"/>
    <p:sldId id="1793" r:id="rId28"/>
    <p:sldId id="1925" r:id="rId29"/>
    <p:sldId id="1926" r:id="rId30"/>
    <p:sldId id="1927" r:id="rId31"/>
    <p:sldId id="1928" r:id="rId32"/>
    <p:sldId id="1794" r:id="rId33"/>
    <p:sldId id="1795" r:id="rId34"/>
    <p:sldId id="1796" r:id="rId35"/>
    <p:sldId id="1797" r:id="rId36"/>
    <p:sldId id="1798" r:id="rId37"/>
    <p:sldId id="1799" r:id="rId38"/>
    <p:sldId id="1800" r:id="rId39"/>
    <p:sldId id="1801" r:id="rId40"/>
    <p:sldId id="1802" r:id="rId41"/>
    <p:sldId id="1803" r:id="rId42"/>
    <p:sldId id="1804" r:id="rId43"/>
    <p:sldId id="1806" r:id="rId44"/>
    <p:sldId id="1807" r:id="rId45"/>
    <p:sldId id="1808" r:id="rId46"/>
    <p:sldId id="1809" r:id="rId47"/>
    <p:sldId id="1810" r:id="rId48"/>
    <p:sldId id="1812" r:id="rId49"/>
    <p:sldId id="1813" r:id="rId50"/>
    <p:sldId id="1811" r:id="rId51"/>
    <p:sldId id="1816" r:id="rId52"/>
    <p:sldId id="1815" r:id="rId53"/>
    <p:sldId id="1814" r:id="rId54"/>
    <p:sldId id="2021" r:id="rId55"/>
    <p:sldId id="1817" r:id="rId56"/>
    <p:sldId id="1818" r:id="rId57"/>
    <p:sldId id="1819" r:id="rId58"/>
    <p:sldId id="1967" r:id="rId59"/>
    <p:sldId id="1820" r:id="rId60"/>
    <p:sldId id="1821" r:id="rId61"/>
    <p:sldId id="1822" r:id="rId62"/>
    <p:sldId id="1823" r:id="rId63"/>
    <p:sldId id="1824" r:id="rId64"/>
    <p:sldId id="1826" r:id="rId65"/>
    <p:sldId id="1828" r:id="rId66"/>
    <p:sldId id="1829" r:id="rId67"/>
    <p:sldId id="1830" r:id="rId68"/>
  </p:sldIdLst>
  <p:sldSz cx="12192000" cy="6858000"/>
  <p:notesSz cx="6858000" cy="9144000"/>
  <p:custDataLst>
    <p:tags r:id="rId7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4" Type="http://schemas.openxmlformats.org/officeDocument/2006/relationships/tags" Target="tags/tag7.xml"/><Relationship Id="rId73" Type="http://schemas.openxmlformats.org/officeDocument/2006/relationships/tableStyles" Target="tableStyles.xml"/><Relationship Id="rId72" Type="http://schemas.openxmlformats.org/officeDocument/2006/relationships/viewProps" Target="viewProps.xml"/><Relationship Id="rId71" Type="http://schemas.openxmlformats.org/officeDocument/2006/relationships/presProps" Target="presProps.xml"/><Relationship Id="rId70" Type="http://schemas.openxmlformats.org/officeDocument/2006/relationships/handoutMaster" Target="handoutMasters/handoutMaster1.xml"/><Relationship Id="rId7" Type="http://schemas.openxmlformats.org/officeDocument/2006/relationships/slide" Target="slides/slide5.xml"/><Relationship Id="rId69" Type="http://schemas.openxmlformats.org/officeDocument/2006/relationships/notesMaster" Target="notesMasters/notesMaster1.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dotDmnd">
          <a:fgClr>
            <a:srgbClr val="00B050"/>
          </a:fgClr>
          <a:bgClr>
            <a:schemeClr val="bg1"/>
          </a:bgClr>
        </a:patt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905" y="4445"/>
            <a:ext cx="12157075" cy="1002030"/>
          </a:xfrm>
          <a:gradFill>
            <a:gsLst>
              <a:gs pos="100000">
                <a:srgbClr val="0070C0"/>
              </a:gs>
              <a:gs pos="53000">
                <a:schemeClr val="accent1">
                  <a:lumMod val="45000"/>
                  <a:lumOff val="55000"/>
                </a:schemeClr>
              </a:gs>
              <a:gs pos="29000">
                <a:schemeClr val="accent1">
                  <a:lumMod val="45000"/>
                  <a:lumOff val="55000"/>
                </a:schemeClr>
              </a:gs>
              <a:gs pos="1000">
                <a:schemeClr val="accent1">
                  <a:lumMod val="30000"/>
                  <a:lumOff val="70000"/>
                </a:schemeClr>
              </a:gs>
            </a:gsLst>
            <a:lin ang="8100000" scaled="0"/>
          </a:gradFill>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838200" y="1321435"/>
            <a:ext cx="10515600" cy="463994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cxnSp>
        <p:nvCxnSpPr>
          <p:cNvPr id="7" name="直接连接符 6"/>
          <p:cNvCxnSpPr/>
          <p:nvPr userDrawn="1"/>
        </p:nvCxnSpPr>
        <p:spPr>
          <a:xfrm>
            <a:off x="1905" y="1040765"/>
            <a:ext cx="12157075" cy="0"/>
          </a:xfrm>
          <a:prstGeom prst="line">
            <a:avLst/>
          </a:prstGeom>
          <a:ln w="66675" cmpd="sng">
            <a:solidFill>
              <a:srgbClr val="00B050"/>
            </a:solidFill>
            <a:prstDash val="solid"/>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userDrawn="1"/>
        </p:nvCxnSpPr>
        <p:spPr>
          <a:xfrm>
            <a:off x="589915" y="1062990"/>
            <a:ext cx="0" cy="5121275"/>
          </a:xfrm>
          <a:prstGeom prst="line">
            <a:avLst/>
          </a:prstGeom>
          <a:ln w="47625">
            <a:solidFill>
              <a:srgbClr val="0070C0"/>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1.wmf"/><Relationship Id="rId1" Type="http://schemas.openxmlformats.org/officeDocument/2006/relationships/oleObject" Target="../embeddings/oleObject1.bin"/></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code\7.5.py"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hyperlink" Target="code\&#20363;7-1.py" TargetMode="Externa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code\randomInformation.py" TargetMode="Externa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code\&#20363;7-3.py"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a:xfrm>
            <a:off x="40640" y="1122680"/>
            <a:ext cx="12091670" cy="2387600"/>
          </a:xfrm>
        </p:spPr>
        <p:txBody>
          <a:bodyPr/>
          <a:p>
            <a:pPr fontAlgn="auto">
              <a:lnSpc>
                <a:spcPct val="120000"/>
              </a:lnSpc>
            </a:pPr>
            <a:r>
              <a:rPr lang="zh-CN" altLang="en-US"/>
              <a:t>第</a:t>
            </a:r>
            <a:r>
              <a:rPr lang="en-US" altLang="zh-CN"/>
              <a:t>7</a:t>
            </a:r>
            <a:r>
              <a:rPr lang="zh-CN" altLang="en-US"/>
              <a:t>章  字符串</a:t>
            </a:r>
            <a:endParaRPr lang="zh-CN" altLang="en-US"/>
          </a:p>
        </p:txBody>
      </p:sp>
      <p:sp>
        <p:nvSpPr>
          <p:cNvPr id="3" name="副标题 2"/>
          <p:cNvSpPr>
            <a:spLocks noGrp="1"/>
          </p:cNvSpPr>
          <p:nvPr>
            <p:ph type="subTitle" idx="1"/>
          </p:nvPr>
        </p:nvSpPr>
        <p:spPr>
          <a:xfrm>
            <a:off x="1524000" y="3602355"/>
            <a:ext cx="9144000" cy="2298065"/>
          </a:xfrm>
        </p:spPr>
        <p:txBody>
          <a:bodyPr>
            <a:normAutofit/>
          </a:bodyPr>
          <a:p>
            <a:endParaRPr lang="zh-CN" altLang="en-US" sz="2800"/>
          </a:p>
          <a:p>
            <a:endParaRPr lang="zh-CN" altLang="en-US" sz="2800"/>
          </a:p>
        </p:txBody>
      </p:sp>
      <p:sp>
        <p:nvSpPr>
          <p:cNvPr id="4" name="Slide Number Placeholder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第</a:t>
            </a:r>
            <a:r>
              <a:rPr lang="en-US" altLang="zh-CN"/>
              <a:t>7</a:t>
            </a:r>
            <a:r>
              <a:rPr lang="zh-CN" altLang="en-US"/>
              <a:t>章  字符串</a:t>
            </a:r>
            <a:endParaRPr lang="zh-CN" altLang="en-US"/>
          </a:p>
        </p:txBody>
      </p:sp>
      <p:sp>
        <p:nvSpPr>
          <p:cNvPr id="3" name="内容占位符 2"/>
          <p:cNvSpPr>
            <a:spLocks noGrp="1"/>
          </p:cNvSpPr>
          <p:nvPr>
            <p:ph idx="1"/>
          </p:nvPr>
        </p:nvSpPr>
        <p:spPr/>
        <p:txBody>
          <a:bodyPr/>
          <a:p>
            <a:pPr indent="-228600" fontAlgn="auto">
              <a:lnSpc>
                <a:spcPct val="150000"/>
              </a:lnSpc>
            </a:pPr>
            <a:r>
              <a:rPr lang="zh-CN" altLang="en-US" sz="2400"/>
              <a:t>在Python中，字符串属于</a:t>
            </a:r>
            <a:r>
              <a:rPr lang="zh-CN" altLang="en-US" sz="2400">
                <a:solidFill>
                  <a:srgbClr val="FF0000"/>
                </a:solidFill>
              </a:rPr>
              <a:t>不可变有序容器对象</a:t>
            </a:r>
            <a:r>
              <a:rPr lang="zh-CN" altLang="en-US" sz="2400"/>
              <a:t>，使用</a:t>
            </a:r>
            <a:r>
              <a:rPr lang="zh-CN" altLang="en-US" sz="2400">
                <a:solidFill>
                  <a:srgbClr val="FF0000"/>
                </a:solidFill>
              </a:rPr>
              <a:t>单引号</a:t>
            </a:r>
            <a:r>
              <a:rPr lang="zh-CN" altLang="en-US" sz="2400"/>
              <a:t>、</a:t>
            </a:r>
            <a:r>
              <a:rPr lang="zh-CN" altLang="en-US" sz="2400">
                <a:solidFill>
                  <a:srgbClr val="FF0000"/>
                </a:solidFill>
              </a:rPr>
              <a:t>双引号</a:t>
            </a:r>
            <a:r>
              <a:rPr lang="zh-CN" altLang="en-US" sz="2400"/>
              <a:t>、</a:t>
            </a:r>
            <a:r>
              <a:rPr lang="zh-CN" altLang="en-US" sz="2400">
                <a:solidFill>
                  <a:srgbClr val="FF0000"/>
                </a:solidFill>
              </a:rPr>
              <a:t>三单引号</a:t>
            </a:r>
            <a:r>
              <a:rPr lang="zh-CN" altLang="en-US" sz="2400"/>
              <a:t>或</a:t>
            </a:r>
            <a:r>
              <a:rPr lang="zh-CN" altLang="en-US" sz="2400">
                <a:solidFill>
                  <a:srgbClr val="FF0000"/>
                </a:solidFill>
              </a:rPr>
              <a:t>三双引号</a:t>
            </a:r>
            <a:r>
              <a:rPr lang="zh-CN" altLang="en-US" sz="2400"/>
              <a:t>作为定界符，并且不同的</a:t>
            </a:r>
            <a:r>
              <a:rPr lang="zh-CN" altLang="en-US" sz="2400">
                <a:solidFill>
                  <a:srgbClr val="FF0000"/>
                </a:solidFill>
              </a:rPr>
              <a:t>定界符之间可以互相嵌套</a:t>
            </a:r>
            <a:r>
              <a:rPr lang="zh-CN" altLang="en-US" sz="2400"/>
              <a:t>。</a:t>
            </a:r>
            <a:endParaRPr lang="zh-CN" altLang="en-US" sz="2400"/>
          </a:p>
          <a:p>
            <a:pPr marL="0" indent="0" fontAlgn="auto">
              <a:lnSpc>
                <a:spcPct val="100000"/>
              </a:lnSpc>
              <a:spcBef>
                <a:spcPts val="0"/>
              </a:spcBef>
              <a:buNone/>
            </a:pPr>
            <a:endParaRPr lang="zh-CN" altLang="en-US" sz="2400">
              <a:latin typeface="Consolas" panose="020B0609020204030204" charset="0"/>
              <a:cs typeface="Consolas" panose="020B0609020204030204" charset="0"/>
            </a:endParaRPr>
          </a:p>
          <a:p>
            <a:pPr marL="0" indent="0" fontAlgn="auto">
              <a:lnSpc>
                <a:spcPct val="100000"/>
              </a:lnSpc>
              <a:spcBef>
                <a:spcPts val="0"/>
              </a:spcBef>
              <a:buNone/>
            </a:pPr>
            <a:r>
              <a:rPr lang="zh-CN" altLang="en-US" sz="2400">
                <a:latin typeface="Consolas" panose="020B0609020204030204" charset="0"/>
                <a:cs typeface="Consolas" panose="020B0609020204030204" charset="0"/>
              </a:rPr>
              <a:t>'abc'、'123'、'</a:t>
            </a:r>
            <a:r>
              <a:rPr lang="zh-CN" altLang="en-US" sz="2400">
                <a:latin typeface="Consolas" panose="020B0609020204030204" charset="0"/>
                <a:cs typeface="Consolas" panose="020B0609020204030204" charset="0"/>
              </a:rPr>
              <a:t>社会主义核心价值观'</a:t>
            </a:r>
            <a:endParaRPr lang="zh-CN" altLang="en-US" sz="2400">
              <a:latin typeface="Consolas" panose="020B0609020204030204" charset="0"/>
              <a:cs typeface="Consolas" panose="020B0609020204030204" charset="0"/>
            </a:endParaRPr>
          </a:p>
          <a:p>
            <a:pPr marL="0" indent="0" fontAlgn="auto">
              <a:lnSpc>
                <a:spcPct val="100000"/>
              </a:lnSpc>
              <a:spcBef>
                <a:spcPts val="0"/>
              </a:spcBef>
              <a:buNone/>
            </a:pPr>
            <a:r>
              <a:rPr lang="zh-CN" altLang="en-US" sz="2400">
                <a:latin typeface="Consolas" panose="020B0609020204030204" charset="0"/>
                <a:cs typeface="Consolas" panose="020B0609020204030204" charset="0"/>
              </a:rPr>
              <a:t>"Python"</a:t>
            </a:r>
            <a:endParaRPr lang="zh-CN" altLang="en-US" sz="2400">
              <a:latin typeface="Consolas" panose="020B0609020204030204" charset="0"/>
              <a:cs typeface="Consolas" panose="020B0609020204030204" charset="0"/>
            </a:endParaRPr>
          </a:p>
          <a:p>
            <a:pPr marL="0" indent="0" fontAlgn="auto">
              <a:lnSpc>
                <a:spcPct val="100000"/>
              </a:lnSpc>
              <a:spcBef>
                <a:spcPts val="0"/>
              </a:spcBef>
              <a:buNone/>
            </a:pPr>
            <a:r>
              <a:rPr lang="zh-CN" altLang="en-US" sz="2400">
                <a:latin typeface="Consolas" panose="020B0609020204030204" charset="0"/>
                <a:cs typeface="Consolas" panose="020B0609020204030204" charset="0"/>
              </a:rPr>
              <a:t>'''Tom said,"Let's go"'''</a:t>
            </a:r>
            <a:endParaRPr lang="zh-CN" altLang="en-US" sz="2400">
              <a:latin typeface="Consolas" panose="020B0609020204030204" charset="0"/>
              <a:cs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第</a:t>
            </a:r>
            <a:r>
              <a:rPr lang="en-US" altLang="zh-CN">
                <a:sym typeface="+mn-ea"/>
              </a:rPr>
              <a:t>7</a:t>
            </a:r>
            <a:r>
              <a:rPr lang="zh-CN" altLang="en-US">
                <a:sym typeface="+mn-ea"/>
              </a:rPr>
              <a:t>章  字符串</a:t>
            </a:r>
            <a:endParaRPr lang="zh-CN" altLang="en-US"/>
          </a:p>
        </p:txBody>
      </p:sp>
      <p:sp>
        <p:nvSpPr>
          <p:cNvPr id="3" name="内容占位符 2"/>
          <p:cNvSpPr>
            <a:spLocks noGrp="1"/>
          </p:cNvSpPr>
          <p:nvPr>
            <p:ph idx="1"/>
          </p:nvPr>
        </p:nvSpPr>
        <p:spPr/>
        <p:txBody>
          <a:bodyPr/>
          <a:p>
            <a:pPr fontAlgn="auto">
              <a:lnSpc>
                <a:spcPct val="150000"/>
              </a:lnSpc>
            </a:pPr>
            <a:r>
              <a:rPr lang="zh-CN" altLang="en-US" sz="2400"/>
              <a:t>除了支持序列通用方法（包括双向索引、比较大小、计算长度、元素访问、切片、成员测试等操作）以外，字符串类型还支持一些特有的操作方法，例如字符串格式化、查找、替换、排版等等。</a:t>
            </a:r>
            <a:endParaRPr lang="zh-CN" altLang="en-US" sz="2400"/>
          </a:p>
          <a:p>
            <a:pPr fontAlgn="auto">
              <a:lnSpc>
                <a:spcPct val="150000"/>
              </a:lnSpc>
            </a:pPr>
            <a:r>
              <a:rPr lang="zh-CN" altLang="en-US" sz="2400"/>
              <a:t>字符串属于</a:t>
            </a:r>
            <a:r>
              <a:rPr lang="zh-CN" altLang="en-US" sz="2400">
                <a:solidFill>
                  <a:srgbClr val="FF0000"/>
                </a:solidFill>
              </a:rPr>
              <a:t>不可变</a:t>
            </a:r>
            <a:r>
              <a:rPr lang="zh-CN" altLang="en-US" sz="2400"/>
              <a:t>序列，</a:t>
            </a:r>
            <a:r>
              <a:rPr lang="zh-CN" altLang="en-US" sz="2400">
                <a:solidFill>
                  <a:srgbClr val="FF0000"/>
                </a:solidFill>
              </a:rPr>
              <a:t>不能</a:t>
            </a:r>
            <a:r>
              <a:rPr lang="zh-CN" altLang="en-US" sz="2400"/>
              <a:t>直接对字符串对象进行元素增加、修改与删除等操作，字符串对象提供的所有方法都不会修改原</a:t>
            </a:r>
            <a:r>
              <a:rPr lang="zh-CN" altLang="en-US" sz="2400"/>
              <a:t>字符串，切片操作也</a:t>
            </a:r>
            <a:r>
              <a:rPr lang="zh-CN" altLang="en-US" sz="2400">
                <a:solidFill>
                  <a:srgbClr val="FF0000"/>
                </a:solidFill>
              </a:rPr>
              <a:t>只能</a:t>
            </a:r>
            <a:r>
              <a:rPr lang="zh-CN" altLang="en-US" sz="2400"/>
              <a:t>访问其中的元素，</a:t>
            </a:r>
            <a:r>
              <a:rPr lang="zh-CN" altLang="en-US" sz="2400">
                <a:solidFill>
                  <a:srgbClr val="FF0000"/>
                </a:solidFill>
              </a:rPr>
              <a:t>无法</a:t>
            </a:r>
            <a:r>
              <a:rPr lang="zh-CN" altLang="en-US" sz="2400"/>
              <a:t>使用切片来修改字符串中的字符。</a:t>
            </a:r>
            <a:endParaRPr lang="zh-CN" altLang="en-US" sz="2400"/>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第</a:t>
            </a:r>
            <a:r>
              <a:rPr lang="en-US" altLang="zh-CN">
                <a:sym typeface="+mn-ea"/>
              </a:rPr>
              <a:t>7</a:t>
            </a:r>
            <a:r>
              <a:rPr lang="zh-CN" altLang="en-US">
                <a:sym typeface="+mn-ea"/>
              </a:rPr>
              <a:t>章  字符串</a:t>
            </a:r>
            <a:endParaRPr lang="zh-CN" altLang="en-US"/>
          </a:p>
        </p:txBody>
      </p:sp>
      <p:sp>
        <p:nvSpPr>
          <p:cNvPr id="3" name="内容占位符 2"/>
          <p:cNvSpPr>
            <a:spLocks noGrp="1"/>
          </p:cNvSpPr>
          <p:nvPr>
            <p:ph idx="1"/>
          </p:nvPr>
        </p:nvSpPr>
        <p:spPr>
          <a:xfrm>
            <a:off x="838200" y="1321435"/>
            <a:ext cx="10515600" cy="4961890"/>
          </a:xfrm>
        </p:spPr>
        <p:txBody>
          <a:bodyPr>
            <a:normAutofit fontScale="90000" lnSpcReduction="10000"/>
          </a:bodyPr>
          <a:p>
            <a:pPr fontAlgn="auto">
              <a:lnSpc>
                <a:spcPct val="130000"/>
              </a:lnSpc>
            </a:pPr>
            <a:r>
              <a:rPr lang="zh-CN" altLang="en-US" sz="2400"/>
              <a:t>str类型字符串可以通过</a:t>
            </a:r>
            <a:r>
              <a:rPr lang="zh-CN" altLang="en-US" sz="2400">
                <a:solidFill>
                  <a:srgbClr val="FF0000"/>
                </a:solidFill>
              </a:rPr>
              <a:t>encode()方法</a:t>
            </a:r>
            <a:r>
              <a:rPr lang="zh-CN" altLang="en-US" sz="2400"/>
              <a:t>使用指定的字符串编码格式编码成为bytes类型的字节串对象，bytes类型的</a:t>
            </a:r>
            <a:r>
              <a:rPr lang="zh-CN" altLang="en-US" sz="2400"/>
              <a:t>字节串对象可以通过</a:t>
            </a:r>
            <a:r>
              <a:rPr lang="zh-CN" altLang="en-US" sz="2400">
                <a:solidFill>
                  <a:srgbClr val="FF0000"/>
                </a:solidFill>
              </a:rPr>
              <a:t>decode()方法</a:t>
            </a:r>
            <a:r>
              <a:rPr lang="zh-CN" altLang="en-US" sz="2400"/>
              <a:t>使用指定编码格式解码成为str字符串。</a:t>
            </a:r>
            <a:endParaRPr lang="zh-CN" altLang="en-US" sz="2400"/>
          </a:p>
          <a:p>
            <a:pPr marL="0" indent="0" fontAlgn="auto">
              <a:lnSpc>
                <a:spcPct val="100000"/>
              </a:lnSpc>
              <a:spcBef>
                <a:spcPts val="0"/>
              </a:spcBef>
              <a:buNone/>
            </a:pPr>
            <a:r>
              <a:rPr lang="zh-CN" altLang="en-US" sz="2000">
                <a:latin typeface="Consolas" panose="020B0609020204030204" charset="0"/>
                <a:cs typeface="Consolas" panose="020B0609020204030204" charset="0"/>
              </a:rPr>
              <a:t>&gt;&gt;&gt; type('中国')</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cs typeface="Consolas" panose="020B0609020204030204" charset="0"/>
              </a:rPr>
              <a:t>&lt;class 'str'&gt;</a:t>
            </a:r>
            <a:endParaRPr lang="zh-CN" altLang="en-US" sz="2000">
              <a:solidFill>
                <a:srgbClr val="00B0F0"/>
              </a:solidFill>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&gt;&gt;&gt; type('中国'.encode('gbk'))</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cs typeface="Consolas" panose="020B0609020204030204" charset="0"/>
              </a:rPr>
              <a:t>&lt;class 'bytes'&gt;</a:t>
            </a:r>
            <a:endParaRPr lang="zh-CN" altLang="en-US" sz="2000">
              <a:solidFill>
                <a:srgbClr val="00B0F0"/>
              </a:solidFill>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&gt;&gt;&gt; isinstance('中国', str)</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cs typeface="Consolas" panose="020B0609020204030204" charset="0"/>
              </a:rPr>
              <a:t>True</a:t>
            </a:r>
            <a:endParaRPr lang="zh-CN" altLang="en-US" sz="2000">
              <a:solidFill>
                <a:srgbClr val="00B0F0"/>
              </a:solidFill>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&gt;&gt;&gt; '中国'.encode()</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cs typeface="Consolas" panose="020B0609020204030204" charset="0"/>
              </a:rPr>
              <a:t>b'\xe4\xb8\xad\xe5\x9b\xbd'</a:t>
            </a:r>
            <a:endParaRPr lang="zh-CN" altLang="en-US" sz="2000">
              <a:solidFill>
                <a:srgbClr val="00B0F0"/>
              </a:solidFill>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&gt;&gt;&gt; '中国'.encode('gbk')</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cs typeface="Consolas" panose="020B0609020204030204" charset="0"/>
              </a:rPr>
              <a:t>b'\xd6\xd0\xb9\xfa'</a:t>
            </a:r>
            <a:endParaRPr lang="zh-CN" altLang="en-US" sz="2000">
              <a:solidFill>
                <a:srgbClr val="00B0F0"/>
              </a:solidFill>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&gt;&gt;&gt; bytes('董付国', 'gbk')</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cs typeface="Consolas" panose="020B0609020204030204" charset="0"/>
              </a:rPr>
              <a:t>b'\xb6\xad\xb8\xb6\xb9\xfa'</a:t>
            </a:r>
            <a:endParaRPr lang="zh-CN" altLang="en-US" sz="2000">
              <a:solidFill>
                <a:srgbClr val="00B0F0"/>
              </a:solidFill>
              <a:latin typeface="Consolas" panose="020B0609020204030204" charset="0"/>
              <a:cs typeface="Consolas" panose="020B0609020204030204" charset="0"/>
            </a:endParaRPr>
          </a:p>
          <a:p>
            <a:pPr marL="0" algn="l" fontAlgn="auto">
              <a:lnSpc>
                <a:spcPct val="100000"/>
              </a:lnSpc>
              <a:spcBef>
                <a:spcPts val="0"/>
              </a:spcBef>
              <a:buClrTx/>
              <a:buSzTx/>
              <a:buNone/>
            </a:pPr>
            <a:r>
              <a:rPr lang="zh-CN" altLang="en-US" sz="2000">
                <a:latin typeface="Consolas" panose="020B0609020204030204" charset="0"/>
                <a:cs typeface="Consolas" panose="020B0609020204030204" charset="0"/>
              </a:rPr>
              <a:t>&gt;&gt;&gt; str(_, 'gbk')</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cs typeface="Consolas" panose="020B0609020204030204" charset="0"/>
              </a:rPr>
              <a:t>'董付国'</a:t>
            </a:r>
            <a:endParaRPr lang="zh-CN" altLang="en-US" sz="2000">
              <a:solidFill>
                <a:srgbClr val="00B0F0"/>
              </a:solidFill>
              <a:latin typeface="Consolas" panose="020B0609020204030204" charset="0"/>
              <a:cs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7.1  </a:t>
            </a:r>
            <a:r>
              <a:rPr lang="zh-CN" altLang="en-US"/>
              <a:t>字符串编码格式简介</a:t>
            </a:r>
            <a:endParaRPr lang="zh-CN" altLang="en-US"/>
          </a:p>
        </p:txBody>
      </p:sp>
      <p:sp>
        <p:nvSpPr>
          <p:cNvPr id="3" name="内容占位符 2"/>
          <p:cNvSpPr>
            <a:spLocks noGrp="1"/>
          </p:cNvSpPr>
          <p:nvPr>
            <p:ph idx="1"/>
          </p:nvPr>
        </p:nvSpPr>
        <p:spPr/>
        <p:txBody>
          <a:bodyPr/>
          <a:p>
            <a:pPr fontAlgn="auto">
              <a:lnSpc>
                <a:spcPct val="150000"/>
              </a:lnSpc>
            </a:pPr>
            <a:r>
              <a:rPr lang="zh-CN" altLang="en-US" sz="2400" dirty="0">
                <a:latin typeface="宋体" panose="02010600030101010101" pitchFamily="2" charset="-122"/>
                <a:sym typeface="+mn-ea"/>
              </a:rPr>
              <a:t>最早的字符串编码是美国标准信息交换码</a:t>
            </a:r>
            <a:r>
              <a:rPr lang="zh-CN" altLang="en-US" sz="2400" dirty="0">
                <a:solidFill>
                  <a:srgbClr val="FF0000"/>
                </a:solidFill>
                <a:latin typeface="宋体" panose="02010600030101010101" pitchFamily="2" charset="-122"/>
                <a:sym typeface="+mn-ea"/>
              </a:rPr>
              <a:t>ASCII</a:t>
            </a:r>
            <a:r>
              <a:rPr lang="zh-CN" altLang="en-US" sz="2400" dirty="0">
                <a:latin typeface="宋体" panose="02010600030101010101" pitchFamily="2" charset="-122"/>
                <a:sym typeface="+mn-ea"/>
              </a:rPr>
              <a:t>，仅对10个数字、26个大写英文字母、26个小写英文字母及一些其他符号进行了编码。ASCII码采用</a:t>
            </a:r>
            <a:r>
              <a:rPr lang="zh-CN" altLang="en-US" sz="2400" dirty="0">
                <a:solidFill>
                  <a:srgbClr val="FF0000"/>
                </a:solidFill>
                <a:latin typeface="宋体" panose="02010600030101010101" pitchFamily="2" charset="-122"/>
                <a:sym typeface="+mn-ea"/>
              </a:rPr>
              <a:t>1个字节</a:t>
            </a:r>
            <a:r>
              <a:rPr lang="zh-CN" altLang="en-US" sz="2400" dirty="0">
                <a:latin typeface="宋体" panose="02010600030101010101" pitchFamily="2" charset="-122"/>
                <a:sym typeface="+mn-ea"/>
              </a:rPr>
              <a:t>来对字符进行编码，最多只能表示256个符号，表示能力非常</a:t>
            </a:r>
            <a:r>
              <a:rPr lang="zh-CN" altLang="en-US" sz="2400" dirty="0">
                <a:latin typeface="宋体" panose="02010600030101010101" pitchFamily="2" charset="-122"/>
                <a:sym typeface="+mn-ea"/>
              </a:rPr>
              <a:t>有限。</a:t>
            </a:r>
            <a:endParaRPr lang="zh-CN" altLang="en-US" sz="2400"/>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7.1  </a:t>
            </a:r>
            <a:r>
              <a:rPr lang="zh-CN" altLang="en-US">
                <a:sym typeface="+mn-ea"/>
              </a:rPr>
              <a:t>字符串编码格式简介</a:t>
            </a:r>
            <a:endParaRPr lang="zh-CN" altLang="en-US"/>
          </a:p>
        </p:txBody>
      </p:sp>
      <p:sp>
        <p:nvSpPr>
          <p:cNvPr id="3" name="内容占位符 2"/>
          <p:cNvSpPr>
            <a:spLocks noGrp="1"/>
          </p:cNvSpPr>
          <p:nvPr>
            <p:ph idx="1"/>
          </p:nvPr>
        </p:nvSpPr>
        <p:spPr/>
        <p:txBody>
          <a:bodyPr/>
          <a:p>
            <a:pPr>
              <a:lnSpc>
                <a:spcPct val="150000"/>
              </a:lnSpc>
              <a:spcBef>
                <a:spcPct val="0"/>
              </a:spcBef>
              <a:spcAft>
                <a:spcPts val="600"/>
              </a:spcAft>
              <a:buFont typeface="Arial" panose="020B0604020202020204" pitchFamily="34" charset="0"/>
              <a:buChar char="•"/>
            </a:pPr>
            <a:r>
              <a:rPr lang="zh-CN" altLang="en-US" sz="2400" dirty="0">
                <a:solidFill>
                  <a:srgbClr val="FF0000"/>
                </a:solidFill>
                <a:latin typeface="宋体" panose="02010600030101010101" pitchFamily="2" charset="-122"/>
                <a:sym typeface="+mn-ea"/>
              </a:rPr>
              <a:t>GB2312</a:t>
            </a:r>
            <a:r>
              <a:rPr lang="zh-CN" altLang="en-US" sz="2400" dirty="0">
                <a:latin typeface="宋体" panose="02010600030101010101" pitchFamily="2" charset="-122"/>
                <a:sym typeface="+mn-ea"/>
              </a:rPr>
              <a:t>是我国制定的中文编码，使用1个字节表示英语，2个字节表示中文；GBK是GB2312的扩充，CP936是微软在GBK基础上开发的编码方式。</a:t>
            </a:r>
            <a:r>
              <a:rPr lang="zh-CN" altLang="en-US" sz="2400" dirty="0">
                <a:solidFill>
                  <a:srgbClr val="FF0000"/>
                </a:solidFill>
                <a:latin typeface="宋体" panose="02010600030101010101" pitchFamily="2" charset="-122"/>
                <a:sym typeface="+mn-ea"/>
              </a:rPr>
              <a:t>GB2312、GBK和CP936都是使用2个字节表示中文</a:t>
            </a:r>
            <a:r>
              <a:rPr lang="zh-CN" altLang="en-US" sz="2400" dirty="0">
                <a:latin typeface="宋体" panose="02010600030101010101" pitchFamily="2" charset="-122"/>
                <a:sym typeface="+mn-ea"/>
              </a:rPr>
              <a:t>。</a:t>
            </a:r>
            <a:endParaRPr lang="en-US" altLang="en-US" sz="2400"/>
          </a:p>
          <a:p>
            <a:pPr>
              <a:lnSpc>
                <a:spcPct val="150000"/>
              </a:lnSpc>
              <a:spcBef>
                <a:spcPct val="0"/>
              </a:spcBef>
              <a:spcAft>
                <a:spcPts val="600"/>
              </a:spcAft>
              <a:buFont typeface="Arial" panose="020B0604020202020204" pitchFamily="34" charset="0"/>
              <a:buChar char="•"/>
            </a:pPr>
            <a:r>
              <a:rPr lang="zh-CN" altLang="en-US" sz="2400" dirty="0">
                <a:solidFill>
                  <a:srgbClr val="FF0000"/>
                </a:solidFill>
                <a:latin typeface="宋体" panose="02010600030101010101" pitchFamily="2" charset="-122"/>
                <a:sym typeface="+mn-ea"/>
              </a:rPr>
              <a:t>UTF-8</a:t>
            </a:r>
            <a:r>
              <a:rPr lang="zh-CN" altLang="en-US" sz="2400" dirty="0">
                <a:latin typeface="宋体" panose="02010600030101010101" pitchFamily="2" charset="-122"/>
                <a:sym typeface="+mn-ea"/>
              </a:rPr>
              <a:t>对全世界所有国家需要用到的字符进行了编码，以1个字节表示英语字符(兼容ASCII)，以</a:t>
            </a:r>
            <a:r>
              <a:rPr lang="zh-CN" altLang="en-US" sz="2400" dirty="0">
                <a:solidFill>
                  <a:srgbClr val="FF0000"/>
                </a:solidFill>
                <a:latin typeface="宋体" panose="02010600030101010101" pitchFamily="2" charset="-122"/>
                <a:sym typeface="+mn-ea"/>
              </a:rPr>
              <a:t>3个字节表示常见中文字符</a:t>
            </a:r>
            <a:r>
              <a:rPr lang="zh-CN" altLang="en-US" sz="2400" dirty="0">
                <a:latin typeface="宋体" panose="02010600030101010101" pitchFamily="2" charset="-122"/>
                <a:sym typeface="+mn-ea"/>
              </a:rPr>
              <a:t>，还有些语言的符号使用2个字节（例如俄语和希腊语符号）或4个字节。</a:t>
            </a:r>
            <a:endParaRPr lang="zh-CN" altLang="en-US" sz="2400"/>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7.1  </a:t>
            </a:r>
            <a:r>
              <a:rPr lang="zh-CN" altLang="en-US">
                <a:sym typeface="+mn-ea"/>
              </a:rPr>
              <a:t>字符串编码格式简介</a:t>
            </a:r>
            <a:endParaRPr lang="zh-CN" altLang="en-US"/>
          </a:p>
        </p:txBody>
      </p:sp>
      <p:sp>
        <p:nvSpPr>
          <p:cNvPr id="3" name="内容占位符 2"/>
          <p:cNvSpPr>
            <a:spLocks noGrp="1"/>
          </p:cNvSpPr>
          <p:nvPr>
            <p:ph idx="1"/>
          </p:nvPr>
        </p:nvSpPr>
        <p:spPr/>
        <p:txBody>
          <a:bodyPr/>
          <a:p>
            <a:pPr fontAlgn="auto">
              <a:lnSpc>
                <a:spcPct val="150000"/>
              </a:lnSpc>
            </a:pPr>
            <a:r>
              <a:rPr lang="zh-CN" altLang="en-US" sz="2400" dirty="0">
                <a:latin typeface="宋体" panose="02010600030101010101" pitchFamily="2" charset="-122"/>
                <a:sym typeface="+mn-ea"/>
              </a:rPr>
              <a:t>不同编码格式之间相差很大，采用</a:t>
            </a:r>
            <a:r>
              <a:rPr lang="zh-CN" altLang="en-US" sz="2400" dirty="0">
                <a:solidFill>
                  <a:srgbClr val="FF0000"/>
                </a:solidFill>
                <a:latin typeface="宋体" panose="02010600030101010101" pitchFamily="2" charset="-122"/>
                <a:sym typeface="+mn-ea"/>
              </a:rPr>
              <a:t>不同的编码格式意味着不同的表示和存储形式</a:t>
            </a:r>
            <a:r>
              <a:rPr lang="zh-CN" altLang="en-US" sz="2400" dirty="0">
                <a:latin typeface="宋体" panose="02010600030101010101" pitchFamily="2" charset="-122"/>
                <a:sym typeface="+mn-ea"/>
              </a:rPr>
              <a:t>，把同一字符存入文件时，写入的</a:t>
            </a:r>
            <a:r>
              <a:rPr lang="zh-CN" altLang="en-US" sz="2400" dirty="0">
                <a:latin typeface="宋体" panose="02010600030101010101" pitchFamily="2" charset="-122"/>
                <a:sym typeface="+mn-ea"/>
              </a:rPr>
              <a:t>字节串内容可能会不同，在试图理解其内容时</a:t>
            </a:r>
            <a:r>
              <a:rPr lang="zh-CN" altLang="en-US" sz="2400" dirty="0">
                <a:solidFill>
                  <a:srgbClr val="FF0000"/>
                </a:solidFill>
                <a:latin typeface="宋体" panose="02010600030101010101" pitchFamily="2" charset="-122"/>
                <a:sym typeface="+mn-ea"/>
              </a:rPr>
              <a:t>必须了解编码规则</a:t>
            </a:r>
            <a:r>
              <a:rPr lang="zh-CN" altLang="en-US" sz="2400" dirty="0">
                <a:latin typeface="宋体" panose="02010600030101010101" pitchFamily="2" charset="-122"/>
                <a:sym typeface="+mn-ea"/>
              </a:rPr>
              <a:t>并进行正确的解码。如果解码方法不正确就无法还原信息，从这个角度来讲，</a:t>
            </a:r>
            <a:r>
              <a:rPr lang="zh-CN" altLang="en-US" sz="2400" dirty="0">
                <a:solidFill>
                  <a:srgbClr val="FF0000"/>
                </a:solidFill>
                <a:latin typeface="宋体" panose="02010600030101010101" pitchFamily="2" charset="-122"/>
                <a:sym typeface="+mn-ea"/>
              </a:rPr>
              <a:t>字符串编码也具有加密的效果</a:t>
            </a:r>
            <a:r>
              <a:rPr lang="zh-CN" altLang="en-US" sz="2400" dirty="0">
                <a:latin typeface="宋体" panose="02010600030101010101" pitchFamily="2" charset="-122"/>
                <a:sym typeface="+mn-ea"/>
              </a:rPr>
              <a:t>。</a:t>
            </a:r>
            <a:endParaRPr lang="zh-CN" altLang="en-US" sz="2400"/>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7.1  </a:t>
            </a:r>
            <a:r>
              <a:rPr lang="zh-CN" altLang="en-US">
                <a:sym typeface="+mn-ea"/>
              </a:rPr>
              <a:t>字符串编码格式简介</a:t>
            </a:r>
            <a:endParaRPr lang="zh-CN" altLang="en-US"/>
          </a:p>
        </p:txBody>
      </p:sp>
      <p:sp>
        <p:nvSpPr>
          <p:cNvPr id="3" name="内容占位符 2"/>
          <p:cNvSpPr>
            <a:spLocks noGrp="1"/>
          </p:cNvSpPr>
          <p:nvPr>
            <p:ph idx="1"/>
          </p:nvPr>
        </p:nvSpPr>
        <p:spPr>
          <a:xfrm>
            <a:off x="838200" y="1321435"/>
            <a:ext cx="10515600" cy="5269865"/>
          </a:xfrm>
        </p:spPr>
        <p:txBody>
          <a:bodyPr>
            <a:normAutofit lnSpcReduction="20000"/>
          </a:bodyPr>
          <a:p>
            <a:pPr marL="0" indent="0" fontAlgn="auto">
              <a:lnSpc>
                <a:spcPct val="120000"/>
              </a:lnSpc>
              <a:spcBef>
                <a:spcPct val="0"/>
              </a:spcBef>
              <a:buNone/>
            </a:pPr>
            <a:r>
              <a:rPr lang="zh-CN" altLang="en-US" sz="2000">
                <a:latin typeface="Consolas" panose="020B0609020204030204" charset="0"/>
                <a:sym typeface="+mn-ea"/>
              </a:rPr>
              <a:t>&gt;&gt;&gt; '董付国'.encode('utf8')</a:t>
            </a:r>
            <a:endParaRPr lang="zh-CN" altLang="en-US" sz="2000">
              <a:latin typeface="Consolas" panose="020B0609020204030204" charset="0"/>
            </a:endParaRPr>
          </a:p>
          <a:p>
            <a:pPr marL="0" indent="0" fontAlgn="auto">
              <a:lnSpc>
                <a:spcPct val="120000"/>
              </a:lnSpc>
              <a:spcBef>
                <a:spcPct val="0"/>
              </a:spcBef>
              <a:buNone/>
            </a:pPr>
            <a:r>
              <a:rPr lang="zh-CN" altLang="en-US" sz="2000">
                <a:solidFill>
                  <a:srgbClr val="00B0F0"/>
                </a:solidFill>
                <a:latin typeface="Consolas" panose="020B0609020204030204" charset="0"/>
                <a:sym typeface="+mn-ea"/>
              </a:rPr>
              <a:t>b'\xe8\x91\xa3\xe4\xbb\x98\xe5\x9b\xbd'</a:t>
            </a:r>
            <a:endParaRPr lang="zh-CN" altLang="en-US" sz="2000">
              <a:solidFill>
                <a:srgbClr val="00B0F0"/>
              </a:solidFill>
              <a:latin typeface="Consolas" panose="020B0609020204030204" charset="0"/>
            </a:endParaRPr>
          </a:p>
          <a:p>
            <a:pPr marL="0" indent="0" fontAlgn="auto">
              <a:lnSpc>
                <a:spcPct val="120000"/>
              </a:lnSpc>
              <a:spcBef>
                <a:spcPct val="0"/>
              </a:spcBef>
              <a:buNone/>
            </a:pPr>
            <a:r>
              <a:rPr lang="zh-CN" altLang="en-US" sz="2000">
                <a:latin typeface="Consolas" panose="020B0609020204030204" charset="0"/>
                <a:sym typeface="+mn-ea"/>
              </a:rPr>
              <a:t>&gt;&gt;&gt; '董付国'.encode('cp936')</a:t>
            </a:r>
            <a:endParaRPr lang="zh-CN" altLang="en-US" sz="2000">
              <a:latin typeface="Consolas" panose="020B0609020204030204" charset="0"/>
            </a:endParaRPr>
          </a:p>
          <a:p>
            <a:pPr marL="0" indent="0" fontAlgn="auto">
              <a:lnSpc>
                <a:spcPct val="120000"/>
              </a:lnSpc>
              <a:spcBef>
                <a:spcPct val="0"/>
              </a:spcBef>
              <a:buNone/>
            </a:pPr>
            <a:r>
              <a:rPr lang="zh-CN" altLang="en-US" sz="2000">
                <a:solidFill>
                  <a:srgbClr val="00B0F0"/>
                </a:solidFill>
                <a:latin typeface="Consolas" panose="020B0609020204030204" charset="0"/>
                <a:sym typeface="+mn-ea"/>
              </a:rPr>
              <a:t>b'\xb6\xad\xb8\xb6\xb9\xfa'</a:t>
            </a:r>
            <a:endParaRPr lang="zh-CN" altLang="en-US" sz="2000">
              <a:solidFill>
                <a:srgbClr val="00B0F0"/>
              </a:solidFill>
              <a:latin typeface="Consolas" panose="020B0609020204030204" charset="0"/>
            </a:endParaRPr>
          </a:p>
          <a:p>
            <a:pPr marL="0" indent="0" fontAlgn="auto">
              <a:lnSpc>
                <a:spcPct val="120000"/>
              </a:lnSpc>
              <a:spcBef>
                <a:spcPct val="0"/>
              </a:spcBef>
              <a:buNone/>
            </a:pPr>
            <a:r>
              <a:rPr lang="zh-CN" altLang="en-US" sz="2000">
                <a:latin typeface="Consolas" panose="020B0609020204030204" charset="0"/>
                <a:sym typeface="+mn-ea"/>
              </a:rPr>
              <a:t>&gt;&gt;&gt; '董付国'.encode('cp936').decode('cp936')</a:t>
            </a:r>
            <a:endParaRPr lang="zh-CN" altLang="en-US" sz="2000">
              <a:latin typeface="Consolas" panose="020B0609020204030204" charset="0"/>
            </a:endParaRPr>
          </a:p>
          <a:p>
            <a:pPr marL="0" indent="0" fontAlgn="auto">
              <a:lnSpc>
                <a:spcPct val="120000"/>
              </a:lnSpc>
              <a:spcBef>
                <a:spcPct val="0"/>
              </a:spcBef>
              <a:buNone/>
            </a:pPr>
            <a:r>
              <a:rPr lang="zh-CN" altLang="en-US" sz="2000">
                <a:solidFill>
                  <a:srgbClr val="00B0F0"/>
                </a:solidFill>
                <a:latin typeface="Consolas" panose="020B0609020204030204" charset="0"/>
                <a:sym typeface="+mn-ea"/>
              </a:rPr>
              <a:t>'董付国'</a:t>
            </a:r>
            <a:endParaRPr lang="zh-CN" altLang="en-US" sz="2000">
              <a:solidFill>
                <a:srgbClr val="00B0F0"/>
              </a:solidFill>
              <a:latin typeface="Consolas" panose="020B0609020204030204" charset="0"/>
            </a:endParaRPr>
          </a:p>
          <a:p>
            <a:pPr marL="0" indent="0" fontAlgn="auto">
              <a:lnSpc>
                <a:spcPct val="120000"/>
              </a:lnSpc>
              <a:spcBef>
                <a:spcPct val="0"/>
              </a:spcBef>
              <a:buNone/>
            </a:pPr>
            <a:endParaRPr lang="zh-CN" altLang="en-US" sz="2000"/>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7.1  </a:t>
            </a:r>
            <a:r>
              <a:rPr lang="zh-CN" altLang="en-US">
                <a:sym typeface="+mn-ea"/>
              </a:rPr>
              <a:t>字符串编码格式简介</a:t>
            </a:r>
            <a:endParaRPr lang="zh-CN" altLang="en-US"/>
          </a:p>
        </p:txBody>
      </p:sp>
      <p:sp>
        <p:nvSpPr>
          <p:cNvPr id="3" name="内容占位符 2"/>
          <p:cNvSpPr>
            <a:spLocks noGrp="1"/>
          </p:cNvSpPr>
          <p:nvPr>
            <p:ph idx="1"/>
          </p:nvPr>
        </p:nvSpPr>
        <p:spPr/>
        <p:txBody>
          <a:bodyPr>
            <a:normAutofit/>
          </a:bodyPr>
          <a:p>
            <a:pPr marL="0" indent="0" fontAlgn="auto">
              <a:lnSpc>
                <a:spcPct val="100000"/>
              </a:lnSpc>
              <a:spcBef>
                <a:spcPct val="0"/>
              </a:spcBef>
              <a:buNone/>
            </a:pPr>
            <a:r>
              <a:rPr lang="zh-CN" altLang="en-US" sz="2000">
                <a:latin typeface="Consolas" panose="020B0609020204030204" charset="0"/>
                <a:cs typeface="Consolas" panose="020B0609020204030204" charset="0"/>
                <a:sym typeface="+mn-ea"/>
              </a:rPr>
              <a:t>&gt;&gt;&gt; 'Python可以这样学'.encode('utf8').decode('cp936')</a:t>
            </a:r>
            <a:endParaRPr lang="zh-CN" altLang="en-US" sz="2000">
              <a:latin typeface="Consolas" panose="020B0609020204030204" charset="0"/>
              <a:cs typeface="Consolas" panose="020B0609020204030204" charset="0"/>
            </a:endParaRPr>
          </a:p>
          <a:p>
            <a:pPr marL="0" indent="0" fontAlgn="auto">
              <a:lnSpc>
                <a:spcPct val="100000"/>
              </a:lnSpc>
              <a:spcBef>
                <a:spcPct val="0"/>
              </a:spcBef>
              <a:buNone/>
            </a:pPr>
            <a:r>
              <a:rPr lang="zh-CN" altLang="en-US" sz="2000">
                <a:solidFill>
                  <a:srgbClr val="FF0000"/>
                </a:solidFill>
                <a:latin typeface="Consolas" panose="020B0609020204030204" charset="0"/>
                <a:cs typeface="Consolas" panose="020B0609020204030204" charset="0"/>
                <a:sym typeface="+mn-ea"/>
              </a:rPr>
              <a:t>Traceback (most recent call last):</a:t>
            </a:r>
            <a:endParaRPr lang="zh-CN" altLang="en-US" sz="2000">
              <a:solidFill>
                <a:srgbClr val="FF0000"/>
              </a:solidFill>
              <a:latin typeface="Consolas" panose="020B0609020204030204" charset="0"/>
              <a:cs typeface="Consolas" panose="020B0609020204030204" charset="0"/>
            </a:endParaRPr>
          </a:p>
          <a:p>
            <a:pPr marL="0" indent="0" fontAlgn="auto">
              <a:lnSpc>
                <a:spcPct val="100000"/>
              </a:lnSpc>
              <a:spcBef>
                <a:spcPct val="0"/>
              </a:spcBef>
              <a:buNone/>
            </a:pPr>
            <a:r>
              <a:rPr lang="zh-CN" altLang="en-US" sz="2000">
                <a:solidFill>
                  <a:srgbClr val="FF0000"/>
                </a:solidFill>
                <a:latin typeface="Consolas" panose="020B0609020204030204" charset="0"/>
                <a:cs typeface="Consolas" panose="020B0609020204030204" charset="0"/>
                <a:sym typeface="+mn-ea"/>
              </a:rPr>
              <a:t>  File "&lt;pyshell#63&gt;", line 1, in &lt;module&gt;</a:t>
            </a:r>
            <a:endParaRPr lang="zh-CN" altLang="en-US" sz="2000">
              <a:solidFill>
                <a:srgbClr val="FF0000"/>
              </a:solidFill>
              <a:latin typeface="Consolas" panose="020B0609020204030204" charset="0"/>
              <a:cs typeface="Consolas" panose="020B0609020204030204" charset="0"/>
            </a:endParaRPr>
          </a:p>
          <a:p>
            <a:pPr marL="0" indent="0" fontAlgn="auto">
              <a:lnSpc>
                <a:spcPct val="100000"/>
              </a:lnSpc>
              <a:spcBef>
                <a:spcPct val="0"/>
              </a:spcBef>
              <a:buNone/>
            </a:pPr>
            <a:r>
              <a:rPr lang="zh-CN" altLang="en-US" sz="2000">
                <a:solidFill>
                  <a:srgbClr val="FF0000"/>
                </a:solidFill>
                <a:latin typeface="Consolas" panose="020B0609020204030204" charset="0"/>
                <a:cs typeface="Consolas" panose="020B0609020204030204" charset="0"/>
                <a:sym typeface="+mn-ea"/>
              </a:rPr>
              <a:t>    'Python可以这样学'.encode('utf8').decode('cp936')</a:t>
            </a:r>
            <a:endParaRPr lang="zh-CN" altLang="en-US" sz="2000">
              <a:solidFill>
                <a:srgbClr val="FF0000"/>
              </a:solidFill>
              <a:latin typeface="Consolas" panose="020B0609020204030204" charset="0"/>
              <a:cs typeface="Consolas" panose="020B0609020204030204" charset="0"/>
            </a:endParaRPr>
          </a:p>
          <a:p>
            <a:pPr marL="0" indent="0" fontAlgn="auto">
              <a:lnSpc>
                <a:spcPct val="100000"/>
              </a:lnSpc>
              <a:spcBef>
                <a:spcPct val="0"/>
              </a:spcBef>
              <a:buNone/>
            </a:pPr>
            <a:r>
              <a:rPr lang="zh-CN" altLang="en-US" sz="2000">
                <a:solidFill>
                  <a:srgbClr val="FF0000"/>
                </a:solidFill>
                <a:latin typeface="Consolas" panose="020B0609020204030204" charset="0"/>
                <a:cs typeface="Consolas" panose="020B0609020204030204" charset="0"/>
                <a:sym typeface="+mn-ea"/>
              </a:rPr>
              <a:t>UnicodeDecodeError: 'gbk' codec can't decode byte 0xaf in position 8: illegal multibyte sequence</a:t>
            </a:r>
            <a:endParaRPr lang="zh-CN" altLang="en-US" sz="2000">
              <a:solidFill>
                <a:srgbClr val="FF0000"/>
              </a:solidFill>
              <a:latin typeface="Consolas" panose="020B0609020204030204" charset="0"/>
              <a:cs typeface="Consolas" panose="020B0609020204030204" charset="0"/>
            </a:endParaRPr>
          </a:p>
          <a:p>
            <a:pPr marL="0" indent="0" fontAlgn="auto">
              <a:lnSpc>
                <a:spcPct val="100000"/>
              </a:lnSpc>
              <a:spcBef>
                <a:spcPct val="0"/>
              </a:spcBef>
              <a:buNone/>
            </a:pPr>
            <a:r>
              <a:rPr lang="zh-CN" altLang="en-US" sz="2000">
                <a:latin typeface="Consolas" panose="020B0609020204030204" charset="0"/>
                <a:cs typeface="Consolas" panose="020B0609020204030204" charset="0"/>
                <a:sym typeface="+mn-ea"/>
              </a:rPr>
              <a:t>&gt;&gt;&gt; 'Python程序设计开发宝典'.encode('cp936').decode('utf8')</a:t>
            </a:r>
            <a:endParaRPr lang="zh-CN" altLang="en-US" sz="2000">
              <a:latin typeface="Consolas" panose="020B0609020204030204" charset="0"/>
              <a:cs typeface="Consolas" panose="020B0609020204030204" charset="0"/>
            </a:endParaRPr>
          </a:p>
          <a:p>
            <a:pPr marL="0" indent="0" fontAlgn="auto">
              <a:lnSpc>
                <a:spcPct val="100000"/>
              </a:lnSpc>
              <a:spcBef>
                <a:spcPct val="0"/>
              </a:spcBef>
              <a:buNone/>
            </a:pPr>
            <a:r>
              <a:rPr lang="zh-CN" altLang="en-US" sz="2000">
                <a:solidFill>
                  <a:srgbClr val="FF0000"/>
                </a:solidFill>
                <a:latin typeface="Consolas" panose="020B0609020204030204" charset="0"/>
                <a:cs typeface="Consolas" panose="020B0609020204030204" charset="0"/>
                <a:sym typeface="+mn-ea"/>
              </a:rPr>
              <a:t>Traceback (most recent call last):</a:t>
            </a:r>
            <a:endParaRPr lang="zh-CN" altLang="en-US" sz="2000">
              <a:solidFill>
                <a:srgbClr val="FF0000"/>
              </a:solidFill>
              <a:latin typeface="Consolas" panose="020B0609020204030204" charset="0"/>
              <a:cs typeface="Consolas" panose="020B0609020204030204" charset="0"/>
            </a:endParaRPr>
          </a:p>
          <a:p>
            <a:pPr marL="0" indent="0" fontAlgn="auto">
              <a:lnSpc>
                <a:spcPct val="100000"/>
              </a:lnSpc>
              <a:spcBef>
                <a:spcPct val="0"/>
              </a:spcBef>
              <a:buNone/>
            </a:pPr>
            <a:r>
              <a:rPr lang="zh-CN" altLang="en-US" sz="2000">
                <a:solidFill>
                  <a:srgbClr val="FF0000"/>
                </a:solidFill>
                <a:latin typeface="Consolas" panose="020B0609020204030204" charset="0"/>
                <a:cs typeface="Consolas" panose="020B0609020204030204" charset="0"/>
                <a:sym typeface="+mn-ea"/>
              </a:rPr>
              <a:t>  File "&lt;pyshell#64&gt;", line 1, in &lt;module&gt;</a:t>
            </a:r>
            <a:endParaRPr lang="zh-CN" altLang="en-US" sz="2000">
              <a:solidFill>
                <a:srgbClr val="FF0000"/>
              </a:solidFill>
              <a:latin typeface="Consolas" panose="020B0609020204030204" charset="0"/>
              <a:cs typeface="Consolas" panose="020B0609020204030204" charset="0"/>
            </a:endParaRPr>
          </a:p>
          <a:p>
            <a:pPr marL="0" indent="0" fontAlgn="auto">
              <a:lnSpc>
                <a:spcPct val="100000"/>
              </a:lnSpc>
              <a:spcBef>
                <a:spcPct val="0"/>
              </a:spcBef>
              <a:buNone/>
            </a:pPr>
            <a:r>
              <a:rPr lang="zh-CN" altLang="en-US" sz="2000">
                <a:solidFill>
                  <a:srgbClr val="FF0000"/>
                </a:solidFill>
                <a:latin typeface="Consolas" panose="020B0609020204030204" charset="0"/>
                <a:cs typeface="Consolas" panose="020B0609020204030204" charset="0"/>
                <a:sym typeface="+mn-ea"/>
              </a:rPr>
              <a:t>    'Python程序设计开发宝典'.encode('cp936').decode('utf8')</a:t>
            </a:r>
            <a:endParaRPr lang="zh-CN" altLang="en-US" sz="2000">
              <a:solidFill>
                <a:srgbClr val="FF0000"/>
              </a:solidFill>
              <a:latin typeface="Consolas" panose="020B0609020204030204" charset="0"/>
              <a:cs typeface="Consolas" panose="020B0609020204030204" charset="0"/>
            </a:endParaRPr>
          </a:p>
          <a:p>
            <a:pPr marL="0" indent="0" fontAlgn="auto">
              <a:lnSpc>
                <a:spcPct val="100000"/>
              </a:lnSpc>
              <a:spcBef>
                <a:spcPct val="0"/>
              </a:spcBef>
              <a:buNone/>
            </a:pPr>
            <a:r>
              <a:rPr lang="zh-CN" altLang="en-US" sz="2000">
                <a:solidFill>
                  <a:srgbClr val="FF0000"/>
                </a:solidFill>
                <a:latin typeface="Consolas" panose="020B0609020204030204" charset="0"/>
                <a:cs typeface="Consolas" panose="020B0609020204030204" charset="0"/>
                <a:sym typeface="+mn-ea"/>
              </a:rPr>
              <a:t>UnicodeDecodeError: 'utf-8' codec can't decode byte 0xb3 in position 6: invalid start byte</a:t>
            </a:r>
            <a:endParaRPr lang="zh-CN" altLang="en-US" sz="2000">
              <a:latin typeface="Consolas" panose="020B0609020204030204" charset="0"/>
              <a:cs typeface="Consolas" panose="020B0609020204030204" charset="0"/>
            </a:endParaRPr>
          </a:p>
          <a:p>
            <a:pPr marL="0" indent="0">
              <a:buNone/>
            </a:pPr>
            <a:r>
              <a:rPr lang="zh-CN" altLang="en-US" sz="2000">
                <a:latin typeface="Consolas" panose="020B0609020204030204" charset="0"/>
                <a:cs typeface="Consolas" panose="020B0609020204030204" charset="0"/>
              </a:rPr>
              <a:t>&gt;&gt;&gt; '测试'.encode().decode('gbk')</a:t>
            </a:r>
            <a:r>
              <a:rPr lang="en-US" altLang="zh-CN" sz="2000">
                <a:latin typeface="Consolas" panose="020B0609020204030204" charset="0"/>
                <a:cs typeface="Consolas" panose="020B0609020204030204" charset="0"/>
              </a:rPr>
              <a:t>     # </a:t>
            </a:r>
            <a:r>
              <a:rPr lang="zh-CN" altLang="en-US" sz="2000">
                <a:latin typeface="Consolas" panose="020B0609020204030204" charset="0"/>
                <a:cs typeface="Consolas" panose="020B0609020204030204" charset="0"/>
              </a:rPr>
              <a:t>恰好能解码，但不是原来的</a:t>
            </a:r>
            <a:r>
              <a:rPr lang="zh-CN" altLang="en-US" sz="2000">
                <a:latin typeface="Consolas" panose="020B0609020204030204" charset="0"/>
                <a:cs typeface="Consolas" panose="020B0609020204030204" charset="0"/>
              </a:rPr>
              <a:t>字符串</a:t>
            </a:r>
            <a:endParaRPr lang="zh-CN" altLang="en-US" sz="2000">
              <a:latin typeface="Consolas" panose="020B0609020204030204" charset="0"/>
              <a:cs typeface="Consolas" panose="020B0609020204030204" charset="0"/>
            </a:endParaRPr>
          </a:p>
          <a:p>
            <a:pPr marL="0" indent="0">
              <a:buNone/>
            </a:pPr>
            <a:r>
              <a:rPr lang="zh-CN" altLang="en-US" sz="2000">
                <a:solidFill>
                  <a:srgbClr val="00B0F0"/>
                </a:solidFill>
                <a:latin typeface="Consolas" panose="020B0609020204030204" charset="0"/>
                <a:cs typeface="Consolas" panose="020B0609020204030204" charset="0"/>
              </a:rPr>
              <a:t>'娴嬭瘯'</a:t>
            </a:r>
            <a:endParaRPr lang="zh-CN" altLang="en-US" sz="2000">
              <a:solidFill>
                <a:srgbClr val="00B0F0"/>
              </a:solidFill>
              <a:latin typeface="Consolas" panose="020B0609020204030204" charset="0"/>
              <a:cs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7.1  </a:t>
            </a:r>
            <a:r>
              <a:rPr lang="zh-CN" altLang="en-US">
                <a:sym typeface="+mn-ea"/>
              </a:rPr>
              <a:t>字符串编码格式简介</a:t>
            </a:r>
            <a:endParaRPr lang="zh-CN" altLang="en-US"/>
          </a:p>
        </p:txBody>
      </p:sp>
      <p:sp>
        <p:nvSpPr>
          <p:cNvPr id="3" name="内容占位符 2"/>
          <p:cNvSpPr>
            <a:spLocks noGrp="1"/>
          </p:cNvSpPr>
          <p:nvPr>
            <p:ph idx="1"/>
          </p:nvPr>
        </p:nvSpPr>
        <p:spPr>
          <a:xfrm>
            <a:off x="838200" y="1321435"/>
            <a:ext cx="10515600" cy="4951730"/>
          </a:xfrm>
        </p:spPr>
        <p:txBody>
          <a:bodyPr>
            <a:normAutofit/>
          </a:bodyPr>
          <a:p>
            <a:pPr defTabSz="914400">
              <a:lnSpc>
                <a:spcPct val="150000"/>
              </a:lnSpc>
              <a:spcBef>
                <a:spcPct val="0"/>
              </a:spcBef>
              <a:buSzPct val="70000"/>
              <a:buFont typeface="Wingdings" panose="05000000000000000000" charset="0"/>
              <a:buChar char=""/>
            </a:pPr>
            <a:r>
              <a:rPr lang="zh-CN" altLang="en-US" sz="2400" dirty="0">
                <a:latin typeface="宋体" panose="02010600030101010101" pitchFamily="2" charset="-122"/>
                <a:sym typeface="+mn-ea"/>
              </a:rPr>
              <a:t>Python 3.x完全支持中文字符，</a:t>
            </a:r>
            <a:r>
              <a:rPr lang="zh-CN" altLang="en-US" sz="2400" dirty="0">
                <a:solidFill>
                  <a:srgbClr val="FF0000"/>
                </a:solidFill>
                <a:latin typeface="宋体" panose="02010600030101010101" pitchFamily="2" charset="-122"/>
                <a:sym typeface="+mn-ea"/>
              </a:rPr>
              <a:t>源程序默认使用UTF8编码格式</a:t>
            </a:r>
            <a:r>
              <a:rPr lang="zh-CN" altLang="en-US" sz="2400" dirty="0">
                <a:latin typeface="宋体" panose="02010600030101010101" pitchFamily="2" charset="-122"/>
                <a:sym typeface="+mn-ea"/>
              </a:rPr>
              <a:t>，无论是一个数字、英文字母，还是一个汉字，</a:t>
            </a:r>
            <a:r>
              <a:rPr lang="zh-CN" altLang="en-US" sz="2400" dirty="0">
                <a:solidFill>
                  <a:srgbClr val="FF0000"/>
                </a:solidFill>
                <a:latin typeface="宋体" panose="02010600030101010101" pitchFamily="2" charset="-122"/>
                <a:sym typeface="+mn-ea"/>
              </a:rPr>
              <a:t>在统计字符串长度时都按一个字符对待和处理</a:t>
            </a:r>
            <a:r>
              <a:rPr lang="zh-CN" altLang="en-US" sz="2400" dirty="0">
                <a:latin typeface="宋体" panose="02010600030101010101" pitchFamily="2" charset="-122"/>
                <a:sym typeface="+mn-ea"/>
              </a:rPr>
              <a:t>。在</a:t>
            </a:r>
            <a:r>
              <a:rPr lang="en-US" altLang="zh-CN" sz="2400" dirty="0">
                <a:latin typeface="宋体" panose="02010600030101010101" pitchFamily="2" charset="-122"/>
                <a:sym typeface="+mn-ea"/>
              </a:rPr>
              <a:t>Python 3.x</a:t>
            </a:r>
            <a:r>
              <a:rPr lang="zh-CN" altLang="en-US" sz="2400" dirty="0">
                <a:latin typeface="宋体" panose="02010600030101010101" pitchFamily="2" charset="-122"/>
                <a:sym typeface="+mn-ea"/>
              </a:rPr>
              <a:t>中可以使用汉字作为标识符。</a:t>
            </a:r>
            <a:endParaRPr lang="zh-CN" altLang="en-US" sz="2400" dirty="0">
              <a:latin typeface="宋体" panose="02010600030101010101" pitchFamily="2" charset="-122"/>
            </a:endParaRPr>
          </a:p>
          <a:p>
            <a:pPr defTabSz="914400">
              <a:lnSpc>
                <a:spcPct val="80000"/>
              </a:lnSpc>
              <a:buSzPct val="70000"/>
              <a:buFont typeface="Wingdings" panose="05000000000000000000" pitchFamily="2" charset="2"/>
              <a:buNone/>
            </a:pPr>
            <a:r>
              <a:rPr lang="zh-CN" altLang="en-US" sz="2000" dirty="0">
                <a:latin typeface="Consolas" panose="020B0609020204030204" charset="0"/>
                <a:sym typeface="+mn-ea"/>
              </a:rPr>
              <a:t>&gt;&gt;&gt; import sys</a:t>
            </a:r>
            <a:endParaRPr lang="zh-CN" altLang="en-US" sz="2000" dirty="0">
              <a:latin typeface="Consolas" panose="020B0609020204030204" charset="0"/>
              <a:sym typeface="+mn-ea"/>
            </a:endParaRPr>
          </a:p>
          <a:p>
            <a:pPr defTabSz="914400">
              <a:lnSpc>
                <a:spcPct val="80000"/>
              </a:lnSpc>
              <a:buSzPct val="70000"/>
              <a:buFont typeface="Wingdings" panose="05000000000000000000" pitchFamily="2" charset="2"/>
              <a:buNone/>
            </a:pPr>
            <a:r>
              <a:rPr lang="zh-CN" altLang="en-US" sz="2000" dirty="0">
                <a:latin typeface="Consolas" panose="020B0609020204030204" charset="0"/>
                <a:sym typeface="+mn-ea"/>
              </a:rPr>
              <a:t>&gt;&gt;&gt; sys.getdefaultencoding()</a:t>
            </a:r>
            <a:endParaRPr lang="zh-CN" altLang="en-US" sz="2000" dirty="0">
              <a:latin typeface="Consolas" panose="020B0609020204030204" charset="0"/>
              <a:sym typeface="+mn-ea"/>
            </a:endParaRPr>
          </a:p>
          <a:p>
            <a:pPr defTabSz="914400">
              <a:lnSpc>
                <a:spcPct val="80000"/>
              </a:lnSpc>
              <a:buSzPct val="70000"/>
              <a:buFont typeface="Wingdings" panose="05000000000000000000" pitchFamily="2" charset="2"/>
              <a:buNone/>
            </a:pPr>
            <a:r>
              <a:rPr lang="zh-CN" altLang="en-US" sz="2000" dirty="0">
                <a:solidFill>
                  <a:srgbClr val="00B0F0"/>
                </a:solidFill>
                <a:latin typeface="Consolas" panose="020B0609020204030204" charset="0"/>
                <a:sym typeface="+mn-ea"/>
              </a:rPr>
              <a:t>'utf-8'</a:t>
            </a:r>
            <a:endParaRPr lang="zh-CN" altLang="en-US" sz="2000" dirty="0">
              <a:solidFill>
                <a:srgbClr val="00B0F0"/>
              </a:solidFill>
              <a:latin typeface="Consolas" panose="020B0609020204030204" charset="0"/>
              <a:sym typeface="+mn-ea"/>
            </a:endParaRPr>
          </a:p>
          <a:p>
            <a:pPr defTabSz="914400">
              <a:lnSpc>
                <a:spcPct val="100000"/>
              </a:lnSpc>
              <a:spcBef>
                <a:spcPct val="0"/>
              </a:spcBef>
              <a:buSzPct val="70000"/>
              <a:buFont typeface="Wingdings" panose="05000000000000000000" pitchFamily="2" charset="2"/>
              <a:buNone/>
            </a:pPr>
            <a:r>
              <a:rPr lang="zh-CN" altLang="en-US" sz="2000" dirty="0">
                <a:latin typeface="Consolas" panose="020B0609020204030204" charset="0"/>
                <a:sym typeface="+mn-ea"/>
              </a:rPr>
              <a:t>&gt;&gt;&gt; s = '中国山东烟台ABCDE'</a:t>
            </a:r>
            <a:r>
              <a:rPr lang="en-US" altLang="zh-CN" sz="2000" dirty="0">
                <a:latin typeface="Consolas" panose="020B0609020204030204" charset="0"/>
                <a:sym typeface="+mn-ea"/>
              </a:rPr>
              <a:t>		</a:t>
            </a:r>
            <a:r>
              <a:rPr lang="zh-CN" altLang="en-US" sz="2000" dirty="0">
                <a:latin typeface="Consolas" panose="020B0609020204030204" charset="0"/>
                <a:sym typeface="+mn-ea"/>
              </a:rPr>
              <a:t># </a:t>
            </a:r>
            <a:r>
              <a:rPr lang="zh-CN" altLang="en-US" sz="2000" dirty="0">
                <a:latin typeface="Consolas" panose="020B0609020204030204" charset="0"/>
                <a:sym typeface="+mn-ea"/>
              </a:rPr>
              <a:t>中文与英文字符同样对待，都算一个字符</a:t>
            </a:r>
            <a:endParaRPr lang="zh-CN" altLang="en-US" sz="2000" dirty="0">
              <a:latin typeface="Consolas" panose="020B0609020204030204" charset="0"/>
            </a:endParaRPr>
          </a:p>
          <a:p>
            <a:pPr defTabSz="914400">
              <a:lnSpc>
                <a:spcPct val="100000"/>
              </a:lnSpc>
              <a:spcBef>
                <a:spcPct val="0"/>
              </a:spcBef>
              <a:buSzPct val="70000"/>
              <a:buFont typeface="Wingdings" panose="05000000000000000000" pitchFamily="2" charset="2"/>
              <a:buNone/>
            </a:pPr>
            <a:r>
              <a:rPr lang="zh-CN" altLang="en-US" sz="2000" dirty="0">
                <a:latin typeface="Consolas" panose="020B0609020204030204" charset="0"/>
                <a:sym typeface="+mn-ea"/>
              </a:rPr>
              <a:t>&gt;&gt;&gt; len(s)</a:t>
            </a:r>
            <a:endParaRPr lang="zh-CN" altLang="en-US" sz="2000" dirty="0">
              <a:latin typeface="Consolas" panose="020B0609020204030204" charset="0"/>
            </a:endParaRPr>
          </a:p>
          <a:p>
            <a:pPr defTabSz="914400">
              <a:lnSpc>
                <a:spcPct val="100000"/>
              </a:lnSpc>
              <a:spcBef>
                <a:spcPct val="0"/>
              </a:spcBef>
              <a:buSzPct val="70000"/>
              <a:buFont typeface="Wingdings" panose="05000000000000000000" pitchFamily="2" charset="2"/>
              <a:buNone/>
            </a:pPr>
            <a:r>
              <a:rPr lang="zh-CN" altLang="en-US" sz="2000" dirty="0">
                <a:solidFill>
                  <a:srgbClr val="00B0F0"/>
                </a:solidFill>
                <a:latin typeface="Consolas" panose="020B0609020204030204" charset="0"/>
                <a:sym typeface="+mn-ea"/>
              </a:rPr>
              <a:t>11</a:t>
            </a:r>
            <a:endParaRPr lang="zh-CN" altLang="en-US" sz="2000" dirty="0">
              <a:solidFill>
                <a:srgbClr val="00B0F0"/>
              </a:solidFill>
              <a:latin typeface="Consolas" panose="020B0609020204030204" charset="0"/>
            </a:endParaRPr>
          </a:p>
          <a:p>
            <a:pPr defTabSz="914400">
              <a:lnSpc>
                <a:spcPct val="100000"/>
              </a:lnSpc>
              <a:spcBef>
                <a:spcPct val="0"/>
              </a:spcBef>
              <a:buSzPct val="70000"/>
              <a:buFont typeface="Wingdings" panose="05000000000000000000" pitchFamily="2" charset="2"/>
              <a:buNone/>
            </a:pPr>
            <a:r>
              <a:rPr lang="zh-CN" altLang="en-US" sz="2000" dirty="0">
                <a:latin typeface="Consolas" panose="020B0609020204030204" charset="0"/>
                <a:sym typeface="+mn-ea"/>
              </a:rPr>
              <a:t>&gt;&gt;&gt; 姓名 = '张三'</a:t>
            </a:r>
            <a:r>
              <a:rPr lang="en-US" altLang="zh-CN" sz="2000" dirty="0">
                <a:latin typeface="Consolas" panose="020B0609020204030204" charset="0"/>
                <a:sym typeface="+mn-ea"/>
              </a:rPr>
              <a:t>			</a:t>
            </a:r>
            <a:r>
              <a:rPr lang="zh-CN" altLang="en-US" sz="2000" dirty="0">
                <a:latin typeface="Consolas" panose="020B0609020204030204" charset="0"/>
                <a:sym typeface="+mn-ea"/>
              </a:rPr>
              <a:t># </a:t>
            </a:r>
            <a:r>
              <a:rPr lang="zh-CN" altLang="en-US" sz="2000" dirty="0">
                <a:latin typeface="Consolas" panose="020B0609020204030204" charset="0"/>
                <a:sym typeface="+mn-ea"/>
              </a:rPr>
              <a:t>使用中文作为变量名</a:t>
            </a:r>
            <a:endParaRPr lang="zh-CN" altLang="en-US" sz="2000" dirty="0">
              <a:latin typeface="Consolas" panose="020B0609020204030204" charset="0"/>
            </a:endParaRPr>
          </a:p>
          <a:p>
            <a:pPr defTabSz="914400">
              <a:lnSpc>
                <a:spcPct val="100000"/>
              </a:lnSpc>
              <a:spcBef>
                <a:spcPct val="0"/>
              </a:spcBef>
              <a:buSzPct val="70000"/>
              <a:buFont typeface="Wingdings" panose="05000000000000000000" pitchFamily="2" charset="2"/>
              <a:buNone/>
            </a:pPr>
            <a:r>
              <a:rPr lang="zh-CN" altLang="en-US" sz="2000" dirty="0">
                <a:latin typeface="Consolas" panose="020B0609020204030204" charset="0"/>
                <a:sym typeface="+mn-ea"/>
              </a:rPr>
              <a:t>&gt;&gt;&gt; print(姓名)</a:t>
            </a:r>
            <a:r>
              <a:rPr lang="en-US" altLang="zh-CN" sz="2000" dirty="0">
                <a:latin typeface="Consolas" panose="020B0609020204030204" charset="0"/>
                <a:sym typeface="+mn-ea"/>
              </a:rPr>
              <a:t>			</a:t>
            </a:r>
            <a:r>
              <a:rPr lang="zh-CN" altLang="en-US" sz="2000" dirty="0">
                <a:latin typeface="Consolas" panose="020B0609020204030204" charset="0"/>
                <a:sym typeface="+mn-ea"/>
              </a:rPr>
              <a:t># </a:t>
            </a:r>
            <a:r>
              <a:rPr lang="zh-CN" altLang="en-US" sz="2000" dirty="0">
                <a:latin typeface="Consolas" panose="020B0609020204030204" charset="0"/>
                <a:sym typeface="+mn-ea"/>
              </a:rPr>
              <a:t>输出变量的值</a:t>
            </a:r>
            <a:endParaRPr lang="zh-CN" altLang="en-US" sz="2000" dirty="0">
              <a:latin typeface="Consolas" panose="020B0609020204030204" charset="0"/>
            </a:endParaRPr>
          </a:p>
          <a:p>
            <a:pPr defTabSz="914400">
              <a:lnSpc>
                <a:spcPct val="100000"/>
              </a:lnSpc>
              <a:spcBef>
                <a:spcPct val="0"/>
              </a:spcBef>
              <a:buSzPct val="70000"/>
              <a:buFont typeface="Wingdings" panose="05000000000000000000" pitchFamily="2" charset="2"/>
              <a:buNone/>
            </a:pPr>
            <a:r>
              <a:rPr lang="zh-CN" altLang="en-US" sz="2000" dirty="0">
                <a:solidFill>
                  <a:srgbClr val="00B0F0"/>
                </a:solidFill>
                <a:latin typeface="Consolas" panose="020B0609020204030204" charset="0"/>
                <a:sym typeface="+mn-ea"/>
              </a:rPr>
              <a:t>张三</a:t>
            </a:r>
            <a:endParaRPr lang="zh-CN" altLang="en-US" sz="2000">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7.2  </a:t>
            </a:r>
            <a:r>
              <a:rPr lang="zh-CN" altLang="en-US"/>
              <a:t>转义字符与原始字符串</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graphicFrame>
        <p:nvGraphicFramePr>
          <p:cNvPr id="3" name="Table -1"/>
          <p:cNvGraphicFramePr/>
          <p:nvPr>
            <p:custDataLst>
              <p:tags r:id="rId1"/>
            </p:custDataLst>
          </p:nvPr>
        </p:nvGraphicFramePr>
        <p:xfrm>
          <a:off x="974090" y="1528445"/>
          <a:ext cx="9365615" cy="3799840"/>
        </p:xfrm>
        <a:graphic>
          <a:graphicData uri="http://schemas.openxmlformats.org/drawingml/2006/table">
            <a:tbl>
              <a:tblPr firstRow="1" bandRow="1">
                <a:tableStyleId>{5940675A-B579-460E-94D1-54222C63F5DA}</a:tableStyleId>
              </a:tblPr>
              <a:tblGrid>
                <a:gridCol w="1374775"/>
                <a:gridCol w="3387090"/>
                <a:gridCol w="960120"/>
                <a:gridCol w="3643630"/>
              </a:tblGrid>
              <a:tr h="474980">
                <a:tc>
                  <a:txBody>
                    <a:bodyPr/>
                    <a:p>
                      <a:pPr marL="0" indent="0" algn="ctr">
                        <a:buNone/>
                      </a:pPr>
                      <a:r>
                        <a:rPr lang="zh-CN" altLang="en-US" sz="1800" b="1" u="none">
                          <a:latin typeface="Consolas" panose="020B0609020204030204" charset="0"/>
                          <a:ea typeface="宋体" panose="02010600030101010101" pitchFamily="2" charset="-122"/>
                          <a:cs typeface="宋体" panose="02010600030101010101" pitchFamily="2" charset="-122"/>
                        </a:rPr>
                        <a:t>转义字符</a:t>
                      </a:r>
                      <a:endParaRPr lang="zh-CN" altLang="en-US" sz="1800" b="1" u="none">
                        <a:latin typeface="Consolas" panose="020B0609020204030204" charset="0"/>
                        <a:ea typeface="宋体" panose="02010600030101010101" pitchFamily="2" charset="-122"/>
                        <a:cs typeface="宋体" panose="02010600030101010101" pitchFamily="2" charset="-122"/>
                      </a:endParaRPr>
                    </a:p>
                  </a:txBody>
                  <a:tcPr marL="0" marR="0" marT="99694" marB="99694"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zh-CN" altLang="en-US" sz="1800" b="1" u="none">
                          <a:latin typeface="Consolas" panose="020B0609020204030204" charset="0"/>
                          <a:ea typeface="宋体" panose="02010600030101010101" pitchFamily="2" charset="-122"/>
                          <a:cs typeface="宋体" panose="02010600030101010101" pitchFamily="2" charset="-122"/>
                        </a:rPr>
                        <a:t>含义</a:t>
                      </a:r>
                      <a:endParaRPr lang="zh-CN" altLang="en-US" sz="1800" b="1" u="none">
                        <a:latin typeface="Consolas" panose="020B0609020204030204" charset="0"/>
                        <a:ea typeface="宋体" panose="02010600030101010101" pitchFamily="2" charset="-122"/>
                        <a:cs typeface="宋体" panose="02010600030101010101" pitchFamily="2" charset="-122"/>
                      </a:endParaRPr>
                    </a:p>
                  </a:txBody>
                  <a:tcPr marL="0" marR="0" marT="99694" marB="99694"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zh-CN" altLang="en-US" sz="1800" b="1" u="none">
                          <a:latin typeface="Consolas" panose="020B0609020204030204" charset="0"/>
                          <a:ea typeface="宋体" panose="02010600030101010101" pitchFamily="2" charset="-122"/>
                          <a:cs typeface="宋体" panose="02010600030101010101" pitchFamily="2" charset="-122"/>
                        </a:rPr>
                        <a:t>转义字符</a:t>
                      </a:r>
                      <a:endParaRPr lang="zh-CN" altLang="en-US" sz="1800" b="1" u="none">
                        <a:latin typeface="Consolas" panose="020B0609020204030204" charset="0"/>
                        <a:ea typeface="宋体" panose="02010600030101010101" pitchFamily="2" charset="-122"/>
                        <a:cs typeface="宋体" panose="02010600030101010101" pitchFamily="2" charset="-122"/>
                      </a:endParaRPr>
                    </a:p>
                  </a:txBody>
                  <a:tcPr marL="0" marR="0" marT="99694" marB="99694"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zh-CN" altLang="en-US" sz="1800" b="1" u="none">
                          <a:latin typeface="Consolas" panose="020B0609020204030204" charset="0"/>
                          <a:ea typeface="宋体" panose="02010600030101010101" pitchFamily="2" charset="-122"/>
                          <a:cs typeface="宋体" panose="02010600030101010101" pitchFamily="2" charset="-122"/>
                        </a:rPr>
                        <a:t>含义</a:t>
                      </a:r>
                      <a:endParaRPr lang="zh-CN" altLang="en-US" sz="1800" b="1" u="none">
                        <a:latin typeface="Consolas" panose="020B0609020204030204" charset="0"/>
                        <a:ea typeface="宋体" panose="02010600030101010101" pitchFamily="2" charset="-122"/>
                        <a:cs typeface="宋体" panose="02010600030101010101" pitchFamily="2" charset="-122"/>
                      </a:endParaRPr>
                    </a:p>
                  </a:txBody>
                  <a:tcPr marL="0" marR="0" marT="99694" marB="99694"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74980">
                <a:tc>
                  <a:txBody>
                    <a:bodyPr/>
                    <a:p>
                      <a:pPr marL="0" indent="0" algn="l">
                        <a:buNone/>
                      </a:pPr>
                      <a:r>
                        <a:rPr lang="en-US" altLang="zh-CN" sz="1800" b="0" u="none">
                          <a:latin typeface="Consolas" panose="020B0609020204030204" charset="0"/>
                          <a:ea typeface="宋体" panose="02010600030101010101" pitchFamily="2" charset="-122"/>
                          <a:cs typeface="Consolas" panose="020B0609020204030204" charset="0"/>
                        </a:rPr>
                        <a:t>\b</a:t>
                      </a:r>
                      <a:endParaRPr lang="en-US" altLang="zh-CN" sz="1800" b="0" u="none">
                        <a:latin typeface="Consolas" panose="020B0609020204030204" charset="0"/>
                        <a:ea typeface="宋体" panose="02010600030101010101" pitchFamily="2" charset="-122"/>
                        <a:cs typeface="Consolas" panose="020B0609020204030204" charset="0"/>
                      </a:endParaRPr>
                    </a:p>
                  </a:txBody>
                  <a:tcPr marL="36195" marR="0" marT="99694" marB="99694"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800" b="0" u="none">
                          <a:latin typeface="Consolas" panose="020B0609020204030204" charset="0"/>
                          <a:ea typeface="宋体" panose="02010600030101010101" pitchFamily="2" charset="-122"/>
                          <a:cs typeface="宋体" panose="02010600030101010101" pitchFamily="2" charset="-122"/>
                        </a:rPr>
                        <a:t>退格，把光标移动到前一列位置</a:t>
                      </a:r>
                      <a:endParaRPr lang="zh-CN" altLang="en-US" sz="1800" b="0" u="none">
                        <a:latin typeface="Consolas" panose="020B0609020204030204" charset="0"/>
                        <a:ea typeface="宋体" panose="02010600030101010101" pitchFamily="2" charset="-122"/>
                        <a:cs typeface="宋体" panose="02010600030101010101" pitchFamily="2" charset="-122"/>
                      </a:endParaRPr>
                    </a:p>
                  </a:txBody>
                  <a:tcPr marL="36195" marR="0" marT="99694" marB="99694"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en-US" altLang="zh-CN" sz="1800" b="0" u="none">
                          <a:latin typeface="Consolas" panose="020B0609020204030204" charset="0"/>
                          <a:ea typeface="宋体" panose="02010600030101010101" pitchFamily="2" charset="-122"/>
                          <a:cs typeface="Consolas" panose="020B0609020204030204" charset="0"/>
                        </a:rPr>
                        <a:t>\\</a:t>
                      </a:r>
                      <a:endParaRPr lang="en-US" altLang="zh-CN" sz="1800" b="0" u="none">
                        <a:latin typeface="Consolas" panose="020B0609020204030204" charset="0"/>
                        <a:ea typeface="宋体" panose="02010600030101010101" pitchFamily="2" charset="-122"/>
                        <a:cs typeface="Consolas" panose="020B0609020204030204" charset="0"/>
                      </a:endParaRPr>
                    </a:p>
                  </a:txBody>
                  <a:tcPr marL="36195" marR="0" marT="99694" marB="99694"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800" b="0" u="none">
                          <a:latin typeface="Consolas" panose="020B0609020204030204" charset="0"/>
                          <a:ea typeface="宋体" panose="02010600030101010101" pitchFamily="2" charset="-122"/>
                          <a:cs typeface="Consolas" panose="020B0609020204030204" charset="0"/>
                        </a:rPr>
                        <a:t>一个斜线</a:t>
                      </a:r>
                      <a:r>
                        <a:rPr lang="en-US" altLang="zh-CN" sz="1800" b="0" u="none">
                          <a:latin typeface="Consolas" panose="020B0609020204030204" charset="0"/>
                          <a:ea typeface="宋体" panose="02010600030101010101" pitchFamily="2" charset="-122"/>
                          <a:cs typeface="Consolas" panose="020B0609020204030204" charset="0"/>
                        </a:rPr>
                        <a:t>\</a:t>
                      </a:r>
                      <a:endParaRPr lang="en-US" sz="1800" b="0" u="none">
                        <a:latin typeface="Consolas" panose="020B0609020204030204" charset="0"/>
                        <a:ea typeface="宋体" panose="02010600030101010101" pitchFamily="2" charset="-122"/>
                        <a:cs typeface="Consolas" panose="020B0609020204030204" charset="0"/>
                      </a:endParaRPr>
                    </a:p>
                  </a:txBody>
                  <a:tcPr marL="36195" marR="0" marT="99694" marB="99694"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74980">
                <a:tc>
                  <a:txBody>
                    <a:bodyPr/>
                    <a:p>
                      <a:pPr marL="0" indent="0" algn="l">
                        <a:buNone/>
                      </a:pPr>
                      <a:r>
                        <a:rPr lang="en-US" altLang="zh-CN" sz="1800" b="0" u="none">
                          <a:latin typeface="Consolas" panose="020B0609020204030204" charset="0"/>
                          <a:ea typeface="宋体" panose="02010600030101010101" pitchFamily="2" charset="-122"/>
                          <a:cs typeface="Consolas" panose="020B0609020204030204" charset="0"/>
                        </a:rPr>
                        <a:t>\f</a:t>
                      </a:r>
                      <a:endParaRPr lang="en-US" altLang="zh-CN" sz="1800" b="0" u="none">
                        <a:latin typeface="Consolas" panose="020B0609020204030204" charset="0"/>
                        <a:ea typeface="宋体" panose="02010600030101010101" pitchFamily="2" charset="-122"/>
                        <a:cs typeface="Consolas" panose="020B0609020204030204" charset="0"/>
                      </a:endParaRPr>
                    </a:p>
                  </a:txBody>
                  <a:tcPr marL="36195" marR="0" marT="99694" marB="99694"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800" b="0" u="none">
                          <a:latin typeface="Consolas" panose="020B0609020204030204" charset="0"/>
                          <a:ea typeface="宋体" panose="02010600030101010101" pitchFamily="2" charset="-122"/>
                          <a:cs typeface="宋体" panose="02010600030101010101" pitchFamily="2" charset="-122"/>
                        </a:rPr>
                        <a:t>换页符</a:t>
                      </a:r>
                      <a:endParaRPr lang="zh-CN" altLang="en-US" sz="1800" b="0" u="none">
                        <a:latin typeface="Consolas" panose="020B0609020204030204" charset="0"/>
                        <a:ea typeface="宋体" panose="02010600030101010101" pitchFamily="2" charset="-122"/>
                        <a:cs typeface="宋体" panose="02010600030101010101" pitchFamily="2" charset="-122"/>
                      </a:endParaRPr>
                    </a:p>
                  </a:txBody>
                  <a:tcPr marL="36195" marR="0" marT="99694" marB="99694"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en-US" altLang="zh-CN" sz="1800" b="0" u="none">
                          <a:latin typeface="Consolas" panose="020B0609020204030204" charset="0"/>
                          <a:ea typeface="宋体" panose="02010600030101010101" pitchFamily="2" charset="-122"/>
                          <a:cs typeface="Consolas" panose="020B0609020204030204" charset="0"/>
                        </a:rPr>
                        <a:t>\</a:t>
                      </a:r>
                      <a:r>
                        <a:rPr lang="en-US" altLang="zh-CN" sz="1800" b="0" u="none">
                          <a:latin typeface="Consolas" panose="020B0609020204030204" charset="0"/>
                          <a:ea typeface="Times New Roman" panose="02020603050405020304" pitchFamily="2" charset="0"/>
                          <a:cs typeface="Consolas" panose="020B0609020204030204" charset="0"/>
                        </a:rPr>
                        <a:t>'</a:t>
                      </a:r>
                      <a:endParaRPr lang="en-US" altLang="zh-CN" sz="1800" b="0" u="none">
                        <a:latin typeface="Consolas" panose="020B0609020204030204" charset="0"/>
                        <a:ea typeface="Times New Roman" panose="02020603050405020304" pitchFamily="2" charset="0"/>
                        <a:cs typeface="Consolas" panose="020B0609020204030204" charset="0"/>
                      </a:endParaRPr>
                    </a:p>
                  </a:txBody>
                  <a:tcPr marL="36195" marR="0" marT="99694" marB="99694"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800" b="0" u="none">
                          <a:latin typeface="Consolas" panose="020B0609020204030204" charset="0"/>
                          <a:ea typeface="宋体" panose="02010600030101010101" pitchFamily="2" charset="-122"/>
                          <a:cs typeface="Consolas" panose="020B0609020204030204" charset="0"/>
                        </a:rPr>
                        <a:t>单引号</a:t>
                      </a:r>
                      <a:r>
                        <a:rPr lang="en-US" altLang="zh-CN" sz="1800">
                          <a:latin typeface="Consolas" panose="020B0609020204030204" charset="0"/>
                          <a:ea typeface="Times New Roman" panose="02020603050405020304" pitchFamily="2" charset="0"/>
                          <a:cs typeface="Consolas" panose="020B0609020204030204" charset="0"/>
                          <a:sym typeface="+mn-ea"/>
                        </a:rPr>
                        <a:t>'</a:t>
                      </a:r>
                      <a:endParaRPr lang="zh-CN" altLang="en-US" sz="1800" b="0" u="none">
                        <a:latin typeface="Consolas" panose="020B0609020204030204" charset="0"/>
                        <a:ea typeface="宋体" panose="02010600030101010101" pitchFamily="2" charset="-122"/>
                        <a:cs typeface="Consolas" panose="020B0609020204030204" charset="0"/>
                      </a:endParaRPr>
                    </a:p>
                  </a:txBody>
                  <a:tcPr marL="36195" marR="0" marT="99694" marB="99694"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74980">
                <a:tc>
                  <a:txBody>
                    <a:bodyPr/>
                    <a:p>
                      <a:pPr marL="0" indent="0" algn="l">
                        <a:buNone/>
                      </a:pPr>
                      <a:r>
                        <a:rPr lang="en-US" altLang="zh-CN" sz="1800" b="0" u="none">
                          <a:latin typeface="Consolas" panose="020B0609020204030204" charset="0"/>
                          <a:ea typeface="宋体" panose="02010600030101010101" pitchFamily="2" charset="-122"/>
                          <a:cs typeface="Consolas" panose="020B0609020204030204" charset="0"/>
                        </a:rPr>
                        <a:t>\n</a:t>
                      </a:r>
                      <a:endParaRPr lang="en-US" altLang="zh-CN" sz="1800" b="0" u="none">
                        <a:latin typeface="Consolas" panose="020B0609020204030204" charset="0"/>
                        <a:ea typeface="宋体" panose="02010600030101010101" pitchFamily="2" charset="-122"/>
                        <a:cs typeface="Consolas" panose="020B0609020204030204" charset="0"/>
                      </a:endParaRPr>
                    </a:p>
                  </a:txBody>
                  <a:tcPr marL="36195" marR="0" marT="99694" marB="99694"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800" b="0" u="none">
                          <a:latin typeface="Consolas" panose="020B0609020204030204" charset="0"/>
                          <a:ea typeface="宋体" panose="02010600030101010101" pitchFamily="2" charset="-122"/>
                          <a:cs typeface="宋体" panose="02010600030101010101" pitchFamily="2" charset="-122"/>
                        </a:rPr>
                        <a:t>换行符</a:t>
                      </a:r>
                      <a:endParaRPr lang="zh-CN" altLang="en-US" sz="1800" b="0" u="none">
                        <a:latin typeface="Consolas" panose="020B0609020204030204" charset="0"/>
                        <a:ea typeface="宋体" panose="02010600030101010101" pitchFamily="2" charset="-122"/>
                        <a:cs typeface="宋体" panose="02010600030101010101" pitchFamily="2" charset="-122"/>
                      </a:endParaRPr>
                    </a:p>
                  </a:txBody>
                  <a:tcPr marL="36195" marR="0" marT="99694" marB="99694"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en-US" altLang="zh-CN" sz="1800" b="0" u="none">
                          <a:latin typeface="Consolas" panose="020B0609020204030204" charset="0"/>
                          <a:ea typeface="宋体" panose="02010600030101010101" pitchFamily="2" charset="-122"/>
                          <a:cs typeface="Consolas" panose="020B0609020204030204" charset="0"/>
                        </a:rPr>
                        <a:t>\</a:t>
                      </a:r>
                      <a:r>
                        <a:rPr lang="en-US" altLang="zh-CN" sz="1800" b="0" u="none">
                          <a:latin typeface="Consolas" panose="020B0609020204030204" charset="0"/>
                          <a:ea typeface="Times New Roman" panose="02020603050405020304" pitchFamily="2" charset="0"/>
                          <a:cs typeface="Consolas" panose="020B0609020204030204" charset="0"/>
                        </a:rPr>
                        <a:t>"</a:t>
                      </a:r>
                      <a:endParaRPr lang="en-US" altLang="zh-CN" sz="1800" b="0" u="none">
                        <a:latin typeface="Consolas" panose="020B0609020204030204" charset="0"/>
                        <a:ea typeface="Times New Roman" panose="02020603050405020304" pitchFamily="2" charset="0"/>
                        <a:cs typeface="Consolas" panose="020B0609020204030204" charset="0"/>
                      </a:endParaRPr>
                    </a:p>
                  </a:txBody>
                  <a:tcPr marL="36195" marR="0" marT="99694" marB="99694"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800" b="0" u="none">
                          <a:latin typeface="Consolas" panose="020B0609020204030204" charset="0"/>
                          <a:ea typeface="宋体" panose="02010600030101010101" pitchFamily="2" charset="-122"/>
                          <a:cs typeface="Consolas" panose="020B0609020204030204" charset="0"/>
                        </a:rPr>
                        <a:t>双引号</a:t>
                      </a:r>
                      <a:r>
                        <a:rPr lang="zh-CN" altLang="en-US" sz="1800" b="0" u="none">
                          <a:latin typeface="Consolas" panose="020B0609020204030204" charset="0"/>
                          <a:ea typeface="Times New Roman" panose="02020603050405020304" pitchFamily="2" charset="0"/>
                          <a:cs typeface="Consolas" panose="020B0609020204030204" charset="0"/>
                        </a:rPr>
                        <a:t>"</a:t>
                      </a:r>
                      <a:endParaRPr lang="zh-CN" altLang="en-US" sz="1800" b="0" u="none">
                        <a:latin typeface="Consolas" panose="020B0609020204030204" charset="0"/>
                        <a:ea typeface="Times New Roman" panose="02020603050405020304" pitchFamily="2" charset="0"/>
                        <a:cs typeface="Consolas" panose="020B0609020204030204" charset="0"/>
                      </a:endParaRPr>
                    </a:p>
                  </a:txBody>
                  <a:tcPr marL="36195" marR="0" marT="99694" marB="99694"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74980">
                <a:tc>
                  <a:txBody>
                    <a:bodyPr/>
                    <a:p>
                      <a:pPr marL="0" indent="0" algn="l">
                        <a:buNone/>
                      </a:pPr>
                      <a:r>
                        <a:rPr lang="en-US" altLang="zh-CN" sz="1800" b="0" u="none">
                          <a:latin typeface="Consolas" panose="020B0609020204030204" charset="0"/>
                          <a:ea typeface="宋体" panose="02010600030101010101" pitchFamily="2" charset="-122"/>
                          <a:cs typeface="Consolas" panose="020B0609020204030204" charset="0"/>
                        </a:rPr>
                        <a:t>\r</a:t>
                      </a:r>
                      <a:endParaRPr lang="en-US" altLang="zh-CN" sz="1800" b="0" u="none">
                        <a:latin typeface="Consolas" panose="020B0609020204030204" charset="0"/>
                        <a:ea typeface="宋体" panose="02010600030101010101" pitchFamily="2" charset="-122"/>
                        <a:cs typeface="Consolas" panose="020B0609020204030204" charset="0"/>
                      </a:endParaRPr>
                    </a:p>
                  </a:txBody>
                  <a:tcPr marL="36195" marR="0" marT="99694" marB="99694"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800" b="0" u="none">
                          <a:latin typeface="Consolas" panose="020B0609020204030204" charset="0"/>
                          <a:ea typeface="宋体" panose="02010600030101010101" pitchFamily="2" charset="-122"/>
                          <a:cs typeface="宋体" panose="02010600030101010101" pitchFamily="2" charset="-122"/>
                        </a:rPr>
                        <a:t>回车</a:t>
                      </a:r>
                      <a:endParaRPr lang="zh-CN" altLang="en-US" sz="1800" b="0" u="none">
                        <a:latin typeface="Consolas" panose="020B0609020204030204" charset="0"/>
                        <a:ea typeface="宋体" panose="02010600030101010101" pitchFamily="2" charset="-122"/>
                        <a:cs typeface="宋体" panose="02010600030101010101" pitchFamily="2" charset="-122"/>
                      </a:endParaRPr>
                    </a:p>
                  </a:txBody>
                  <a:tcPr marL="36195" marR="0" marT="99694" marB="99694"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en-US" altLang="zh-CN" sz="1800" b="0" u="none">
                          <a:latin typeface="Consolas" panose="020B0609020204030204" charset="0"/>
                          <a:ea typeface="宋体" panose="02010600030101010101" pitchFamily="2" charset="-122"/>
                          <a:cs typeface="Consolas" panose="020B0609020204030204" charset="0"/>
                        </a:rPr>
                        <a:t>\ooo</a:t>
                      </a:r>
                      <a:endParaRPr lang="en-US" altLang="zh-CN" sz="1800" b="0" u="none">
                        <a:latin typeface="Consolas" panose="020B0609020204030204" charset="0"/>
                        <a:ea typeface="宋体" panose="02010600030101010101" pitchFamily="2" charset="-122"/>
                        <a:cs typeface="Consolas" panose="020B0609020204030204" charset="0"/>
                      </a:endParaRPr>
                    </a:p>
                  </a:txBody>
                  <a:tcPr marL="36195" marR="0" marT="99694" marB="99694"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en-US" altLang="zh-CN" sz="1800" b="0" u="none">
                          <a:latin typeface="Consolas" panose="020B0609020204030204" charset="0"/>
                          <a:ea typeface="宋体" panose="02010600030101010101" pitchFamily="2" charset="-122"/>
                          <a:cs typeface="Consolas" panose="020B0609020204030204" charset="0"/>
                        </a:rPr>
                        <a:t>3</a:t>
                      </a:r>
                      <a:r>
                        <a:rPr lang="zh-CN" altLang="en-US" sz="1800" b="0" u="none">
                          <a:latin typeface="Consolas" panose="020B0609020204030204" charset="0"/>
                          <a:ea typeface="宋体" panose="02010600030101010101" pitchFamily="2" charset="-122"/>
                          <a:cs typeface="Consolas" panose="020B0609020204030204" charset="0"/>
                        </a:rPr>
                        <a:t>位八进制数对应的字符</a:t>
                      </a:r>
                      <a:endParaRPr lang="en-US" sz="1800" b="0" u="none">
                        <a:latin typeface="Consolas" panose="020B0609020204030204" charset="0"/>
                        <a:ea typeface="宋体" panose="02010600030101010101" pitchFamily="2" charset="-122"/>
                        <a:cs typeface="Consolas" panose="020B0609020204030204" charset="0"/>
                      </a:endParaRPr>
                    </a:p>
                  </a:txBody>
                  <a:tcPr marL="36195" marR="0" marT="99694" marB="99694"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74980">
                <a:tc>
                  <a:txBody>
                    <a:bodyPr/>
                    <a:p>
                      <a:pPr marL="0" indent="0" algn="l">
                        <a:buNone/>
                      </a:pPr>
                      <a:r>
                        <a:rPr lang="en-US" altLang="zh-CN" sz="1800" b="0" u="none">
                          <a:latin typeface="Consolas" panose="020B0609020204030204" charset="0"/>
                          <a:ea typeface="宋体" panose="02010600030101010101" pitchFamily="2" charset="-122"/>
                          <a:cs typeface="Consolas" panose="020B0609020204030204" charset="0"/>
                        </a:rPr>
                        <a:t>\t</a:t>
                      </a:r>
                      <a:endParaRPr lang="en-US" altLang="zh-CN" sz="1800" b="0" u="none">
                        <a:latin typeface="Consolas" panose="020B0609020204030204" charset="0"/>
                        <a:ea typeface="宋体" panose="02010600030101010101" pitchFamily="2" charset="-122"/>
                        <a:cs typeface="Consolas" panose="020B0609020204030204" charset="0"/>
                      </a:endParaRPr>
                    </a:p>
                  </a:txBody>
                  <a:tcPr marL="36195" marR="0" marT="99694" marB="99694"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800" b="0" u="none">
                          <a:latin typeface="Consolas" panose="020B0609020204030204" charset="0"/>
                          <a:ea typeface="宋体" panose="02010600030101010101" pitchFamily="2" charset="-122"/>
                          <a:cs typeface="宋体" panose="02010600030101010101" pitchFamily="2" charset="-122"/>
                        </a:rPr>
                        <a:t>水平制表符</a:t>
                      </a:r>
                      <a:endParaRPr lang="zh-CN" altLang="en-US" sz="1800" b="0" u="none">
                        <a:latin typeface="Consolas" panose="020B0609020204030204" charset="0"/>
                        <a:ea typeface="宋体" panose="02010600030101010101" pitchFamily="2" charset="-122"/>
                        <a:cs typeface="宋体" panose="02010600030101010101" pitchFamily="2" charset="-122"/>
                      </a:endParaRPr>
                    </a:p>
                  </a:txBody>
                  <a:tcPr marL="36195" marR="0" marT="99694" marB="99694"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en-US" altLang="zh-CN" sz="1800" b="0" u="none">
                          <a:latin typeface="Consolas" panose="020B0609020204030204" charset="0"/>
                          <a:ea typeface="宋体" panose="02010600030101010101" pitchFamily="2" charset="-122"/>
                          <a:cs typeface="Consolas" panose="020B0609020204030204" charset="0"/>
                        </a:rPr>
                        <a:t>\xhh</a:t>
                      </a:r>
                      <a:endParaRPr lang="en-US" altLang="zh-CN" sz="1800" b="0" u="none">
                        <a:latin typeface="Consolas" panose="020B0609020204030204" charset="0"/>
                        <a:ea typeface="宋体" panose="02010600030101010101" pitchFamily="2" charset="-122"/>
                        <a:cs typeface="Consolas" panose="020B0609020204030204" charset="0"/>
                      </a:endParaRPr>
                    </a:p>
                  </a:txBody>
                  <a:tcPr marL="36195" marR="0" marT="99694" marB="99694"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en-US" altLang="zh-CN" sz="1800" b="0" u="none">
                          <a:latin typeface="Consolas" panose="020B0609020204030204" charset="0"/>
                          <a:ea typeface="宋体" panose="02010600030101010101" pitchFamily="2" charset="-122"/>
                          <a:cs typeface="Consolas" panose="020B0609020204030204" charset="0"/>
                        </a:rPr>
                        <a:t>2</a:t>
                      </a:r>
                      <a:r>
                        <a:rPr lang="zh-CN" altLang="en-US" sz="1800" b="0" u="none">
                          <a:latin typeface="Consolas" panose="020B0609020204030204" charset="0"/>
                          <a:ea typeface="宋体" panose="02010600030101010101" pitchFamily="2" charset="-122"/>
                          <a:cs typeface="Consolas" panose="020B0609020204030204" charset="0"/>
                        </a:rPr>
                        <a:t>位十六进制数对应的字符</a:t>
                      </a:r>
                      <a:endParaRPr lang="en-US" sz="1800" b="0" u="none">
                        <a:latin typeface="Consolas" panose="020B0609020204030204" charset="0"/>
                        <a:ea typeface="宋体" panose="02010600030101010101" pitchFamily="2" charset="-122"/>
                        <a:cs typeface="Consolas" panose="020B0609020204030204" charset="0"/>
                      </a:endParaRPr>
                    </a:p>
                  </a:txBody>
                  <a:tcPr marL="36195" marR="0" marT="99694" marB="99694"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74980">
                <a:tc>
                  <a:txBody>
                    <a:bodyPr/>
                    <a:p>
                      <a:pPr marL="0" indent="0" algn="l">
                        <a:buNone/>
                      </a:pPr>
                      <a:r>
                        <a:rPr lang="en-US" altLang="zh-CN" sz="1800" b="0" u="none">
                          <a:latin typeface="Consolas" panose="020B0609020204030204" charset="0"/>
                          <a:ea typeface="宋体" panose="02010600030101010101" pitchFamily="2" charset="-122"/>
                          <a:cs typeface="Consolas" panose="020B0609020204030204" charset="0"/>
                        </a:rPr>
                        <a:t>\v</a:t>
                      </a:r>
                      <a:endParaRPr lang="en-US" altLang="zh-CN" sz="1800" b="0" u="none">
                        <a:latin typeface="Consolas" panose="020B0609020204030204" charset="0"/>
                        <a:ea typeface="宋体" panose="02010600030101010101" pitchFamily="2" charset="-122"/>
                        <a:cs typeface="Consolas" panose="020B0609020204030204" charset="0"/>
                      </a:endParaRPr>
                    </a:p>
                  </a:txBody>
                  <a:tcPr marL="36195" marR="0" marT="99694" marB="99694"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800" b="0" u="none">
                          <a:latin typeface="Consolas" panose="020B0609020204030204" charset="0"/>
                          <a:ea typeface="宋体" panose="02010600030101010101" pitchFamily="2" charset="-122"/>
                          <a:cs typeface="宋体" panose="02010600030101010101" pitchFamily="2" charset="-122"/>
                        </a:rPr>
                        <a:t>垂直制表符</a:t>
                      </a:r>
                      <a:endParaRPr lang="zh-CN" altLang="en-US" sz="1800" b="0" u="none">
                        <a:latin typeface="Consolas" panose="020B0609020204030204" charset="0"/>
                        <a:ea typeface="宋体" panose="02010600030101010101" pitchFamily="2" charset="-122"/>
                        <a:cs typeface="宋体" panose="02010600030101010101" pitchFamily="2" charset="-122"/>
                      </a:endParaRPr>
                    </a:p>
                  </a:txBody>
                  <a:tcPr marL="36195" marR="0" marT="99694" marB="99694"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en-US" altLang="zh-CN" sz="1800" b="0" u="none">
                          <a:latin typeface="Consolas" panose="020B0609020204030204" charset="0"/>
                          <a:ea typeface="宋体" panose="02010600030101010101" pitchFamily="2" charset="-122"/>
                          <a:cs typeface="Consolas" panose="020B0609020204030204" charset="0"/>
                        </a:rPr>
                        <a:t>\uhhhh</a:t>
                      </a:r>
                      <a:endParaRPr lang="en-US" altLang="zh-CN" sz="1800" b="0" u="none">
                        <a:latin typeface="Consolas" panose="020B0609020204030204" charset="0"/>
                        <a:ea typeface="宋体" panose="02010600030101010101" pitchFamily="2" charset="-122"/>
                        <a:cs typeface="Consolas" panose="020B0609020204030204" charset="0"/>
                      </a:endParaRPr>
                    </a:p>
                  </a:txBody>
                  <a:tcPr marL="36195" marR="0" marT="99694" marB="99694"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en-US" altLang="zh-CN" sz="1800" b="0" u="none">
                          <a:latin typeface="Consolas" panose="020B0609020204030204" charset="0"/>
                          <a:ea typeface="宋体" panose="02010600030101010101" pitchFamily="2" charset="-122"/>
                          <a:cs typeface="Consolas" panose="020B0609020204030204" charset="0"/>
                        </a:rPr>
                        <a:t>4</a:t>
                      </a:r>
                      <a:r>
                        <a:rPr lang="zh-CN" altLang="en-US" sz="1800" b="0" u="none">
                          <a:latin typeface="Consolas" panose="020B0609020204030204" charset="0"/>
                          <a:ea typeface="宋体" panose="02010600030101010101" pitchFamily="2" charset="-122"/>
                          <a:cs typeface="Consolas" panose="020B0609020204030204" charset="0"/>
                        </a:rPr>
                        <a:t>位十六进制数表示的</a:t>
                      </a:r>
                      <a:r>
                        <a:rPr lang="en-US" altLang="zh-CN" sz="1800" b="0" u="none">
                          <a:latin typeface="Consolas" panose="020B0609020204030204" charset="0"/>
                          <a:ea typeface="宋体" panose="02010600030101010101" pitchFamily="2" charset="-122"/>
                          <a:cs typeface="Consolas" panose="020B0609020204030204" charset="0"/>
                        </a:rPr>
                        <a:t>Unicode</a:t>
                      </a:r>
                      <a:r>
                        <a:rPr lang="zh-CN" altLang="en-US" sz="1800" b="0" u="none">
                          <a:latin typeface="Consolas" panose="020B0609020204030204" charset="0"/>
                          <a:ea typeface="宋体" panose="02010600030101010101" pitchFamily="2" charset="-122"/>
                          <a:cs typeface="Consolas" panose="020B0609020204030204" charset="0"/>
                        </a:rPr>
                        <a:t>字符</a:t>
                      </a:r>
                      <a:endParaRPr lang="en-US" sz="1800" b="0" u="none">
                        <a:latin typeface="Consolas" panose="020B0609020204030204" charset="0"/>
                        <a:ea typeface="宋体" panose="02010600030101010101" pitchFamily="2" charset="-122"/>
                        <a:cs typeface="Consolas" panose="020B0609020204030204" charset="0"/>
                      </a:endParaRPr>
                    </a:p>
                  </a:txBody>
                  <a:tcPr marL="36195" marR="0" marT="99694" marB="99694"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74980">
                <a:tc>
                  <a:txBody>
                    <a:bodyPr/>
                    <a:p>
                      <a:pPr marL="0" indent="0" algn="l">
                        <a:buNone/>
                      </a:pPr>
                      <a:r>
                        <a:rPr lang="en-US" altLang="zh-CN" sz="1800" b="0" u="none">
                          <a:latin typeface="Consolas" panose="020B0609020204030204" charset="0"/>
                          <a:ea typeface="宋体" panose="02010600030101010101" pitchFamily="2" charset="-122"/>
                          <a:cs typeface="Consolas" panose="020B0609020204030204" charset="0"/>
                        </a:rPr>
                        <a:t>\Uxxxxxxxx</a:t>
                      </a:r>
                      <a:endParaRPr lang="en-US" altLang="zh-CN" sz="1800" b="0" u="none">
                        <a:latin typeface="Consolas" panose="020B0609020204030204" charset="0"/>
                        <a:ea typeface="宋体" panose="02010600030101010101" pitchFamily="2" charset="-122"/>
                        <a:cs typeface="Consolas" panose="020B0609020204030204" charset="0"/>
                      </a:endParaRPr>
                    </a:p>
                  </a:txBody>
                  <a:tcPr marL="36195" marR="0" marT="99694" marB="99694"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en-US" altLang="zh-CN" sz="1800" b="0" u="none">
                          <a:latin typeface="Consolas" panose="020B0609020204030204" charset="0"/>
                          <a:ea typeface="宋体" panose="02010600030101010101" pitchFamily="2" charset="-122"/>
                          <a:cs typeface="Consolas" panose="020B0609020204030204" charset="0"/>
                        </a:rPr>
                        <a:t>8</a:t>
                      </a:r>
                      <a:r>
                        <a:rPr lang="zh-CN" altLang="en-US" sz="1800" b="0" u="none">
                          <a:latin typeface="Consolas" panose="020B0609020204030204" charset="0"/>
                          <a:ea typeface="宋体" panose="02010600030101010101" pitchFamily="2" charset="-122"/>
                          <a:cs typeface="Consolas" panose="020B0609020204030204" charset="0"/>
                        </a:rPr>
                        <a:t>位十六进制数表示的</a:t>
                      </a:r>
                      <a:r>
                        <a:rPr lang="en-US" altLang="zh-CN" sz="1800" b="0" u="none">
                          <a:latin typeface="Consolas" panose="020B0609020204030204" charset="0"/>
                          <a:ea typeface="宋体" panose="02010600030101010101" pitchFamily="2" charset="-122"/>
                          <a:cs typeface="Consolas" panose="020B0609020204030204" charset="0"/>
                        </a:rPr>
                        <a:t>Unicode</a:t>
                      </a:r>
                      <a:r>
                        <a:rPr lang="zh-CN" altLang="en-US" sz="1800" b="0" u="none">
                          <a:latin typeface="Consolas" panose="020B0609020204030204" charset="0"/>
                          <a:ea typeface="宋体" panose="02010600030101010101" pitchFamily="2" charset="-122"/>
                          <a:cs typeface="Consolas" panose="020B0609020204030204" charset="0"/>
                        </a:rPr>
                        <a:t>字符</a:t>
                      </a:r>
                      <a:endParaRPr lang="zh-CN" altLang="en-US" sz="1800" b="0" u="none">
                        <a:latin typeface="Consolas" panose="020B0609020204030204" charset="0"/>
                        <a:ea typeface="宋体" panose="02010600030101010101" pitchFamily="2" charset="-122"/>
                        <a:cs typeface="Consolas" panose="020B0609020204030204" charset="0"/>
                      </a:endParaRPr>
                    </a:p>
                  </a:txBody>
                  <a:tcPr marL="36195" marR="0" marT="99694" marB="99694"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endParaRPr lang="en-US" altLang="zh-CN" sz="1800" b="0" u="none">
                        <a:latin typeface="Consolas" panose="020B0609020204030204" charset="0"/>
                        <a:ea typeface="宋体" panose="02010600030101010101" pitchFamily="2" charset="-122"/>
                        <a:cs typeface="Consolas" panose="020B0609020204030204" charset="0"/>
                      </a:endParaRPr>
                    </a:p>
                  </a:txBody>
                  <a:tcPr marL="36195" marR="0" marT="99694" marB="99694"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endParaRPr lang="en-US" altLang="en-US" sz="1800" b="0" u="none">
                        <a:latin typeface="Consolas" panose="020B0609020204030204" charset="0"/>
                        <a:ea typeface="宋体" panose="02010600030101010101" pitchFamily="2" charset="-122"/>
                        <a:cs typeface="Consolas" panose="020B0609020204030204" charset="0"/>
                      </a:endParaRPr>
                    </a:p>
                  </a:txBody>
                  <a:tcPr marL="36195" marR="0" marT="99694" marB="99694"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7.2  </a:t>
            </a:r>
            <a:r>
              <a:rPr lang="zh-CN" altLang="en-US">
                <a:sym typeface="+mn-ea"/>
              </a:rPr>
              <a:t>转义字符与原始字符串</a:t>
            </a:r>
            <a:endParaRPr lang="zh-CN" altLang="en-US"/>
          </a:p>
        </p:txBody>
      </p:sp>
      <p:sp>
        <p:nvSpPr>
          <p:cNvPr id="3" name="内容占位符 2"/>
          <p:cNvSpPr>
            <a:spLocks noGrp="1"/>
          </p:cNvSpPr>
          <p:nvPr>
            <p:ph idx="1"/>
          </p:nvPr>
        </p:nvSpPr>
        <p:spPr/>
        <p:txBody>
          <a:bodyPr>
            <a:normAutofit lnSpcReduction="20000"/>
          </a:bodyPr>
          <a:p>
            <a:pPr>
              <a:buFont typeface="Wingdings" panose="05000000000000000000" charset="0"/>
              <a:buChar char="v"/>
            </a:pPr>
            <a:r>
              <a:rPr lang="zh-CN" altLang="en-US" sz="2400">
                <a:sym typeface="+mn-ea"/>
              </a:rPr>
              <a:t>转义字符用法</a:t>
            </a:r>
            <a:endParaRPr lang="zh-CN" altLang="en-US" sz="2400"/>
          </a:p>
          <a:p>
            <a:pPr>
              <a:buNone/>
            </a:pPr>
            <a:r>
              <a:rPr lang="zh-CN" altLang="en-US" sz="2000">
                <a:latin typeface="Consolas" panose="020B0609020204030204" charset="0"/>
                <a:sym typeface="+mn-ea"/>
              </a:rPr>
              <a:t>&gt;&gt;&gt; print('Hello\nWorld')</a:t>
            </a:r>
            <a:r>
              <a:rPr lang="en-US" sz="2000">
                <a:latin typeface="Consolas" panose="020B0609020204030204" charset="0"/>
                <a:sym typeface="+mn-ea"/>
              </a:rPr>
              <a:t>			</a:t>
            </a:r>
            <a:r>
              <a:rPr lang="zh-CN" altLang="en-US" sz="2000">
                <a:latin typeface="Consolas" panose="020B0609020204030204" charset="0"/>
                <a:sym typeface="+mn-ea"/>
              </a:rPr>
              <a:t># </a:t>
            </a:r>
            <a:r>
              <a:rPr lang="en-US" altLang="zh-CN" sz="2000">
                <a:latin typeface="Consolas" panose="020B0609020204030204" charset="0"/>
                <a:sym typeface="+mn-ea"/>
              </a:rPr>
              <a:t>\n</a:t>
            </a:r>
            <a:r>
              <a:rPr lang="zh-CN" altLang="en-US" sz="2000">
                <a:latin typeface="Consolas" panose="020B0609020204030204" charset="0"/>
                <a:sym typeface="+mn-ea"/>
              </a:rPr>
              <a:t>表示换行符</a:t>
            </a:r>
            <a:endParaRPr lang="zh-CN" altLang="en-US" sz="2000">
              <a:latin typeface="Consolas" panose="020B0609020204030204" charset="0"/>
            </a:endParaRPr>
          </a:p>
          <a:p>
            <a:pPr>
              <a:buNone/>
            </a:pPr>
            <a:r>
              <a:rPr lang="zh-CN" altLang="en-US" sz="2000">
                <a:solidFill>
                  <a:srgbClr val="00B0F0"/>
                </a:solidFill>
                <a:latin typeface="Consolas" panose="020B0609020204030204" charset="0"/>
                <a:sym typeface="+mn-ea"/>
              </a:rPr>
              <a:t>Hello</a:t>
            </a:r>
            <a:endParaRPr lang="zh-CN" altLang="en-US" sz="2000">
              <a:solidFill>
                <a:srgbClr val="00B0F0"/>
              </a:solidFill>
              <a:latin typeface="Consolas" panose="020B0609020204030204" charset="0"/>
            </a:endParaRPr>
          </a:p>
          <a:p>
            <a:pPr>
              <a:buNone/>
            </a:pPr>
            <a:r>
              <a:rPr lang="zh-CN" altLang="en-US" sz="2000">
                <a:solidFill>
                  <a:srgbClr val="00B0F0"/>
                </a:solidFill>
                <a:latin typeface="Consolas" panose="020B0609020204030204" charset="0"/>
                <a:sym typeface="+mn-ea"/>
              </a:rPr>
              <a:t>World</a:t>
            </a:r>
            <a:endParaRPr lang="zh-CN" altLang="en-US" sz="2000">
              <a:solidFill>
                <a:srgbClr val="00B0F0"/>
              </a:solidFill>
              <a:latin typeface="Consolas" panose="020B0609020204030204" charset="0"/>
            </a:endParaRPr>
          </a:p>
          <a:p>
            <a:pPr>
              <a:buNone/>
            </a:pPr>
            <a:r>
              <a:rPr lang="zh-CN" altLang="en-US" sz="2000">
                <a:latin typeface="Consolas" panose="020B0609020204030204" charset="0"/>
                <a:sym typeface="+mn-ea"/>
              </a:rPr>
              <a:t>&gt;&gt;&gt; print('\101')</a:t>
            </a:r>
            <a:r>
              <a:rPr lang="en-US" sz="2000">
                <a:latin typeface="Consolas" panose="020B0609020204030204" charset="0"/>
                <a:sym typeface="+mn-ea"/>
              </a:rPr>
              <a:t>				</a:t>
            </a:r>
            <a:r>
              <a:rPr lang="zh-CN" altLang="en-US" sz="2000">
                <a:latin typeface="Consolas" panose="020B0609020204030204" charset="0"/>
                <a:sym typeface="+mn-ea"/>
              </a:rPr>
              <a:t># 三位八进制数对应的字符</a:t>
            </a:r>
            <a:endParaRPr lang="zh-CN" altLang="en-US" sz="2000">
              <a:latin typeface="Consolas" panose="020B0609020204030204" charset="0"/>
            </a:endParaRPr>
          </a:p>
          <a:p>
            <a:pPr>
              <a:buNone/>
            </a:pPr>
            <a:r>
              <a:rPr lang="zh-CN" altLang="en-US" sz="2000">
                <a:solidFill>
                  <a:srgbClr val="00B0F0"/>
                </a:solidFill>
                <a:latin typeface="Consolas" panose="020B0609020204030204" charset="0"/>
                <a:sym typeface="+mn-ea"/>
              </a:rPr>
              <a:t>A</a:t>
            </a:r>
            <a:endParaRPr lang="zh-CN" altLang="en-US" sz="2000">
              <a:solidFill>
                <a:srgbClr val="00B0F0"/>
              </a:solidFill>
              <a:latin typeface="Consolas" panose="020B0609020204030204" charset="0"/>
            </a:endParaRPr>
          </a:p>
          <a:p>
            <a:pPr>
              <a:buNone/>
            </a:pPr>
            <a:r>
              <a:rPr lang="zh-CN" altLang="en-US" sz="2000">
                <a:latin typeface="Consolas" panose="020B0609020204030204" charset="0"/>
                <a:sym typeface="+mn-ea"/>
              </a:rPr>
              <a:t>&gt;&gt;&gt; print('\x41')</a:t>
            </a:r>
            <a:r>
              <a:rPr lang="en-US" sz="2000">
                <a:latin typeface="Consolas" panose="020B0609020204030204" charset="0"/>
                <a:sym typeface="+mn-ea"/>
              </a:rPr>
              <a:t>				</a:t>
            </a:r>
            <a:r>
              <a:rPr lang="zh-CN" altLang="en-US" sz="2000">
                <a:latin typeface="Consolas" panose="020B0609020204030204" charset="0"/>
                <a:sym typeface="+mn-ea"/>
              </a:rPr>
              <a:t># 两位十六进制数对应的字符</a:t>
            </a:r>
            <a:endParaRPr lang="zh-CN" altLang="en-US" sz="2000">
              <a:latin typeface="Consolas" panose="020B0609020204030204" charset="0"/>
            </a:endParaRPr>
          </a:p>
          <a:p>
            <a:pPr>
              <a:buNone/>
            </a:pPr>
            <a:r>
              <a:rPr lang="zh-CN" altLang="en-US" sz="2000">
                <a:solidFill>
                  <a:srgbClr val="00B0F0"/>
                </a:solidFill>
                <a:latin typeface="Consolas" panose="020B0609020204030204" charset="0"/>
                <a:sym typeface="+mn-ea"/>
              </a:rPr>
              <a:t>A</a:t>
            </a:r>
            <a:endParaRPr lang="zh-CN" altLang="en-US" sz="2000">
              <a:solidFill>
                <a:srgbClr val="00B0F0"/>
              </a:solidFill>
              <a:latin typeface="Consolas" panose="020B0609020204030204" charset="0"/>
            </a:endParaRPr>
          </a:p>
          <a:p>
            <a:pPr>
              <a:buNone/>
            </a:pPr>
            <a:r>
              <a:rPr lang="zh-CN" altLang="en-US" sz="2000">
                <a:latin typeface="Consolas" panose="020B0609020204030204" charset="0"/>
                <a:sym typeface="+mn-ea"/>
              </a:rPr>
              <a:t>&gt;&gt;&gt; print('我是\u8463\u4ed8\u56fd')</a:t>
            </a:r>
            <a:r>
              <a:rPr lang="en-US" altLang="zh-CN" sz="2000">
                <a:latin typeface="Consolas" panose="020B0609020204030204" charset="0"/>
                <a:sym typeface="+mn-ea"/>
              </a:rPr>
              <a:t>	</a:t>
            </a:r>
            <a:r>
              <a:rPr lang="zh-CN" altLang="en-US" sz="2000">
                <a:latin typeface="Consolas" panose="020B0609020204030204" charset="0"/>
                <a:sym typeface="+mn-ea"/>
              </a:rPr>
              <a:t># 四位十六进制数表示Unicode字符</a:t>
            </a:r>
            <a:endParaRPr lang="zh-CN" altLang="en-US" sz="2000">
              <a:latin typeface="Consolas" panose="020B0609020204030204" charset="0"/>
            </a:endParaRPr>
          </a:p>
          <a:p>
            <a:pPr>
              <a:buNone/>
            </a:pPr>
            <a:r>
              <a:rPr lang="zh-CN" altLang="en-US" sz="2000">
                <a:solidFill>
                  <a:srgbClr val="00B0F0"/>
                </a:solidFill>
                <a:latin typeface="Consolas" panose="020B0609020204030204" charset="0"/>
                <a:sym typeface="+mn-ea"/>
              </a:rPr>
              <a:t>我是董付国</a:t>
            </a:r>
            <a:endParaRPr lang="zh-CN" altLang="en-US" sz="2000">
              <a:solidFill>
                <a:srgbClr val="00B0F0"/>
              </a:solidFill>
              <a:latin typeface="Consolas" panose="020B0609020204030204" charset="0"/>
              <a:sym typeface="+mn-ea"/>
            </a:endParaRPr>
          </a:p>
          <a:p>
            <a:pPr>
              <a:buNone/>
            </a:pPr>
            <a:r>
              <a:rPr lang="zh-CN" altLang="en-US" sz="2000">
                <a:latin typeface="Consolas" panose="020B0609020204030204" charset="0"/>
              </a:rPr>
              <a:t>&gt;&gt;&gt; print('Python\tGo\tPHP\tJulia')</a:t>
            </a:r>
            <a:r>
              <a:rPr lang="en-US" altLang="zh-CN" sz="2000">
                <a:latin typeface="Consolas" panose="020B0609020204030204" charset="0"/>
              </a:rPr>
              <a:t>	</a:t>
            </a:r>
            <a:r>
              <a:rPr lang="en-US" altLang="zh-CN" sz="2000">
                <a:latin typeface="Consolas" panose="020B0609020204030204" charset="0"/>
              </a:rPr>
              <a:t># \t</a:t>
            </a:r>
            <a:r>
              <a:rPr lang="zh-CN" altLang="en-US" sz="2000">
                <a:latin typeface="Consolas" panose="020B0609020204030204" charset="0"/>
              </a:rPr>
              <a:t>表示一个</a:t>
            </a:r>
            <a:r>
              <a:rPr lang="zh-CN" altLang="en-US" sz="2000">
                <a:latin typeface="Consolas" panose="020B0609020204030204" charset="0"/>
              </a:rPr>
              <a:t>制表位</a:t>
            </a:r>
            <a:endParaRPr lang="zh-CN" altLang="en-US" sz="2000">
              <a:latin typeface="Consolas" panose="020B0609020204030204" charset="0"/>
            </a:endParaRPr>
          </a:p>
          <a:p>
            <a:pPr>
              <a:buNone/>
            </a:pPr>
            <a:r>
              <a:rPr lang="zh-CN" altLang="en-US" sz="2000">
                <a:solidFill>
                  <a:srgbClr val="00B0F0"/>
                </a:solidFill>
                <a:latin typeface="Consolas" panose="020B0609020204030204" charset="0"/>
              </a:rPr>
              <a:t>Python	Go	PHP	Julia</a:t>
            </a:r>
            <a:endParaRPr lang="zh-CN" altLang="en-US" sz="2000">
              <a:solidFill>
                <a:srgbClr val="00B0F0"/>
              </a:solidFill>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7.2  </a:t>
            </a:r>
            <a:r>
              <a:rPr lang="zh-CN" altLang="en-US">
                <a:sym typeface="+mn-ea"/>
              </a:rPr>
              <a:t>转义字符与原始字符串</a:t>
            </a:r>
            <a:endParaRPr lang="zh-CN" altLang="en-US"/>
          </a:p>
        </p:txBody>
      </p:sp>
      <p:sp>
        <p:nvSpPr>
          <p:cNvPr id="3" name="内容占位符 2"/>
          <p:cNvSpPr>
            <a:spLocks noGrp="1"/>
          </p:cNvSpPr>
          <p:nvPr>
            <p:ph idx="1"/>
          </p:nvPr>
        </p:nvSpPr>
        <p:spPr/>
        <p:txBody>
          <a:bodyPr>
            <a:normAutofit/>
          </a:bodyPr>
          <a:p>
            <a:pPr fontAlgn="auto">
              <a:lnSpc>
                <a:spcPct val="130000"/>
              </a:lnSpc>
              <a:spcBef>
                <a:spcPts val="600"/>
              </a:spcBef>
              <a:buFont typeface="Arial" panose="020B0604020202020204" pitchFamily="34" charset="0"/>
              <a:buChar char="•"/>
            </a:pPr>
            <a:r>
              <a:rPr lang="zh-CN" altLang="en-US" sz="2400"/>
              <a:t>为了避免对字符串中的转义字符进行转义，可以使用原始字符串，在字符串前面加上字母r或R表示原始字符串，其中的</a:t>
            </a:r>
            <a:r>
              <a:rPr lang="zh-CN" altLang="en-US" sz="2400">
                <a:solidFill>
                  <a:srgbClr val="FF0000"/>
                </a:solidFill>
              </a:rPr>
              <a:t>所有字符都表示原始的字面含义而不会进行任何转义</a:t>
            </a:r>
            <a:r>
              <a:rPr lang="zh-CN" altLang="en-US" sz="2400"/>
              <a:t>，常用于文件路径、URL</a:t>
            </a:r>
            <a:r>
              <a:rPr lang="zh-CN" altLang="en-US" sz="2400"/>
              <a:t>或正则表达式等场合。</a:t>
            </a:r>
            <a:endParaRPr lang="zh-CN" altLang="en-US" sz="2400"/>
          </a:p>
          <a:p>
            <a:pPr marL="0" indent="0" fontAlgn="auto">
              <a:lnSpc>
                <a:spcPct val="100000"/>
              </a:lnSpc>
              <a:spcBef>
                <a:spcPts val="0"/>
              </a:spcBef>
              <a:buNone/>
            </a:pPr>
            <a:r>
              <a:rPr lang="zh-CN" altLang="en-US" sz="2000">
                <a:latin typeface="Consolas" panose="020B0609020204030204" charset="0"/>
              </a:rPr>
              <a:t>&gt;&gt;&gt; path = 'C:\Windows\notepad.exe'</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print(path)                       # 字符\n被转义为换行符</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C:\Windows</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otepad.exe</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path = r'C:\Windows\notepad.exe'  # 原始字符串，任何字符都不转义</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print(path)</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C:\Windows\notepad.exe</a:t>
            </a:r>
            <a:endParaRPr lang="zh-CN" altLang="en-US" sz="2000">
              <a:solidFill>
                <a:srgbClr val="00B0F0"/>
              </a:solidFill>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7.2  </a:t>
            </a:r>
            <a:r>
              <a:rPr lang="zh-CN" altLang="en-US">
                <a:sym typeface="+mn-ea"/>
              </a:rPr>
              <a:t>转义字符与原始字符串</a:t>
            </a:r>
            <a:endParaRPr lang="zh-CN" altLang="en-US"/>
          </a:p>
        </p:txBody>
      </p:sp>
      <p:sp>
        <p:nvSpPr>
          <p:cNvPr id="3" name="内容占位符 2"/>
          <p:cNvSpPr>
            <a:spLocks noGrp="1"/>
          </p:cNvSpPr>
          <p:nvPr>
            <p:ph idx="1"/>
          </p:nvPr>
        </p:nvSpPr>
        <p:spPr/>
        <p:txBody>
          <a:bodyPr/>
          <a:p>
            <a:pPr>
              <a:lnSpc>
                <a:spcPct val="120000"/>
              </a:lnSpc>
            </a:pPr>
            <a:r>
              <a:rPr lang="en-US" altLang="zh-CN" sz="2400"/>
              <a:t>f-</a:t>
            </a:r>
            <a:r>
              <a:rPr lang="zh-CN" altLang="en-US" sz="2400"/>
              <a:t>字符串和原始字符串可以同时使用，在字符串定界符前面可以同时加字母</a:t>
            </a:r>
            <a:r>
              <a:rPr lang="en-US" altLang="zh-CN" sz="2400"/>
              <a:t>r</a:t>
            </a:r>
            <a:r>
              <a:rPr lang="zh-CN" altLang="en-US" sz="2400"/>
              <a:t>和</a:t>
            </a:r>
            <a:r>
              <a:rPr lang="en-US" altLang="zh-CN" sz="2400"/>
              <a:t>f</a:t>
            </a:r>
            <a:r>
              <a:rPr lang="zh-CN" altLang="en-US" sz="2400"/>
              <a:t>，位置和大小写没有限制。</a:t>
            </a:r>
            <a:endParaRPr lang="zh-CN" altLang="en-US" sz="2400"/>
          </a:p>
          <a:p>
            <a:pPr marL="0" indent="0" fontAlgn="auto">
              <a:lnSpc>
                <a:spcPct val="100000"/>
              </a:lnSpc>
              <a:spcBef>
                <a:spcPts val="0"/>
              </a:spcBef>
              <a:buNone/>
            </a:pPr>
            <a:r>
              <a:rPr lang="zh-CN" altLang="en-US" sz="2000">
                <a:latin typeface="Consolas" panose="020B0609020204030204" charset="0"/>
                <a:cs typeface="Consolas" panose="020B0609020204030204" charset="0"/>
              </a:rPr>
              <a:t>&gt;&gt;&gt; directory = 'child'</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&gt;&gt;&gt; filename = 'test.txt'</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&gt;&gt;&gt; fr'{directory}\{filename}'</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cs typeface="Consolas" panose="020B0609020204030204" charset="0"/>
              </a:rPr>
              <a:t>'child\\test.txt'</a:t>
            </a:r>
            <a:endParaRPr lang="zh-CN" altLang="en-US" sz="2000">
              <a:solidFill>
                <a:srgbClr val="00B0F0"/>
              </a:solidFill>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&gt;&gt;&gt; print(fr'{directory}\{filename}')</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cs typeface="Consolas" panose="020B0609020204030204" charset="0"/>
              </a:rPr>
              <a:t>child\test.txt</a:t>
            </a:r>
            <a:endParaRPr lang="zh-CN" altLang="en-US" sz="2000">
              <a:solidFill>
                <a:srgbClr val="00B0F0"/>
              </a:solidFill>
              <a:latin typeface="Consolas" panose="020B0609020204030204" charset="0"/>
              <a:cs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7.3  </a:t>
            </a:r>
            <a:r>
              <a:rPr lang="zh-CN" altLang="en-US"/>
              <a:t>字符串格式化</a:t>
            </a:r>
            <a:endParaRPr lang="zh-CN" altLang="en-US"/>
          </a:p>
        </p:txBody>
      </p:sp>
      <p:sp>
        <p:nvSpPr>
          <p:cNvPr id="3" name="内容占位符 2"/>
          <p:cNvSpPr>
            <a:spLocks noGrp="1"/>
          </p:cNvSpPr>
          <p:nvPr>
            <p:ph idx="1"/>
          </p:nvPr>
        </p:nvSpPr>
        <p:spPr/>
        <p:txBody>
          <a:bodyPr/>
          <a:p>
            <a:r>
              <a:rPr lang="en-US" altLang="zh-CN" sz="2400"/>
              <a:t>7.3.1  </a:t>
            </a:r>
            <a:r>
              <a:rPr lang="zh-CN" altLang="en-US" sz="2400"/>
              <a:t>使用</a:t>
            </a:r>
            <a:r>
              <a:rPr lang="en-US" altLang="zh-CN" sz="2400"/>
              <a:t>%</a:t>
            </a:r>
            <a:r>
              <a:rPr lang="zh-CN" altLang="en-US" sz="2400"/>
              <a:t>运算符进行格式化</a:t>
            </a:r>
            <a:endParaRPr lang="zh-CN" altLang="en-US" sz="2400"/>
          </a:p>
          <a:p>
            <a:r>
              <a:rPr lang="en-US" altLang="zh-CN" sz="2400"/>
              <a:t>7.3.2  </a:t>
            </a:r>
            <a:r>
              <a:rPr lang="zh-CN" altLang="en-US" sz="2400"/>
              <a:t>使用</a:t>
            </a:r>
            <a:r>
              <a:rPr lang="en-US" altLang="zh-CN" sz="2400"/>
              <a:t>format</a:t>
            </a:r>
            <a:r>
              <a:rPr lang="zh-CN" altLang="en-US" sz="2400"/>
              <a:t>方法进行格式化</a:t>
            </a:r>
            <a:endParaRPr lang="zh-CN" altLang="en-US" sz="2400"/>
          </a:p>
          <a:p>
            <a:r>
              <a:rPr lang="en-US" altLang="zh-CN" sz="2400"/>
              <a:t>7.3.3  </a:t>
            </a:r>
            <a:r>
              <a:rPr lang="zh-CN" altLang="en-US" sz="2400"/>
              <a:t>格式化的字符串常量</a:t>
            </a:r>
            <a:endParaRPr lang="zh-CN" altLang="en-US" sz="2400"/>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7.3.1  </a:t>
            </a:r>
            <a:r>
              <a:rPr lang="zh-CN" altLang="en-US"/>
              <a:t>使用</a:t>
            </a:r>
            <a:r>
              <a:rPr lang="en-US" altLang="zh-CN"/>
              <a:t>%</a:t>
            </a:r>
            <a:r>
              <a:rPr lang="zh-CN" altLang="en-US"/>
              <a:t>运算符进行格式化</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graphicFrame>
        <p:nvGraphicFramePr>
          <p:cNvPr id="29698" name="对象 3"/>
          <p:cNvGraphicFramePr/>
          <p:nvPr/>
        </p:nvGraphicFramePr>
        <p:xfrm>
          <a:off x="1036320" y="1431925"/>
          <a:ext cx="6790690" cy="3834765"/>
        </p:xfrm>
        <a:graphic>
          <a:graphicData uri="http://schemas.openxmlformats.org/presentationml/2006/ole">
            <mc:AlternateContent xmlns:mc="http://schemas.openxmlformats.org/markup-compatibility/2006">
              <mc:Choice xmlns:v="urn:schemas-microsoft-com:vml" Requires="v">
                <p:oleObj spid="_x0000_s3076" name="" r:id="rId1" imgW="4953000" imgH="2238375" progId="Paint.Picture">
                  <p:embed/>
                </p:oleObj>
              </mc:Choice>
              <mc:Fallback>
                <p:oleObj name="" r:id="rId1" imgW="4953000" imgH="2238375" progId="Paint.Picture">
                  <p:embed/>
                  <p:pic>
                    <p:nvPicPr>
                      <p:cNvPr id="0" name="图片 3075"/>
                      <p:cNvPicPr/>
                      <p:nvPr/>
                    </p:nvPicPr>
                    <p:blipFill>
                      <a:blip r:embed="rId2"/>
                      <a:stretch>
                        <a:fillRect/>
                      </a:stretch>
                    </p:blipFill>
                    <p:spPr>
                      <a:xfrm>
                        <a:off x="1036320" y="1431925"/>
                        <a:ext cx="6790690" cy="3834765"/>
                      </a:xfrm>
                      <a:prstGeom prst="rect">
                        <a:avLst/>
                      </a:prstGeom>
                      <a:noFill/>
                      <a:ln w="38100">
                        <a:noFill/>
                        <a:miter/>
                      </a:ln>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7.3.1  </a:t>
            </a:r>
            <a:r>
              <a:rPr lang="zh-CN" altLang="en-US">
                <a:sym typeface="+mn-ea"/>
              </a:rPr>
              <a:t>使用</a:t>
            </a:r>
            <a:r>
              <a:rPr lang="en-US" altLang="zh-CN">
                <a:sym typeface="+mn-ea"/>
              </a:rPr>
              <a:t>%</a:t>
            </a:r>
            <a:r>
              <a:rPr lang="zh-CN" altLang="en-US">
                <a:sym typeface="+mn-ea"/>
              </a:rPr>
              <a:t>运算符进行格式化</a:t>
            </a:r>
            <a:endParaRPr lang="zh-CN" altLang="en-US"/>
          </a:p>
        </p:txBody>
      </p:sp>
      <p:sp>
        <p:nvSpPr>
          <p:cNvPr id="3" name="内容占位符 2"/>
          <p:cNvSpPr>
            <a:spLocks noGrp="1"/>
          </p:cNvSpPr>
          <p:nvPr>
            <p:ph idx="1"/>
          </p:nvPr>
        </p:nvSpPr>
        <p:spPr/>
        <p:txBody>
          <a:bodyPr/>
          <a:p>
            <a:r>
              <a:rPr lang="zh-CN" altLang="en-US" sz="2400"/>
              <a:t>常用格式字符</a:t>
            </a:r>
            <a:endParaRPr lang="zh-CN" altLang="en-US" sz="2400"/>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graphicFrame>
        <p:nvGraphicFramePr>
          <p:cNvPr id="5" name="表格 4"/>
          <p:cNvGraphicFramePr/>
          <p:nvPr>
            <p:custDataLst>
              <p:tags r:id="rId1"/>
            </p:custDataLst>
          </p:nvPr>
        </p:nvGraphicFramePr>
        <p:xfrm>
          <a:off x="954405" y="1865630"/>
          <a:ext cx="9283700" cy="4284980"/>
        </p:xfrm>
        <a:graphic>
          <a:graphicData uri="http://schemas.openxmlformats.org/drawingml/2006/table">
            <a:tbl>
              <a:tblPr firstRow="1" bandRow="1">
                <a:tableStyleId>{5940675A-B579-460E-94D1-54222C63F5DA}</a:tableStyleId>
              </a:tblPr>
              <a:tblGrid>
                <a:gridCol w="1579880"/>
                <a:gridCol w="7703820"/>
              </a:tblGrid>
              <a:tr h="306070">
                <a:tc>
                  <a:txBody>
                    <a:bodyPr/>
                    <a:p>
                      <a:pPr marL="0" indent="0" algn="ctr">
                        <a:buNone/>
                      </a:pPr>
                      <a:r>
                        <a:rPr lang="zh-CN" altLang="en-US" sz="2000" b="1" u="none">
                          <a:latin typeface="Consolas" panose="020B0609020204030204" charset="0"/>
                          <a:ea typeface="宋体" panose="02010600030101010101" pitchFamily="2" charset="-122"/>
                          <a:cs typeface="宋体" panose="02010600030101010101" pitchFamily="2" charset="-122"/>
                        </a:rPr>
                        <a:t>格式字符</a:t>
                      </a:r>
                      <a:endParaRPr lang="zh-CN" altLang="en-US" sz="2000" b="1" u="none">
                        <a:latin typeface="Consolas" panose="020B0609020204030204" charset="0"/>
                        <a:ea typeface="宋体" panose="02010600030101010101" pitchFamily="2" charset="-122"/>
                        <a:cs typeface="宋体" panose="02010600030101010101" pitchFamily="2" charset="-122"/>
                      </a:endParaRPr>
                    </a:p>
                  </a:txBody>
                  <a:tcPr marL="0" marR="0" marT="0" marB="1" vert="horz" anchor="t">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zh-CN" altLang="en-US" sz="2000" b="1" u="none">
                          <a:latin typeface="Consolas" panose="020B0609020204030204" charset="0"/>
                          <a:ea typeface="宋体" panose="02010600030101010101" pitchFamily="2" charset="-122"/>
                          <a:cs typeface="宋体" panose="02010600030101010101" pitchFamily="2" charset="-122"/>
                        </a:rPr>
                        <a:t>说明</a:t>
                      </a:r>
                      <a:endParaRPr lang="zh-CN" altLang="en-US" sz="2000" b="1" u="none">
                        <a:latin typeface="Consolas" panose="020B0609020204030204" charset="0"/>
                        <a:ea typeface="宋体" panose="02010600030101010101" pitchFamily="2" charset="-122"/>
                        <a:cs typeface="宋体" panose="02010600030101010101" pitchFamily="2" charset="-122"/>
                      </a:endParaRPr>
                    </a:p>
                  </a:txBody>
                  <a:tcPr marL="0" marR="0" marT="0" marB="1" vert="horz" anchor="t">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306070">
                <a:tc>
                  <a:txBody>
                    <a:bodyPr/>
                    <a:p>
                      <a:pPr marL="0" indent="0" algn="l">
                        <a:buNone/>
                      </a:pPr>
                      <a:r>
                        <a:rPr lang="en-US" altLang="zh-CN" sz="2000" b="0" u="none">
                          <a:latin typeface="Consolas" panose="020B0609020204030204" charset="0"/>
                          <a:ea typeface="宋体" panose="02010600030101010101" pitchFamily="2" charset="-122"/>
                          <a:cs typeface="Consolas" panose="020B0609020204030204" charset="0"/>
                        </a:rPr>
                        <a:t>%s</a:t>
                      </a:r>
                      <a:endParaRPr lang="en-US" altLang="zh-CN" sz="2000" b="0" u="none">
                        <a:latin typeface="Consolas" panose="020B0609020204030204" charset="0"/>
                        <a:ea typeface="宋体" panose="02010600030101010101" pitchFamily="2" charset="-122"/>
                        <a:cs typeface="Consolas" panose="020B0609020204030204" charset="0"/>
                      </a:endParaRPr>
                    </a:p>
                  </a:txBody>
                  <a:tcPr marL="36195" marR="0" marT="0" marB="1" vert="horz" anchor="t">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2000" b="0" u="none">
                          <a:latin typeface="Consolas" panose="020B0609020204030204" charset="0"/>
                          <a:ea typeface="宋体" panose="02010600030101010101" pitchFamily="2" charset="-122"/>
                          <a:cs typeface="Consolas" panose="020B0609020204030204" charset="0"/>
                        </a:rPr>
                        <a:t>字符串 </a:t>
                      </a:r>
                      <a:r>
                        <a:rPr lang="en-US" altLang="zh-CN" sz="2000" b="0" u="none">
                          <a:latin typeface="Consolas" panose="020B0609020204030204" charset="0"/>
                          <a:ea typeface="宋体" panose="02010600030101010101" pitchFamily="2" charset="-122"/>
                          <a:cs typeface="Consolas" panose="020B0609020204030204" charset="0"/>
                        </a:rPr>
                        <a:t>(</a:t>
                      </a:r>
                      <a:r>
                        <a:rPr lang="zh-CN" altLang="en-US" sz="2000" b="0" u="none">
                          <a:latin typeface="Consolas" panose="020B0609020204030204" charset="0"/>
                          <a:ea typeface="宋体" panose="02010600030101010101" pitchFamily="2" charset="-122"/>
                          <a:cs typeface="Consolas" panose="020B0609020204030204" charset="0"/>
                        </a:rPr>
                        <a:t>采用</a:t>
                      </a:r>
                      <a:r>
                        <a:rPr lang="en-US" altLang="zh-CN" sz="2000" b="0" u="none">
                          <a:latin typeface="Consolas" panose="020B0609020204030204" charset="0"/>
                          <a:ea typeface="宋体" panose="02010600030101010101" pitchFamily="2" charset="-122"/>
                          <a:cs typeface="Consolas" panose="020B0609020204030204" charset="0"/>
                        </a:rPr>
                        <a:t>str()</a:t>
                      </a:r>
                      <a:r>
                        <a:rPr lang="zh-CN" altLang="en-US" sz="2000" b="0" u="none">
                          <a:latin typeface="Consolas" panose="020B0609020204030204" charset="0"/>
                          <a:ea typeface="宋体" panose="02010600030101010101" pitchFamily="2" charset="-122"/>
                          <a:cs typeface="Consolas" panose="020B0609020204030204" charset="0"/>
                        </a:rPr>
                        <a:t>的显示</a:t>
                      </a:r>
                      <a:r>
                        <a:rPr lang="en-US" altLang="zh-CN" sz="2000" b="0" u="none">
                          <a:latin typeface="Consolas" panose="020B0609020204030204" charset="0"/>
                          <a:ea typeface="宋体" panose="02010600030101010101" pitchFamily="2" charset="-122"/>
                          <a:cs typeface="Consolas" panose="020B0609020204030204" charset="0"/>
                        </a:rPr>
                        <a:t>)</a:t>
                      </a:r>
                      <a:endParaRPr lang="en-US" altLang="zh-CN" sz="2000" b="0" u="none">
                        <a:latin typeface="Consolas" panose="020B0609020204030204" charset="0"/>
                        <a:ea typeface="宋体" panose="02010600030101010101" pitchFamily="2" charset="-122"/>
                        <a:cs typeface="Consolas" panose="020B0609020204030204" charset="0"/>
                      </a:endParaRPr>
                    </a:p>
                  </a:txBody>
                  <a:tcPr marL="36195" marR="0" marT="0" marB="1" vert="horz" anchor="t">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306070">
                <a:tc>
                  <a:txBody>
                    <a:bodyPr/>
                    <a:p>
                      <a:pPr marL="0" indent="0" algn="l">
                        <a:buNone/>
                      </a:pPr>
                      <a:r>
                        <a:rPr lang="en-US" altLang="zh-CN" sz="2000" b="0" u="none">
                          <a:latin typeface="Consolas" panose="020B0609020204030204" charset="0"/>
                          <a:ea typeface="宋体" panose="02010600030101010101" pitchFamily="2" charset="-122"/>
                          <a:cs typeface="Consolas" panose="020B0609020204030204" charset="0"/>
                        </a:rPr>
                        <a:t>%r</a:t>
                      </a:r>
                      <a:endParaRPr lang="en-US" altLang="zh-CN" sz="2000" b="0" u="none">
                        <a:latin typeface="Consolas" panose="020B0609020204030204" charset="0"/>
                        <a:ea typeface="宋体" panose="02010600030101010101" pitchFamily="2" charset="-122"/>
                        <a:cs typeface="Consolas" panose="020B0609020204030204" charset="0"/>
                      </a:endParaRPr>
                    </a:p>
                  </a:txBody>
                  <a:tcPr marL="36195" marR="0" marT="0" marB="1" vert="horz" anchor="t">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2000" b="0" u="none">
                          <a:latin typeface="Consolas" panose="020B0609020204030204" charset="0"/>
                          <a:ea typeface="宋体" panose="02010600030101010101" pitchFamily="2" charset="-122"/>
                          <a:cs typeface="Consolas" panose="020B0609020204030204" charset="0"/>
                        </a:rPr>
                        <a:t>字符串 </a:t>
                      </a:r>
                      <a:r>
                        <a:rPr lang="en-US" altLang="zh-CN" sz="2000" b="0" u="none">
                          <a:latin typeface="Consolas" panose="020B0609020204030204" charset="0"/>
                          <a:ea typeface="宋体" panose="02010600030101010101" pitchFamily="2" charset="-122"/>
                          <a:cs typeface="Consolas" panose="020B0609020204030204" charset="0"/>
                        </a:rPr>
                        <a:t>(</a:t>
                      </a:r>
                      <a:r>
                        <a:rPr lang="zh-CN" altLang="en-US" sz="2000" b="0" u="none">
                          <a:latin typeface="Consolas" panose="020B0609020204030204" charset="0"/>
                          <a:ea typeface="宋体" panose="02010600030101010101" pitchFamily="2" charset="-122"/>
                          <a:cs typeface="Consolas" panose="020B0609020204030204" charset="0"/>
                        </a:rPr>
                        <a:t>采用</a:t>
                      </a:r>
                      <a:r>
                        <a:rPr lang="en-US" altLang="zh-CN" sz="2000" b="0" u="none">
                          <a:latin typeface="Consolas" panose="020B0609020204030204" charset="0"/>
                          <a:ea typeface="宋体" panose="02010600030101010101" pitchFamily="2" charset="-122"/>
                          <a:cs typeface="Consolas" panose="020B0609020204030204" charset="0"/>
                        </a:rPr>
                        <a:t>repr()</a:t>
                      </a:r>
                      <a:r>
                        <a:rPr lang="zh-CN" altLang="en-US" sz="2000" b="0" u="none">
                          <a:latin typeface="Consolas" panose="020B0609020204030204" charset="0"/>
                          <a:ea typeface="宋体" panose="02010600030101010101" pitchFamily="2" charset="-122"/>
                          <a:cs typeface="Consolas" panose="020B0609020204030204" charset="0"/>
                        </a:rPr>
                        <a:t>的显示</a:t>
                      </a:r>
                      <a:r>
                        <a:rPr lang="en-US" altLang="zh-CN" sz="2000" b="0" u="none">
                          <a:latin typeface="Consolas" panose="020B0609020204030204" charset="0"/>
                          <a:ea typeface="宋体" panose="02010600030101010101" pitchFamily="2" charset="-122"/>
                          <a:cs typeface="Consolas" panose="020B0609020204030204" charset="0"/>
                        </a:rPr>
                        <a:t>)</a:t>
                      </a:r>
                      <a:endParaRPr lang="en-US" altLang="zh-CN" sz="2000" b="0" u="none">
                        <a:latin typeface="Consolas" panose="020B0609020204030204" charset="0"/>
                        <a:ea typeface="宋体" panose="02010600030101010101" pitchFamily="2" charset="-122"/>
                        <a:cs typeface="Consolas" panose="020B0609020204030204" charset="0"/>
                      </a:endParaRPr>
                    </a:p>
                  </a:txBody>
                  <a:tcPr marL="36195" marR="0" marT="0" marB="1" vert="horz" anchor="t">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306070">
                <a:tc>
                  <a:txBody>
                    <a:bodyPr/>
                    <a:p>
                      <a:pPr marL="0" indent="0" algn="l">
                        <a:buNone/>
                      </a:pPr>
                      <a:r>
                        <a:rPr lang="en-US" altLang="zh-CN" sz="2000" b="0" u="none">
                          <a:latin typeface="Consolas" panose="020B0609020204030204" charset="0"/>
                          <a:ea typeface="宋体" panose="02010600030101010101" pitchFamily="2" charset="-122"/>
                          <a:cs typeface="Consolas" panose="020B0609020204030204" charset="0"/>
                        </a:rPr>
                        <a:t>%c</a:t>
                      </a:r>
                      <a:endParaRPr lang="en-US" altLang="zh-CN" sz="2000" b="0" u="none">
                        <a:latin typeface="Consolas" panose="020B0609020204030204" charset="0"/>
                        <a:ea typeface="宋体" panose="02010600030101010101" pitchFamily="2" charset="-122"/>
                        <a:cs typeface="Consolas" panose="020B0609020204030204" charset="0"/>
                      </a:endParaRPr>
                    </a:p>
                  </a:txBody>
                  <a:tcPr marL="36195" marR="0" marT="0" marB="1" vert="horz" anchor="t">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2000" b="0" u="none">
                          <a:latin typeface="Consolas" panose="020B0609020204030204" charset="0"/>
                          <a:ea typeface="宋体" panose="02010600030101010101" pitchFamily="2" charset="-122"/>
                          <a:cs typeface="宋体" panose="02010600030101010101" pitchFamily="2" charset="-122"/>
                        </a:rPr>
                        <a:t>单个字符</a:t>
                      </a:r>
                      <a:endParaRPr lang="zh-CN" altLang="en-US" sz="2000" b="0" u="none">
                        <a:latin typeface="Consolas" panose="020B0609020204030204" charset="0"/>
                        <a:ea typeface="宋体" panose="02010600030101010101" pitchFamily="2" charset="-122"/>
                        <a:cs typeface="宋体" panose="02010600030101010101" pitchFamily="2" charset="-122"/>
                      </a:endParaRPr>
                    </a:p>
                  </a:txBody>
                  <a:tcPr marL="36195" marR="0" marT="0" marB="1" vert="horz" anchor="t">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306070">
                <a:tc>
                  <a:txBody>
                    <a:bodyPr/>
                    <a:p>
                      <a:pPr marL="0" indent="0" algn="l">
                        <a:buNone/>
                      </a:pPr>
                      <a:r>
                        <a:rPr lang="en-US" altLang="zh-CN" sz="2000" b="0" u="none">
                          <a:latin typeface="Consolas" panose="020B0609020204030204" charset="0"/>
                          <a:ea typeface="宋体" panose="02010600030101010101" pitchFamily="2" charset="-122"/>
                          <a:cs typeface="Consolas" panose="020B0609020204030204" charset="0"/>
                        </a:rPr>
                        <a:t>%d</a:t>
                      </a:r>
                      <a:endParaRPr lang="en-US" altLang="zh-CN" sz="2000" b="0" u="none">
                        <a:latin typeface="Consolas" panose="020B0609020204030204" charset="0"/>
                        <a:ea typeface="宋体" panose="02010600030101010101" pitchFamily="2" charset="-122"/>
                        <a:cs typeface="Consolas" panose="020B0609020204030204" charset="0"/>
                      </a:endParaRPr>
                    </a:p>
                  </a:txBody>
                  <a:tcPr marL="36195" marR="0" marT="0" marB="1" vert="horz" anchor="t">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2000" b="0" u="none">
                          <a:latin typeface="Consolas" panose="020B0609020204030204" charset="0"/>
                          <a:ea typeface="宋体" panose="02010600030101010101" pitchFamily="2" charset="-122"/>
                          <a:cs typeface="宋体" panose="02010600030101010101" pitchFamily="2" charset="-122"/>
                        </a:rPr>
                        <a:t>十进制整数</a:t>
                      </a:r>
                      <a:endParaRPr lang="zh-CN" altLang="en-US" sz="2000" b="0" u="none">
                        <a:latin typeface="Consolas" panose="020B0609020204030204" charset="0"/>
                        <a:ea typeface="宋体" panose="02010600030101010101" pitchFamily="2" charset="-122"/>
                        <a:cs typeface="宋体" panose="02010600030101010101" pitchFamily="2" charset="-122"/>
                      </a:endParaRPr>
                    </a:p>
                  </a:txBody>
                  <a:tcPr marL="36195" marR="0" marT="0" marB="1" vert="horz" anchor="t">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306070">
                <a:tc>
                  <a:txBody>
                    <a:bodyPr/>
                    <a:p>
                      <a:pPr marL="0" indent="0" algn="l">
                        <a:buNone/>
                      </a:pPr>
                      <a:r>
                        <a:rPr lang="en-US" altLang="zh-CN" sz="2000" b="0" u="none">
                          <a:latin typeface="Consolas" panose="020B0609020204030204" charset="0"/>
                          <a:ea typeface="宋体" panose="02010600030101010101" pitchFamily="2" charset="-122"/>
                          <a:cs typeface="Consolas" panose="020B0609020204030204" charset="0"/>
                        </a:rPr>
                        <a:t>%i</a:t>
                      </a:r>
                      <a:endParaRPr lang="en-US" altLang="zh-CN" sz="2000" b="0" u="none">
                        <a:latin typeface="Consolas" panose="020B0609020204030204" charset="0"/>
                        <a:ea typeface="宋体" panose="02010600030101010101" pitchFamily="2" charset="-122"/>
                        <a:cs typeface="Consolas" panose="020B0609020204030204" charset="0"/>
                      </a:endParaRPr>
                    </a:p>
                  </a:txBody>
                  <a:tcPr marL="36195" marR="0" marT="0" marB="1" vert="horz" anchor="t">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2000" b="0" u="none">
                          <a:latin typeface="Consolas" panose="020B0609020204030204" charset="0"/>
                          <a:ea typeface="宋体" panose="02010600030101010101" pitchFamily="2" charset="-122"/>
                          <a:cs typeface="宋体" panose="02010600030101010101" pitchFamily="2" charset="-122"/>
                        </a:rPr>
                        <a:t>十进制整数</a:t>
                      </a:r>
                      <a:endParaRPr lang="zh-CN" altLang="en-US" sz="2000" b="0" u="none">
                        <a:latin typeface="Consolas" panose="020B0609020204030204" charset="0"/>
                        <a:ea typeface="宋体" panose="02010600030101010101" pitchFamily="2" charset="-122"/>
                        <a:cs typeface="宋体" panose="02010600030101010101" pitchFamily="2" charset="-122"/>
                      </a:endParaRPr>
                    </a:p>
                  </a:txBody>
                  <a:tcPr marL="36195" marR="0" marT="0" marB="1" vert="horz" anchor="t">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306070">
                <a:tc>
                  <a:txBody>
                    <a:bodyPr/>
                    <a:p>
                      <a:pPr marL="0" indent="0" algn="l">
                        <a:buNone/>
                      </a:pPr>
                      <a:r>
                        <a:rPr lang="en-US" altLang="zh-CN" sz="2000" b="0" u="none">
                          <a:latin typeface="Consolas" panose="020B0609020204030204" charset="0"/>
                          <a:ea typeface="宋体" panose="02010600030101010101" pitchFamily="2" charset="-122"/>
                          <a:cs typeface="Consolas" panose="020B0609020204030204" charset="0"/>
                        </a:rPr>
                        <a:t>%o</a:t>
                      </a:r>
                      <a:endParaRPr lang="en-US" altLang="zh-CN" sz="2000" b="0" u="none">
                        <a:latin typeface="Consolas" panose="020B0609020204030204" charset="0"/>
                        <a:ea typeface="宋体" panose="02010600030101010101" pitchFamily="2" charset="-122"/>
                        <a:cs typeface="Consolas" panose="020B0609020204030204" charset="0"/>
                      </a:endParaRPr>
                    </a:p>
                  </a:txBody>
                  <a:tcPr marL="36195" marR="0" marT="0" marB="1" vert="horz" anchor="t">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2000" b="0" u="none">
                          <a:latin typeface="Consolas" panose="020B0609020204030204" charset="0"/>
                          <a:ea typeface="宋体" panose="02010600030101010101" pitchFamily="2" charset="-122"/>
                          <a:cs typeface="宋体" panose="02010600030101010101" pitchFamily="2" charset="-122"/>
                        </a:rPr>
                        <a:t>八进制整数</a:t>
                      </a:r>
                      <a:endParaRPr lang="zh-CN" altLang="en-US" sz="2000" b="0" u="none">
                        <a:latin typeface="Consolas" panose="020B0609020204030204" charset="0"/>
                        <a:ea typeface="宋体" panose="02010600030101010101" pitchFamily="2" charset="-122"/>
                        <a:cs typeface="宋体" panose="02010600030101010101" pitchFamily="2" charset="-122"/>
                      </a:endParaRPr>
                    </a:p>
                  </a:txBody>
                  <a:tcPr marL="36195" marR="0" marT="0" marB="1" vert="horz" anchor="t">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306070">
                <a:tc>
                  <a:txBody>
                    <a:bodyPr/>
                    <a:p>
                      <a:pPr marL="0" indent="0" algn="l">
                        <a:buNone/>
                      </a:pPr>
                      <a:r>
                        <a:rPr lang="en-US" altLang="zh-CN" sz="2000" b="0" u="none">
                          <a:latin typeface="Consolas" panose="020B0609020204030204" charset="0"/>
                          <a:ea typeface="宋体" panose="02010600030101010101" pitchFamily="2" charset="-122"/>
                          <a:cs typeface="Consolas" panose="020B0609020204030204" charset="0"/>
                        </a:rPr>
                        <a:t>%x</a:t>
                      </a:r>
                      <a:endParaRPr lang="en-US" altLang="zh-CN" sz="2000" b="0" u="none">
                        <a:latin typeface="Consolas" panose="020B0609020204030204" charset="0"/>
                        <a:ea typeface="宋体" panose="02010600030101010101" pitchFamily="2" charset="-122"/>
                        <a:cs typeface="Consolas" panose="020B0609020204030204" charset="0"/>
                      </a:endParaRPr>
                    </a:p>
                  </a:txBody>
                  <a:tcPr marL="36195" marR="0" marT="0" marB="1" vert="horz" anchor="t">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2000" b="0" u="none">
                          <a:latin typeface="Consolas" panose="020B0609020204030204" charset="0"/>
                          <a:ea typeface="宋体" panose="02010600030101010101" pitchFamily="2" charset="-122"/>
                          <a:cs typeface="宋体" panose="02010600030101010101" pitchFamily="2" charset="-122"/>
                        </a:rPr>
                        <a:t>十六进制整数</a:t>
                      </a:r>
                      <a:endParaRPr lang="zh-CN" altLang="en-US" sz="2000" b="0" u="none">
                        <a:latin typeface="Consolas" panose="020B0609020204030204" charset="0"/>
                        <a:ea typeface="宋体" panose="02010600030101010101" pitchFamily="2" charset="-122"/>
                        <a:cs typeface="宋体" panose="02010600030101010101" pitchFamily="2" charset="-122"/>
                      </a:endParaRPr>
                    </a:p>
                  </a:txBody>
                  <a:tcPr marL="36195" marR="0" marT="0" marB="1" vert="horz" anchor="t">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306070">
                <a:tc>
                  <a:txBody>
                    <a:bodyPr/>
                    <a:p>
                      <a:pPr marL="0" indent="0" algn="l">
                        <a:buNone/>
                      </a:pPr>
                      <a:r>
                        <a:rPr lang="en-US" altLang="zh-CN" sz="2000" b="0" u="none">
                          <a:latin typeface="Consolas" panose="020B0609020204030204" charset="0"/>
                          <a:ea typeface="宋体" panose="02010600030101010101" pitchFamily="2" charset="-122"/>
                          <a:cs typeface="Consolas" panose="020B0609020204030204" charset="0"/>
                        </a:rPr>
                        <a:t>%e</a:t>
                      </a:r>
                      <a:endParaRPr lang="en-US" altLang="zh-CN" sz="2000" b="0" u="none">
                        <a:latin typeface="Consolas" panose="020B0609020204030204" charset="0"/>
                        <a:ea typeface="宋体" panose="02010600030101010101" pitchFamily="2" charset="-122"/>
                        <a:cs typeface="Consolas" panose="020B0609020204030204" charset="0"/>
                      </a:endParaRPr>
                    </a:p>
                  </a:txBody>
                  <a:tcPr marL="36195" marR="0" marT="0" marB="1" vert="horz" anchor="t">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2000" b="0" u="none">
                          <a:latin typeface="Consolas" panose="020B0609020204030204" charset="0"/>
                          <a:ea typeface="宋体" panose="02010600030101010101" pitchFamily="2" charset="-122"/>
                          <a:cs typeface="Consolas" panose="020B0609020204030204" charset="0"/>
                        </a:rPr>
                        <a:t>指数 </a:t>
                      </a:r>
                      <a:r>
                        <a:rPr lang="en-US" altLang="zh-CN" sz="2000" b="0" u="none">
                          <a:latin typeface="Consolas" panose="020B0609020204030204" charset="0"/>
                          <a:ea typeface="宋体" panose="02010600030101010101" pitchFamily="2" charset="-122"/>
                          <a:cs typeface="Consolas" panose="020B0609020204030204" charset="0"/>
                        </a:rPr>
                        <a:t>(</a:t>
                      </a:r>
                      <a:r>
                        <a:rPr lang="zh-CN" altLang="en-US" sz="2000" b="0" u="none">
                          <a:latin typeface="Consolas" panose="020B0609020204030204" charset="0"/>
                          <a:ea typeface="宋体" panose="02010600030101010101" pitchFamily="2" charset="-122"/>
                          <a:cs typeface="Consolas" panose="020B0609020204030204" charset="0"/>
                        </a:rPr>
                        <a:t>基底写为</a:t>
                      </a:r>
                      <a:r>
                        <a:rPr lang="en-US" altLang="zh-CN" sz="2000" b="0" u="none">
                          <a:latin typeface="Consolas" panose="020B0609020204030204" charset="0"/>
                          <a:ea typeface="宋体" panose="02010600030101010101" pitchFamily="2" charset="-122"/>
                          <a:cs typeface="Consolas" panose="020B0609020204030204" charset="0"/>
                        </a:rPr>
                        <a:t>e)</a:t>
                      </a:r>
                      <a:endParaRPr lang="en-US" altLang="zh-CN" sz="2000" b="0" u="none">
                        <a:latin typeface="Consolas" panose="020B0609020204030204" charset="0"/>
                        <a:ea typeface="宋体" panose="02010600030101010101" pitchFamily="2" charset="-122"/>
                        <a:cs typeface="Consolas" panose="020B0609020204030204" charset="0"/>
                      </a:endParaRPr>
                    </a:p>
                  </a:txBody>
                  <a:tcPr marL="36195" marR="0" marT="0" marB="1" vert="horz" anchor="t">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306070">
                <a:tc>
                  <a:txBody>
                    <a:bodyPr/>
                    <a:p>
                      <a:pPr marL="0" indent="0" algn="l">
                        <a:buNone/>
                      </a:pPr>
                      <a:r>
                        <a:rPr lang="en-US" altLang="zh-CN" sz="2000" b="0" u="none">
                          <a:latin typeface="Consolas" panose="020B0609020204030204" charset="0"/>
                          <a:ea typeface="宋体" panose="02010600030101010101" pitchFamily="2" charset="-122"/>
                          <a:cs typeface="Consolas" panose="020B0609020204030204" charset="0"/>
                        </a:rPr>
                        <a:t>%E</a:t>
                      </a:r>
                      <a:endParaRPr lang="en-US" altLang="zh-CN" sz="2000" b="0" u="none">
                        <a:latin typeface="Consolas" panose="020B0609020204030204" charset="0"/>
                        <a:ea typeface="宋体" panose="02010600030101010101" pitchFamily="2" charset="-122"/>
                        <a:cs typeface="Consolas" panose="020B0609020204030204" charset="0"/>
                      </a:endParaRPr>
                    </a:p>
                  </a:txBody>
                  <a:tcPr marL="36195" marR="0" marT="0" marB="1" vert="horz" anchor="t">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2000" b="0" u="none">
                          <a:latin typeface="Consolas" panose="020B0609020204030204" charset="0"/>
                          <a:ea typeface="宋体" panose="02010600030101010101" pitchFamily="2" charset="-122"/>
                          <a:cs typeface="Consolas" panose="020B0609020204030204" charset="0"/>
                        </a:rPr>
                        <a:t>指数 </a:t>
                      </a:r>
                      <a:r>
                        <a:rPr lang="en-US" altLang="zh-CN" sz="2000" b="0" u="none">
                          <a:latin typeface="Consolas" panose="020B0609020204030204" charset="0"/>
                          <a:ea typeface="宋体" panose="02010600030101010101" pitchFamily="2" charset="-122"/>
                          <a:cs typeface="Consolas" panose="020B0609020204030204" charset="0"/>
                        </a:rPr>
                        <a:t>(</a:t>
                      </a:r>
                      <a:r>
                        <a:rPr lang="zh-CN" altLang="en-US" sz="2000" b="0" u="none">
                          <a:latin typeface="Consolas" panose="020B0609020204030204" charset="0"/>
                          <a:ea typeface="宋体" panose="02010600030101010101" pitchFamily="2" charset="-122"/>
                          <a:cs typeface="Consolas" panose="020B0609020204030204" charset="0"/>
                        </a:rPr>
                        <a:t>基底写为</a:t>
                      </a:r>
                      <a:r>
                        <a:rPr lang="en-US" altLang="zh-CN" sz="2000" b="0" u="none">
                          <a:latin typeface="Consolas" panose="020B0609020204030204" charset="0"/>
                          <a:ea typeface="宋体" panose="02010600030101010101" pitchFamily="2" charset="-122"/>
                          <a:cs typeface="Consolas" panose="020B0609020204030204" charset="0"/>
                        </a:rPr>
                        <a:t>E)</a:t>
                      </a:r>
                      <a:endParaRPr lang="en-US" altLang="zh-CN" sz="2000" b="0" u="none">
                        <a:latin typeface="Consolas" panose="020B0609020204030204" charset="0"/>
                        <a:ea typeface="宋体" panose="02010600030101010101" pitchFamily="2" charset="-122"/>
                        <a:cs typeface="Consolas" panose="020B0609020204030204" charset="0"/>
                      </a:endParaRPr>
                    </a:p>
                  </a:txBody>
                  <a:tcPr marL="36195" marR="0" marT="0" marB="1" vert="horz" anchor="t">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306070">
                <a:tc>
                  <a:txBody>
                    <a:bodyPr/>
                    <a:p>
                      <a:pPr marL="0" indent="0" algn="l">
                        <a:buNone/>
                      </a:pPr>
                      <a:r>
                        <a:rPr lang="en-US" altLang="zh-CN" sz="2000" b="0" u="none">
                          <a:latin typeface="Consolas" panose="020B0609020204030204" charset="0"/>
                          <a:ea typeface="宋体" panose="02010600030101010101" pitchFamily="2" charset="-122"/>
                          <a:cs typeface="Consolas" panose="020B0609020204030204" charset="0"/>
                        </a:rPr>
                        <a:t>%f</a:t>
                      </a:r>
                      <a:r>
                        <a:rPr lang="zh-CN" altLang="en-US" sz="2000" b="0" u="none">
                          <a:latin typeface="Consolas" panose="020B0609020204030204" charset="0"/>
                          <a:ea typeface="宋体" panose="02010600030101010101" pitchFamily="2" charset="-122"/>
                          <a:cs typeface="Consolas" panose="020B0609020204030204" charset="0"/>
                        </a:rPr>
                        <a:t>、</a:t>
                      </a:r>
                      <a:r>
                        <a:rPr lang="en-US" altLang="zh-CN" sz="2000" b="0" u="none">
                          <a:latin typeface="Consolas" panose="020B0609020204030204" charset="0"/>
                          <a:ea typeface="宋体" panose="02010600030101010101" pitchFamily="2" charset="-122"/>
                          <a:cs typeface="Consolas" panose="020B0609020204030204" charset="0"/>
                        </a:rPr>
                        <a:t>%F</a:t>
                      </a:r>
                      <a:endParaRPr lang="en-US" altLang="zh-CN" sz="2000" b="0" u="none">
                        <a:latin typeface="Consolas" panose="020B0609020204030204" charset="0"/>
                        <a:ea typeface="宋体" panose="02010600030101010101" pitchFamily="2" charset="-122"/>
                        <a:cs typeface="Consolas" panose="020B0609020204030204" charset="0"/>
                      </a:endParaRPr>
                    </a:p>
                  </a:txBody>
                  <a:tcPr marL="36195" marR="0" marT="0" marB="1" vert="horz" anchor="t">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2000" b="0" u="none">
                          <a:latin typeface="Consolas" panose="020B0609020204030204" charset="0"/>
                          <a:ea typeface="宋体" panose="02010600030101010101" pitchFamily="2" charset="-122"/>
                          <a:cs typeface="宋体" panose="02010600030101010101" pitchFamily="2" charset="-122"/>
                        </a:rPr>
                        <a:t>浮点数</a:t>
                      </a:r>
                      <a:endParaRPr lang="zh-CN" altLang="en-US" sz="2000" b="0" u="none">
                        <a:latin typeface="Consolas" panose="020B0609020204030204" charset="0"/>
                        <a:ea typeface="宋体" panose="02010600030101010101" pitchFamily="2" charset="-122"/>
                        <a:cs typeface="宋体" panose="02010600030101010101" pitchFamily="2" charset="-122"/>
                      </a:endParaRPr>
                    </a:p>
                  </a:txBody>
                  <a:tcPr marL="36195" marR="0" marT="0" marB="1" vert="horz" anchor="t">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306070">
                <a:tc>
                  <a:txBody>
                    <a:bodyPr/>
                    <a:p>
                      <a:pPr marL="0" indent="0" algn="l">
                        <a:buNone/>
                      </a:pPr>
                      <a:r>
                        <a:rPr lang="en-US" altLang="zh-CN" sz="2000" b="0" u="none">
                          <a:latin typeface="Consolas" panose="020B0609020204030204" charset="0"/>
                          <a:ea typeface="宋体" panose="02010600030101010101" pitchFamily="2" charset="-122"/>
                          <a:cs typeface="Consolas" panose="020B0609020204030204" charset="0"/>
                        </a:rPr>
                        <a:t>%g</a:t>
                      </a:r>
                      <a:endParaRPr lang="en-US" altLang="zh-CN" sz="2000" b="0" u="none">
                        <a:latin typeface="Consolas" panose="020B0609020204030204" charset="0"/>
                        <a:ea typeface="宋体" panose="02010600030101010101" pitchFamily="2" charset="-122"/>
                        <a:cs typeface="Consolas" panose="020B0609020204030204" charset="0"/>
                      </a:endParaRPr>
                    </a:p>
                  </a:txBody>
                  <a:tcPr marL="36195" marR="0" marT="0" marB="1" vert="horz" anchor="t">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2000" b="0" u="none">
                          <a:latin typeface="Consolas" panose="020B0609020204030204" charset="0"/>
                          <a:ea typeface="宋体" panose="02010600030101010101" pitchFamily="2" charset="-122"/>
                          <a:cs typeface="Consolas" panose="020B0609020204030204" charset="0"/>
                        </a:rPr>
                        <a:t>指数</a:t>
                      </a:r>
                      <a:r>
                        <a:rPr lang="en-US" altLang="zh-CN" sz="2000" b="0" u="none">
                          <a:latin typeface="Consolas" panose="020B0609020204030204" charset="0"/>
                          <a:ea typeface="宋体" panose="02010600030101010101" pitchFamily="2" charset="-122"/>
                          <a:cs typeface="Consolas" panose="020B0609020204030204" charset="0"/>
                        </a:rPr>
                        <a:t>(e)</a:t>
                      </a:r>
                      <a:r>
                        <a:rPr lang="zh-CN" altLang="en-US" sz="2000" b="0" u="none">
                          <a:latin typeface="Consolas" panose="020B0609020204030204" charset="0"/>
                          <a:ea typeface="宋体" panose="02010600030101010101" pitchFamily="2" charset="-122"/>
                          <a:cs typeface="Consolas" panose="020B0609020204030204" charset="0"/>
                        </a:rPr>
                        <a:t>或浮点数 </a:t>
                      </a:r>
                      <a:r>
                        <a:rPr lang="en-US" altLang="zh-CN" sz="2000" b="0" u="none">
                          <a:latin typeface="Consolas" panose="020B0609020204030204" charset="0"/>
                          <a:ea typeface="宋体" panose="02010600030101010101" pitchFamily="2" charset="-122"/>
                          <a:cs typeface="Consolas" panose="020B0609020204030204" charset="0"/>
                        </a:rPr>
                        <a:t>(</a:t>
                      </a:r>
                      <a:r>
                        <a:rPr lang="zh-CN" altLang="en-US" sz="2000" b="0" u="none">
                          <a:latin typeface="Consolas" panose="020B0609020204030204" charset="0"/>
                          <a:ea typeface="宋体" panose="02010600030101010101" pitchFamily="2" charset="-122"/>
                          <a:cs typeface="Consolas" panose="020B0609020204030204" charset="0"/>
                        </a:rPr>
                        <a:t>根据长度决定显示方法</a:t>
                      </a:r>
                      <a:r>
                        <a:rPr lang="en-US" altLang="zh-CN" sz="2000" b="0" u="none">
                          <a:latin typeface="Consolas" panose="020B0609020204030204" charset="0"/>
                          <a:ea typeface="宋体" panose="02010600030101010101" pitchFamily="2" charset="-122"/>
                          <a:cs typeface="Consolas" panose="020B0609020204030204" charset="0"/>
                        </a:rPr>
                        <a:t>)</a:t>
                      </a:r>
                      <a:endParaRPr lang="en-US" altLang="zh-CN" sz="2000" b="0" u="none">
                        <a:latin typeface="Consolas" panose="020B0609020204030204" charset="0"/>
                        <a:ea typeface="宋体" panose="02010600030101010101" pitchFamily="2" charset="-122"/>
                        <a:cs typeface="Consolas" panose="020B0609020204030204" charset="0"/>
                      </a:endParaRPr>
                    </a:p>
                  </a:txBody>
                  <a:tcPr marL="36195" marR="0" marT="0" marB="1" vert="horz" anchor="t">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306070">
                <a:tc>
                  <a:txBody>
                    <a:bodyPr/>
                    <a:p>
                      <a:pPr marL="0" indent="0" algn="l">
                        <a:buNone/>
                      </a:pPr>
                      <a:r>
                        <a:rPr lang="en-US" altLang="zh-CN" sz="2000" b="0" u="none">
                          <a:latin typeface="Consolas" panose="020B0609020204030204" charset="0"/>
                          <a:ea typeface="宋体" panose="02010600030101010101" pitchFamily="2" charset="-122"/>
                          <a:cs typeface="Consolas" panose="020B0609020204030204" charset="0"/>
                        </a:rPr>
                        <a:t>%G</a:t>
                      </a:r>
                      <a:endParaRPr lang="en-US" altLang="zh-CN" sz="2000" b="0" u="none">
                        <a:latin typeface="Consolas" panose="020B0609020204030204" charset="0"/>
                        <a:ea typeface="宋体" panose="02010600030101010101" pitchFamily="2" charset="-122"/>
                        <a:cs typeface="Consolas" panose="020B0609020204030204" charset="0"/>
                      </a:endParaRPr>
                    </a:p>
                  </a:txBody>
                  <a:tcPr marL="36195" marR="0" marT="0" marB="1" vert="horz" anchor="t">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2000" b="0" u="none">
                          <a:latin typeface="Consolas" panose="020B0609020204030204" charset="0"/>
                          <a:ea typeface="宋体" panose="02010600030101010101" pitchFamily="2" charset="-122"/>
                          <a:cs typeface="Consolas" panose="020B0609020204030204" charset="0"/>
                        </a:rPr>
                        <a:t>指数</a:t>
                      </a:r>
                      <a:r>
                        <a:rPr lang="en-US" altLang="zh-CN" sz="2000" b="0" u="none">
                          <a:latin typeface="Consolas" panose="020B0609020204030204" charset="0"/>
                          <a:ea typeface="宋体" panose="02010600030101010101" pitchFamily="2" charset="-122"/>
                          <a:cs typeface="Consolas" panose="020B0609020204030204" charset="0"/>
                        </a:rPr>
                        <a:t>(E)</a:t>
                      </a:r>
                      <a:r>
                        <a:rPr lang="zh-CN" altLang="en-US" sz="2000" b="0" u="none">
                          <a:latin typeface="Consolas" panose="020B0609020204030204" charset="0"/>
                          <a:ea typeface="宋体" panose="02010600030101010101" pitchFamily="2" charset="-122"/>
                          <a:cs typeface="Consolas" panose="020B0609020204030204" charset="0"/>
                        </a:rPr>
                        <a:t>或浮点数 </a:t>
                      </a:r>
                      <a:r>
                        <a:rPr lang="en-US" altLang="zh-CN" sz="2000" b="0" u="none">
                          <a:latin typeface="Consolas" panose="020B0609020204030204" charset="0"/>
                          <a:ea typeface="宋体" panose="02010600030101010101" pitchFamily="2" charset="-122"/>
                          <a:cs typeface="Consolas" panose="020B0609020204030204" charset="0"/>
                        </a:rPr>
                        <a:t>(</a:t>
                      </a:r>
                      <a:r>
                        <a:rPr lang="zh-CN" altLang="en-US" sz="2000" b="0" u="none">
                          <a:latin typeface="Consolas" panose="020B0609020204030204" charset="0"/>
                          <a:ea typeface="宋体" panose="02010600030101010101" pitchFamily="2" charset="-122"/>
                          <a:cs typeface="Consolas" panose="020B0609020204030204" charset="0"/>
                        </a:rPr>
                        <a:t>根据长度</a:t>
                      </a:r>
                      <a:r>
                        <a:rPr lang="zh-CN" altLang="en-US" sz="2000">
                          <a:latin typeface="Consolas" panose="020B0609020204030204" charset="0"/>
                          <a:ea typeface="宋体" panose="02010600030101010101" pitchFamily="2" charset="-122"/>
                          <a:cs typeface="Consolas" panose="020B0609020204030204" charset="0"/>
                          <a:sym typeface="+mn-ea"/>
                        </a:rPr>
                        <a:t>决定显示方法</a:t>
                      </a:r>
                      <a:r>
                        <a:rPr lang="en-US" altLang="zh-CN" sz="2000" b="0" u="none">
                          <a:latin typeface="Consolas" panose="020B0609020204030204" charset="0"/>
                          <a:ea typeface="宋体" panose="02010600030101010101" pitchFamily="2" charset="-122"/>
                          <a:cs typeface="Consolas" panose="020B0609020204030204" charset="0"/>
                        </a:rPr>
                        <a:t>)</a:t>
                      </a:r>
                      <a:endParaRPr lang="en-US" altLang="zh-CN" sz="2000" b="0" u="none">
                        <a:latin typeface="Consolas" panose="020B0609020204030204" charset="0"/>
                        <a:ea typeface="宋体" panose="02010600030101010101" pitchFamily="2" charset="-122"/>
                        <a:cs typeface="Consolas" panose="020B0609020204030204" charset="0"/>
                      </a:endParaRPr>
                    </a:p>
                  </a:txBody>
                  <a:tcPr marL="36195" marR="0" marT="0" marB="1" vert="horz" anchor="t">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306070">
                <a:tc>
                  <a:txBody>
                    <a:bodyPr/>
                    <a:p>
                      <a:pPr marL="0" indent="0" algn="l">
                        <a:buNone/>
                      </a:pPr>
                      <a:r>
                        <a:rPr lang="en-US" altLang="zh-CN" sz="2000" b="0" u="none">
                          <a:latin typeface="Consolas" panose="020B0609020204030204" charset="0"/>
                          <a:ea typeface="宋体" panose="02010600030101010101" pitchFamily="2" charset="-122"/>
                          <a:cs typeface="Consolas" panose="020B0609020204030204" charset="0"/>
                        </a:rPr>
                        <a:t>%%</a:t>
                      </a:r>
                      <a:endParaRPr lang="en-US" altLang="zh-CN" sz="2000" b="0" u="none">
                        <a:latin typeface="Consolas" panose="020B0609020204030204" charset="0"/>
                        <a:ea typeface="宋体" panose="02010600030101010101" pitchFamily="2" charset="-122"/>
                        <a:cs typeface="Consolas" panose="020B0609020204030204" charset="0"/>
                      </a:endParaRPr>
                    </a:p>
                  </a:txBody>
                  <a:tcPr marL="36195" marR="0" marT="0" marB="1" vert="horz" anchor="t">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2000" b="0" u="none">
                          <a:latin typeface="Consolas" panose="020B0609020204030204" charset="0"/>
                          <a:ea typeface="宋体" panose="02010600030101010101" pitchFamily="2" charset="-122"/>
                          <a:cs typeface="Consolas" panose="020B0609020204030204" charset="0"/>
                        </a:rPr>
                        <a:t>一个字符</a:t>
                      </a:r>
                      <a:r>
                        <a:rPr lang="en-US" altLang="zh-CN" sz="2000" b="0" u="none">
                          <a:latin typeface="Consolas" panose="020B0609020204030204" charset="0"/>
                          <a:ea typeface="宋体" panose="02010600030101010101" pitchFamily="2" charset="-122"/>
                          <a:cs typeface="Consolas" panose="020B0609020204030204" charset="0"/>
                        </a:rPr>
                        <a:t>"%"</a:t>
                      </a:r>
                      <a:endParaRPr lang="en-US" altLang="zh-CN" sz="2000" b="0" u="none">
                        <a:latin typeface="Consolas" panose="020B0609020204030204" charset="0"/>
                        <a:ea typeface="宋体" panose="02010600030101010101" pitchFamily="2" charset="-122"/>
                        <a:cs typeface="Consolas" panose="020B0609020204030204" charset="0"/>
                      </a:endParaRPr>
                    </a:p>
                  </a:txBody>
                  <a:tcPr marL="36195" marR="0" marT="0" marB="1" vert="horz" anchor="t">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7.3.1  </a:t>
            </a:r>
            <a:r>
              <a:rPr lang="zh-CN" altLang="en-US">
                <a:sym typeface="+mn-ea"/>
              </a:rPr>
              <a:t>使用</a:t>
            </a:r>
            <a:r>
              <a:rPr lang="en-US" altLang="zh-CN">
                <a:sym typeface="+mn-ea"/>
              </a:rPr>
              <a:t>%</a:t>
            </a:r>
            <a:r>
              <a:rPr lang="zh-CN" altLang="en-US">
                <a:sym typeface="+mn-ea"/>
              </a:rPr>
              <a:t>运算符进行格式化</a:t>
            </a:r>
            <a:endParaRPr lang="zh-CN" altLang="en-US"/>
          </a:p>
        </p:txBody>
      </p:sp>
      <p:sp>
        <p:nvSpPr>
          <p:cNvPr id="3" name="内容占位符 2"/>
          <p:cNvSpPr>
            <a:spLocks noGrp="1"/>
          </p:cNvSpPr>
          <p:nvPr>
            <p:ph idx="1"/>
          </p:nvPr>
        </p:nvSpPr>
        <p:spPr/>
        <p:txBody>
          <a:bodyPr>
            <a:normAutofit lnSpcReduction="20000"/>
          </a:bodyPr>
          <a:p>
            <a:pPr defTabSz="914400" fontAlgn="auto">
              <a:lnSpc>
                <a:spcPct val="110000"/>
              </a:lnSpc>
              <a:spcBef>
                <a:spcPct val="0"/>
              </a:spcBef>
              <a:buSzPct val="70000"/>
              <a:buFont typeface="Wingdings" panose="05000000000000000000" pitchFamily="2" charset="2"/>
              <a:buNone/>
            </a:pPr>
            <a:r>
              <a:rPr lang="zh-CN" altLang="en-US" sz="2000" dirty="0">
                <a:latin typeface="Consolas" panose="020B0609020204030204" charset="0"/>
                <a:sym typeface="+mn-ea"/>
              </a:rPr>
              <a:t>&gt;&gt;&gt; x = 1235</a:t>
            </a:r>
            <a:endParaRPr lang="zh-CN" altLang="en-US" sz="2000" dirty="0">
              <a:latin typeface="Consolas" panose="020B0609020204030204" charset="0"/>
            </a:endParaRPr>
          </a:p>
          <a:p>
            <a:pPr defTabSz="914400" fontAlgn="auto">
              <a:lnSpc>
                <a:spcPct val="110000"/>
              </a:lnSpc>
              <a:spcBef>
                <a:spcPct val="0"/>
              </a:spcBef>
              <a:buSzPct val="70000"/>
              <a:buFont typeface="Wingdings" panose="05000000000000000000" pitchFamily="2" charset="2"/>
              <a:buNone/>
            </a:pPr>
            <a:r>
              <a:rPr lang="zh-CN" altLang="en-US" sz="2000" dirty="0">
                <a:latin typeface="Consolas" panose="020B0609020204030204" charset="0"/>
                <a:sym typeface="+mn-ea"/>
              </a:rPr>
              <a:t>&gt;&gt;&gt; so = '%o' % x</a:t>
            </a:r>
            <a:endParaRPr lang="zh-CN" altLang="en-US" sz="2000" dirty="0">
              <a:latin typeface="Consolas" panose="020B0609020204030204" charset="0"/>
            </a:endParaRPr>
          </a:p>
          <a:p>
            <a:pPr defTabSz="914400" fontAlgn="auto">
              <a:lnSpc>
                <a:spcPct val="110000"/>
              </a:lnSpc>
              <a:spcBef>
                <a:spcPct val="0"/>
              </a:spcBef>
              <a:buSzPct val="70000"/>
              <a:buFont typeface="Wingdings" panose="05000000000000000000" pitchFamily="2" charset="2"/>
              <a:buNone/>
            </a:pPr>
            <a:r>
              <a:rPr lang="zh-CN" altLang="en-US" sz="2000" dirty="0">
                <a:latin typeface="Consolas" panose="020B0609020204030204" charset="0"/>
                <a:sym typeface="+mn-ea"/>
              </a:rPr>
              <a:t>&gt;&gt;&gt; so</a:t>
            </a:r>
            <a:endParaRPr lang="zh-CN" altLang="en-US" sz="2000" dirty="0">
              <a:latin typeface="Consolas" panose="020B0609020204030204" charset="0"/>
            </a:endParaRPr>
          </a:p>
          <a:p>
            <a:pPr defTabSz="914400" fontAlgn="auto">
              <a:lnSpc>
                <a:spcPct val="110000"/>
              </a:lnSpc>
              <a:spcBef>
                <a:spcPct val="0"/>
              </a:spcBef>
              <a:buSzPct val="70000"/>
              <a:buFont typeface="Wingdings" panose="05000000000000000000" pitchFamily="2" charset="2"/>
              <a:buNone/>
            </a:pPr>
            <a:r>
              <a:rPr lang="zh-CN" altLang="en-US" sz="2000" dirty="0">
                <a:solidFill>
                  <a:srgbClr val="00B0F0"/>
                </a:solidFill>
                <a:latin typeface="Consolas" panose="020B0609020204030204" charset="0"/>
                <a:sym typeface="+mn-ea"/>
              </a:rPr>
              <a:t>"2323"</a:t>
            </a:r>
            <a:endParaRPr lang="zh-CN" altLang="en-US" sz="2000" dirty="0">
              <a:solidFill>
                <a:srgbClr val="00B0F0"/>
              </a:solidFill>
              <a:latin typeface="Consolas" panose="020B0609020204030204" charset="0"/>
            </a:endParaRPr>
          </a:p>
          <a:p>
            <a:pPr defTabSz="914400" fontAlgn="auto">
              <a:lnSpc>
                <a:spcPct val="110000"/>
              </a:lnSpc>
              <a:spcBef>
                <a:spcPct val="0"/>
              </a:spcBef>
              <a:buSzPct val="70000"/>
              <a:buFont typeface="Wingdings" panose="05000000000000000000" pitchFamily="2" charset="2"/>
              <a:buNone/>
            </a:pPr>
            <a:r>
              <a:rPr lang="zh-CN" altLang="en-US" sz="2000" dirty="0">
                <a:latin typeface="Consolas" panose="020B0609020204030204" charset="0"/>
                <a:sym typeface="+mn-ea"/>
              </a:rPr>
              <a:t>&gt;&gt;&gt; sh = '%x' % x</a:t>
            </a:r>
            <a:endParaRPr lang="zh-CN" altLang="en-US" sz="2000" dirty="0">
              <a:latin typeface="Consolas" panose="020B0609020204030204" charset="0"/>
            </a:endParaRPr>
          </a:p>
          <a:p>
            <a:pPr defTabSz="914400" fontAlgn="auto">
              <a:lnSpc>
                <a:spcPct val="110000"/>
              </a:lnSpc>
              <a:spcBef>
                <a:spcPct val="0"/>
              </a:spcBef>
              <a:buSzPct val="70000"/>
              <a:buFont typeface="Wingdings" panose="05000000000000000000" pitchFamily="2" charset="2"/>
              <a:buNone/>
            </a:pPr>
            <a:r>
              <a:rPr lang="zh-CN" altLang="en-US" sz="2000" dirty="0">
                <a:latin typeface="Consolas" panose="020B0609020204030204" charset="0"/>
                <a:sym typeface="+mn-ea"/>
              </a:rPr>
              <a:t>&gt;&gt;&gt; sh</a:t>
            </a:r>
            <a:endParaRPr lang="zh-CN" altLang="en-US" sz="2000" dirty="0">
              <a:latin typeface="Consolas" panose="020B0609020204030204" charset="0"/>
            </a:endParaRPr>
          </a:p>
          <a:p>
            <a:pPr defTabSz="914400" fontAlgn="auto">
              <a:lnSpc>
                <a:spcPct val="110000"/>
              </a:lnSpc>
              <a:spcBef>
                <a:spcPct val="0"/>
              </a:spcBef>
              <a:buSzPct val="70000"/>
              <a:buFont typeface="Wingdings" panose="05000000000000000000" pitchFamily="2" charset="2"/>
              <a:buNone/>
            </a:pPr>
            <a:r>
              <a:rPr lang="zh-CN" altLang="en-US" sz="2000" dirty="0">
                <a:solidFill>
                  <a:srgbClr val="00B0F0"/>
                </a:solidFill>
                <a:latin typeface="Consolas" panose="020B0609020204030204" charset="0"/>
                <a:sym typeface="+mn-ea"/>
              </a:rPr>
              <a:t>"4d3"</a:t>
            </a:r>
            <a:endParaRPr lang="zh-CN" altLang="en-US" sz="2000" dirty="0">
              <a:solidFill>
                <a:srgbClr val="00B0F0"/>
              </a:solidFill>
              <a:latin typeface="Consolas" panose="020B0609020204030204" charset="0"/>
            </a:endParaRPr>
          </a:p>
          <a:p>
            <a:pPr defTabSz="914400" fontAlgn="auto">
              <a:lnSpc>
                <a:spcPct val="110000"/>
              </a:lnSpc>
              <a:spcBef>
                <a:spcPct val="0"/>
              </a:spcBef>
              <a:buSzPct val="70000"/>
              <a:buFont typeface="Wingdings" panose="05000000000000000000" pitchFamily="2" charset="2"/>
              <a:buNone/>
            </a:pPr>
            <a:r>
              <a:rPr lang="zh-CN" altLang="en-US" sz="2000" dirty="0">
                <a:latin typeface="Consolas" panose="020B0609020204030204" charset="0"/>
                <a:sym typeface="+mn-ea"/>
              </a:rPr>
              <a:t>&gt;&gt;&gt; se = '%e' % x</a:t>
            </a:r>
            <a:endParaRPr lang="zh-CN" altLang="en-US" sz="2000" dirty="0">
              <a:latin typeface="Consolas" panose="020B0609020204030204" charset="0"/>
            </a:endParaRPr>
          </a:p>
          <a:p>
            <a:pPr defTabSz="914400" fontAlgn="auto">
              <a:lnSpc>
                <a:spcPct val="110000"/>
              </a:lnSpc>
              <a:spcBef>
                <a:spcPct val="0"/>
              </a:spcBef>
              <a:buSzPct val="70000"/>
              <a:buFont typeface="Wingdings" panose="05000000000000000000" pitchFamily="2" charset="2"/>
              <a:buNone/>
            </a:pPr>
            <a:r>
              <a:rPr lang="zh-CN" altLang="en-US" sz="2000" dirty="0">
                <a:latin typeface="Consolas" panose="020B0609020204030204" charset="0"/>
                <a:sym typeface="+mn-ea"/>
              </a:rPr>
              <a:t>&gt;&gt;&gt; se</a:t>
            </a:r>
            <a:endParaRPr lang="zh-CN" altLang="en-US" sz="2000" dirty="0">
              <a:latin typeface="Consolas" panose="020B0609020204030204" charset="0"/>
            </a:endParaRPr>
          </a:p>
          <a:p>
            <a:pPr defTabSz="914400" fontAlgn="auto">
              <a:lnSpc>
                <a:spcPct val="110000"/>
              </a:lnSpc>
              <a:spcBef>
                <a:spcPct val="0"/>
              </a:spcBef>
              <a:buSzPct val="70000"/>
              <a:buFont typeface="Wingdings" panose="05000000000000000000" pitchFamily="2" charset="2"/>
              <a:buNone/>
            </a:pPr>
            <a:r>
              <a:rPr lang="zh-CN" altLang="en-US" sz="2000" dirty="0">
                <a:solidFill>
                  <a:srgbClr val="00B0F0"/>
                </a:solidFill>
                <a:latin typeface="Consolas" panose="020B0609020204030204" charset="0"/>
                <a:sym typeface="+mn-ea"/>
              </a:rPr>
              <a:t>"1.235000e+03"</a:t>
            </a:r>
            <a:endParaRPr lang="zh-CN" altLang="en-US" sz="2000" dirty="0">
              <a:solidFill>
                <a:srgbClr val="00B0F0"/>
              </a:solidFill>
              <a:latin typeface="Consolas" panose="020B0609020204030204" charset="0"/>
            </a:endParaRPr>
          </a:p>
          <a:p>
            <a:pPr defTabSz="914400" fontAlgn="auto">
              <a:lnSpc>
                <a:spcPct val="110000"/>
              </a:lnSpc>
              <a:spcBef>
                <a:spcPct val="0"/>
              </a:spcBef>
              <a:buSzPct val="70000"/>
              <a:buFont typeface="Wingdings" panose="05000000000000000000" pitchFamily="2" charset="2"/>
              <a:buNone/>
            </a:pPr>
            <a:r>
              <a:rPr lang="zh-CN" altLang="en-US" sz="2000" dirty="0">
                <a:latin typeface="Consolas" panose="020B0609020204030204" charset="0"/>
                <a:sym typeface="+mn-ea"/>
              </a:rPr>
              <a:t>&gt;&gt;&gt; '%s' % 65</a:t>
            </a:r>
            <a:endParaRPr lang="zh-CN" altLang="en-US" sz="2000" dirty="0">
              <a:latin typeface="Consolas" panose="020B0609020204030204" charset="0"/>
            </a:endParaRPr>
          </a:p>
          <a:p>
            <a:pPr defTabSz="914400" fontAlgn="auto">
              <a:lnSpc>
                <a:spcPct val="110000"/>
              </a:lnSpc>
              <a:spcBef>
                <a:spcPct val="0"/>
              </a:spcBef>
              <a:buSzPct val="70000"/>
              <a:buFont typeface="Wingdings" panose="05000000000000000000" pitchFamily="2" charset="2"/>
              <a:buNone/>
            </a:pPr>
            <a:r>
              <a:rPr lang="zh-CN" altLang="en-US" sz="2000" dirty="0">
                <a:solidFill>
                  <a:srgbClr val="00B0F0"/>
                </a:solidFill>
                <a:latin typeface="Consolas" panose="020B0609020204030204" charset="0"/>
                <a:sym typeface="+mn-ea"/>
              </a:rPr>
              <a:t>"65"</a:t>
            </a:r>
            <a:endParaRPr lang="zh-CN" altLang="en-US" sz="2000" dirty="0">
              <a:solidFill>
                <a:srgbClr val="00B0F0"/>
              </a:solidFill>
              <a:latin typeface="Consolas" panose="020B0609020204030204" charset="0"/>
            </a:endParaRPr>
          </a:p>
          <a:p>
            <a:pPr defTabSz="914400" fontAlgn="auto">
              <a:lnSpc>
                <a:spcPct val="110000"/>
              </a:lnSpc>
              <a:spcBef>
                <a:spcPct val="0"/>
              </a:spcBef>
              <a:buSzPct val="70000"/>
              <a:buFont typeface="Wingdings" panose="05000000000000000000" pitchFamily="2" charset="2"/>
              <a:buNone/>
            </a:pPr>
            <a:r>
              <a:rPr lang="zh-CN" altLang="en-US" sz="2000" dirty="0">
                <a:latin typeface="Consolas" panose="020B0609020204030204" charset="0"/>
                <a:sym typeface="+mn-ea"/>
              </a:rPr>
              <a:t>&gt;&gt;&gt; '%s' % 65333</a:t>
            </a:r>
            <a:endParaRPr lang="zh-CN" altLang="en-US" sz="2000" dirty="0">
              <a:latin typeface="Consolas" panose="020B0609020204030204" charset="0"/>
            </a:endParaRPr>
          </a:p>
          <a:p>
            <a:pPr defTabSz="914400" fontAlgn="auto">
              <a:lnSpc>
                <a:spcPct val="110000"/>
              </a:lnSpc>
              <a:spcBef>
                <a:spcPct val="0"/>
              </a:spcBef>
              <a:buSzPct val="70000"/>
              <a:buFont typeface="Wingdings" panose="05000000000000000000" pitchFamily="2" charset="2"/>
              <a:buNone/>
            </a:pPr>
            <a:r>
              <a:rPr lang="zh-CN" altLang="en-US" sz="2000" dirty="0">
                <a:solidFill>
                  <a:srgbClr val="00B0F0"/>
                </a:solidFill>
                <a:latin typeface="Consolas" panose="020B0609020204030204" charset="0"/>
                <a:sym typeface="+mn-ea"/>
              </a:rPr>
              <a:t>"65333"</a:t>
            </a:r>
            <a:endParaRPr lang="zh-CN" altLang="en-US" sz="2000" dirty="0">
              <a:solidFill>
                <a:srgbClr val="00B0F0"/>
              </a:solidFill>
              <a:latin typeface="Consolas" panose="020B0609020204030204" charset="0"/>
            </a:endParaRPr>
          </a:p>
          <a:p>
            <a:pPr defTabSz="914400" fontAlgn="auto">
              <a:lnSpc>
                <a:spcPct val="110000"/>
              </a:lnSpc>
              <a:spcBef>
                <a:spcPct val="0"/>
              </a:spcBef>
              <a:buSzPct val="70000"/>
              <a:buFont typeface="Wingdings" panose="05000000000000000000" pitchFamily="2" charset="2"/>
              <a:buNone/>
            </a:pPr>
            <a:r>
              <a:rPr lang="zh-CN" altLang="en-US" sz="2000" dirty="0">
                <a:latin typeface="Consolas" panose="020B0609020204030204" charset="0"/>
                <a:sym typeface="+mn-ea"/>
              </a:rPr>
              <a:t>&gt;&gt;&gt; '%d' % '555'</a:t>
            </a:r>
            <a:endParaRPr lang="zh-CN" altLang="en-US" sz="2000" dirty="0">
              <a:latin typeface="Consolas" panose="020B0609020204030204" charset="0"/>
              <a:sym typeface="+mn-ea"/>
            </a:endParaRPr>
          </a:p>
          <a:p>
            <a:pPr defTabSz="914400" fontAlgn="auto">
              <a:lnSpc>
                <a:spcPct val="110000"/>
              </a:lnSpc>
              <a:spcBef>
                <a:spcPct val="0"/>
              </a:spcBef>
              <a:buSzPct val="70000"/>
              <a:buFont typeface="Wingdings" panose="05000000000000000000" pitchFamily="2" charset="2"/>
              <a:buNone/>
            </a:pPr>
            <a:r>
              <a:rPr lang="zh-CN" altLang="en-US" sz="2000" dirty="0">
                <a:solidFill>
                  <a:srgbClr val="FF0000"/>
                </a:solidFill>
                <a:latin typeface="Consolas" panose="020B0609020204030204" charset="0"/>
                <a:sym typeface="+mn-ea"/>
              </a:rPr>
              <a:t>TypeError: %d format: a number is required, not str</a:t>
            </a:r>
            <a:endParaRPr lang="zh-CN" altLang="en-US" sz="2000">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7.3.2  </a:t>
            </a:r>
            <a:r>
              <a:rPr lang="zh-CN" altLang="en-US"/>
              <a:t>使用</a:t>
            </a:r>
            <a:r>
              <a:rPr lang="en-US" altLang="zh-CN"/>
              <a:t>format()</a:t>
            </a:r>
            <a:r>
              <a:rPr lang="zh-CN" altLang="en-US"/>
              <a:t>方法进行格式化</a:t>
            </a:r>
            <a:endParaRPr lang="zh-CN" altLang="en-US"/>
          </a:p>
        </p:txBody>
      </p:sp>
      <p:sp>
        <p:nvSpPr>
          <p:cNvPr id="3" name="内容占位符 2"/>
          <p:cNvSpPr>
            <a:spLocks noGrp="1"/>
          </p:cNvSpPr>
          <p:nvPr>
            <p:ph idx="1"/>
          </p:nvPr>
        </p:nvSpPr>
        <p:spPr/>
        <p:txBody>
          <a:bodyPr>
            <a:normAutofit/>
          </a:bodyPr>
          <a:p>
            <a:pPr marL="0" indent="0">
              <a:buNone/>
            </a:pPr>
            <a:r>
              <a:rPr lang="zh-CN" altLang="en-US" sz="2000">
                <a:latin typeface="Consolas" panose="020B0609020204030204" charset="0"/>
              </a:rPr>
              <a:t>&gt;&gt;&gt; 1/3</a:t>
            </a:r>
            <a:endParaRPr lang="zh-CN" altLang="en-US" sz="2000">
              <a:latin typeface="Consolas" panose="020B0609020204030204" charset="0"/>
            </a:endParaRPr>
          </a:p>
          <a:p>
            <a:pPr marL="0" indent="0">
              <a:buNone/>
            </a:pPr>
            <a:r>
              <a:rPr lang="zh-CN" altLang="en-US" sz="2000">
                <a:solidFill>
                  <a:srgbClr val="00B0F0"/>
                </a:solidFill>
                <a:latin typeface="Consolas" panose="020B0609020204030204" charset="0"/>
              </a:rPr>
              <a:t>0.3333333333333333</a:t>
            </a:r>
            <a:endParaRPr lang="zh-CN" altLang="en-US" sz="2000">
              <a:solidFill>
                <a:srgbClr val="00B0F0"/>
              </a:solidFill>
              <a:latin typeface="Consolas" panose="020B0609020204030204" charset="0"/>
            </a:endParaRPr>
          </a:p>
          <a:p>
            <a:pPr marL="0" indent="0">
              <a:buNone/>
            </a:pPr>
            <a:r>
              <a:rPr lang="zh-CN" altLang="en-US" sz="2000">
                <a:latin typeface="Consolas" panose="020B0609020204030204" charset="0"/>
              </a:rPr>
              <a:t>&gt;&gt;&gt; '{0:.3f}'.format(1/3)</a:t>
            </a:r>
            <a:endParaRPr lang="zh-CN" altLang="en-US" sz="2000">
              <a:latin typeface="Consolas" panose="020B0609020204030204" charset="0"/>
            </a:endParaRPr>
          </a:p>
          <a:p>
            <a:pPr marL="0" indent="0">
              <a:buNone/>
            </a:pPr>
            <a:r>
              <a:rPr lang="zh-CN" altLang="en-US" sz="2000">
                <a:solidFill>
                  <a:srgbClr val="00B0F0"/>
                </a:solidFill>
                <a:latin typeface="Consolas" panose="020B0609020204030204" charset="0"/>
              </a:rPr>
              <a:t>'0.333'</a:t>
            </a:r>
            <a:endParaRPr lang="zh-CN" altLang="en-US" sz="2000">
              <a:solidFill>
                <a:srgbClr val="00B0F0"/>
              </a:solidFill>
              <a:latin typeface="Consolas" panose="020B0609020204030204" charset="0"/>
            </a:endParaRPr>
          </a:p>
          <a:p>
            <a:pPr marL="0" indent="0">
              <a:buNone/>
            </a:pPr>
            <a:r>
              <a:rPr lang="zh-CN" altLang="en-US" sz="2000">
                <a:latin typeface="Consolas" panose="020B0609020204030204" charset="0"/>
              </a:rPr>
              <a:t>&gt;&gt;&gt; '{0:%}'.format(3.5)                # 格式化为百分数</a:t>
            </a:r>
            <a:endParaRPr lang="zh-CN" altLang="en-US" sz="2000">
              <a:latin typeface="Consolas" panose="020B0609020204030204" charset="0"/>
            </a:endParaRPr>
          </a:p>
          <a:p>
            <a:pPr marL="0" indent="0">
              <a:buNone/>
            </a:pPr>
            <a:r>
              <a:rPr lang="zh-CN" altLang="en-US" sz="2000">
                <a:solidFill>
                  <a:srgbClr val="00B0F0"/>
                </a:solidFill>
                <a:latin typeface="Consolas" panose="020B0609020204030204" charset="0"/>
              </a:rPr>
              <a:t>'350.000000%'</a:t>
            </a:r>
            <a:endParaRPr lang="zh-CN" altLang="en-US" sz="2000">
              <a:solidFill>
                <a:srgbClr val="00B0F0"/>
              </a:solidFill>
              <a:latin typeface="Consolas" panose="020B0609020204030204" charset="0"/>
            </a:endParaRPr>
          </a:p>
          <a:p>
            <a:pPr marL="0" indent="0">
              <a:buNone/>
            </a:pPr>
            <a:r>
              <a:rPr lang="zh-CN" altLang="en-US" sz="2000">
                <a:latin typeface="Consolas" panose="020B0609020204030204" charset="0"/>
              </a:rPr>
              <a:t>&gt;&gt;&gt; '{0:</a:t>
            </a:r>
            <a:r>
              <a:rPr lang="en-US" altLang="zh-CN" sz="2000">
                <a:latin typeface="Consolas" panose="020B0609020204030204" charset="0"/>
              </a:rPr>
              <a:t>,</a:t>
            </a:r>
            <a:r>
              <a:rPr lang="zh-CN" altLang="en-US" sz="2000">
                <a:latin typeface="Consolas" panose="020B0609020204030204" charset="0"/>
              </a:rPr>
              <a:t>},{0:_x}'.format(1000000)     # Python 3.6.0新增支持下划线</a:t>
            </a:r>
            <a:r>
              <a:rPr lang="zh-CN" altLang="en-US" sz="2000">
                <a:latin typeface="Consolas" panose="020B0609020204030204" charset="0"/>
              </a:rPr>
              <a:t>千分符</a:t>
            </a:r>
            <a:endParaRPr lang="zh-CN" altLang="en-US" sz="2000">
              <a:latin typeface="Consolas" panose="020B0609020204030204" charset="0"/>
            </a:endParaRPr>
          </a:p>
          <a:p>
            <a:pPr marL="0" indent="0">
              <a:buNone/>
            </a:pPr>
            <a:r>
              <a:rPr lang="zh-CN" altLang="en-US" sz="2000">
                <a:solidFill>
                  <a:srgbClr val="00B0F0"/>
                </a:solidFill>
                <a:latin typeface="Consolas" panose="020B0609020204030204" charset="0"/>
              </a:rPr>
              <a:t>'1,000,000,f_4240'</a:t>
            </a:r>
            <a:endParaRPr lang="zh-CN" altLang="en-US" sz="2000">
              <a:solidFill>
                <a:srgbClr val="00B0F0"/>
              </a:solidFill>
              <a:latin typeface="Consolas" panose="020B0609020204030204" charset="0"/>
            </a:endParaRPr>
          </a:p>
          <a:p>
            <a:pPr marL="0" indent="0">
              <a:buNone/>
            </a:pPr>
            <a:r>
              <a:rPr lang="zh-CN" altLang="en-US" sz="2000">
                <a:latin typeface="Consolas" panose="020B0609020204030204" charset="0"/>
              </a:rPr>
              <a:t>&gt;&gt;&gt; '{0:_},{0:</a:t>
            </a:r>
            <a:r>
              <a:rPr lang="en-US" altLang="zh-CN" sz="2000">
                <a:latin typeface="Consolas" panose="020B0609020204030204" charset="0"/>
              </a:rPr>
              <a:t>,</a:t>
            </a:r>
            <a:r>
              <a:rPr lang="zh-CN" altLang="en-US" sz="2000">
                <a:latin typeface="Consolas" panose="020B0609020204030204" charset="0"/>
              </a:rPr>
              <a:t>x}'.format(10000000)    # 格式化为十六进制数时不支持逗号</a:t>
            </a:r>
            <a:r>
              <a:rPr lang="zh-CN" altLang="en-US" sz="2000">
                <a:latin typeface="Consolas" panose="020B0609020204030204" charset="0"/>
              </a:rPr>
              <a:t>千分符</a:t>
            </a:r>
            <a:endParaRPr lang="zh-CN" altLang="en-US" sz="2000">
              <a:latin typeface="Consolas" panose="020B0609020204030204" charset="0"/>
            </a:endParaRPr>
          </a:p>
          <a:p>
            <a:pPr marL="0" indent="0">
              <a:buNone/>
            </a:pPr>
            <a:r>
              <a:rPr lang="zh-CN" altLang="en-US" sz="2000">
                <a:solidFill>
                  <a:srgbClr val="FF0000"/>
                </a:solidFill>
                <a:latin typeface="Consolas" panose="020B0609020204030204" charset="0"/>
              </a:rPr>
              <a:t>ValueError: Cannot specify ',' with 'x'.</a:t>
            </a:r>
            <a:endParaRPr lang="zh-CN" altLang="en-US" sz="2000">
              <a:solidFill>
                <a:srgbClr val="FF0000"/>
              </a:solidFill>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7.3.2  </a:t>
            </a:r>
            <a:r>
              <a:rPr lang="zh-CN" altLang="en-US">
                <a:sym typeface="+mn-ea"/>
              </a:rPr>
              <a:t>使用</a:t>
            </a:r>
            <a:r>
              <a:rPr lang="en-US" altLang="zh-CN">
                <a:sym typeface="+mn-ea"/>
              </a:rPr>
              <a:t>format()</a:t>
            </a:r>
            <a:r>
              <a:rPr lang="zh-CN" altLang="en-US">
                <a:sym typeface="+mn-ea"/>
              </a:rPr>
              <a:t>方法进行格式化</a:t>
            </a:r>
            <a:endParaRPr lang="zh-CN" altLang="en-US"/>
          </a:p>
        </p:txBody>
      </p:sp>
      <p:sp>
        <p:nvSpPr>
          <p:cNvPr id="3" name="内容占位符 2"/>
          <p:cNvSpPr>
            <a:spLocks noGrp="1"/>
          </p:cNvSpPr>
          <p:nvPr>
            <p:ph idx="1"/>
          </p:nvPr>
        </p:nvSpPr>
        <p:spPr>
          <a:xfrm>
            <a:off x="838200" y="1321435"/>
            <a:ext cx="10959465" cy="4639945"/>
          </a:xfrm>
        </p:spPr>
        <p:txBody>
          <a:bodyPr>
            <a:normAutofit/>
          </a:bodyPr>
          <a:p>
            <a:pPr defTabSz="914400">
              <a:lnSpc>
                <a:spcPct val="100000"/>
              </a:lnSpc>
              <a:spcBef>
                <a:spcPts val="300"/>
              </a:spcBef>
              <a:buSzPct val="70000"/>
              <a:buFont typeface="Wingdings" panose="05000000000000000000" pitchFamily="2" charset="2"/>
              <a:buNone/>
            </a:pPr>
            <a:r>
              <a:rPr lang="zh-CN" sz="1600" dirty="0">
                <a:latin typeface="Consolas" panose="020B0609020204030204" charset="0"/>
                <a:cs typeface="Consolas" panose="020B0609020204030204" charset="0"/>
                <a:sym typeface="+mn-ea"/>
              </a:rPr>
              <a:t>&gt;&gt;&gt; print(</a:t>
            </a:r>
            <a:r>
              <a:rPr lang="zh-CN" altLang="en-US" sz="1600">
                <a:latin typeface="Consolas" panose="020B0609020204030204" charset="0"/>
                <a:cs typeface="Consolas" panose="020B0609020204030204" charset="0"/>
                <a:sym typeface="+mn-ea"/>
              </a:rPr>
              <a:t>'</a:t>
            </a:r>
            <a:r>
              <a:rPr lang="zh-CN" sz="1600" dirty="0">
                <a:latin typeface="Consolas" panose="020B0609020204030204" charset="0"/>
                <a:cs typeface="Consolas" panose="020B0609020204030204" charset="0"/>
                <a:sym typeface="+mn-ea"/>
              </a:rPr>
              <a:t>The number {0:,} in hex is: {0:#x}, the number {1} in oct is {1:#o}</a:t>
            </a:r>
            <a:r>
              <a:rPr lang="zh-CN" altLang="en-US" sz="1600">
                <a:latin typeface="Consolas" panose="020B0609020204030204" charset="0"/>
                <a:cs typeface="Consolas" panose="020B0609020204030204" charset="0"/>
                <a:sym typeface="+mn-ea"/>
              </a:rPr>
              <a:t>'</a:t>
            </a:r>
            <a:r>
              <a:rPr lang="zh-CN" sz="1600" dirty="0">
                <a:latin typeface="Consolas" panose="020B0609020204030204" charset="0"/>
                <a:cs typeface="Consolas" panose="020B0609020204030204" charset="0"/>
                <a:sym typeface="+mn-ea"/>
              </a:rPr>
              <a:t>.format(5555,</a:t>
            </a:r>
            <a:r>
              <a:rPr lang="en-US" altLang="zh-CN" sz="1600" dirty="0">
                <a:latin typeface="Consolas" panose="020B0609020204030204" charset="0"/>
                <a:cs typeface="Consolas" panose="020B0609020204030204" charset="0"/>
                <a:sym typeface="+mn-ea"/>
              </a:rPr>
              <a:t> </a:t>
            </a:r>
            <a:r>
              <a:rPr lang="zh-CN" sz="1600" dirty="0">
                <a:latin typeface="Consolas" panose="020B0609020204030204" charset="0"/>
                <a:cs typeface="Consolas" panose="020B0609020204030204" charset="0"/>
                <a:sym typeface="+mn-ea"/>
              </a:rPr>
              <a:t>55))</a:t>
            </a:r>
            <a:endParaRPr lang="zh-CN" sz="1600" dirty="0">
              <a:latin typeface="Consolas" panose="020B0609020204030204" charset="0"/>
              <a:cs typeface="Consolas" panose="020B0609020204030204" charset="0"/>
            </a:endParaRPr>
          </a:p>
          <a:p>
            <a:pPr defTabSz="914400">
              <a:lnSpc>
                <a:spcPct val="100000"/>
              </a:lnSpc>
              <a:spcBef>
                <a:spcPts val="300"/>
              </a:spcBef>
              <a:buSzPct val="70000"/>
              <a:buFont typeface="Wingdings" panose="05000000000000000000" pitchFamily="2" charset="2"/>
              <a:buNone/>
            </a:pPr>
            <a:r>
              <a:rPr lang="zh-CN" sz="1600" dirty="0">
                <a:solidFill>
                  <a:srgbClr val="00B0F0"/>
                </a:solidFill>
                <a:latin typeface="Consolas" panose="020B0609020204030204" charset="0"/>
                <a:cs typeface="Consolas" panose="020B0609020204030204" charset="0"/>
                <a:sym typeface="+mn-ea"/>
              </a:rPr>
              <a:t>The number 5,555 in hex is: 0x15b3, the number 55 in oct is 0o67</a:t>
            </a:r>
            <a:endParaRPr lang="zh-CN" sz="1600" dirty="0">
              <a:solidFill>
                <a:srgbClr val="00B0F0"/>
              </a:solidFill>
              <a:latin typeface="Consolas" panose="020B0609020204030204" charset="0"/>
              <a:cs typeface="Consolas" panose="020B0609020204030204" charset="0"/>
            </a:endParaRPr>
          </a:p>
          <a:p>
            <a:pPr defTabSz="914400">
              <a:lnSpc>
                <a:spcPct val="100000"/>
              </a:lnSpc>
              <a:spcBef>
                <a:spcPts val="300"/>
              </a:spcBef>
              <a:buSzPct val="70000"/>
              <a:buFont typeface="Wingdings" panose="05000000000000000000" pitchFamily="2" charset="2"/>
              <a:buNone/>
            </a:pPr>
            <a:r>
              <a:rPr lang="zh-CN" sz="1600" dirty="0">
                <a:latin typeface="Consolas" panose="020B0609020204030204" charset="0"/>
                <a:cs typeface="Consolas" panose="020B0609020204030204" charset="0"/>
                <a:sym typeface="+mn-ea"/>
              </a:rPr>
              <a:t>&gt;&gt;&gt; print(</a:t>
            </a:r>
            <a:r>
              <a:rPr lang="zh-CN" altLang="en-US" sz="1600">
                <a:latin typeface="Consolas" panose="020B0609020204030204" charset="0"/>
                <a:cs typeface="Consolas" panose="020B0609020204030204" charset="0"/>
                <a:sym typeface="+mn-ea"/>
              </a:rPr>
              <a:t>'</a:t>
            </a:r>
            <a:r>
              <a:rPr lang="zh-CN" sz="1600" dirty="0">
                <a:latin typeface="Consolas" panose="020B0609020204030204" charset="0"/>
                <a:cs typeface="Consolas" panose="020B0609020204030204" charset="0"/>
                <a:sym typeface="+mn-ea"/>
              </a:rPr>
              <a:t>The number {1:,} in hex is: {1:#x}, the number {0} in oct is {0:o}</a:t>
            </a:r>
            <a:r>
              <a:rPr lang="zh-CN" altLang="en-US" sz="1600">
                <a:latin typeface="Consolas" panose="020B0609020204030204" charset="0"/>
                <a:cs typeface="Consolas" panose="020B0609020204030204" charset="0"/>
                <a:sym typeface="+mn-ea"/>
              </a:rPr>
              <a:t>'</a:t>
            </a:r>
            <a:r>
              <a:rPr lang="zh-CN" sz="1600" dirty="0">
                <a:latin typeface="Consolas" panose="020B0609020204030204" charset="0"/>
                <a:cs typeface="Consolas" panose="020B0609020204030204" charset="0"/>
                <a:sym typeface="+mn-ea"/>
              </a:rPr>
              <a:t>.format(5555,</a:t>
            </a:r>
            <a:r>
              <a:rPr lang="en-US" altLang="zh-CN" sz="1600" dirty="0">
                <a:latin typeface="Consolas" panose="020B0609020204030204" charset="0"/>
                <a:cs typeface="Consolas" panose="020B0609020204030204" charset="0"/>
                <a:sym typeface="+mn-ea"/>
              </a:rPr>
              <a:t> </a:t>
            </a:r>
            <a:r>
              <a:rPr lang="zh-CN" sz="1600" dirty="0">
                <a:latin typeface="Consolas" panose="020B0609020204030204" charset="0"/>
                <a:cs typeface="Consolas" panose="020B0609020204030204" charset="0"/>
                <a:sym typeface="+mn-ea"/>
              </a:rPr>
              <a:t>55))</a:t>
            </a:r>
            <a:endParaRPr lang="zh-CN" sz="1600" dirty="0">
              <a:latin typeface="Consolas" panose="020B0609020204030204" charset="0"/>
              <a:cs typeface="Consolas" panose="020B0609020204030204" charset="0"/>
            </a:endParaRPr>
          </a:p>
          <a:p>
            <a:pPr defTabSz="914400">
              <a:lnSpc>
                <a:spcPct val="100000"/>
              </a:lnSpc>
              <a:spcBef>
                <a:spcPts val="300"/>
              </a:spcBef>
              <a:buSzPct val="70000"/>
              <a:buFont typeface="Wingdings" panose="05000000000000000000" pitchFamily="2" charset="2"/>
              <a:buNone/>
            </a:pPr>
            <a:r>
              <a:rPr lang="zh-CN" sz="1600" dirty="0">
                <a:solidFill>
                  <a:srgbClr val="00B0F0"/>
                </a:solidFill>
                <a:latin typeface="Consolas" panose="020B0609020204030204" charset="0"/>
                <a:cs typeface="Consolas" panose="020B0609020204030204" charset="0"/>
                <a:sym typeface="+mn-ea"/>
              </a:rPr>
              <a:t>The number 55 in hex is: 0x37, the number 5555 in oct is 12663</a:t>
            </a:r>
            <a:endParaRPr lang="zh-CN" sz="1600" dirty="0">
              <a:solidFill>
                <a:srgbClr val="00B0F0"/>
              </a:solidFill>
              <a:latin typeface="Consolas" panose="020B0609020204030204" charset="0"/>
              <a:cs typeface="Consolas" panose="020B0609020204030204" charset="0"/>
            </a:endParaRPr>
          </a:p>
          <a:p>
            <a:pPr defTabSz="914400">
              <a:lnSpc>
                <a:spcPct val="100000"/>
              </a:lnSpc>
              <a:spcBef>
                <a:spcPts val="300"/>
              </a:spcBef>
              <a:buSzPct val="70000"/>
              <a:buFont typeface="Wingdings" panose="05000000000000000000" pitchFamily="2" charset="2"/>
              <a:buNone/>
            </a:pPr>
            <a:r>
              <a:rPr lang="zh-CN" sz="1600" dirty="0">
                <a:latin typeface="Consolas" panose="020B0609020204030204" charset="0"/>
                <a:cs typeface="Consolas" panose="020B0609020204030204" charset="0"/>
                <a:sym typeface="+mn-ea"/>
              </a:rPr>
              <a:t>&gt;&gt;&gt; print(</a:t>
            </a:r>
            <a:r>
              <a:rPr lang="zh-CN" altLang="en-US" sz="1600">
                <a:latin typeface="Consolas" panose="020B0609020204030204" charset="0"/>
                <a:cs typeface="Consolas" panose="020B0609020204030204" charset="0"/>
                <a:sym typeface="+mn-ea"/>
              </a:rPr>
              <a:t>'</a:t>
            </a:r>
            <a:r>
              <a:rPr lang="zh-CN" sz="1600" dirty="0">
                <a:latin typeface="Consolas" panose="020B0609020204030204" charset="0"/>
                <a:cs typeface="Consolas" panose="020B0609020204030204" charset="0"/>
                <a:sym typeface="+mn-ea"/>
              </a:rPr>
              <a:t>my name is {name}, my age is {age}, and my QQ is {qq}</a:t>
            </a:r>
            <a:r>
              <a:rPr lang="zh-CN" altLang="en-US" sz="1600">
                <a:latin typeface="Consolas" panose="020B0609020204030204" charset="0"/>
                <a:cs typeface="Consolas" panose="020B0609020204030204" charset="0"/>
                <a:sym typeface="+mn-ea"/>
              </a:rPr>
              <a:t>'</a:t>
            </a:r>
            <a:r>
              <a:rPr lang="zh-CN" sz="1600" dirty="0">
                <a:latin typeface="Consolas" panose="020B0609020204030204" charset="0"/>
                <a:cs typeface="Consolas" panose="020B0609020204030204" charset="0"/>
                <a:sym typeface="+mn-ea"/>
              </a:rPr>
              <a:t>.format(name=</a:t>
            </a:r>
            <a:r>
              <a:rPr lang="zh-CN" altLang="en-US" sz="1600">
                <a:latin typeface="Consolas" panose="020B0609020204030204" charset="0"/>
                <a:cs typeface="Consolas" panose="020B0609020204030204" charset="0"/>
                <a:sym typeface="+mn-ea"/>
              </a:rPr>
              <a:t>'</a:t>
            </a:r>
            <a:r>
              <a:rPr lang="zh-CN" sz="1600" dirty="0">
                <a:latin typeface="Consolas" panose="020B0609020204030204" charset="0"/>
                <a:cs typeface="Consolas" panose="020B0609020204030204" charset="0"/>
                <a:sym typeface="+mn-ea"/>
              </a:rPr>
              <a:t>Dong Fuguo</a:t>
            </a:r>
            <a:r>
              <a:rPr lang="zh-CN" altLang="en-US" sz="1600">
                <a:latin typeface="Consolas" panose="020B0609020204030204" charset="0"/>
                <a:cs typeface="Consolas" panose="020B0609020204030204" charset="0"/>
                <a:sym typeface="+mn-ea"/>
              </a:rPr>
              <a:t>'</a:t>
            </a:r>
            <a:r>
              <a:rPr lang="zh-CN" sz="1600" dirty="0">
                <a:latin typeface="Consolas" panose="020B0609020204030204" charset="0"/>
                <a:cs typeface="Consolas" panose="020B0609020204030204" charset="0"/>
                <a:sym typeface="+mn-ea"/>
              </a:rPr>
              <a:t>,</a:t>
            </a:r>
            <a:r>
              <a:rPr lang="en-US" altLang="zh-CN" sz="1600" dirty="0">
                <a:latin typeface="Consolas" panose="020B0609020204030204" charset="0"/>
                <a:cs typeface="Consolas" panose="020B0609020204030204" charset="0"/>
                <a:sym typeface="+mn-ea"/>
              </a:rPr>
              <a:t> </a:t>
            </a:r>
            <a:r>
              <a:rPr lang="zh-CN" sz="1600" dirty="0">
                <a:latin typeface="Consolas" panose="020B0609020204030204" charset="0"/>
                <a:cs typeface="Consolas" panose="020B0609020204030204" charset="0"/>
                <a:sym typeface="+mn-ea"/>
              </a:rPr>
              <a:t>age=40,</a:t>
            </a:r>
            <a:r>
              <a:rPr lang="en-US" altLang="zh-CN" sz="1600" dirty="0">
                <a:latin typeface="Consolas" panose="020B0609020204030204" charset="0"/>
                <a:cs typeface="Consolas" panose="020B0609020204030204" charset="0"/>
                <a:sym typeface="+mn-ea"/>
              </a:rPr>
              <a:t> </a:t>
            </a:r>
            <a:r>
              <a:rPr lang="zh-CN" sz="1600" dirty="0">
                <a:latin typeface="Consolas" panose="020B0609020204030204" charset="0"/>
                <a:cs typeface="Consolas" panose="020B0609020204030204" charset="0"/>
                <a:sym typeface="+mn-ea"/>
              </a:rPr>
              <a:t>qq=</a:t>
            </a:r>
            <a:r>
              <a:rPr lang="zh-CN" altLang="en-US" sz="1600">
                <a:latin typeface="Consolas" panose="020B0609020204030204" charset="0"/>
                <a:cs typeface="Consolas" panose="020B0609020204030204" charset="0"/>
                <a:sym typeface="+mn-ea"/>
              </a:rPr>
              <a:t>'</a:t>
            </a:r>
            <a:r>
              <a:rPr lang="zh-CN" sz="1600" dirty="0">
                <a:latin typeface="Consolas" panose="020B0609020204030204" charset="0"/>
                <a:cs typeface="Consolas" panose="020B0609020204030204" charset="0"/>
                <a:sym typeface="+mn-ea"/>
              </a:rPr>
              <a:t>30646****</a:t>
            </a:r>
            <a:r>
              <a:rPr lang="zh-CN" altLang="en-US" sz="1600">
                <a:latin typeface="Consolas" panose="020B0609020204030204" charset="0"/>
                <a:cs typeface="Consolas" panose="020B0609020204030204" charset="0"/>
                <a:sym typeface="+mn-ea"/>
              </a:rPr>
              <a:t>'</a:t>
            </a:r>
            <a:r>
              <a:rPr lang="zh-CN" sz="1600" dirty="0">
                <a:latin typeface="Consolas" panose="020B0609020204030204" charset="0"/>
                <a:cs typeface="Consolas" panose="020B0609020204030204" charset="0"/>
                <a:sym typeface="+mn-ea"/>
              </a:rPr>
              <a:t>))</a:t>
            </a:r>
            <a:endParaRPr lang="zh-CN" sz="1600" dirty="0">
              <a:latin typeface="Consolas" panose="020B0609020204030204" charset="0"/>
              <a:cs typeface="Consolas" panose="020B0609020204030204" charset="0"/>
            </a:endParaRPr>
          </a:p>
          <a:p>
            <a:pPr defTabSz="914400">
              <a:lnSpc>
                <a:spcPct val="100000"/>
              </a:lnSpc>
              <a:spcBef>
                <a:spcPts val="300"/>
              </a:spcBef>
              <a:buSzPct val="70000"/>
              <a:buFont typeface="Wingdings" panose="05000000000000000000" pitchFamily="2" charset="2"/>
              <a:buNone/>
            </a:pPr>
            <a:r>
              <a:rPr lang="zh-CN" sz="1600" dirty="0">
                <a:solidFill>
                  <a:srgbClr val="00B0F0"/>
                </a:solidFill>
                <a:latin typeface="Consolas" panose="020B0609020204030204" charset="0"/>
                <a:cs typeface="Consolas" panose="020B0609020204030204" charset="0"/>
                <a:sym typeface="+mn-ea"/>
              </a:rPr>
              <a:t>my name is Dong Fuguo, my age is 40, and my QQ is 30646****</a:t>
            </a:r>
            <a:endParaRPr lang="zh-CN" sz="1600" dirty="0">
              <a:solidFill>
                <a:srgbClr val="00B0F0"/>
              </a:solidFill>
              <a:latin typeface="Consolas" panose="020B0609020204030204" charset="0"/>
              <a:cs typeface="Consolas" panose="020B0609020204030204" charset="0"/>
            </a:endParaRPr>
          </a:p>
          <a:p>
            <a:pPr defTabSz="914400">
              <a:lnSpc>
                <a:spcPct val="100000"/>
              </a:lnSpc>
              <a:spcBef>
                <a:spcPts val="300"/>
              </a:spcBef>
              <a:buSzPct val="70000"/>
              <a:buFont typeface="Wingdings" panose="05000000000000000000" pitchFamily="2" charset="2"/>
              <a:buNone/>
            </a:pPr>
            <a:r>
              <a:rPr lang="zh-CN" sz="1600" dirty="0">
                <a:latin typeface="Consolas" panose="020B0609020204030204" charset="0"/>
                <a:cs typeface="Consolas" panose="020B0609020204030204" charset="0"/>
                <a:sym typeface="+mn-ea"/>
              </a:rPr>
              <a:t>&gt;&gt;&gt; position = (5, 8, 13)</a:t>
            </a:r>
            <a:endParaRPr lang="zh-CN" sz="1600" dirty="0">
              <a:latin typeface="Consolas" panose="020B0609020204030204" charset="0"/>
              <a:cs typeface="Consolas" panose="020B0609020204030204" charset="0"/>
            </a:endParaRPr>
          </a:p>
          <a:p>
            <a:pPr defTabSz="914400">
              <a:lnSpc>
                <a:spcPct val="100000"/>
              </a:lnSpc>
              <a:spcBef>
                <a:spcPts val="300"/>
              </a:spcBef>
              <a:buSzPct val="70000"/>
              <a:buFont typeface="Wingdings" panose="05000000000000000000" pitchFamily="2" charset="2"/>
              <a:buNone/>
            </a:pPr>
            <a:r>
              <a:rPr lang="zh-CN" sz="1600" dirty="0">
                <a:latin typeface="Consolas" panose="020B0609020204030204" charset="0"/>
                <a:cs typeface="Consolas" panose="020B0609020204030204" charset="0"/>
                <a:sym typeface="+mn-ea"/>
              </a:rPr>
              <a:t>&gt;&gt;&gt; print(</a:t>
            </a:r>
            <a:r>
              <a:rPr lang="zh-CN" altLang="en-US" sz="1600">
                <a:latin typeface="Consolas" panose="020B0609020204030204" charset="0"/>
                <a:cs typeface="Consolas" panose="020B0609020204030204" charset="0"/>
                <a:sym typeface="+mn-ea"/>
              </a:rPr>
              <a:t>'</a:t>
            </a:r>
            <a:r>
              <a:rPr lang="zh-CN" sz="1600" dirty="0">
                <a:latin typeface="Consolas" panose="020B0609020204030204" charset="0"/>
                <a:cs typeface="Consolas" panose="020B0609020204030204" charset="0"/>
                <a:sym typeface="+mn-ea"/>
              </a:rPr>
              <a:t>X:{0[0]};Y:{0[1]};Z:{0[2]}</a:t>
            </a:r>
            <a:r>
              <a:rPr lang="zh-CN" altLang="en-US" sz="1600">
                <a:latin typeface="Consolas" panose="020B0609020204030204" charset="0"/>
                <a:cs typeface="Consolas" panose="020B0609020204030204" charset="0"/>
                <a:sym typeface="+mn-ea"/>
              </a:rPr>
              <a:t>'</a:t>
            </a:r>
            <a:r>
              <a:rPr lang="zh-CN" sz="1600" dirty="0">
                <a:latin typeface="Consolas" panose="020B0609020204030204" charset="0"/>
                <a:cs typeface="Consolas" panose="020B0609020204030204" charset="0"/>
                <a:sym typeface="+mn-ea"/>
              </a:rPr>
              <a:t>.format(position))</a:t>
            </a:r>
            <a:endParaRPr lang="zh-CN" sz="1600" dirty="0">
              <a:latin typeface="Consolas" panose="020B0609020204030204" charset="0"/>
              <a:cs typeface="Consolas" panose="020B0609020204030204" charset="0"/>
            </a:endParaRPr>
          </a:p>
          <a:p>
            <a:pPr defTabSz="914400">
              <a:lnSpc>
                <a:spcPct val="100000"/>
              </a:lnSpc>
              <a:spcBef>
                <a:spcPts val="300"/>
              </a:spcBef>
              <a:buSzPct val="70000"/>
              <a:buFont typeface="Wingdings" panose="05000000000000000000" pitchFamily="2" charset="2"/>
              <a:buNone/>
            </a:pPr>
            <a:r>
              <a:rPr lang="zh-CN" sz="1600" dirty="0">
                <a:solidFill>
                  <a:srgbClr val="00B0F0"/>
                </a:solidFill>
                <a:latin typeface="Consolas" panose="020B0609020204030204" charset="0"/>
                <a:cs typeface="Consolas" panose="020B0609020204030204" charset="0"/>
                <a:sym typeface="+mn-ea"/>
              </a:rPr>
              <a:t>X:5;Y:8;Z:13</a:t>
            </a:r>
            <a:endParaRPr lang="zh-CN" sz="1600" dirty="0">
              <a:solidFill>
                <a:srgbClr val="00B0F0"/>
              </a:solidFill>
              <a:latin typeface="Consolas" panose="020B0609020204030204" charset="0"/>
              <a:cs typeface="Consolas" panose="020B0609020204030204" charset="0"/>
              <a:sym typeface="+mn-ea"/>
            </a:endParaRPr>
          </a:p>
          <a:p>
            <a:pPr defTabSz="914400">
              <a:lnSpc>
                <a:spcPct val="100000"/>
              </a:lnSpc>
              <a:spcBef>
                <a:spcPts val="300"/>
              </a:spcBef>
              <a:buSzPct val="70000"/>
              <a:buFont typeface="Wingdings" panose="05000000000000000000" pitchFamily="2" charset="2"/>
              <a:buNone/>
            </a:pPr>
            <a:r>
              <a:rPr lang="zh-CN" altLang="en-US" sz="1600">
                <a:latin typeface="Consolas" panose="020B0609020204030204" charset="0"/>
                <a:cs typeface="Consolas" panose="020B0609020204030204" charset="0"/>
              </a:rPr>
              <a:t>&gt;&gt;&gt; '{0[a]}'.format({'a':97, 'b':98})</a:t>
            </a:r>
            <a:endParaRPr lang="zh-CN" altLang="en-US" sz="1600">
              <a:latin typeface="Consolas" panose="020B0609020204030204" charset="0"/>
              <a:cs typeface="Consolas" panose="020B0609020204030204" charset="0"/>
            </a:endParaRPr>
          </a:p>
          <a:p>
            <a:pPr defTabSz="914400">
              <a:lnSpc>
                <a:spcPct val="100000"/>
              </a:lnSpc>
              <a:spcBef>
                <a:spcPts val="300"/>
              </a:spcBef>
              <a:buSzPct val="70000"/>
              <a:buFont typeface="Wingdings" panose="05000000000000000000" pitchFamily="2" charset="2"/>
              <a:buNone/>
            </a:pPr>
            <a:r>
              <a:rPr lang="zh-CN" sz="1600" dirty="0">
                <a:solidFill>
                  <a:srgbClr val="00B0F0"/>
                </a:solidFill>
                <a:latin typeface="Consolas" panose="020B0609020204030204" charset="0"/>
                <a:cs typeface="Consolas" panose="020B0609020204030204" charset="0"/>
              </a:rPr>
              <a:t>'97'</a:t>
            </a:r>
            <a:endParaRPr lang="zh-CN" sz="1600" dirty="0">
              <a:solidFill>
                <a:srgbClr val="00B0F0"/>
              </a:solidFill>
              <a:latin typeface="Consolas" panose="020B0609020204030204" charset="0"/>
              <a:cs typeface="Consolas" panose="020B0609020204030204" charset="0"/>
            </a:endParaRPr>
          </a:p>
          <a:p>
            <a:pPr defTabSz="914400">
              <a:lnSpc>
                <a:spcPct val="100000"/>
              </a:lnSpc>
              <a:spcBef>
                <a:spcPts val="300"/>
              </a:spcBef>
              <a:buSzPct val="70000"/>
              <a:buFont typeface="Wingdings" panose="05000000000000000000" pitchFamily="2" charset="2"/>
              <a:buNone/>
            </a:pPr>
            <a:r>
              <a:rPr lang="zh-CN" altLang="en-US" sz="1600">
                <a:latin typeface="Consolas" panose="020B0609020204030204" charset="0"/>
                <a:cs typeface="Consolas" panose="020B0609020204030204" charset="0"/>
              </a:rPr>
              <a:t>&gt;&gt;&gt; '{d[a]}'.format(d={'a':97, 'b':98})</a:t>
            </a:r>
            <a:endParaRPr lang="zh-CN" altLang="en-US" sz="1600">
              <a:latin typeface="Consolas" panose="020B0609020204030204" charset="0"/>
              <a:cs typeface="Consolas" panose="020B0609020204030204" charset="0"/>
            </a:endParaRPr>
          </a:p>
          <a:p>
            <a:pPr algn="l" defTabSz="914400">
              <a:lnSpc>
                <a:spcPct val="100000"/>
              </a:lnSpc>
              <a:spcBef>
                <a:spcPts val="300"/>
              </a:spcBef>
              <a:buClrTx/>
              <a:buSzPct val="70000"/>
              <a:buFont typeface="Wingdings" panose="05000000000000000000" pitchFamily="2" charset="2"/>
              <a:buNone/>
            </a:pPr>
            <a:r>
              <a:rPr lang="zh-CN" sz="1600" dirty="0">
                <a:solidFill>
                  <a:srgbClr val="00B0F0"/>
                </a:solidFill>
                <a:latin typeface="Consolas" panose="020B0609020204030204" charset="0"/>
                <a:cs typeface="Consolas" panose="020B0609020204030204" charset="0"/>
              </a:rPr>
              <a:t>'97'</a:t>
            </a:r>
            <a:endParaRPr lang="zh-CN" sz="1600" dirty="0">
              <a:solidFill>
                <a:srgbClr val="00B0F0"/>
              </a:solidFill>
              <a:latin typeface="Consolas" panose="020B0609020204030204" charset="0"/>
              <a:cs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7.3.2  </a:t>
            </a:r>
            <a:r>
              <a:rPr lang="zh-CN" altLang="en-US">
                <a:sym typeface="+mn-ea"/>
              </a:rPr>
              <a:t>使用</a:t>
            </a:r>
            <a:r>
              <a:rPr lang="en-US" altLang="zh-CN">
                <a:sym typeface="+mn-ea"/>
              </a:rPr>
              <a:t>format()</a:t>
            </a:r>
            <a:r>
              <a:rPr lang="zh-CN" altLang="en-US">
                <a:sym typeface="+mn-ea"/>
              </a:rPr>
              <a:t>方法进行格式化</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34818" name="内容占位符 2"/>
          <p:cNvSpPr>
            <a:spLocks noGrp="1"/>
          </p:cNvSpPr>
          <p:nvPr>
            <p:ph idx="1"/>
          </p:nvPr>
        </p:nvSpPr>
        <p:spPr/>
        <p:txBody>
          <a:bodyPr anchor="t">
            <a:normAutofit lnSpcReduction="10000"/>
          </a:bodyPr>
          <a:p>
            <a:pPr marL="0" indent="0" defTabSz="914400">
              <a:lnSpc>
                <a:spcPct val="100000"/>
              </a:lnSpc>
              <a:spcBef>
                <a:spcPts val="300"/>
              </a:spcBef>
              <a:buSzPct val="70000"/>
              <a:buFont typeface="Wingdings" panose="05000000000000000000" pitchFamily="2" charset="2"/>
              <a:buNone/>
            </a:pPr>
            <a:r>
              <a:rPr lang="zh-CN" altLang="en-US" sz="1800" dirty="0">
                <a:latin typeface="Consolas" panose="020B0609020204030204" charset="0"/>
                <a:sym typeface="宋体" panose="02010600030101010101" pitchFamily="2" charset="-122"/>
              </a:rPr>
              <a:t>weather = [(</a:t>
            </a:r>
            <a:r>
              <a:rPr lang="zh-CN" altLang="en-US" sz="1800">
                <a:latin typeface="Consolas" panose="020B0609020204030204" charset="0"/>
                <a:sym typeface="+mn-ea"/>
              </a:rPr>
              <a:t>'</a:t>
            </a:r>
            <a:r>
              <a:rPr lang="zh-CN" altLang="en-US" sz="1800" dirty="0">
                <a:latin typeface="Consolas" panose="020B0609020204030204" charset="0"/>
                <a:sym typeface="宋体" panose="02010600030101010101" pitchFamily="2" charset="-122"/>
              </a:rPr>
              <a:t>Monday</a:t>
            </a:r>
            <a:r>
              <a:rPr lang="zh-CN" altLang="en-US" sz="1800">
                <a:latin typeface="Consolas" panose="020B0609020204030204" charset="0"/>
                <a:sym typeface="+mn-ea"/>
              </a:rPr>
              <a:t>'</a:t>
            </a:r>
            <a:r>
              <a:rPr lang="zh-CN" altLang="en-US" sz="1800" dirty="0">
                <a:latin typeface="Consolas" panose="020B0609020204030204" charset="0"/>
                <a:sym typeface="宋体" panose="02010600030101010101" pitchFamily="2" charset="-122"/>
              </a:rPr>
              <a:t>,</a:t>
            </a:r>
            <a:r>
              <a:rPr lang="zh-CN" altLang="en-US" sz="1800">
                <a:latin typeface="Consolas" panose="020B0609020204030204" charset="0"/>
                <a:sym typeface="+mn-ea"/>
              </a:rPr>
              <a:t>'</a:t>
            </a:r>
            <a:r>
              <a:rPr lang="zh-CN" altLang="en-US" sz="1800" dirty="0">
                <a:latin typeface="Consolas" panose="020B0609020204030204" charset="0"/>
                <a:sym typeface="宋体" panose="02010600030101010101" pitchFamily="2" charset="-122"/>
              </a:rPr>
              <a:t>rain</a:t>
            </a:r>
            <a:r>
              <a:rPr lang="en-US" altLang="zh-CN" sz="1800" dirty="0">
                <a:latin typeface="Consolas" panose="020B0609020204030204" charset="0"/>
                <a:sym typeface="宋体" panose="02010600030101010101" pitchFamily="2" charset="-122"/>
              </a:rPr>
              <a:t>y</a:t>
            </a:r>
            <a:r>
              <a:rPr lang="zh-CN" altLang="en-US" sz="1800">
                <a:latin typeface="Consolas" panose="020B0609020204030204" charset="0"/>
                <a:sym typeface="+mn-ea"/>
              </a:rPr>
              <a:t>'</a:t>
            </a:r>
            <a:r>
              <a:rPr lang="zh-CN" altLang="en-US" sz="1800" dirty="0">
                <a:latin typeface="Consolas" panose="020B0609020204030204" charset="0"/>
                <a:sym typeface="宋体" panose="02010600030101010101" pitchFamily="2" charset="-122"/>
              </a:rPr>
              <a:t>),</a:t>
            </a:r>
            <a:r>
              <a:rPr lang="en-US" altLang="zh-CN" sz="1800" dirty="0">
                <a:latin typeface="Consolas" panose="020B0609020204030204" charset="0"/>
                <a:sym typeface="宋体" panose="02010600030101010101" pitchFamily="2" charset="-122"/>
              </a:rPr>
              <a:t> </a:t>
            </a:r>
            <a:r>
              <a:rPr lang="zh-CN" altLang="en-US" sz="1800" dirty="0">
                <a:latin typeface="Consolas" panose="020B0609020204030204" charset="0"/>
                <a:sym typeface="宋体" panose="02010600030101010101" pitchFamily="2" charset="-122"/>
              </a:rPr>
              <a:t>(</a:t>
            </a:r>
            <a:r>
              <a:rPr lang="zh-CN" altLang="en-US" sz="1800">
                <a:latin typeface="Consolas" panose="020B0609020204030204" charset="0"/>
                <a:sym typeface="+mn-ea"/>
              </a:rPr>
              <a:t>'</a:t>
            </a:r>
            <a:r>
              <a:rPr lang="zh-CN" altLang="en-US" sz="1800" dirty="0">
                <a:latin typeface="Consolas" panose="020B0609020204030204" charset="0"/>
                <a:sym typeface="宋体" panose="02010600030101010101" pitchFamily="2" charset="-122"/>
              </a:rPr>
              <a:t>Tuesday</a:t>
            </a:r>
            <a:r>
              <a:rPr lang="zh-CN" altLang="en-US" sz="1800">
                <a:latin typeface="Consolas" panose="020B0609020204030204" charset="0"/>
                <a:sym typeface="+mn-ea"/>
              </a:rPr>
              <a:t>'</a:t>
            </a:r>
            <a:r>
              <a:rPr lang="zh-CN" altLang="en-US" sz="1800" dirty="0">
                <a:latin typeface="Consolas" panose="020B0609020204030204" charset="0"/>
                <a:sym typeface="宋体" panose="02010600030101010101" pitchFamily="2" charset="-122"/>
              </a:rPr>
              <a:t>,</a:t>
            </a:r>
            <a:r>
              <a:rPr lang="zh-CN" altLang="en-US" sz="1800">
                <a:latin typeface="Consolas" panose="020B0609020204030204" charset="0"/>
                <a:sym typeface="+mn-ea"/>
              </a:rPr>
              <a:t>'</a:t>
            </a:r>
            <a:r>
              <a:rPr lang="zh-CN" altLang="en-US" sz="1800" dirty="0">
                <a:latin typeface="Consolas" panose="020B0609020204030204" charset="0"/>
                <a:sym typeface="宋体" panose="02010600030101010101" pitchFamily="2" charset="-122"/>
              </a:rPr>
              <a:t>sunny</a:t>
            </a:r>
            <a:r>
              <a:rPr lang="zh-CN" altLang="en-US" sz="1800">
                <a:latin typeface="Consolas" panose="020B0609020204030204" charset="0"/>
                <a:sym typeface="+mn-ea"/>
              </a:rPr>
              <a:t>'</a:t>
            </a:r>
            <a:r>
              <a:rPr lang="zh-CN" altLang="en-US" sz="1800" dirty="0">
                <a:latin typeface="Consolas" panose="020B0609020204030204" charset="0"/>
                <a:sym typeface="宋体" panose="02010600030101010101" pitchFamily="2" charset="-122"/>
              </a:rPr>
              <a:t>),</a:t>
            </a:r>
            <a:endParaRPr lang="zh-CN" altLang="en-US" sz="1800" dirty="0">
              <a:latin typeface="Consolas" panose="020B0609020204030204" charset="0"/>
              <a:sym typeface="宋体" panose="02010600030101010101" pitchFamily="2" charset="-122"/>
            </a:endParaRPr>
          </a:p>
          <a:p>
            <a:pPr marL="0" indent="0" defTabSz="914400">
              <a:lnSpc>
                <a:spcPct val="100000"/>
              </a:lnSpc>
              <a:spcBef>
                <a:spcPts val="300"/>
              </a:spcBef>
              <a:buSzPct val="70000"/>
              <a:buFont typeface="Wingdings" panose="05000000000000000000" pitchFamily="2" charset="2"/>
              <a:buNone/>
            </a:pPr>
            <a:r>
              <a:rPr lang="zh-CN" altLang="en-US" sz="1800" dirty="0">
                <a:latin typeface="Consolas" panose="020B0609020204030204" charset="0"/>
                <a:sym typeface="宋体" panose="02010600030101010101" pitchFamily="2" charset="-122"/>
              </a:rPr>
              <a:t>           (</a:t>
            </a:r>
            <a:r>
              <a:rPr lang="zh-CN" altLang="en-US" sz="1800">
                <a:latin typeface="Consolas" panose="020B0609020204030204" charset="0"/>
                <a:sym typeface="+mn-ea"/>
              </a:rPr>
              <a:t>'</a:t>
            </a:r>
            <a:r>
              <a:rPr lang="zh-CN" altLang="en-US" sz="1800" dirty="0">
                <a:latin typeface="Consolas" panose="020B0609020204030204" charset="0"/>
                <a:sym typeface="宋体" panose="02010600030101010101" pitchFamily="2" charset="-122"/>
              </a:rPr>
              <a:t>Wednesday</a:t>
            </a:r>
            <a:r>
              <a:rPr lang="zh-CN" altLang="en-US" sz="1800">
                <a:latin typeface="Consolas" panose="020B0609020204030204" charset="0"/>
                <a:sym typeface="+mn-ea"/>
              </a:rPr>
              <a:t>'</a:t>
            </a:r>
            <a:r>
              <a:rPr lang="zh-CN" altLang="en-US" sz="1800" dirty="0">
                <a:latin typeface="Consolas" panose="020B0609020204030204" charset="0"/>
                <a:sym typeface="宋体" panose="02010600030101010101" pitchFamily="2" charset="-122"/>
              </a:rPr>
              <a:t>,</a:t>
            </a:r>
            <a:r>
              <a:rPr lang="zh-CN" altLang="en-US" sz="1800">
                <a:latin typeface="Consolas" panose="020B0609020204030204" charset="0"/>
                <a:sym typeface="+mn-ea"/>
              </a:rPr>
              <a:t>'</a:t>
            </a:r>
            <a:r>
              <a:rPr lang="zh-CN" altLang="en-US" sz="1800" dirty="0">
                <a:latin typeface="Consolas" panose="020B0609020204030204" charset="0"/>
                <a:sym typeface="宋体" panose="02010600030101010101" pitchFamily="2" charset="-122"/>
              </a:rPr>
              <a:t>sunny</a:t>
            </a:r>
            <a:r>
              <a:rPr lang="zh-CN" altLang="en-US" sz="1800">
                <a:latin typeface="Consolas" panose="020B0609020204030204" charset="0"/>
                <a:sym typeface="+mn-ea"/>
              </a:rPr>
              <a:t>'</a:t>
            </a:r>
            <a:r>
              <a:rPr lang="zh-CN" altLang="en-US" sz="1800" dirty="0">
                <a:latin typeface="Consolas" panose="020B0609020204030204" charset="0"/>
                <a:sym typeface="宋体" panose="02010600030101010101" pitchFamily="2" charset="-122"/>
              </a:rPr>
              <a:t>),</a:t>
            </a:r>
            <a:r>
              <a:rPr lang="en-US" altLang="zh-CN" sz="1800" dirty="0">
                <a:latin typeface="Consolas" panose="020B0609020204030204" charset="0"/>
                <a:sym typeface="宋体" panose="02010600030101010101" pitchFamily="2" charset="-122"/>
              </a:rPr>
              <a:t> </a:t>
            </a:r>
            <a:r>
              <a:rPr lang="zh-CN" altLang="en-US" sz="1800" dirty="0">
                <a:latin typeface="Consolas" panose="020B0609020204030204" charset="0"/>
                <a:sym typeface="宋体" panose="02010600030101010101" pitchFamily="2" charset="-122"/>
              </a:rPr>
              <a:t>(</a:t>
            </a:r>
            <a:r>
              <a:rPr lang="zh-CN" altLang="en-US" sz="1800">
                <a:latin typeface="Consolas" panose="020B0609020204030204" charset="0"/>
                <a:sym typeface="+mn-ea"/>
              </a:rPr>
              <a:t>'</a:t>
            </a:r>
            <a:r>
              <a:rPr lang="zh-CN" altLang="en-US" sz="1800" dirty="0">
                <a:latin typeface="Consolas" panose="020B0609020204030204" charset="0"/>
                <a:sym typeface="宋体" panose="02010600030101010101" pitchFamily="2" charset="-122"/>
              </a:rPr>
              <a:t>Thursday</a:t>
            </a:r>
            <a:r>
              <a:rPr lang="zh-CN" altLang="en-US" sz="1800">
                <a:latin typeface="Consolas" panose="020B0609020204030204" charset="0"/>
                <a:sym typeface="+mn-ea"/>
              </a:rPr>
              <a:t>'</a:t>
            </a:r>
            <a:r>
              <a:rPr lang="zh-CN" altLang="en-US" sz="1800" dirty="0">
                <a:latin typeface="Consolas" panose="020B0609020204030204" charset="0"/>
                <a:sym typeface="宋体" panose="02010600030101010101" pitchFamily="2" charset="-122"/>
              </a:rPr>
              <a:t>,</a:t>
            </a:r>
            <a:r>
              <a:rPr lang="zh-CN" altLang="en-US" sz="1800">
                <a:latin typeface="Consolas" panose="020B0609020204030204" charset="0"/>
                <a:sym typeface="+mn-ea"/>
              </a:rPr>
              <a:t>'</a:t>
            </a:r>
            <a:r>
              <a:rPr lang="zh-CN" altLang="en-US" sz="1800" dirty="0">
                <a:latin typeface="Consolas" panose="020B0609020204030204" charset="0"/>
                <a:sym typeface="宋体" panose="02010600030101010101" pitchFamily="2" charset="-122"/>
              </a:rPr>
              <a:t>rain</a:t>
            </a:r>
            <a:r>
              <a:rPr lang="en-US" altLang="zh-CN" sz="1800" dirty="0">
                <a:latin typeface="Consolas" panose="020B0609020204030204" charset="0"/>
                <a:sym typeface="宋体" panose="02010600030101010101" pitchFamily="2" charset="-122"/>
              </a:rPr>
              <a:t>y</a:t>
            </a:r>
            <a:r>
              <a:rPr lang="zh-CN" altLang="en-US" sz="1800">
                <a:latin typeface="Consolas" panose="020B0609020204030204" charset="0"/>
                <a:sym typeface="+mn-ea"/>
              </a:rPr>
              <a:t>'</a:t>
            </a:r>
            <a:r>
              <a:rPr lang="zh-CN" altLang="en-US" sz="1800" dirty="0">
                <a:latin typeface="Consolas" panose="020B0609020204030204" charset="0"/>
                <a:sym typeface="宋体" panose="02010600030101010101" pitchFamily="2" charset="-122"/>
              </a:rPr>
              <a:t>),</a:t>
            </a:r>
            <a:endParaRPr lang="zh-CN" altLang="en-US" sz="1800" dirty="0">
              <a:latin typeface="Consolas" panose="020B0609020204030204" charset="0"/>
              <a:sym typeface="宋体" panose="02010600030101010101" pitchFamily="2" charset="-122"/>
            </a:endParaRPr>
          </a:p>
          <a:p>
            <a:pPr marL="0" indent="0" defTabSz="914400">
              <a:lnSpc>
                <a:spcPct val="100000"/>
              </a:lnSpc>
              <a:spcBef>
                <a:spcPts val="300"/>
              </a:spcBef>
              <a:buSzPct val="70000"/>
              <a:buFont typeface="Wingdings" panose="05000000000000000000" pitchFamily="2" charset="2"/>
              <a:buNone/>
            </a:pPr>
            <a:r>
              <a:rPr lang="zh-CN" altLang="en-US" sz="1800" dirty="0">
                <a:latin typeface="Consolas" panose="020B0609020204030204" charset="0"/>
                <a:sym typeface="宋体" panose="02010600030101010101" pitchFamily="2" charset="-122"/>
              </a:rPr>
              <a:t>           (</a:t>
            </a:r>
            <a:r>
              <a:rPr lang="zh-CN" altLang="en-US" sz="1800">
                <a:latin typeface="Consolas" panose="020B0609020204030204" charset="0"/>
                <a:sym typeface="+mn-ea"/>
              </a:rPr>
              <a:t>'</a:t>
            </a:r>
            <a:r>
              <a:rPr lang="zh-CN" altLang="en-US" sz="1800" dirty="0">
                <a:latin typeface="Consolas" panose="020B0609020204030204" charset="0"/>
                <a:sym typeface="宋体" panose="02010600030101010101" pitchFamily="2" charset="-122"/>
              </a:rPr>
              <a:t>Friday</a:t>
            </a:r>
            <a:r>
              <a:rPr lang="zh-CN" altLang="en-US" sz="1800">
                <a:latin typeface="Consolas" panose="020B0609020204030204" charset="0"/>
                <a:sym typeface="+mn-ea"/>
              </a:rPr>
              <a:t>'</a:t>
            </a:r>
            <a:r>
              <a:rPr lang="zh-CN" altLang="en-US" sz="1800" dirty="0">
                <a:latin typeface="Consolas" panose="020B0609020204030204" charset="0"/>
                <a:sym typeface="宋体" panose="02010600030101010101" pitchFamily="2" charset="-122"/>
              </a:rPr>
              <a:t>,</a:t>
            </a:r>
            <a:r>
              <a:rPr lang="zh-CN" altLang="en-US" sz="1800">
                <a:latin typeface="Consolas" panose="020B0609020204030204" charset="0"/>
                <a:sym typeface="+mn-ea"/>
              </a:rPr>
              <a:t>'</a:t>
            </a:r>
            <a:r>
              <a:rPr lang="en-US" altLang="zh-CN" sz="1800" dirty="0">
                <a:latin typeface="Consolas" panose="020B0609020204030204" charset="0"/>
                <a:sym typeface="宋体" panose="02010600030101010101" pitchFamily="2" charset="-122"/>
              </a:rPr>
              <a:t>c</a:t>
            </a:r>
            <a:r>
              <a:rPr lang="zh-CN" altLang="en-US" sz="1800" dirty="0">
                <a:latin typeface="Consolas" panose="020B0609020204030204" charset="0"/>
                <a:sym typeface="宋体" panose="02010600030101010101" pitchFamily="2" charset="-122"/>
              </a:rPr>
              <a:t>loudy</a:t>
            </a:r>
            <a:r>
              <a:rPr lang="zh-CN" altLang="en-US" sz="1800">
                <a:latin typeface="Consolas" panose="020B0609020204030204" charset="0"/>
                <a:sym typeface="+mn-ea"/>
              </a:rPr>
              <a:t>'</a:t>
            </a:r>
            <a:r>
              <a:rPr lang="zh-CN" altLang="en-US" sz="1800" dirty="0">
                <a:latin typeface="Consolas" panose="020B0609020204030204" charset="0"/>
                <a:sym typeface="宋体" panose="02010600030101010101" pitchFamily="2" charset="-122"/>
              </a:rPr>
              <a:t>)]</a:t>
            </a:r>
            <a:endParaRPr lang="zh-CN" altLang="en-US" sz="1800" dirty="0">
              <a:latin typeface="Consolas" panose="020B0609020204030204" charset="0"/>
            </a:endParaRPr>
          </a:p>
          <a:p>
            <a:pPr marL="0" indent="0" defTabSz="914400">
              <a:lnSpc>
                <a:spcPct val="100000"/>
              </a:lnSpc>
              <a:spcBef>
                <a:spcPts val="300"/>
              </a:spcBef>
              <a:buSzPct val="70000"/>
              <a:buFont typeface="Wingdings" panose="05000000000000000000" pitchFamily="2" charset="2"/>
              <a:buNone/>
            </a:pPr>
            <a:r>
              <a:rPr lang="zh-CN" altLang="en-US" sz="1800" dirty="0">
                <a:latin typeface="Consolas" panose="020B0609020204030204" charset="0"/>
                <a:sym typeface="宋体" panose="02010600030101010101" pitchFamily="2" charset="-122"/>
              </a:rPr>
              <a:t>formatter = "Weather of '{0[0]}' is '{0[1]}'".format</a:t>
            </a:r>
            <a:endParaRPr lang="zh-CN" altLang="en-US" sz="1800" dirty="0">
              <a:latin typeface="Consolas" panose="020B0609020204030204" charset="0"/>
            </a:endParaRPr>
          </a:p>
          <a:p>
            <a:pPr marL="0" indent="0" defTabSz="914400">
              <a:lnSpc>
                <a:spcPct val="100000"/>
              </a:lnSpc>
              <a:spcBef>
                <a:spcPts val="300"/>
              </a:spcBef>
              <a:buSzPct val="70000"/>
              <a:buFont typeface="Wingdings" panose="05000000000000000000" pitchFamily="2" charset="2"/>
              <a:buNone/>
            </a:pPr>
            <a:r>
              <a:rPr lang="zh-CN" altLang="en-US" sz="1800" dirty="0">
                <a:latin typeface="Consolas" panose="020B0609020204030204" charset="0"/>
                <a:sym typeface="宋体" panose="02010600030101010101" pitchFamily="2" charset="-122"/>
              </a:rPr>
              <a:t>for item in map(formatter,weather):</a:t>
            </a:r>
            <a:endParaRPr lang="zh-CN" altLang="en-US" sz="1800" dirty="0">
              <a:latin typeface="Consolas" panose="020B0609020204030204" charset="0"/>
            </a:endParaRPr>
          </a:p>
          <a:p>
            <a:pPr marL="0" indent="0" defTabSz="914400">
              <a:lnSpc>
                <a:spcPct val="100000"/>
              </a:lnSpc>
              <a:spcBef>
                <a:spcPts val="300"/>
              </a:spcBef>
              <a:buSzPct val="70000"/>
              <a:buFont typeface="Wingdings" panose="05000000000000000000" pitchFamily="2" charset="2"/>
              <a:buNone/>
            </a:pPr>
            <a:r>
              <a:rPr lang="zh-CN" altLang="en-US" sz="1800" dirty="0">
                <a:latin typeface="Consolas" panose="020B0609020204030204" charset="0"/>
                <a:sym typeface="宋体" panose="02010600030101010101" pitchFamily="2" charset="-122"/>
              </a:rPr>
              <a:t>    print</a:t>
            </a:r>
            <a:r>
              <a:rPr lang="en-US" altLang="zh-CN" sz="1800" dirty="0">
                <a:latin typeface="Consolas" panose="020B0609020204030204" charset="0"/>
                <a:sym typeface="宋体" panose="02010600030101010101" pitchFamily="2" charset="-122"/>
              </a:rPr>
              <a:t>(</a:t>
            </a:r>
            <a:r>
              <a:rPr lang="zh-CN" altLang="en-US" sz="1800" dirty="0">
                <a:latin typeface="Consolas" panose="020B0609020204030204" charset="0"/>
                <a:sym typeface="宋体" panose="02010600030101010101" pitchFamily="2" charset="-122"/>
              </a:rPr>
              <a:t>item</a:t>
            </a:r>
            <a:r>
              <a:rPr lang="en-US" altLang="zh-CN" sz="1800" dirty="0">
                <a:latin typeface="Consolas" panose="020B0609020204030204" charset="0"/>
                <a:sym typeface="宋体" panose="02010600030101010101" pitchFamily="2" charset="-122"/>
              </a:rPr>
              <a:t>)</a:t>
            </a:r>
            <a:endParaRPr lang="en-US" altLang="zh-CN" sz="1800" dirty="0">
              <a:latin typeface="Consolas" panose="020B0609020204030204" charset="0"/>
            </a:endParaRPr>
          </a:p>
          <a:p>
            <a:pPr marL="0" indent="0" defTabSz="914400">
              <a:lnSpc>
                <a:spcPct val="100000"/>
              </a:lnSpc>
              <a:spcBef>
                <a:spcPts val="300"/>
              </a:spcBef>
              <a:buNone/>
            </a:pPr>
            <a:r>
              <a:rPr lang="en-US" altLang="zh-CN" sz="1800">
                <a:latin typeface="Consolas" panose="020B0609020204030204" charset="0"/>
              </a:rPr>
              <a:t>for item in weather:</a:t>
            </a:r>
            <a:endParaRPr lang="en-US" altLang="zh-CN" sz="1800">
              <a:latin typeface="Consolas" panose="020B0609020204030204" charset="0"/>
            </a:endParaRPr>
          </a:p>
          <a:p>
            <a:pPr marL="0" indent="0" defTabSz="914400">
              <a:lnSpc>
                <a:spcPct val="100000"/>
              </a:lnSpc>
              <a:spcBef>
                <a:spcPts val="300"/>
              </a:spcBef>
              <a:buNone/>
            </a:pPr>
            <a:r>
              <a:rPr lang="en-US" altLang="zh-CN" sz="1800">
                <a:latin typeface="Consolas" panose="020B0609020204030204" charset="0"/>
              </a:rPr>
              <a:t>    print(formatter(item))</a:t>
            </a:r>
            <a:endParaRPr lang="en-US" altLang="zh-CN" sz="1800">
              <a:latin typeface="Consolas" panose="020B0609020204030204" charset="0"/>
            </a:endParaRPr>
          </a:p>
          <a:p>
            <a:pPr marL="0" indent="0" defTabSz="914400">
              <a:lnSpc>
                <a:spcPct val="100000"/>
              </a:lnSpc>
              <a:spcBef>
                <a:spcPts val="300"/>
              </a:spcBef>
              <a:buNone/>
            </a:pPr>
            <a:endParaRPr lang="en-US" altLang="zh-CN" sz="1800">
              <a:latin typeface="Consolas" panose="020B0609020204030204" charset="0"/>
            </a:endParaRPr>
          </a:p>
          <a:p>
            <a:pPr marL="0" indent="0" defTabSz="914400">
              <a:lnSpc>
                <a:spcPct val="100000"/>
              </a:lnSpc>
              <a:spcBef>
                <a:spcPts val="300"/>
              </a:spcBef>
              <a:buNone/>
            </a:pPr>
            <a:r>
              <a:rPr lang="zh-CN" altLang="en-US" sz="2400" b="1">
                <a:latin typeface="Consolas" panose="020B0609020204030204" charset="0"/>
              </a:rPr>
              <a:t>运行结果：</a:t>
            </a:r>
            <a:endParaRPr lang="zh-CN" altLang="en-US" sz="2400" b="1">
              <a:latin typeface="Consolas" panose="020B0609020204030204" charset="0"/>
            </a:endParaRPr>
          </a:p>
          <a:p>
            <a:pPr marL="0" indent="0" defTabSz="914400">
              <a:lnSpc>
                <a:spcPct val="100000"/>
              </a:lnSpc>
              <a:spcBef>
                <a:spcPts val="300"/>
              </a:spcBef>
              <a:buNone/>
            </a:pPr>
            <a:r>
              <a:rPr lang="en-US" altLang="zh-CN" sz="1800">
                <a:solidFill>
                  <a:srgbClr val="00B0F0"/>
                </a:solidFill>
                <a:latin typeface="Consolas" panose="020B0609020204030204" charset="0"/>
              </a:rPr>
              <a:t>Weather of 'Monday' is 'rainy'</a:t>
            </a:r>
            <a:endParaRPr lang="en-US" altLang="zh-CN" sz="1800">
              <a:solidFill>
                <a:srgbClr val="00B0F0"/>
              </a:solidFill>
              <a:latin typeface="Consolas" panose="020B0609020204030204" charset="0"/>
            </a:endParaRPr>
          </a:p>
          <a:p>
            <a:pPr marL="0" indent="0" defTabSz="914400">
              <a:lnSpc>
                <a:spcPct val="100000"/>
              </a:lnSpc>
              <a:spcBef>
                <a:spcPts val="300"/>
              </a:spcBef>
              <a:buNone/>
            </a:pPr>
            <a:r>
              <a:rPr lang="en-US" altLang="zh-CN" sz="1800">
                <a:solidFill>
                  <a:srgbClr val="00B0F0"/>
                </a:solidFill>
                <a:latin typeface="Consolas" panose="020B0609020204030204" charset="0"/>
              </a:rPr>
              <a:t>Weather of 'Tuesday' is 'sunny'</a:t>
            </a:r>
            <a:endParaRPr lang="en-US" altLang="zh-CN" sz="1800">
              <a:solidFill>
                <a:srgbClr val="00B0F0"/>
              </a:solidFill>
              <a:latin typeface="Consolas" panose="020B0609020204030204" charset="0"/>
            </a:endParaRPr>
          </a:p>
          <a:p>
            <a:pPr marL="0" indent="0" defTabSz="914400">
              <a:lnSpc>
                <a:spcPct val="100000"/>
              </a:lnSpc>
              <a:spcBef>
                <a:spcPts val="300"/>
              </a:spcBef>
              <a:buNone/>
            </a:pPr>
            <a:r>
              <a:rPr lang="en-US" altLang="zh-CN" sz="1800">
                <a:solidFill>
                  <a:srgbClr val="00B0F0"/>
                </a:solidFill>
                <a:latin typeface="Consolas" panose="020B0609020204030204" charset="0"/>
              </a:rPr>
              <a:t>Weather of 'Wednesday' is 'sunny'</a:t>
            </a:r>
            <a:endParaRPr lang="en-US" altLang="zh-CN" sz="1800">
              <a:solidFill>
                <a:srgbClr val="00B0F0"/>
              </a:solidFill>
              <a:latin typeface="Consolas" panose="020B0609020204030204" charset="0"/>
            </a:endParaRPr>
          </a:p>
          <a:p>
            <a:pPr marL="0" indent="0" defTabSz="914400">
              <a:lnSpc>
                <a:spcPct val="100000"/>
              </a:lnSpc>
              <a:spcBef>
                <a:spcPts val="300"/>
              </a:spcBef>
              <a:buNone/>
            </a:pPr>
            <a:r>
              <a:rPr lang="en-US" altLang="zh-CN" sz="1800">
                <a:solidFill>
                  <a:srgbClr val="00B0F0"/>
                </a:solidFill>
                <a:latin typeface="Consolas" panose="020B0609020204030204" charset="0"/>
              </a:rPr>
              <a:t>Weather of 'Thursday' is 'rainy'</a:t>
            </a:r>
            <a:endParaRPr lang="en-US" altLang="zh-CN" sz="1800">
              <a:solidFill>
                <a:srgbClr val="00B0F0"/>
              </a:solidFill>
              <a:latin typeface="Consolas" panose="020B0609020204030204" charset="0"/>
            </a:endParaRPr>
          </a:p>
          <a:p>
            <a:pPr marL="0" indent="0" defTabSz="914400">
              <a:lnSpc>
                <a:spcPct val="100000"/>
              </a:lnSpc>
              <a:spcBef>
                <a:spcPts val="300"/>
              </a:spcBef>
              <a:buNone/>
            </a:pPr>
            <a:r>
              <a:rPr lang="en-US" altLang="zh-CN" sz="1800">
                <a:solidFill>
                  <a:srgbClr val="00B0F0"/>
                </a:solidFill>
                <a:latin typeface="Consolas" panose="020B0609020204030204" charset="0"/>
              </a:rPr>
              <a:t>Weather of 'Friday' is 'cloudy'</a:t>
            </a:r>
            <a:endParaRPr lang="en-US" altLang="zh-CN" sz="1800">
              <a:solidFill>
                <a:srgbClr val="00B0F0"/>
              </a:solidFill>
              <a:latin typeface="Consolas" panose="020B0609020204030204" charset="0"/>
            </a:endParaRPr>
          </a:p>
        </p:txBody>
      </p:sp>
      <p:sp>
        <p:nvSpPr>
          <p:cNvPr id="5" name="右大括号 4"/>
          <p:cNvSpPr/>
          <p:nvPr/>
        </p:nvSpPr>
        <p:spPr>
          <a:xfrm>
            <a:off x="5347018" y="2553335"/>
            <a:ext cx="193675" cy="458788"/>
          </a:xfrm>
          <a:prstGeom prst="rightBrace">
            <a:avLst/>
          </a:prstGeom>
          <a:ln w="317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p>
            <a:pPr algn="ctr" fontAlgn="base"/>
            <a:endParaRPr lang="zh-CN" altLang="en-US" strike="noStrike" noProof="1"/>
          </a:p>
        </p:txBody>
      </p:sp>
      <p:sp>
        <p:nvSpPr>
          <p:cNvPr id="6" name="右大括号 5"/>
          <p:cNvSpPr/>
          <p:nvPr/>
        </p:nvSpPr>
        <p:spPr>
          <a:xfrm>
            <a:off x="4234498" y="3186430"/>
            <a:ext cx="193675" cy="457200"/>
          </a:xfrm>
          <a:prstGeom prst="rightBrace">
            <a:avLst/>
          </a:prstGeom>
          <a:ln w="317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p>
            <a:pPr algn="ctr" fontAlgn="base"/>
            <a:endParaRPr lang="zh-CN" altLang="en-US" strike="noStrike" noProof="1"/>
          </a:p>
        </p:txBody>
      </p:sp>
      <p:sp>
        <p:nvSpPr>
          <p:cNvPr id="34822" name="文本框 4"/>
          <p:cNvSpPr txBox="1"/>
          <p:nvPr/>
        </p:nvSpPr>
        <p:spPr>
          <a:xfrm>
            <a:off x="6590665" y="3186430"/>
            <a:ext cx="1123950" cy="368300"/>
          </a:xfrm>
          <a:prstGeom prst="rect">
            <a:avLst/>
          </a:prstGeom>
          <a:noFill/>
          <a:ln w="41275" cap="flat" cmpd="sng">
            <a:solidFill>
              <a:schemeClr val="accent1"/>
            </a:solidFill>
            <a:prstDash val="solid"/>
            <a:round/>
            <a:headEnd type="none" w="med" len="med"/>
            <a:tailEnd type="none" w="med" len="med"/>
          </a:ln>
        </p:spPr>
        <p:txBody>
          <a:bodyPr wrap="square" anchor="t">
            <a:spAutoFit/>
          </a:bodyPr>
          <a:p>
            <a:r>
              <a:rPr lang="zh-CN" altLang="en-US">
                <a:latin typeface="Arial" panose="020B0604020202020204" pitchFamily="34" charset="0"/>
                <a:ea typeface="宋体" panose="02010600030101010101" pitchFamily="2" charset="-122"/>
              </a:rPr>
              <a:t>等价</a:t>
            </a:r>
            <a:endParaRPr lang="zh-CN" altLang="en-US">
              <a:latin typeface="Arial" panose="020B0604020202020204" pitchFamily="34" charset="0"/>
              <a:ea typeface="宋体" panose="02010600030101010101" pitchFamily="2" charset="-122"/>
            </a:endParaRPr>
          </a:p>
        </p:txBody>
      </p:sp>
      <p:cxnSp>
        <p:nvCxnSpPr>
          <p:cNvPr id="7" name="直接箭头连接符 6"/>
          <p:cNvCxnSpPr>
            <a:stCxn id="34822" idx="1"/>
            <a:endCxn id="5" idx="1"/>
          </p:cNvCxnSpPr>
          <p:nvPr/>
        </p:nvCxnSpPr>
        <p:spPr>
          <a:xfrm flipH="1" flipV="1">
            <a:off x="5541011" y="2783206"/>
            <a:ext cx="1049655" cy="587375"/>
          </a:xfrm>
          <a:prstGeom prst="straightConnector1">
            <a:avLst/>
          </a:prstGeom>
          <a:ln w="41275">
            <a:tailEnd type="arrow"/>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a:stCxn id="34822" idx="1"/>
            <a:endCxn id="6" idx="1"/>
          </p:cNvCxnSpPr>
          <p:nvPr/>
        </p:nvCxnSpPr>
        <p:spPr>
          <a:xfrm flipH="1">
            <a:off x="4428491" y="3370580"/>
            <a:ext cx="2162175" cy="44450"/>
          </a:xfrm>
          <a:prstGeom prst="straightConnector1">
            <a:avLst/>
          </a:prstGeom>
          <a:ln w="41275">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7.3.2  </a:t>
            </a:r>
            <a:r>
              <a:rPr lang="zh-CN" altLang="en-US">
                <a:sym typeface="+mn-ea"/>
              </a:rPr>
              <a:t>使用</a:t>
            </a:r>
            <a:r>
              <a:rPr lang="en-US" altLang="zh-CN">
                <a:sym typeface="+mn-ea"/>
              </a:rPr>
              <a:t>format()</a:t>
            </a:r>
            <a:r>
              <a:rPr lang="zh-CN" altLang="en-US">
                <a:sym typeface="+mn-ea"/>
              </a:rPr>
              <a:t>方法进行格式化</a:t>
            </a:r>
            <a:endParaRPr lang="zh-CN" altLang="en-US"/>
          </a:p>
        </p:txBody>
      </p:sp>
      <p:sp>
        <p:nvSpPr>
          <p:cNvPr id="3" name="内容占位符 2"/>
          <p:cNvSpPr>
            <a:spLocks noGrp="1"/>
          </p:cNvSpPr>
          <p:nvPr>
            <p:ph idx="1"/>
          </p:nvPr>
        </p:nvSpPr>
        <p:spPr/>
        <p:txBody>
          <a:bodyPr/>
          <a:p>
            <a:pPr marL="0" indent="0">
              <a:buNone/>
            </a:pPr>
            <a:r>
              <a:rPr lang="zh-CN" altLang="en-US" sz="2000">
                <a:latin typeface="Consolas" panose="020B0609020204030204" charset="0"/>
                <a:cs typeface="Consolas" panose="020B0609020204030204" charset="0"/>
              </a:rPr>
              <a:t>&gt;&gt;&gt; '{0:=&lt;8d},{0:#^8d},{0:-&gt;8d}'.format(666)</a:t>
            </a:r>
            <a:r>
              <a:rPr lang="en-US" altLang="zh-CN" sz="2000">
                <a:latin typeface="Consolas" panose="020B0609020204030204" charset="0"/>
                <a:cs typeface="Consolas" panose="020B0609020204030204" charset="0"/>
              </a:rPr>
              <a:t>   # </a:t>
            </a:r>
            <a:r>
              <a:rPr lang="zh-CN" altLang="en-US" sz="2000">
                <a:latin typeface="Consolas" panose="020B0609020204030204" charset="0"/>
                <a:cs typeface="Consolas" panose="020B0609020204030204" charset="0"/>
              </a:rPr>
              <a:t>指定填充符、对齐方式、</a:t>
            </a:r>
            <a:r>
              <a:rPr lang="zh-CN" altLang="en-US" sz="2000">
                <a:latin typeface="Consolas" panose="020B0609020204030204" charset="0"/>
                <a:cs typeface="Consolas" panose="020B0609020204030204" charset="0"/>
              </a:rPr>
              <a:t>宽度</a:t>
            </a:r>
            <a:endParaRPr lang="zh-CN" altLang="en-US" sz="2000">
              <a:latin typeface="Consolas" panose="020B0609020204030204" charset="0"/>
              <a:cs typeface="Consolas" panose="020B0609020204030204" charset="0"/>
            </a:endParaRPr>
          </a:p>
          <a:p>
            <a:pPr marL="0" indent="0">
              <a:buNone/>
            </a:pPr>
            <a:r>
              <a:rPr lang="zh-CN" altLang="en-US" sz="2000">
                <a:solidFill>
                  <a:srgbClr val="00B0F0"/>
                </a:solidFill>
                <a:latin typeface="Consolas" panose="020B0609020204030204" charset="0"/>
                <a:cs typeface="Consolas" panose="020B0609020204030204" charset="0"/>
              </a:rPr>
              <a:t>'666=====,##666###,-----666'</a:t>
            </a:r>
            <a:endParaRPr lang="zh-CN" altLang="en-US" sz="2000">
              <a:solidFill>
                <a:srgbClr val="00B0F0"/>
              </a:solidFill>
              <a:latin typeface="Consolas" panose="020B0609020204030204" charset="0"/>
              <a:cs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7.3.3  </a:t>
            </a:r>
            <a:r>
              <a:rPr lang="zh-CN" altLang="en-US"/>
              <a:t>格式化的字符串常量</a:t>
            </a:r>
            <a:endParaRPr lang="zh-CN" altLang="en-US"/>
          </a:p>
        </p:txBody>
      </p:sp>
      <p:sp>
        <p:nvSpPr>
          <p:cNvPr id="3" name="内容占位符 2"/>
          <p:cNvSpPr>
            <a:spLocks noGrp="1"/>
          </p:cNvSpPr>
          <p:nvPr>
            <p:ph idx="1"/>
          </p:nvPr>
        </p:nvSpPr>
        <p:spPr>
          <a:xfrm>
            <a:off x="838200" y="1321435"/>
            <a:ext cx="10982960" cy="5146040"/>
          </a:xfrm>
        </p:spPr>
        <p:txBody>
          <a:bodyPr>
            <a:normAutofit/>
          </a:bodyPr>
          <a:p>
            <a:pPr fontAlgn="base">
              <a:lnSpc>
                <a:spcPct val="120000"/>
              </a:lnSpc>
              <a:spcBef>
                <a:spcPts val="0"/>
              </a:spcBef>
              <a:buFont typeface="Arial" panose="020B0604020202020204" pitchFamily="34" charset="0"/>
              <a:buChar char="•"/>
            </a:pPr>
            <a:r>
              <a:rPr lang="en-US" sz="2400">
                <a:latin typeface="宋体" panose="02010600030101010101" pitchFamily="2" charset="-122"/>
                <a:ea typeface="宋体" panose="02010600030101010101" pitchFamily="2" charset="-122"/>
                <a:cs typeface="宋体" panose="02010600030101010101" pitchFamily="2" charset="-122"/>
                <a:sym typeface="+mn-ea"/>
              </a:rPr>
              <a:t>从Python 3.6.x开始支持一种新的字符串格式化方式，官方叫做</a:t>
            </a:r>
            <a:r>
              <a:rPr lang="en-US" sz="240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Formatted String Literals</a:t>
            </a:r>
            <a:r>
              <a:rPr lang="en-US" sz="2400">
                <a:latin typeface="宋体" panose="02010600030101010101" pitchFamily="2" charset="-122"/>
                <a:ea typeface="宋体" panose="02010600030101010101" pitchFamily="2" charset="-122"/>
                <a:cs typeface="宋体" panose="02010600030101010101" pitchFamily="2" charset="-122"/>
                <a:sym typeface="+mn-ea"/>
              </a:rPr>
              <a:t>，</a:t>
            </a:r>
            <a:r>
              <a:rPr lang="zh-CN" altLang="en-US" sz="2400">
                <a:latin typeface="宋体" panose="02010600030101010101" pitchFamily="2" charset="-122"/>
                <a:ea typeface="宋体" panose="02010600030101010101" pitchFamily="2" charset="-122"/>
                <a:cs typeface="宋体" panose="02010600030101010101" pitchFamily="2" charset="-122"/>
                <a:sym typeface="+mn-ea"/>
              </a:rPr>
              <a:t>在</a:t>
            </a:r>
            <a:r>
              <a:rPr lang="zh-CN" altLang="en-US" sz="240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字符串前加字母</a:t>
            </a:r>
            <a:r>
              <a:rPr lang="en-US" altLang="zh-CN" sz="240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f</a:t>
            </a:r>
            <a:r>
              <a:rPr lang="zh-CN" altLang="en-US" sz="2400">
                <a:latin typeface="宋体" panose="02010600030101010101" pitchFamily="2" charset="-122"/>
                <a:ea typeface="宋体" panose="02010600030101010101" pitchFamily="2" charset="-122"/>
                <a:cs typeface="宋体" panose="02010600030101010101" pitchFamily="2" charset="-122"/>
                <a:sym typeface="+mn-ea"/>
              </a:rPr>
              <a:t>，简称</a:t>
            </a:r>
            <a:r>
              <a:rPr lang="en-US" altLang="zh-CN" sz="2400">
                <a:latin typeface="宋体" panose="02010600030101010101" pitchFamily="2" charset="-122"/>
                <a:ea typeface="宋体" panose="02010600030101010101" pitchFamily="2" charset="-122"/>
                <a:cs typeface="宋体" panose="02010600030101010101" pitchFamily="2" charset="-122"/>
                <a:sym typeface="+mn-ea"/>
              </a:rPr>
              <a:t>f-</a:t>
            </a:r>
            <a:r>
              <a:rPr lang="zh-CN" altLang="en-US" sz="2400">
                <a:latin typeface="宋体" panose="02010600030101010101" pitchFamily="2" charset="-122"/>
                <a:ea typeface="宋体" panose="02010600030101010101" pitchFamily="2" charset="-122"/>
                <a:cs typeface="宋体" panose="02010600030101010101" pitchFamily="2" charset="-122"/>
                <a:sym typeface="+mn-ea"/>
              </a:rPr>
              <a:t>字符串，功能</a:t>
            </a:r>
            <a:r>
              <a:rPr lang="en-US" sz="2400">
                <a:latin typeface="宋体" panose="02010600030101010101" pitchFamily="2" charset="-122"/>
                <a:ea typeface="宋体" panose="02010600030101010101" pitchFamily="2" charset="-122"/>
                <a:cs typeface="宋体" panose="02010600030101010101" pitchFamily="2" charset="-122"/>
                <a:sym typeface="+mn-ea"/>
              </a:rPr>
              <a:t>与</a:t>
            </a:r>
            <a:r>
              <a:rPr lang="zh-CN" altLang="en-US" sz="2400">
                <a:latin typeface="宋体" panose="02010600030101010101" pitchFamily="2" charset="-122"/>
                <a:ea typeface="宋体" panose="02010600030101010101" pitchFamily="2" charset="-122"/>
                <a:cs typeface="宋体" panose="02010600030101010101" pitchFamily="2" charset="-122"/>
                <a:sym typeface="+mn-ea"/>
              </a:rPr>
              <a:t>内置函数</a:t>
            </a:r>
            <a:r>
              <a:rPr lang="en-US" altLang="zh-CN" sz="2400">
                <a:latin typeface="宋体" panose="02010600030101010101" pitchFamily="2" charset="-122"/>
                <a:ea typeface="宋体" panose="02010600030101010101" pitchFamily="2" charset="-122"/>
                <a:cs typeface="宋体" panose="02010600030101010101" pitchFamily="2" charset="-122"/>
                <a:sym typeface="+mn-ea"/>
              </a:rPr>
              <a:t>format()</a:t>
            </a:r>
            <a:r>
              <a:rPr lang="zh-CN" altLang="en-US" sz="2400">
                <a:latin typeface="宋体" panose="02010600030101010101" pitchFamily="2" charset="-122"/>
                <a:ea typeface="宋体" panose="02010600030101010101" pitchFamily="2" charset="-122"/>
                <a:cs typeface="宋体" panose="02010600030101010101" pitchFamily="2" charset="-122"/>
                <a:sym typeface="+mn-ea"/>
              </a:rPr>
              <a:t>、</a:t>
            </a:r>
            <a:r>
              <a:rPr lang="en-US" sz="2400">
                <a:latin typeface="宋体" panose="02010600030101010101" pitchFamily="2" charset="-122"/>
                <a:ea typeface="宋体" panose="02010600030101010101" pitchFamily="2" charset="-122"/>
                <a:cs typeface="宋体" panose="02010600030101010101" pitchFamily="2" charset="-122"/>
                <a:sym typeface="+mn-ea"/>
              </a:rPr>
              <a:t>字符串对象</a:t>
            </a:r>
            <a:r>
              <a:rPr lang="zh-CN" altLang="en-US" sz="2400">
                <a:latin typeface="宋体" panose="02010600030101010101" pitchFamily="2" charset="-122"/>
                <a:ea typeface="宋体" panose="02010600030101010101" pitchFamily="2" charset="-122"/>
                <a:cs typeface="宋体" panose="02010600030101010101" pitchFamily="2" charset="-122"/>
                <a:sym typeface="+mn-ea"/>
              </a:rPr>
              <a:t>的</a:t>
            </a:r>
            <a:r>
              <a:rPr lang="en-US" sz="2400">
                <a:latin typeface="宋体" panose="02010600030101010101" pitchFamily="2" charset="-122"/>
                <a:ea typeface="宋体" panose="02010600030101010101" pitchFamily="2" charset="-122"/>
                <a:cs typeface="宋体" panose="02010600030101010101" pitchFamily="2" charset="-122"/>
                <a:sym typeface="+mn-ea"/>
              </a:rPr>
              <a:t>format()方法类似。</a:t>
            </a:r>
            <a:endParaRPr lang="en-US" sz="2400" strike="noStrike" noProof="1">
              <a:latin typeface="宋体" panose="02010600030101010101" pitchFamily="2" charset="-122"/>
              <a:ea typeface="宋体" panose="02010600030101010101" pitchFamily="2" charset="-122"/>
              <a:cs typeface="宋体" panose="02010600030101010101" pitchFamily="2" charset="-122"/>
            </a:endParaRPr>
          </a:p>
          <a:p>
            <a:pPr marL="0" indent="0" fontAlgn="base">
              <a:lnSpc>
                <a:spcPct val="90000"/>
              </a:lnSpc>
              <a:spcBef>
                <a:spcPts val="0"/>
              </a:spcBef>
              <a:buNone/>
            </a:pPr>
            <a:r>
              <a:rPr lang="en-US" sz="2000">
                <a:latin typeface="Consolas" panose="020B0609020204030204" charset="0"/>
                <a:cs typeface="Consolas" panose="020B0609020204030204" charset="0"/>
                <a:sym typeface="+mn-ea"/>
              </a:rPr>
              <a:t>&gt;&gt;&gt; name = 'Dong'</a:t>
            </a:r>
            <a:endParaRPr lang="en-US" sz="2000" strike="noStrike" noProof="1">
              <a:latin typeface="Consolas" panose="020B0609020204030204" charset="0"/>
              <a:cs typeface="Consolas" panose="020B0609020204030204" charset="0"/>
            </a:endParaRPr>
          </a:p>
          <a:p>
            <a:pPr marL="0" indent="0" fontAlgn="base">
              <a:lnSpc>
                <a:spcPct val="90000"/>
              </a:lnSpc>
              <a:spcBef>
                <a:spcPts val="0"/>
              </a:spcBef>
              <a:buNone/>
            </a:pPr>
            <a:r>
              <a:rPr lang="en-US" sz="2000">
                <a:latin typeface="Consolas" panose="020B0609020204030204" charset="0"/>
                <a:cs typeface="Consolas" panose="020B0609020204030204" charset="0"/>
                <a:sym typeface="+mn-ea"/>
              </a:rPr>
              <a:t>&gt;&gt;&gt; age = 39</a:t>
            </a:r>
            <a:endParaRPr lang="en-US" sz="2000" strike="noStrike" noProof="1">
              <a:latin typeface="Consolas" panose="020B0609020204030204" charset="0"/>
              <a:cs typeface="Consolas" panose="020B0609020204030204" charset="0"/>
            </a:endParaRPr>
          </a:p>
          <a:p>
            <a:pPr marL="0" indent="0" fontAlgn="base">
              <a:lnSpc>
                <a:spcPct val="90000"/>
              </a:lnSpc>
              <a:spcBef>
                <a:spcPts val="0"/>
              </a:spcBef>
              <a:buNone/>
            </a:pPr>
            <a:r>
              <a:rPr lang="en-US" sz="2000">
                <a:latin typeface="Consolas" panose="020B0609020204030204" charset="0"/>
                <a:cs typeface="Consolas" panose="020B0609020204030204" charset="0"/>
                <a:sym typeface="+mn-ea"/>
              </a:rPr>
              <a:t>&gt;&gt;&gt; f'My name is {name}, and I am {age} years old.'</a:t>
            </a:r>
            <a:endParaRPr lang="en-US" sz="2000" strike="noStrike" noProof="1">
              <a:latin typeface="Consolas" panose="020B0609020204030204" charset="0"/>
              <a:cs typeface="Consolas" panose="020B0609020204030204" charset="0"/>
            </a:endParaRPr>
          </a:p>
          <a:p>
            <a:pPr marL="0" indent="0" fontAlgn="base">
              <a:lnSpc>
                <a:spcPct val="90000"/>
              </a:lnSpc>
              <a:spcBef>
                <a:spcPts val="0"/>
              </a:spcBef>
              <a:buNone/>
            </a:pPr>
            <a:r>
              <a:rPr lang="en-US" sz="2000">
                <a:solidFill>
                  <a:srgbClr val="00B0F0"/>
                </a:solidFill>
                <a:latin typeface="Consolas" panose="020B0609020204030204" charset="0"/>
                <a:cs typeface="Consolas" panose="020B0609020204030204" charset="0"/>
                <a:sym typeface="+mn-ea"/>
              </a:rPr>
              <a:t>'My name is Dong, and I am 39 years old.'</a:t>
            </a:r>
            <a:endParaRPr lang="en-US" sz="2000">
              <a:solidFill>
                <a:srgbClr val="00B0F0"/>
              </a:solidFill>
              <a:latin typeface="Consolas" panose="020B0609020204030204" charset="0"/>
              <a:cs typeface="Consolas" panose="020B0609020204030204" charset="0"/>
              <a:sym typeface="+mn-ea"/>
            </a:endParaRPr>
          </a:p>
          <a:p>
            <a:pPr marL="0" indent="0" fontAlgn="base">
              <a:lnSpc>
                <a:spcPct val="90000"/>
              </a:lnSpc>
              <a:spcBef>
                <a:spcPts val="0"/>
              </a:spcBef>
              <a:buNone/>
            </a:pPr>
            <a:r>
              <a:rPr lang="en-US" sz="2000" strike="noStrike" noProof="1">
                <a:latin typeface="Consolas" panose="020B0609020204030204" charset="0"/>
                <a:cs typeface="Consolas" panose="020B0609020204030204" charset="0"/>
              </a:rPr>
              <a:t>&gt;&gt;&gt; f'{10/4:.3}'                               # </a:t>
            </a:r>
            <a:r>
              <a:rPr lang="zh-CN" altLang="en-US" sz="2000" strike="noStrike" noProof="1">
                <a:latin typeface="Consolas" panose="020B0609020204030204" charset="0"/>
                <a:cs typeface="Consolas" panose="020B0609020204030204" charset="0"/>
              </a:rPr>
              <a:t>最多保留</a:t>
            </a:r>
            <a:r>
              <a:rPr lang="en-US" altLang="zh-CN" sz="2000" strike="noStrike" noProof="1">
                <a:latin typeface="Consolas" panose="020B0609020204030204" charset="0"/>
                <a:cs typeface="Consolas" panose="020B0609020204030204" charset="0"/>
              </a:rPr>
              <a:t>3</a:t>
            </a:r>
            <a:r>
              <a:rPr lang="zh-CN" altLang="en-US" sz="2000" strike="noStrike" noProof="1">
                <a:latin typeface="Consolas" panose="020B0609020204030204" charset="0"/>
                <a:cs typeface="Consolas" panose="020B0609020204030204" charset="0"/>
              </a:rPr>
              <a:t>位有效数字</a:t>
            </a:r>
            <a:endParaRPr lang="en-US" sz="2000" strike="noStrike" noProof="1">
              <a:latin typeface="Consolas" panose="020B0609020204030204" charset="0"/>
              <a:cs typeface="Consolas" panose="020B0609020204030204" charset="0"/>
            </a:endParaRPr>
          </a:p>
          <a:p>
            <a:pPr marL="0" indent="0" fontAlgn="base">
              <a:lnSpc>
                <a:spcPct val="90000"/>
              </a:lnSpc>
              <a:spcBef>
                <a:spcPts val="0"/>
              </a:spcBef>
              <a:buNone/>
            </a:pPr>
            <a:r>
              <a:rPr lang="en-US" sz="2000" strike="noStrike" noProof="1">
                <a:solidFill>
                  <a:srgbClr val="00B0F0"/>
                </a:solidFill>
                <a:latin typeface="Consolas" panose="020B0609020204030204" charset="0"/>
                <a:cs typeface="Consolas" panose="020B0609020204030204" charset="0"/>
              </a:rPr>
              <a:t>'2.5'</a:t>
            </a:r>
            <a:endParaRPr lang="en-US" sz="2000" strike="noStrike" noProof="1">
              <a:solidFill>
                <a:srgbClr val="00B0F0"/>
              </a:solidFill>
              <a:latin typeface="Consolas" panose="020B0609020204030204" charset="0"/>
              <a:cs typeface="Consolas" panose="020B0609020204030204" charset="0"/>
            </a:endParaRPr>
          </a:p>
          <a:p>
            <a:pPr marL="0" indent="0" fontAlgn="base">
              <a:lnSpc>
                <a:spcPct val="90000"/>
              </a:lnSpc>
              <a:spcBef>
                <a:spcPts val="0"/>
              </a:spcBef>
              <a:buNone/>
            </a:pPr>
            <a:r>
              <a:rPr lang="en-US" sz="2000" strike="noStrike" noProof="1">
                <a:latin typeface="Consolas" panose="020B0609020204030204" charset="0"/>
                <a:cs typeface="Consolas" panose="020B0609020204030204" charset="0"/>
              </a:rPr>
              <a:t>&gt;&gt;&gt; f'{10/3:.3}'</a:t>
            </a:r>
            <a:endParaRPr lang="en-US" sz="2000" strike="noStrike" noProof="1">
              <a:latin typeface="Consolas" panose="020B0609020204030204" charset="0"/>
              <a:cs typeface="Consolas" panose="020B0609020204030204" charset="0"/>
            </a:endParaRPr>
          </a:p>
          <a:p>
            <a:pPr marL="0" indent="0" fontAlgn="base">
              <a:lnSpc>
                <a:spcPct val="90000"/>
              </a:lnSpc>
              <a:spcBef>
                <a:spcPts val="0"/>
              </a:spcBef>
              <a:buNone/>
            </a:pPr>
            <a:r>
              <a:rPr lang="en-US" sz="2000" strike="noStrike" noProof="1">
                <a:solidFill>
                  <a:srgbClr val="00B0F0"/>
                </a:solidFill>
                <a:latin typeface="Consolas" panose="020B0609020204030204" charset="0"/>
                <a:cs typeface="Consolas" panose="020B0609020204030204" charset="0"/>
              </a:rPr>
              <a:t>'3.33'</a:t>
            </a:r>
            <a:endParaRPr lang="en-US" sz="2000" strike="noStrike" noProof="1">
              <a:solidFill>
                <a:srgbClr val="00B0F0"/>
              </a:solidFill>
              <a:latin typeface="Consolas" panose="020B0609020204030204" charset="0"/>
              <a:cs typeface="Consolas" panose="020B0609020204030204" charset="0"/>
            </a:endParaRPr>
          </a:p>
          <a:p>
            <a:pPr marL="0" indent="0" fontAlgn="base">
              <a:lnSpc>
                <a:spcPct val="90000"/>
              </a:lnSpc>
              <a:spcBef>
                <a:spcPts val="0"/>
              </a:spcBef>
              <a:buNone/>
            </a:pPr>
            <a:r>
              <a:rPr lang="en-US" sz="2000">
                <a:latin typeface="Consolas" panose="020B0609020204030204" charset="0"/>
                <a:cs typeface="Consolas" panose="020B0609020204030204" charset="0"/>
              </a:rPr>
              <a:t>&gt;&gt;&gt; f'{1000/3:.3}'</a:t>
            </a:r>
            <a:endParaRPr lang="en-US" sz="2000">
              <a:latin typeface="Consolas" panose="020B0609020204030204" charset="0"/>
              <a:cs typeface="Consolas" panose="020B0609020204030204" charset="0"/>
            </a:endParaRPr>
          </a:p>
          <a:p>
            <a:pPr marL="0" indent="0" fontAlgn="base">
              <a:lnSpc>
                <a:spcPct val="90000"/>
              </a:lnSpc>
              <a:spcBef>
                <a:spcPts val="0"/>
              </a:spcBef>
              <a:buNone/>
            </a:pPr>
            <a:r>
              <a:rPr lang="zh-CN" altLang="en-US" sz="2000">
                <a:solidFill>
                  <a:srgbClr val="00B0F0"/>
                </a:solidFill>
                <a:latin typeface="Consolas" panose="020B0609020204030204" charset="0"/>
                <a:cs typeface="Consolas" panose="020B0609020204030204" charset="0"/>
              </a:rPr>
              <a:t>'3.33e+02'</a:t>
            </a:r>
            <a:endParaRPr lang="zh-CN" altLang="en-US" sz="2000">
              <a:solidFill>
                <a:srgbClr val="00B0F0"/>
              </a:solidFill>
              <a:latin typeface="Consolas" panose="020B0609020204030204" charset="0"/>
              <a:cs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7.3.3  </a:t>
            </a:r>
            <a:r>
              <a:rPr lang="zh-CN" altLang="en-US">
                <a:sym typeface="+mn-ea"/>
              </a:rPr>
              <a:t>格式化的字符串常量</a:t>
            </a:r>
            <a:endParaRPr lang="zh-CN" altLang="en-US"/>
          </a:p>
        </p:txBody>
      </p:sp>
      <p:sp>
        <p:nvSpPr>
          <p:cNvPr id="3" name="内容占位符 2"/>
          <p:cNvSpPr>
            <a:spLocks noGrp="1"/>
          </p:cNvSpPr>
          <p:nvPr>
            <p:ph idx="1"/>
          </p:nvPr>
        </p:nvSpPr>
        <p:spPr/>
        <p:txBody>
          <a:bodyPr/>
          <a:p>
            <a:pPr marL="0" indent="0" fontAlgn="base">
              <a:lnSpc>
                <a:spcPct val="100000"/>
              </a:lnSpc>
              <a:spcBef>
                <a:spcPts val="0"/>
              </a:spcBef>
              <a:buNone/>
            </a:pPr>
            <a:r>
              <a:rPr lang="en-US" sz="2000">
                <a:latin typeface="Consolas" panose="020B0609020204030204" charset="0"/>
                <a:cs typeface="Consolas" panose="020B0609020204030204" charset="0"/>
                <a:sym typeface="+mn-ea"/>
              </a:rPr>
              <a:t>&gt;&gt;&gt; width = 10</a:t>
            </a:r>
            <a:endParaRPr lang="en-US" sz="2000" strike="noStrike" noProof="1">
              <a:latin typeface="Consolas" panose="020B0609020204030204" charset="0"/>
              <a:cs typeface="Consolas" panose="020B0609020204030204" charset="0"/>
            </a:endParaRPr>
          </a:p>
          <a:p>
            <a:pPr marL="0" indent="0" fontAlgn="base">
              <a:lnSpc>
                <a:spcPct val="100000"/>
              </a:lnSpc>
              <a:spcBef>
                <a:spcPts val="0"/>
              </a:spcBef>
              <a:buNone/>
            </a:pPr>
            <a:r>
              <a:rPr lang="en-US" sz="2000">
                <a:latin typeface="Consolas" panose="020B0609020204030204" charset="0"/>
                <a:cs typeface="Consolas" panose="020B0609020204030204" charset="0"/>
                <a:sym typeface="+mn-ea"/>
              </a:rPr>
              <a:t>&gt;&gt;&gt; precision = 4</a:t>
            </a:r>
            <a:endParaRPr lang="en-US" sz="2000" strike="noStrike" noProof="1">
              <a:latin typeface="Consolas" panose="020B0609020204030204" charset="0"/>
              <a:cs typeface="Consolas" panose="020B0609020204030204" charset="0"/>
            </a:endParaRPr>
          </a:p>
          <a:p>
            <a:pPr marL="0" indent="0" fontAlgn="base">
              <a:lnSpc>
                <a:spcPct val="100000"/>
              </a:lnSpc>
              <a:spcBef>
                <a:spcPts val="0"/>
              </a:spcBef>
              <a:buNone/>
            </a:pPr>
            <a:r>
              <a:rPr lang="en-US" sz="2000">
                <a:latin typeface="Consolas" panose="020B0609020204030204" charset="0"/>
                <a:cs typeface="Consolas" panose="020B0609020204030204" charset="0"/>
                <a:sym typeface="+mn-ea"/>
              </a:rPr>
              <a:t>&gt;&gt;&gt; value = 11/3</a:t>
            </a:r>
            <a:endParaRPr lang="en-US" sz="2000" strike="noStrike" noProof="1">
              <a:latin typeface="Consolas" panose="020B0609020204030204" charset="0"/>
              <a:cs typeface="Consolas" panose="020B0609020204030204" charset="0"/>
            </a:endParaRPr>
          </a:p>
          <a:p>
            <a:pPr marL="0" indent="0" fontAlgn="base">
              <a:lnSpc>
                <a:spcPct val="100000"/>
              </a:lnSpc>
              <a:spcBef>
                <a:spcPts val="0"/>
              </a:spcBef>
              <a:buNone/>
            </a:pPr>
            <a:r>
              <a:rPr lang="en-US" sz="2000">
                <a:latin typeface="Consolas" panose="020B0609020204030204" charset="0"/>
                <a:cs typeface="Consolas" panose="020B0609020204030204" charset="0"/>
                <a:sym typeface="+mn-ea"/>
              </a:rPr>
              <a:t>&gt;&gt;&gt; f'result:{value:{width}.{precision}}'      # </a:t>
            </a:r>
            <a:r>
              <a:rPr lang="zh-CN" altLang="en-US" sz="2000">
                <a:latin typeface="Consolas" panose="020B0609020204030204" charset="0"/>
                <a:cs typeface="Consolas" panose="020B0609020204030204" charset="0"/>
                <a:sym typeface="+mn-ea"/>
              </a:rPr>
              <a:t>最多保留</a:t>
            </a:r>
            <a:r>
              <a:rPr lang="en-US" altLang="zh-CN" sz="2000">
                <a:latin typeface="Consolas" panose="020B0609020204030204" charset="0"/>
                <a:cs typeface="Consolas" panose="020B0609020204030204" charset="0"/>
                <a:sym typeface="+mn-ea"/>
              </a:rPr>
              <a:t>4</a:t>
            </a:r>
            <a:r>
              <a:rPr lang="zh-CN" altLang="en-US" sz="2000">
                <a:latin typeface="Consolas" panose="020B0609020204030204" charset="0"/>
                <a:cs typeface="Consolas" panose="020B0609020204030204" charset="0"/>
                <a:sym typeface="+mn-ea"/>
              </a:rPr>
              <a:t>位有效数字</a:t>
            </a:r>
            <a:endParaRPr lang="en-US" sz="2000" strike="noStrike" noProof="1">
              <a:latin typeface="Consolas" panose="020B0609020204030204" charset="0"/>
              <a:cs typeface="Consolas" panose="020B0609020204030204" charset="0"/>
            </a:endParaRPr>
          </a:p>
          <a:p>
            <a:pPr marL="0" indent="0" fontAlgn="base">
              <a:lnSpc>
                <a:spcPct val="100000"/>
              </a:lnSpc>
              <a:spcBef>
                <a:spcPts val="0"/>
              </a:spcBef>
              <a:buNone/>
            </a:pPr>
            <a:r>
              <a:rPr lang="en-US" sz="2000">
                <a:solidFill>
                  <a:srgbClr val="00B0F0"/>
                </a:solidFill>
                <a:latin typeface="Consolas" panose="020B0609020204030204" charset="0"/>
                <a:cs typeface="Consolas" panose="020B0609020204030204" charset="0"/>
                <a:sym typeface="+mn-ea"/>
              </a:rPr>
              <a:t>'result:     3.667'</a:t>
            </a:r>
            <a:endParaRPr lang="en-US" sz="2000">
              <a:solidFill>
                <a:srgbClr val="00B0F0"/>
              </a:solidFill>
              <a:latin typeface="Consolas" panose="020B0609020204030204" charset="0"/>
              <a:cs typeface="Consolas" panose="020B0609020204030204" charset="0"/>
              <a:sym typeface="+mn-ea"/>
            </a:endParaRPr>
          </a:p>
          <a:p>
            <a:pPr marL="0" indent="0" fontAlgn="base">
              <a:lnSpc>
                <a:spcPct val="100000"/>
              </a:lnSpc>
              <a:spcBef>
                <a:spcPts val="0"/>
              </a:spcBef>
              <a:buNone/>
            </a:pPr>
            <a:r>
              <a:rPr lang="zh-CN" altLang="en-US" sz="2000">
                <a:latin typeface="Consolas" panose="020B0609020204030204" charset="0"/>
                <a:cs typeface="Consolas" panose="020B0609020204030204" charset="0"/>
                <a:sym typeface="+mn-ea"/>
              </a:rPr>
              <a:t>&gt;&gt;&gt; f'result:{value:{width}.{precision}f}'</a:t>
            </a:r>
            <a:r>
              <a:rPr lang="en-US" altLang="zh-CN" sz="2000">
                <a:latin typeface="Consolas" panose="020B0609020204030204" charset="0"/>
                <a:cs typeface="Consolas" panose="020B0609020204030204" charset="0"/>
                <a:sym typeface="+mn-ea"/>
              </a:rPr>
              <a:t>     # </a:t>
            </a:r>
            <a:r>
              <a:rPr lang="zh-CN" altLang="en-US" sz="2000">
                <a:latin typeface="Consolas" panose="020B0609020204030204" charset="0"/>
                <a:cs typeface="Consolas" panose="020B0609020204030204" charset="0"/>
                <a:sym typeface="+mn-ea"/>
              </a:rPr>
              <a:t>恰好保留</a:t>
            </a:r>
            <a:r>
              <a:rPr lang="en-US" altLang="zh-CN" sz="2000">
                <a:latin typeface="Consolas" panose="020B0609020204030204" charset="0"/>
                <a:cs typeface="Consolas" panose="020B0609020204030204" charset="0"/>
                <a:sym typeface="+mn-ea"/>
              </a:rPr>
              <a:t>4</a:t>
            </a:r>
            <a:r>
              <a:rPr lang="zh-CN" altLang="en-US" sz="2000">
                <a:latin typeface="Consolas" panose="020B0609020204030204" charset="0"/>
                <a:cs typeface="Consolas" panose="020B0609020204030204" charset="0"/>
                <a:sym typeface="+mn-ea"/>
              </a:rPr>
              <a:t>位小数</a:t>
            </a:r>
            <a:endParaRPr lang="zh-CN" altLang="en-US" sz="2000">
              <a:latin typeface="Consolas" panose="020B0609020204030204" charset="0"/>
              <a:cs typeface="Consolas" panose="020B0609020204030204" charset="0"/>
            </a:endParaRPr>
          </a:p>
          <a:p>
            <a:pPr marL="0" indent="0" fontAlgn="base">
              <a:lnSpc>
                <a:spcPct val="100000"/>
              </a:lnSpc>
              <a:spcBef>
                <a:spcPts val="0"/>
              </a:spcBef>
              <a:buNone/>
            </a:pPr>
            <a:r>
              <a:rPr lang="zh-CN" altLang="en-US" sz="2000">
                <a:solidFill>
                  <a:srgbClr val="00B0F0"/>
                </a:solidFill>
                <a:latin typeface="Consolas" panose="020B0609020204030204" charset="0"/>
                <a:cs typeface="Consolas" panose="020B0609020204030204" charset="0"/>
                <a:sym typeface="+mn-ea"/>
              </a:rPr>
              <a:t>'result:    3.6667'</a:t>
            </a:r>
            <a:endParaRPr lang="zh-CN" altLang="en-US" sz="2000">
              <a:solidFill>
                <a:srgbClr val="00B0F0"/>
              </a:solidFill>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sym typeface="+mn-ea"/>
              </a:rPr>
              <a:t>&gt;&gt;&gt; f'result:{1111/3:{width}.{precision}}'</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cs typeface="Consolas" panose="020B0609020204030204" charset="0"/>
                <a:sym typeface="+mn-ea"/>
              </a:rPr>
              <a:t>'result:     370.3'</a:t>
            </a:r>
            <a:endParaRPr lang="zh-CN" altLang="en-US" sz="2000">
              <a:solidFill>
                <a:srgbClr val="00B0F0"/>
              </a:solidFill>
              <a:latin typeface="Consolas" panose="020B0609020204030204" charset="0"/>
              <a:cs typeface="Consolas" panose="020B0609020204030204" charset="0"/>
            </a:endParaRPr>
          </a:p>
          <a:p>
            <a:pPr marL="0" indent="0">
              <a:lnSpc>
                <a:spcPct val="100000"/>
              </a:lnSpc>
              <a:spcBef>
                <a:spcPts val="0"/>
              </a:spcBef>
              <a:buNone/>
            </a:pPr>
            <a:r>
              <a:rPr lang="zh-CN" altLang="en-US" sz="2000">
                <a:latin typeface="Consolas" panose="020B0609020204030204" charset="0"/>
                <a:cs typeface="Consolas" panose="020B0609020204030204" charset="0"/>
              </a:rPr>
              <a:t>&gt;&gt;&gt; f'result:{1111/3:{width}.{precision}f}'</a:t>
            </a:r>
            <a:endParaRPr lang="zh-CN" altLang="en-US" sz="2000">
              <a:latin typeface="Consolas" panose="020B0609020204030204" charset="0"/>
              <a:cs typeface="Consolas" panose="020B0609020204030204" charset="0"/>
            </a:endParaRPr>
          </a:p>
          <a:p>
            <a:pPr marL="0" indent="0">
              <a:lnSpc>
                <a:spcPct val="100000"/>
              </a:lnSpc>
              <a:spcBef>
                <a:spcPts val="0"/>
              </a:spcBef>
              <a:buNone/>
            </a:pPr>
            <a:r>
              <a:rPr lang="zh-CN" altLang="en-US" sz="2000">
                <a:solidFill>
                  <a:srgbClr val="00B0F0"/>
                </a:solidFill>
                <a:latin typeface="Consolas" panose="020B0609020204030204" charset="0"/>
                <a:cs typeface="Consolas" panose="020B0609020204030204" charset="0"/>
              </a:rPr>
              <a:t>'result:  370.3333'</a:t>
            </a:r>
            <a:endParaRPr lang="zh-CN" altLang="en-US" sz="2000">
              <a:solidFill>
                <a:srgbClr val="00B0F0"/>
              </a:solidFill>
              <a:latin typeface="Consolas" panose="020B0609020204030204" charset="0"/>
              <a:cs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7.3.3  </a:t>
            </a:r>
            <a:r>
              <a:rPr lang="zh-CN" altLang="en-US">
                <a:sym typeface="+mn-ea"/>
              </a:rPr>
              <a:t>格式化的字符串常量</a:t>
            </a:r>
            <a:endParaRPr lang="zh-CN" altLang="en-US"/>
          </a:p>
        </p:txBody>
      </p:sp>
      <p:sp>
        <p:nvSpPr>
          <p:cNvPr id="3" name="内容占位符 2"/>
          <p:cNvSpPr>
            <a:spLocks noGrp="1"/>
          </p:cNvSpPr>
          <p:nvPr>
            <p:ph idx="1"/>
          </p:nvPr>
        </p:nvSpPr>
        <p:spPr/>
        <p:txBody>
          <a:bodyPr>
            <a:noAutofit/>
          </a:bodyPr>
          <a:p>
            <a:pPr marL="0" indent="0" fontAlgn="auto">
              <a:lnSpc>
                <a:spcPct val="100000"/>
              </a:lnSpc>
              <a:spcBef>
                <a:spcPts val="0"/>
              </a:spcBef>
              <a:buNone/>
            </a:pPr>
            <a:r>
              <a:rPr lang="zh-CN" altLang="en-US" sz="2000">
                <a:latin typeface="Consolas" panose="020B0609020204030204" charset="0"/>
                <a:cs typeface="Consolas" panose="020B0609020204030204" charset="0"/>
              </a:rPr>
              <a:t>&gt;&gt;&gt; from datetime import date</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&gt;&gt;&gt; today = date.today()</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&gt;&gt;&gt; f'{today.year}年{today.month}月{today.day}日'</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cs typeface="Consolas" panose="020B0609020204030204" charset="0"/>
              </a:rPr>
              <a:t>'2021年10月30日'</a:t>
            </a:r>
            <a:endParaRPr lang="zh-CN" altLang="en-US" sz="2000">
              <a:solidFill>
                <a:srgbClr val="00B0F0"/>
              </a:solidFill>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&gt;&gt;&gt; for i, v in enumerate([1, 2, 3]):</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    print(f'{i}:{v}')</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cs typeface="Consolas" panose="020B0609020204030204" charset="0"/>
              </a:rPr>
              <a:t>0:1</a:t>
            </a:r>
            <a:endParaRPr lang="zh-CN" altLang="en-US" sz="2000">
              <a:solidFill>
                <a:srgbClr val="00B0F0"/>
              </a:solidFill>
              <a:latin typeface="Consolas" panose="020B0609020204030204" charset="0"/>
              <a:cs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cs typeface="Consolas" panose="020B0609020204030204" charset="0"/>
              </a:rPr>
              <a:t>1:2</a:t>
            </a:r>
            <a:endParaRPr lang="zh-CN" altLang="en-US" sz="2000">
              <a:solidFill>
                <a:srgbClr val="00B0F0"/>
              </a:solidFill>
              <a:latin typeface="Consolas" panose="020B0609020204030204" charset="0"/>
              <a:cs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cs typeface="Consolas" panose="020B0609020204030204" charset="0"/>
              </a:rPr>
              <a:t>2:3</a:t>
            </a:r>
            <a:endParaRPr lang="zh-CN" altLang="en-US" sz="2000">
              <a:solidFill>
                <a:srgbClr val="00B0F0"/>
              </a:solidFill>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&gt;&gt;&gt; h, w = 3, 4</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&gt;&gt;&gt; f'{h*w=}'                     # Python 3.8以及更高版本支持</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cs typeface="Consolas" panose="020B0609020204030204" charset="0"/>
              </a:rPr>
              <a:t>'h*w=12'</a:t>
            </a:r>
            <a:endParaRPr lang="zh-CN" altLang="en-US" sz="2000">
              <a:solidFill>
                <a:srgbClr val="00B0F0"/>
              </a:solidFill>
              <a:latin typeface="Consolas" panose="020B0609020204030204" charset="0"/>
              <a:cs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7.4  </a:t>
            </a:r>
            <a:r>
              <a:rPr lang="zh-CN" altLang="en-US"/>
              <a:t>字符串常用操作</a:t>
            </a:r>
            <a:endParaRPr lang="zh-CN" altLang="en-US"/>
          </a:p>
        </p:txBody>
      </p:sp>
      <p:sp>
        <p:nvSpPr>
          <p:cNvPr id="3" name="内容占位符 2"/>
          <p:cNvSpPr>
            <a:spLocks noGrp="1"/>
          </p:cNvSpPr>
          <p:nvPr>
            <p:ph idx="1"/>
          </p:nvPr>
        </p:nvSpPr>
        <p:spPr/>
        <p:txBody>
          <a:bodyPr/>
          <a:p>
            <a:pPr fontAlgn="auto">
              <a:lnSpc>
                <a:spcPct val="150000"/>
              </a:lnSpc>
            </a:pPr>
            <a:r>
              <a:rPr lang="zh-CN" altLang="en-US" sz="2400"/>
              <a:t>Python字符串对象提供了大量</a:t>
            </a:r>
            <a:r>
              <a:rPr lang="zh-CN" altLang="en-US" sz="2400">
                <a:solidFill>
                  <a:srgbClr val="FF0000"/>
                </a:solidFill>
              </a:rPr>
              <a:t>方法</a:t>
            </a:r>
            <a:r>
              <a:rPr lang="zh-CN" altLang="en-US" sz="2400"/>
              <a:t>用于字符串的切分、连接、替换和排版等操作，另外还有大量</a:t>
            </a:r>
            <a:r>
              <a:rPr lang="zh-CN" altLang="en-US" sz="2400">
                <a:solidFill>
                  <a:srgbClr val="FF0000"/>
                </a:solidFill>
              </a:rPr>
              <a:t>运算符</a:t>
            </a:r>
            <a:r>
              <a:rPr lang="zh-CN" altLang="en-US" sz="2400"/>
              <a:t>和</a:t>
            </a:r>
            <a:r>
              <a:rPr lang="zh-CN" altLang="en-US" sz="2400">
                <a:solidFill>
                  <a:srgbClr val="FF0000"/>
                </a:solidFill>
              </a:rPr>
              <a:t>内置函数</a:t>
            </a:r>
            <a:r>
              <a:rPr lang="zh-CN" altLang="en-US" sz="2400">
                <a:solidFill>
                  <a:schemeClr val="tx1"/>
                </a:solidFill>
              </a:rPr>
              <a:t>、</a:t>
            </a:r>
            <a:r>
              <a:rPr lang="zh-CN" altLang="en-US" sz="2400">
                <a:solidFill>
                  <a:srgbClr val="FF0000"/>
                </a:solidFill>
              </a:rPr>
              <a:t>标准库函数</a:t>
            </a:r>
            <a:r>
              <a:rPr lang="zh-CN" altLang="en-US" sz="2400">
                <a:solidFill>
                  <a:schemeClr val="tx1"/>
                </a:solidFill>
              </a:rPr>
              <a:t>、</a:t>
            </a:r>
            <a:r>
              <a:rPr lang="zh-CN" altLang="en-US" sz="2400">
                <a:solidFill>
                  <a:srgbClr val="FF0000"/>
                </a:solidFill>
              </a:rPr>
              <a:t>扩展库函数</a:t>
            </a:r>
            <a:r>
              <a:rPr lang="zh-CN" altLang="en-US" sz="2400"/>
              <a:t>也支持对字符串的操作。</a:t>
            </a:r>
            <a:endParaRPr lang="zh-CN" altLang="en-US" sz="2400"/>
          </a:p>
          <a:p>
            <a:pPr fontAlgn="auto">
              <a:lnSpc>
                <a:spcPct val="150000"/>
              </a:lnSpc>
            </a:pPr>
            <a:r>
              <a:rPr lang="zh-CN" altLang="en-US" sz="2400">
                <a:solidFill>
                  <a:srgbClr val="FF0000"/>
                </a:solidFill>
              </a:rPr>
              <a:t>字符串对象是不可变的</a:t>
            </a:r>
            <a:r>
              <a:rPr lang="zh-CN" altLang="en-US" sz="2400"/>
              <a:t>，字符串对象提供的涉及到字符串“修改”的方法都是返回修改后的新字符串，并不对原始字符串做任何修改。</a:t>
            </a:r>
            <a:endParaRPr lang="zh-CN" altLang="en-US" sz="2400"/>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7.4  </a:t>
            </a:r>
            <a:r>
              <a:rPr lang="zh-CN" altLang="en-US">
                <a:sym typeface="+mn-ea"/>
              </a:rPr>
              <a:t>字符串常用操作</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graphicFrame>
        <p:nvGraphicFramePr>
          <p:cNvPr id="5" name="表格 4"/>
          <p:cNvGraphicFramePr/>
          <p:nvPr>
            <p:custDataLst>
              <p:tags r:id="rId1"/>
            </p:custDataLst>
          </p:nvPr>
        </p:nvGraphicFramePr>
        <p:xfrm>
          <a:off x="833755" y="1426210"/>
          <a:ext cx="9547225" cy="4542155"/>
        </p:xfrm>
        <a:graphic>
          <a:graphicData uri="http://schemas.openxmlformats.org/drawingml/2006/table">
            <a:tbl>
              <a:tblPr firstRow="1" bandRow="1">
                <a:tableStyleId>{5940675A-B579-460E-94D1-54222C63F5DA}</a:tableStyleId>
              </a:tblPr>
              <a:tblGrid>
                <a:gridCol w="3914775"/>
                <a:gridCol w="5632450"/>
              </a:tblGrid>
              <a:tr h="243840">
                <a:tc>
                  <a:txBody>
                    <a:bodyPr/>
                    <a:p>
                      <a:pPr indent="0" algn="ctr">
                        <a:buNone/>
                      </a:pPr>
                      <a:r>
                        <a:rPr lang="en-US" sz="1600" b="1">
                          <a:latin typeface="Consolas" panose="020B0609020204030204" charset="0"/>
                          <a:cs typeface="Consolas" panose="020B0609020204030204" charset="0"/>
                        </a:rPr>
                        <a:t>方法</a:t>
                      </a:r>
                      <a:endParaRPr lang="en-US" altLang="en-US" sz="1600" b="1">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600" b="1">
                          <a:latin typeface="Consolas" panose="020B0609020204030204" charset="0"/>
                          <a:cs typeface="Consolas" panose="020B0609020204030204" charset="0"/>
                        </a:rPr>
                        <a:t>功能描述</a:t>
                      </a:r>
                      <a:endParaRPr lang="en-US" altLang="en-US" sz="1600" b="1">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43840">
                <a:tc>
                  <a:txBody>
                    <a:bodyPr/>
                    <a:p>
                      <a:pPr indent="0">
                        <a:buNone/>
                      </a:pPr>
                      <a:r>
                        <a:rPr lang="en-US" sz="1600" b="0">
                          <a:latin typeface="Consolas" panose="020B0609020204030204" charset="0"/>
                          <a:cs typeface="Consolas" panose="020B0609020204030204" charset="0"/>
                        </a:rPr>
                        <a:t>capitalize()</a:t>
                      </a:r>
                      <a:endParaRPr lang="en-US" altLang="en-US" sz="16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latin typeface="Consolas" panose="020B0609020204030204" charset="0"/>
                          <a:ea typeface="宋体" panose="02010600030101010101" pitchFamily="2" charset="-122"/>
                          <a:cs typeface="宋体" panose="02010600030101010101" pitchFamily="2" charset="-122"/>
                        </a:rPr>
                        <a:t>返回新字符串，第一个英文字母大写，其余小写</a:t>
                      </a:r>
                      <a:endParaRPr lang="en-US" altLang="en-US" sz="1600" b="0">
                        <a:latin typeface="Consolas" panose="020B0609020204030204" charset="0"/>
                        <a:ea typeface="宋体" panose="02010600030101010101" pitchFamily="2" charset="-122"/>
                        <a:cs typeface="宋体" panose="02010600030101010101"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306830">
                <a:tc>
                  <a:txBody>
                    <a:bodyPr/>
                    <a:p>
                      <a:pPr indent="0">
                        <a:buNone/>
                      </a:pPr>
                      <a:r>
                        <a:rPr lang="en-US" sz="1600" b="0">
                          <a:latin typeface="Consolas" panose="020B0609020204030204" charset="0"/>
                          <a:cs typeface="Consolas" panose="020B0609020204030204" charset="0"/>
                        </a:rPr>
                        <a:t>center(width, fillchar=' ', /)</a:t>
                      </a:r>
                      <a:endParaRPr lang="en-US" sz="1600" b="0">
                        <a:latin typeface="Consolas" panose="020B0609020204030204" charset="0"/>
                        <a:cs typeface="Consolas" panose="020B0609020204030204" charset="0"/>
                      </a:endParaRPr>
                    </a:p>
                    <a:p>
                      <a:pPr indent="0">
                        <a:buNone/>
                      </a:pPr>
                      <a:r>
                        <a:rPr lang="en-US" sz="1600" b="0">
                          <a:latin typeface="Consolas" panose="020B0609020204030204" charset="0"/>
                          <a:cs typeface="Consolas" panose="020B0609020204030204" charset="0"/>
                        </a:rPr>
                        <a:t>ljust(width, fillchar=' ', /)</a:t>
                      </a:r>
                      <a:endParaRPr lang="en-US" sz="1600" b="0">
                        <a:latin typeface="Consolas" panose="020B0609020204030204" charset="0"/>
                        <a:cs typeface="Consolas" panose="020B0609020204030204" charset="0"/>
                      </a:endParaRPr>
                    </a:p>
                    <a:p>
                      <a:pPr indent="0">
                        <a:buNone/>
                      </a:pPr>
                      <a:r>
                        <a:rPr lang="en-US" sz="1600" b="0">
                          <a:latin typeface="Consolas" panose="020B0609020204030204" charset="0"/>
                          <a:cs typeface="Consolas" panose="020B0609020204030204" charset="0"/>
                        </a:rPr>
                        <a:t>rjust(width, fillchar=' ', /)</a:t>
                      </a:r>
                      <a:endParaRPr lang="en-US" altLang="en-US" sz="16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latin typeface="Consolas" panose="020B0609020204030204" charset="0"/>
                          <a:cs typeface="Consolas" panose="020B0609020204030204" charset="0"/>
                        </a:rPr>
                        <a:t>返回指定长度的新字符串，当前字符串在新字符串中居中/居左/居右，如果参数width指定的新字符串长度大于当前字符串长度就在两侧/右侧/左侧使用参数fillchar指定的字符</a:t>
                      </a:r>
                      <a:r>
                        <a:rPr lang="en-US" sz="1600" b="0">
                          <a:latin typeface="Consolas" panose="020B0609020204030204" charset="0"/>
                          <a:ea typeface="宋体" panose="02010600030101010101" pitchFamily="2" charset="-122"/>
                          <a:cs typeface="Consolas" panose="020B0609020204030204" charset="0"/>
                        </a:rPr>
                        <a:t>（默认为空格）</a:t>
                      </a:r>
                      <a:r>
                        <a:rPr lang="en-US" sz="1600" b="0">
                          <a:latin typeface="Consolas" panose="020B0609020204030204" charset="0"/>
                          <a:cs typeface="Consolas" panose="020B0609020204030204" charset="0"/>
                        </a:rPr>
                        <a:t>进行填充；如果参数width指定的长度小于或等于当前字符串的长度，直接返回当前字符串，不会进行截断</a:t>
                      </a:r>
                      <a:endParaRPr lang="en-US" altLang="en-US" sz="16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789305">
                <a:tc>
                  <a:txBody>
                    <a:bodyPr/>
                    <a:p>
                      <a:pPr indent="0">
                        <a:buNone/>
                      </a:pPr>
                      <a:r>
                        <a:rPr lang="en-US" sz="1600" b="0">
                          <a:latin typeface="Consolas" panose="020B0609020204030204" charset="0"/>
                          <a:cs typeface="Consolas" panose="020B0609020204030204" charset="0"/>
                        </a:rPr>
                        <a:t>count(sub[, start[, end]])</a:t>
                      </a:r>
                      <a:endParaRPr lang="en-US" altLang="en-US" sz="16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latin typeface="Consolas" panose="020B0609020204030204" charset="0"/>
                          <a:cs typeface="Consolas" panose="020B0609020204030204" charset="0"/>
                        </a:rPr>
                        <a:t>返回</a:t>
                      </a:r>
                      <a:r>
                        <a:rPr lang="en-US" sz="1600" b="0">
                          <a:latin typeface="Consolas" panose="020B0609020204030204" charset="0"/>
                          <a:ea typeface="宋体" panose="02010600030101010101" pitchFamily="2" charset="-122"/>
                          <a:cs typeface="Consolas" panose="020B0609020204030204" charset="0"/>
                        </a:rPr>
                        <a:t>字符</a:t>
                      </a:r>
                      <a:r>
                        <a:rPr lang="en-US" sz="1600" b="0">
                          <a:latin typeface="Consolas" panose="020B0609020204030204" charset="0"/>
                          <a:cs typeface="Consolas" panose="020B0609020204030204" charset="0"/>
                        </a:rPr>
                        <a:t>串sub在当前字符串下标范围[start,end)内不重叠出现的次数，参数start默认</a:t>
                      </a:r>
                      <a:r>
                        <a:rPr lang="en-US" sz="1600" b="0">
                          <a:latin typeface="Consolas" panose="020B0609020204030204" charset="0"/>
                          <a:ea typeface="宋体" panose="02010600030101010101" pitchFamily="2" charset="-122"/>
                          <a:cs typeface="Consolas" panose="020B0609020204030204" charset="0"/>
                        </a:rPr>
                        <a:t>值</a:t>
                      </a:r>
                      <a:r>
                        <a:rPr lang="en-US" sz="1600" b="0">
                          <a:latin typeface="Consolas" panose="020B0609020204030204" charset="0"/>
                          <a:cs typeface="Consolas" panose="020B0609020204030204" charset="0"/>
                        </a:rPr>
                        <a:t>为0，参数end默认</a:t>
                      </a:r>
                      <a:r>
                        <a:rPr lang="en-US" sz="1600" b="0">
                          <a:latin typeface="Consolas" panose="020B0609020204030204" charset="0"/>
                          <a:ea typeface="宋体" panose="02010600030101010101" pitchFamily="2" charset="-122"/>
                          <a:cs typeface="Consolas" panose="020B0609020204030204" charset="0"/>
                        </a:rPr>
                        <a:t>值</a:t>
                      </a:r>
                      <a:r>
                        <a:rPr lang="en-US" sz="1600" b="0">
                          <a:latin typeface="Consolas" panose="020B0609020204030204" charset="0"/>
                          <a:cs typeface="Consolas" panose="020B0609020204030204" charset="0"/>
                        </a:rPr>
                        <a:t>为字符串长度。例如，'abababab'.count('aba')的值为2</a:t>
                      </a:r>
                      <a:endParaRPr lang="en-US" altLang="en-US" sz="16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219200">
                <a:tc>
                  <a:txBody>
                    <a:bodyPr/>
                    <a:p>
                      <a:pPr indent="0">
                        <a:buNone/>
                      </a:pPr>
                      <a:r>
                        <a:rPr lang="en-US" sz="1600" b="0">
                          <a:latin typeface="Consolas" panose="020B0609020204030204" charset="0"/>
                          <a:cs typeface="Consolas" panose="020B0609020204030204" charset="0"/>
                        </a:rPr>
                        <a:t>encode(encoding='utf-8',</a:t>
                      </a:r>
                      <a:endParaRPr lang="en-US" sz="1600" b="0">
                        <a:latin typeface="Consolas" panose="020B0609020204030204" charset="0"/>
                        <a:cs typeface="Consolas" panose="020B0609020204030204" charset="0"/>
                      </a:endParaRPr>
                    </a:p>
                    <a:p>
                      <a:pPr indent="0">
                        <a:buNone/>
                      </a:pPr>
                      <a:r>
                        <a:rPr lang="en-US" sz="1600" b="0">
                          <a:latin typeface="Consolas" panose="020B0609020204030204" charset="0"/>
                          <a:cs typeface="Consolas" panose="020B0609020204030204" charset="0"/>
                        </a:rPr>
                        <a:t>       errors='strict')</a:t>
                      </a:r>
                      <a:endParaRPr lang="en-US" altLang="en-US" sz="16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latin typeface="Consolas" panose="020B0609020204030204" charset="0"/>
                          <a:cs typeface="Consolas" panose="020B0609020204030204" charset="0"/>
                        </a:rPr>
                        <a:t>返回当前字符串使用参数encoding指定的编码格式编码后的字节串</a:t>
                      </a:r>
                      <a:r>
                        <a:rPr lang="en-US" sz="1600" b="0">
                          <a:latin typeface="Consolas" panose="020B0609020204030204" charset="0"/>
                          <a:ea typeface="宋体" panose="02010600030101010101" pitchFamily="2" charset="-122"/>
                          <a:cs typeface="Consolas" panose="020B0609020204030204" charset="0"/>
                        </a:rPr>
                        <a:t>。对于非ASCII字符，UTF-8编码得到的字节串较长，网络传输时占用带宽较大，保存为文件时占用空间较大；GBK编码得到的字节串更短一些，但有些字符不在GBK字符集中，无法使用GBK编码</a:t>
                      </a:r>
                      <a:endParaRPr lang="en-US" altLang="en-US" sz="16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739140">
                <a:tc>
                  <a:txBody>
                    <a:bodyPr/>
                    <a:p>
                      <a:pPr indent="0">
                        <a:buNone/>
                      </a:pPr>
                      <a:r>
                        <a:rPr lang="en-US" sz="1600" b="0">
                          <a:latin typeface="Consolas" panose="020B0609020204030204" charset="0"/>
                          <a:cs typeface="Consolas" panose="020B0609020204030204" charset="0"/>
                        </a:rPr>
                        <a:t>endswith(suffix[, start[, end]])</a:t>
                      </a:r>
                      <a:endParaRPr lang="en-US" sz="1600" b="0">
                        <a:latin typeface="Consolas" panose="020B0609020204030204" charset="0"/>
                        <a:cs typeface="Consolas" panose="020B0609020204030204" charset="0"/>
                      </a:endParaRPr>
                    </a:p>
                    <a:p>
                      <a:pPr indent="0">
                        <a:buNone/>
                      </a:pPr>
                      <a:r>
                        <a:rPr lang="en-US" sz="1600" b="0">
                          <a:latin typeface="Consolas" panose="020B0609020204030204" charset="0"/>
                          <a:cs typeface="Consolas" panose="020B0609020204030204" charset="0"/>
                        </a:rPr>
                        <a:t>startswith(prefix[, start[, end]])</a:t>
                      </a:r>
                      <a:endParaRPr lang="en-US" altLang="en-US" sz="16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600" b="0">
                          <a:latin typeface="Consolas" panose="020B0609020204030204" charset="0"/>
                          <a:cs typeface="Consolas" panose="020B0609020204030204" charset="0"/>
                        </a:rPr>
                        <a:t>如果当前字符串下标范围[start,end)的子串以某个字符串suffix/prefix或元组suffix/prefix指定的几个字符串之一结束/开始则返回True，否则返回False</a:t>
                      </a:r>
                      <a:endParaRPr lang="en-US" altLang="en-US" sz="16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7.4  </a:t>
            </a:r>
            <a:r>
              <a:rPr lang="zh-CN" altLang="en-US">
                <a:sym typeface="+mn-ea"/>
              </a:rPr>
              <a:t>字符串常用操作</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graphicFrame>
        <p:nvGraphicFramePr>
          <p:cNvPr id="5" name="表格 4"/>
          <p:cNvGraphicFramePr/>
          <p:nvPr>
            <p:custDataLst>
              <p:tags r:id="rId1"/>
            </p:custDataLst>
          </p:nvPr>
        </p:nvGraphicFramePr>
        <p:xfrm>
          <a:off x="901700" y="1347470"/>
          <a:ext cx="9411335" cy="4970780"/>
        </p:xfrm>
        <a:graphic>
          <a:graphicData uri="http://schemas.openxmlformats.org/drawingml/2006/table">
            <a:tbl>
              <a:tblPr firstRow="1" bandRow="1">
                <a:tableStyleId>{5940675A-B579-460E-94D1-54222C63F5DA}</a:tableStyleId>
              </a:tblPr>
              <a:tblGrid>
                <a:gridCol w="3860165"/>
                <a:gridCol w="5551170"/>
              </a:tblGrid>
              <a:tr h="742315">
                <a:tc>
                  <a:txBody>
                    <a:bodyPr/>
                    <a:p>
                      <a:pPr indent="0">
                        <a:buNone/>
                      </a:pPr>
                      <a:r>
                        <a:rPr lang="en-US" sz="1800" b="0">
                          <a:latin typeface="Consolas" panose="020B0609020204030204" charset="0"/>
                          <a:cs typeface="Consolas" panose="020B0609020204030204" charset="0"/>
                        </a:rPr>
                        <a:t>expandtabs(tabsize=8)</a:t>
                      </a:r>
                      <a:endParaRPr lang="en-US" altLang="en-US" sz="18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Consolas" panose="020B0609020204030204" charset="0"/>
                          <a:ea typeface="宋体" panose="02010600030101010101" pitchFamily="2" charset="-122"/>
                          <a:cs typeface="Consolas" panose="020B0609020204030204" charset="0"/>
                        </a:rPr>
                        <a:t>返回新字符串，所有tab键都替换为</a:t>
                      </a:r>
                      <a:r>
                        <a:rPr lang="zh-CN" altLang="en-US" sz="1800" b="0">
                          <a:latin typeface="Consolas" panose="020B0609020204030204" charset="0"/>
                          <a:ea typeface="宋体" panose="02010600030101010101" pitchFamily="2" charset="-122"/>
                          <a:cs typeface="Consolas" panose="020B0609020204030204" charset="0"/>
                        </a:rPr>
                        <a:t>指定数量的</a:t>
                      </a:r>
                      <a:r>
                        <a:rPr lang="en-US" sz="1800" b="0">
                          <a:latin typeface="Consolas" panose="020B0609020204030204" charset="0"/>
                          <a:ea typeface="宋体" panose="02010600030101010101" pitchFamily="2" charset="-122"/>
                          <a:cs typeface="Consolas" panose="020B0609020204030204" charset="0"/>
                        </a:rPr>
                        <a:t>空格。例如，'abcd\te'.expandtabs()返回'abcd    e'，'abcdef\te'.expandtabs()返回'abcdef  e'</a:t>
                      </a:r>
                      <a:endParaRPr lang="en-US" sz="1800" b="0">
                        <a:latin typeface="Consolas" panose="020B0609020204030204" charset="0"/>
                        <a:ea typeface="宋体" panose="02010600030101010101" pitchFamily="2" charset="-122"/>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47370">
                <a:tc>
                  <a:txBody>
                    <a:bodyPr/>
                    <a:p>
                      <a:pPr indent="0">
                        <a:buNone/>
                      </a:pPr>
                      <a:r>
                        <a:rPr lang="en-US" sz="1800" b="0">
                          <a:latin typeface="Consolas" panose="020B0609020204030204" charset="0"/>
                          <a:cs typeface="Consolas" panose="020B0609020204030204" charset="0"/>
                        </a:rPr>
                        <a:t>find(sub[, start[, end]])</a:t>
                      </a:r>
                      <a:endParaRPr lang="en-US" sz="1800" b="0">
                        <a:latin typeface="Consolas" panose="020B0609020204030204" charset="0"/>
                        <a:cs typeface="Consolas" panose="020B0609020204030204" charset="0"/>
                      </a:endParaRPr>
                    </a:p>
                    <a:p>
                      <a:pPr indent="0">
                        <a:buNone/>
                      </a:pPr>
                      <a:r>
                        <a:rPr lang="en-US" sz="1800" b="0">
                          <a:latin typeface="Consolas" panose="020B0609020204030204" charset="0"/>
                          <a:cs typeface="Consolas" panose="020B0609020204030204" charset="0"/>
                        </a:rPr>
                        <a:t>rfind(sub[, start[, end]])</a:t>
                      </a:r>
                      <a:endParaRPr lang="en-US" altLang="en-US" sz="18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Consolas" panose="020B0609020204030204" charset="0"/>
                          <a:cs typeface="Consolas" panose="020B0609020204030204" charset="0"/>
                        </a:rPr>
                        <a:t>返回</a:t>
                      </a:r>
                      <a:r>
                        <a:rPr lang="en-US" sz="1800" b="0">
                          <a:latin typeface="Consolas" panose="020B0609020204030204" charset="0"/>
                          <a:ea typeface="宋体" panose="02010600030101010101" pitchFamily="2" charset="-122"/>
                          <a:cs typeface="Consolas" panose="020B0609020204030204" charset="0"/>
                        </a:rPr>
                        <a:t>字符</a:t>
                      </a:r>
                      <a:r>
                        <a:rPr lang="en-US" sz="1800" b="0">
                          <a:latin typeface="Consolas" panose="020B0609020204030204" charset="0"/>
                          <a:cs typeface="Consolas" panose="020B0609020204030204" charset="0"/>
                        </a:rPr>
                        <a:t>串sub在当前字符串下标范围[start,end)内出现的最小/最大下标，不存在时返回-1</a:t>
                      </a:r>
                      <a:endParaRPr lang="en-US" altLang="en-US" sz="18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130300">
                <a:tc>
                  <a:txBody>
                    <a:bodyPr/>
                    <a:p>
                      <a:pPr indent="0">
                        <a:buNone/>
                      </a:pPr>
                      <a:r>
                        <a:rPr lang="en-US" sz="1800" b="0">
                          <a:latin typeface="Consolas" panose="020B0609020204030204" charset="0"/>
                          <a:cs typeface="Consolas" panose="020B0609020204030204" charset="0"/>
                        </a:rPr>
                        <a:t>format(*args, **kwargs)</a:t>
                      </a:r>
                      <a:endParaRPr lang="en-US" altLang="en-US" sz="18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Consolas" panose="020B0609020204030204" charset="0"/>
                          <a:cs typeface="Consolas" panose="020B0609020204030204" charset="0"/>
                        </a:rPr>
                        <a:t>返回对当前字符串进行格式化（格式化是指把字符串中</a:t>
                      </a:r>
                      <a:r>
                        <a:rPr lang="en-US" sz="1800" b="0">
                          <a:latin typeface="Consolas" panose="020B0609020204030204" charset="0"/>
                          <a:ea typeface="宋体" panose="02010600030101010101" pitchFamily="2" charset="-122"/>
                          <a:cs typeface="Consolas" panose="020B0609020204030204" charset="0"/>
                        </a:rPr>
                        <a:t>大括号以及内部变量或编号指定</a:t>
                      </a:r>
                      <a:r>
                        <a:rPr lang="en-US" sz="1800" b="0">
                          <a:latin typeface="Consolas" panose="020B0609020204030204" charset="0"/>
                          <a:cs typeface="Consolas" panose="020B0609020204030204" charset="0"/>
                        </a:rPr>
                        <a:t>的占位符替换为实际值并以指定的格式呈现）后的新字符串，其中args表示位置参数，kwargs表示关键参数</a:t>
                      </a:r>
                      <a:r>
                        <a:rPr lang="en-US" sz="1800" b="0">
                          <a:latin typeface="Consolas" panose="020B0609020204030204" charset="0"/>
                          <a:ea typeface="宋体" panose="02010600030101010101" pitchFamily="2" charset="-122"/>
                          <a:cs typeface="Consolas" panose="020B0609020204030204" charset="0"/>
                        </a:rPr>
                        <a:t>，见5.2节</a:t>
                      </a:r>
                      <a:endParaRPr lang="en-US" altLang="en-US" sz="18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742315">
                <a:tc>
                  <a:txBody>
                    <a:bodyPr/>
                    <a:p>
                      <a:pPr indent="0">
                        <a:buNone/>
                      </a:pPr>
                      <a:r>
                        <a:rPr lang="en-US" sz="1800" b="0">
                          <a:latin typeface="Consolas" panose="020B0609020204030204" charset="0"/>
                          <a:cs typeface="Consolas" panose="020B0609020204030204" charset="0"/>
                        </a:rPr>
                        <a:t>index(sub[, start[, end]])</a:t>
                      </a:r>
                      <a:endParaRPr lang="en-US" sz="1800" b="0">
                        <a:latin typeface="Consolas" panose="020B0609020204030204" charset="0"/>
                        <a:cs typeface="Consolas" panose="020B0609020204030204" charset="0"/>
                      </a:endParaRPr>
                    </a:p>
                    <a:p>
                      <a:pPr indent="0">
                        <a:buNone/>
                      </a:pPr>
                      <a:r>
                        <a:rPr lang="en-US" sz="1800" b="0">
                          <a:latin typeface="Consolas" panose="020B0609020204030204" charset="0"/>
                          <a:cs typeface="Consolas" panose="020B0609020204030204" charset="0"/>
                        </a:rPr>
                        <a:t>rindex(sub[, start[, end]])</a:t>
                      </a:r>
                      <a:endParaRPr lang="en-US" altLang="en-US" sz="18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Consolas" panose="020B0609020204030204" charset="0"/>
                          <a:cs typeface="Consolas" panose="020B0609020204030204" charset="0"/>
                        </a:rPr>
                        <a:t>返回</a:t>
                      </a:r>
                      <a:r>
                        <a:rPr lang="en-US" sz="1800" b="0">
                          <a:latin typeface="Consolas" panose="020B0609020204030204" charset="0"/>
                          <a:ea typeface="宋体" panose="02010600030101010101" pitchFamily="2" charset="-122"/>
                          <a:cs typeface="Consolas" panose="020B0609020204030204" charset="0"/>
                        </a:rPr>
                        <a:t>字符</a:t>
                      </a:r>
                      <a:r>
                        <a:rPr lang="en-US" sz="1800" b="0">
                          <a:latin typeface="Consolas" panose="020B0609020204030204" charset="0"/>
                          <a:cs typeface="Consolas" panose="020B0609020204030204" charset="0"/>
                        </a:rPr>
                        <a:t>串sub在当前字符串下标范围[start,end)内出现的最小/最大下标，不存在时抛出ValueError异常</a:t>
                      </a:r>
                      <a:r>
                        <a:rPr lang="en-US" sz="1800" b="0">
                          <a:latin typeface="Consolas" panose="020B0609020204030204" charset="0"/>
                          <a:ea typeface="宋体" panose="02010600030101010101" pitchFamily="2" charset="-122"/>
                          <a:cs typeface="Consolas" panose="020B0609020204030204" charset="0"/>
                        </a:rPr>
                        <a:t>并提示子串不存在</a:t>
                      </a:r>
                      <a:endParaRPr lang="en-US" altLang="en-US" sz="18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989965">
                <a:tc>
                  <a:txBody>
                    <a:bodyPr/>
                    <a:p>
                      <a:pPr indent="0">
                        <a:buNone/>
                      </a:pPr>
                      <a:r>
                        <a:rPr lang="en-US" sz="1800" b="0">
                          <a:latin typeface="Consolas" panose="020B0609020204030204" charset="0"/>
                          <a:cs typeface="Consolas" panose="020B0609020204030204" charset="0"/>
                        </a:rPr>
                        <a:t>isalnum()</a:t>
                      </a:r>
                      <a:r>
                        <a:rPr lang="en-US" sz="1800" b="0">
                          <a:latin typeface="Consolas" panose="020B0609020204030204" charset="0"/>
                          <a:ea typeface="宋体" panose="02010600030101010101" pitchFamily="2" charset="-122"/>
                          <a:cs typeface="Consolas" panose="020B0609020204030204" charset="0"/>
                        </a:rPr>
                        <a:t>、</a:t>
                      </a:r>
                      <a:r>
                        <a:rPr lang="en-US" sz="1800" b="0">
                          <a:latin typeface="Consolas" panose="020B0609020204030204" charset="0"/>
                          <a:cs typeface="Consolas" panose="020B0609020204030204" charset="0"/>
                        </a:rPr>
                        <a:t>isalpha()</a:t>
                      </a:r>
                      <a:r>
                        <a:rPr lang="en-US" sz="1800" b="0">
                          <a:latin typeface="Consolas" panose="020B0609020204030204" charset="0"/>
                          <a:ea typeface="宋体" panose="02010600030101010101" pitchFamily="2" charset="-122"/>
                          <a:cs typeface="Consolas" panose="020B0609020204030204" charset="0"/>
                        </a:rPr>
                        <a:t>、isascii()、isdecimal()、isdigit()、isidentifier()、islower()、isnumeric()、isprintable()、isspace()、istitle()、isupper()</a:t>
                      </a:r>
                      <a:endParaRPr lang="en-US" altLang="en-US" sz="18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Consolas" panose="020B0609020204030204" charset="0"/>
                          <a:ea typeface="宋体" panose="02010600030101010101" pitchFamily="2" charset="-122"/>
                          <a:cs typeface="宋体" panose="02010600030101010101" pitchFamily="2" charset="-122"/>
                        </a:rPr>
                        <a:t>测试字符串中字符的类型</a:t>
                      </a:r>
                      <a:endParaRPr lang="en-US" altLang="en-US" sz="1800" b="0">
                        <a:latin typeface="Consolas" panose="020B0609020204030204" charset="0"/>
                        <a:ea typeface="宋体" panose="02010600030101010101" pitchFamily="2" charset="-122"/>
                        <a:cs typeface="宋体" panose="02010600030101010101"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7.4  </a:t>
            </a:r>
            <a:r>
              <a:rPr lang="zh-CN" altLang="en-US">
                <a:sym typeface="+mn-ea"/>
              </a:rPr>
              <a:t>字符串常用操作</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graphicFrame>
        <p:nvGraphicFramePr>
          <p:cNvPr id="5" name="表格 4"/>
          <p:cNvGraphicFramePr/>
          <p:nvPr>
            <p:custDataLst>
              <p:tags r:id="rId1"/>
            </p:custDataLst>
          </p:nvPr>
        </p:nvGraphicFramePr>
        <p:xfrm>
          <a:off x="852805" y="1341120"/>
          <a:ext cx="9460230" cy="4789805"/>
        </p:xfrm>
        <a:graphic>
          <a:graphicData uri="http://schemas.openxmlformats.org/drawingml/2006/table">
            <a:tbl>
              <a:tblPr firstRow="1" bandRow="1">
                <a:tableStyleId>{5940675A-B579-460E-94D1-54222C63F5DA}</a:tableStyleId>
              </a:tblPr>
              <a:tblGrid>
                <a:gridCol w="2846705"/>
                <a:gridCol w="6613525"/>
              </a:tblGrid>
              <a:tr h="852170">
                <a:tc>
                  <a:txBody>
                    <a:bodyPr/>
                    <a:p>
                      <a:pPr indent="0">
                        <a:buNone/>
                      </a:pPr>
                      <a:r>
                        <a:rPr lang="en-US" sz="1800" b="0">
                          <a:latin typeface="Consolas" panose="020B0609020204030204" charset="0"/>
                          <a:cs typeface="Consolas" panose="020B0609020204030204" charset="0"/>
                        </a:rPr>
                        <a:t>join(iterable, /)</a:t>
                      </a:r>
                      <a:endParaRPr lang="en-US" altLang="en-US" sz="18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Consolas" panose="020B0609020204030204" charset="0"/>
                          <a:cs typeface="Consolas" panose="020B0609020204030204" charset="0"/>
                        </a:rPr>
                        <a:t>使用当前字符串作为连接符把参数iterable中的所有字符串连接成为一个长字符串并返回连接之后的长字符串，要求参数iterable指定的可迭代对象中所有元素全部为字符串</a:t>
                      </a:r>
                      <a:endParaRPr lang="en-US" altLang="en-US" sz="18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59740">
                <a:tc>
                  <a:txBody>
                    <a:bodyPr/>
                    <a:p>
                      <a:pPr indent="0">
                        <a:buNone/>
                      </a:pPr>
                      <a:r>
                        <a:rPr lang="en-US" sz="1800" b="0">
                          <a:latin typeface="Consolas" panose="020B0609020204030204" charset="0"/>
                          <a:cs typeface="Consolas" panose="020B0609020204030204" charset="0"/>
                        </a:rPr>
                        <a:t>lower()</a:t>
                      </a:r>
                      <a:endParaRPr lang="en-US" sz="1800" b="0">
                        <a:latin typeface="Consolas" panose="020B0609020204030204" charset="0"/>
                        <a:cs typeface="Consolas" panose="020B0609020204030204" charset="0"/>
                      </a:endParaRPr>
                    </a:p>
                    <a:p>
                      <a:pPr indent="0">
                        <a:buNone/>
                      </a:pPr>
                      <a:r>
                        <a:rPr lang="en-US" sz="1800" b="0">
                          <a:latin typeface="Consolas" panose="020B0609020204030204" charset="0"/>
                          <a:cs typeface="Consolas" panose="020B0609020204030204" charset="0"/>
                        </a:rPr>
                        <a:t>upper()</a:t>
                      </a:r>
                      <a:endParaRPr lang="en-US" altLang="en-US" sz="18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Consolas" panose="020B0609020204030204" charset="0"/>
                          <a:cs typeface="Consolas" panose="020B0609020204030204" charset="0"/>
                        </a:rPr>
                        <a:t>返回当前字符串中所有字母都变为小写/大写之后的新字符串，非字母字符保持不变</a:t>
                      </a:r>
                      <a:endParaRPr lang="en-US" altLang="en-US" sz="18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89610">
                <a:tc>
                  <a:txBody>
                    <a:bodyPr/>
                    <a:p>
                      <a:pPr indent="0">
                        <a:buNone/>
                      </a:pPr>
                      <a:r>
                        <a:rPr lang="en-US" sz="1800" b="0">
                          <a:latin typeface="Consolas" panose="020B0609020204030204" charset="0"/>
                          <a:cs typeface="Consolas" panose="020B0609020204030204" charset="0"/>
                        </a:rPr>
                        <a:t>lstrip(chars=None, /)</a:t>
                      </a:r>
                      <a:endParaRPr lang="en-US" sz="1800" b="0">
                        <a:latin typeface="Consolas" panose="020B0609020204030204" charset="0"/>
                        <a:cs typeface="Consolas" panose="020B0609020204030204" charset="0"/>
                      </a:endParaRPr>
                    </a:p>
                    <a:p>
                      <a:pPr indent="0">
                        <a:buNone/>
                      </a:pPr>
                      <a:r>
                        <a:rPr lang="en-US" sz="1800" b="0">
                          <a:latin typeface="Consolas" panose="020B0609020204030204" charset="0"/>
                          <a:cs typeface="Consolas" panose="020B0609020204030204" charset="0"/>
                        </a:rPr>
                        <a:t>rstrip(chars=None, /)</a:t>
                      </a:r>
                      <a:endParaRPr lang="en-US" sz="1800" b="0">
                        <a:latin typeface="Consolas" panose="020B0609020204030204" charset="0"/>
                        <a:cs typeface="Consolas" panose="020B0609020204030204" charset="0"/>
                      </a:endParaRPr>
                    </a:p>
                    <a:p>
                      <a:pPr indent="0">
                        <a:buNone/>
                      </a:pPr>
                      <a:r>
                        <a:rPr lang="en-US" sz="1800" b="0">
                          <a:latin typeface="Consolas" panose="020B0609020204030204" charset="0"/>
                          <a:cs typeface="Consolas" panose="020B0609020204030204" charset="0"/>
                        </a:rPr>
                        <a:t>strip(chars=None, /)</a:t>
                      </a:r>
                      <a:endParaRPr lang="en-US" altLang="en-US" sz="18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Consolas" panose="020B0609020204030204" charset="0"/>
                          <a:cs typeface="Consolas" panose="020B0609020204030204" charset="0"/>
                        </a:rPr>
                        <a:t>返回当前字符串删除左侧/右侧/两侧的空白字符或参数chars中所有字符之后的新字符串</a:t>
                      </a:r>
                      <a:endParaRPr lang="en-US" altLang="en-US" sz="18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585595">
                <a:tc>
                  <a:txBody>
                    <a:bodyPr/>
                    <a:p>
                      <a:pPr indent="0">
                        <a:buNone/>
                      </a:pPr>
                      <a:r>
                        <a:rPr lang="en-US" sz="1800" b="0">
                          <a:latin typeface="Consolas" panose="020B0609020204030204" charset="0"/>
                          <a:cs typeface="Consolas" panose="020B0609020204030204" charset="0"/>
                        </a:rPr>
                        <a:t>maketrans(...)</a:t>
                      </a:r>
                      <a:endParaRPr lang="en-US" altLang="en-US" sz="18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Consolas" panose="020B0609020204030204" charset="0"/>
                          <a:cs typeface="Consolas" panose="020B0609020204030204" charset="0"/>
                        </a:rPr>
                        <a:t>根据参数给定的字典或者两个等长字符串对应位置的字符，构造并返回字符映射表（形式上是字典，“键”和“值”都是字符的Unicode编码），如果指定了第三个参数（必须为字符串）则该参数中所有字符都被映射为空值None。该方法是字符串类str的静态方法，可以通过任意字符串进行调用，也可以直接通过字符串类str进行调用</a:t>
                      </a:r>
                      <a:endParaRPr lang="en-US" altLang="en-US" sz="18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920115">
                <a:tc>
                  <a:txBody>
                    <a:bodyPr/>
                    <a:p>
                      <a:pPr indent="0">
                        <a:buNone/>
                      </a:pPr>
                      <a:r>
                        <a:rPr lang="en-US" sz="1800" b="0">
                          <a:latin typeface="Consolas" panose="020B0609020204030204" charset="0"/>
                          <a:cs typeface="Consolas" panose="020B0609020204030204" charset="0"/>
                        </a:rPr>
                        <a:t>partition(sep, /)</a:t>
                      </a:r>
                      <a:endParaRPr lang="en-US" sz="1800" b="0">
                        <a:latin typeface="Consolas" panose="020B0609020204030204" charset="0"/>
                        <a:cs typeface="Consolas" panose="020B0609020204030204" charset="0"/>
                      </a:endParaRPr>
                    </a:p>
                    <a:p>
                      <a:pPr indent="0">
                        <a:buNone/>
                      </a:pPr>
                      <a:r>
                        <a:rPr lang="en-US" sz="1800" b="0">
                          <a:latin typeface="Consolas" panose="020B0609020204030204" charset="0"/>
                          <a:ea typeface="宋体" panose="02010600030101010101" pitchFamily="2" charset="-122"/>
                          <a:cs typeface="Consolas" panose="020B0609020204030204" charset="0"/>
                        </a:rPr>
                        <a:t>r</a:t>
                      </a:r>
                      <a:r>
                        <a:rPr lang="en-US" sz="1800" b="0">
                          <a:latin typeface="Consolas" panose="020B0609020204030204" charset="0"/>
                          <a:cs typeface="Consolas" panose="020B0609020204030204" charset="0"/>
                        </a:rPr>
                        <a:t>partition(sep, /)</a:t>
                      </a:r>
                      <a:endParaRPr lang="en-US" altLang="en-US" sz="18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Consolas" panose="020B0609020204030204" charset="0"/>
                          <a:ea typeface="宋体" panose="02010600030101010101" pitchFamily="2" charset="-122"/>
                          <a:cs typeface="Consolas" panose="020B0609020204030204" charset="0"/>
                        </a:rPr>
                        <a:t>使用参数sep指定字符串的第一次/最后一次出现作为分隔符，把当前字符串分隔为3个子串，返回包含3个子串的元组。如果指定的子串不存在，返回当前字符串和两个空串组成的元组</a:t>
                      </a:r>
                      <a:endParaRPr lang="en-US" altLang="en-US" sz="1800" b="0">
                        <a:latin typeface="Consolas" panose="020B0609020204030204" charset="0"/>
                        <a:ea typeface="宋体" panose="02010600030101010101" pitchFamily="2" charset="-122"/>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7.4  </a:t>
            </a:r>
            <a:r>
              <a:rPr lang="zh-CN" altLang="en-US">
                <a:sym typeface="+mn-ea"/>
              </a:rPr>
              <a:t>字符串常用操作</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graphicFrame>
        <p:nvGraphicFramePr>
          <p:cNvPr id="5" name="表格 4"/>
          <p:cNvGraphicFramePr/>
          <p:nvPr>
            <p:custDataLst>
              <p:tags r:id="rId1"/>
            </p:custDataLst>
          </p:nvPr>
        </p:nvGraphicFramePr>
        <p:xfrm>
          <a:off x="862965" y="1388110"/>
          <a:ext cx="9490075" cy="4987290"/>
        </p:xfrm>
        <a:graphic>
          <a:graphicData uri="http://schemas.openxmlformats.org/drawingml/2006/table">
            <a:tbl>
              <a:tblPr firstRow="1" bandRow="1">
                <a:tableStyleId>{5940675A-B579-460E-94D1-54222C63F5DA}</a:tableStyleId>
              </a:tblPr>
              <a:tblGrid>
                <a:gridCol w="3822065"/>
                <a:gridCol w="5668010"/>
              </a:tblGrid>
              <a:tr h="548640">
                <a:tc>
                  <a:txBody>
                    <a:bodyPr/>
                    <a:p>
                      <a:pPr indent="0">
                        <a:buNone/>
                      </a:pPr>
                      <a:r>
                        <a:rPr lang="en-US" sz="1800" b="0">
                          <a:latin typeface="Consolas" panose="020B0609020204030204" charset="0"/>
                          <a:ea typeface="宋体" panose="02010600030101010101" pitchFamily="2" charset="-122"/>
                          <a:cs typeface="Consolas" panose="020B0609020204030204" charset="0"/>
                        </a:rPr>
                        <a:t>removeprefix(prefix, /)</a:t>
                      </a:r>
                      <a:endParaRPr lang="en-US" sz="1800" b="0">
                        <a:latin typeface="Consolas" panose="020B0609020204030204" charset="0"/>
                        <a:ea typeface="宋体" panose="02010600030101010101" pitchFamily="2" charset="-122"/>
                        <a:cs typeface="Consolas" panose="020B0609020204030204" charset="0"/>
                      </a:endParaRPr>
                    </a:p>
                    <a:p>
                      <a:pPr indent="0">
                        <a:buNone/>
                      </a:pPr>
                      <a:r>
                        <a:rPr lang="en-US" sz="1800" b="0">
                          <a:latin typeface="Consolas" panose="020B0609020204030204" charset="0"/>
                          <a:ea typeface="宋体" panose="02010600030101010101" pitchFamily="2" charset="-122"/>
                          <a:cs typeface="Consolas" panose="020B0609020204030204" charset="0"/>
                        </a:rPr>
                        <a:t>removesuffix(suffix, /)</a:t>
                      </a:r>
                      <a:endParaRPr lang="en-US" altLang="en-US" sz="1800" b="0">
                        <a:latin typeface="Consolas" panose="020B0609020204030204" charset="0"/>
                        <a:ea typeface="宋体" panose="02010600030101010101" pitchFamily="2" charset="-122"/>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Consolas" panose="020B0609020204030204" charset="0"/>
                          <a:ea typeface="宋体" panose="02010600030101010101" pitchFamily="2" charset="-122"/>
                          <a:cs typeface="Consolas" panose="020B0609020204030204" charset="0"/>
                        </a:rPr>
                        <a:t>返回删除前缀/后缀之后的新字符串</a:t>
                      </a:r>
                      <a:endParaRPr lang="en-US" altLang="en-US" sz="1800" b="0">
                        <a:latin typeface="Consolas" panose="020B0609020204030204" charset="0"/>
                        <a:ea typeface="宋体" panose="02010600030101010101" pitchFamily="2" charset="-122"/>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822960">
                <a:tc>
                  <a:txBody>
                    <a:bodyPr/>
                    <a:p>
                      <a:pPr indent="0">
                        <a:buNone/>
                      </a:pPr>
                      <a:r>
                        <a:rPr lang="en-US" sz="1800" b="0">
                          <a:latin typeface="Consolas" panose="020B0609020204030204" charset="0"/>
                          <a:cs typeface="Consolas" panose="020B0609020204030204" charset="0"/>
                        </a:rPr>
                        <a:t>replace(old, new, count=-1, /)</a:t>
                      </a:r>
                      <a:endParaRPr lang="en-US" altLang="en-US" sz="18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Consolas" panose="020B0609020204030204" charset="0"/>
                          <a:cs typeface="Consolas" panose="020B0609020204030204" charset="0"/>
                        </a:rPr>
                        <a:t>返回当前字符串中所有子串old都被替换为子串new之后的新字符串，参数count用来指定最大替换次数，</a:t>
                      </a:r>
                      <a:r>
                        <a:rPr lang="zh-CN" altLang="en-US" sz="1800" b="0">
                          <a:latin typeface="Consolas" panose="020B0609020204030204" charset="0"/>
                          <a:cs typeface="Consolas" panose="020B0609020204030204" charset="0"/>
                        </a:rPr>
                        <a:t>默认值</a:t>
                      </a:r>
                      <a:r>
                        <a:rPr lang="en-US" sz="1800" b="0">
                          <a:latin typeface="Consolas" panose="020B0609020204030204" charset="0"/>
                          <a:cs typeface="Consolas" panose="020B0609020204030204" charset="0"/>
                        </a:rPr>
                        <a:t>-1表示全部替换</a:t>
                      </a:r>
                      <a:endParaRPr lang="en-US" altLang="en-US" sz="18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371600">
                <a:tc>
                  <a:txBody>
                    <a:bodyPr/>
                    <a:p>
                      <a:pPr indent="0">
                        <a:buNone/>
                      </a:pPr>
                      <a:r>
                        <a:rPr lang="en-US" sz="1800" b="0">
                          <a:latin typeface="Consolas" panose="020B0609020204030204" charset="0"/>
                          <a:cs typeface="Consolas" panose="020B0609020204030204" charset="0"/>
                        </a:rPr>
                        <a:t>rsplit(sep=None, maxsplit=-1)</a:t>
                      </a:r>
                      <a:endParaRPr lang="en-US" sz="1800" b="0">
                        <a:latin typeface="Consolas" panose="020B0609020204030204" charset="0"/>
                        <a:cs typeface="Consolas" panose="020B0609020204030204" charset="0"/>
                      </a:endParaRPr>
                    </a:p>
                    <a:p>
                      <a:pPr indent="0">
                        <a:buNone/>
                      </a:pPr>
                      <a:r>
                        <a:rPr lang="en-US" sz="1800" b="0">
                          <a:latin typeface="Consolas" panose="020B0609020204030204" charset="0"/>
                          <a:cs typeface="Consolas" panose="020B0609020204030204" charset="0"/>
                        </a:rPr>
                        <a:t>split(sep=None, maxsplit=-1)</a:t>
                      </a:r>
                      <a:endParaRPr lang="en-US" altLang="en-US" sz="18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Consolas" panose="020B0609020204030204" charset="0"/>
                          <a:cs typeface="Consolas" panose="020B0609020204030204" charset="0"/>
                        </a:rPr>
                        <a:t>使用参数sep指定的字符串对当前字符串从后向前/从前向后进行切分，返回包含切分后所有子串的列表。参数sep=None表示使用所有空白字符作为分隔符并丢弃切分结果中的所有空字符串，参数maxsplit表示最大切分次数，</a:t>
                      </a:r>
                      <a:r>
                        <a:rPr lang="zh-CN" altLang="en-US" sz="1800" b="0">
                          <a:latin typeface="Consolas" panose="020B0609020204030204" charset="0"/>
                          <a:cs typeface="Consolas" panose="020B0609020204030204" charset="0"/>
                        </a:rPr>
                        <a:t>默认值</a:t>
                      </a:r>
                      <a:r>
                        <a:rPr lang="en-US" sz="1800" b="0">
                          <a:latin typeface="Consolas" panose="020B0609020204030204" charset="0"/>
                          <a:cs typeface="Consolas" panose="020B0609020204030204" charset="0"/>
                        </a:rPr>
                        <a:t>-1表示没有限制</a:t>
                      </a:r>
                      <a:endParaRPr lang="en-US" altLang="en-US" sz="18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74320">
                <a:tc>
                  <a:txBody>
                    <a:bodyPr/>
                    <a:p>
                      <a:pPr indent="0">
                        <a:buNone/>
                      </a:pPr>
                      <a:r>
                        <a:rPr lang="en-US" sz="1800" b="0">
                          <a:latin typeface="Consolas" panose="020B0609020204030204" charset="0"/>
                          <a:cs typeface="Consolas" panose="020B0609020204030204" charset="0"/>
                        </a:rPr>
                        <a:t>splitlines(keepends=False)</a:t>
                      </a:r>
                      <a:endParaRPr lang="en-US" altLang="en-US" sz="18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Consolas" panose="020B0609020204030204" charset="0"/>
                          <a:ea typeface="宋体" panose="02010600030101010101" pitchFamily="2" charset="-122"/>
                          <a:cs typeface="宋体" panose="02010600030101010101" pitchFamily="2" charset="-122"/>
                        </a:rPr>
                        <a:t>使用换行符切分字符串，返回列表</a:t>
                      </a:r>
                      <a:endParaRPr lang="en-US" altLang="en-US" sz="1800" b="0">
                        <a:latin typeface="Consolas" panose="020B0609020204030204" charset="0"/>
                        <a:ea typeface="宋体" panose="02010600030101010101" pitchFamily="2" charset="-122"/>
                        <a:cs typeface="宋体" panose="02010600030101010101"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74320">
                <a:tc>
                  <a:txBody>
                    <a:bodyPr/>
                    <a:p>
                      <a:pPr indent="0">
                        <a:buNone/>
                      </a:pPr>
                      <a:r>
                        <a:rPr lang="en-US" sz="1800" b="0">
                          <a:latin typeface="Consolas" panose="020B0609020204030204" charset="0"/>
                          <a:cs typeface="Consolas" panose="020B0609020204030204" charset="0"/>
                        </a:rPr>
                        <a:t>swapcase()</a:t>
                      </a:r>
                      <a:endParaRPr lang="en-US" altLang="en-US" sz="18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Consolas" panose="020B0609020204030204" charset="0"/>
                          <a:ea typeface="宋体" panose="02010600030101010101" pitchFamily="2" charset="-122"/>
                          <a:cs typeface="宋体" panose="02010600030101010101" pitchFamily="2" charset="-122"/>
                        </a:rPr>
                        <a:t>交换英文字母大小写，返回新字符串</a:t>
                      </a:r>
                      <a:endParaRPr lang="en-US" altLang="en-US" sz="1800" b="0">
                        <a:latin typeface="Consolas" panose="020B0609020204030204" charset="0"/>
                        <a:ea typeface="宋体" panose="02010600030101010101" pitchFamily="2" charset="-122"/>
                        <a:cs typeface="宋体" panose="02010600030101010101"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3850">
                <a:tc>
                  <a:txBody>
                    <a:bodyPr/>
                    <a:p>
                      <a:pPr indent="0">
                        <a:buNone/>
                      </a:pPr>
                      <a:r>
                        <a:rPr lang="en-US" sz="1800" b="0">
                          <a:latin typeface="Consolas" panose="020B0609020204030204" charset="0"/>
                          <a:cs typeface="Consolas" panose="020B0609020204030204" charset="0"/>
                        </a:rPr>
                        <a:t>title()</a:t>
                      </a:r>
                      <a:endParaRPr lang="en-US" altLang="en-US" sz="18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Consolas" panose="020B0609020204030204" charset="0"/>
                          <a:ea typeface="宋体" panose="02010600030101010101" pitchFamily="2" charset="-122"/>
                          <a:cs typeface="宋体" panose="02010600030101010101" pitchFamily="2" charset="-122"/>
                        </a:rPr>
                        <a:t>返回新字符串，每个单词的首字母大写，其余字母小写</a:t>
                      </a:r>
                      <a:endParaRPr lang="en-US" altLang="en-US" sz="1800" b="0">
                        <a:latin typeface="Consolas" panose="020B0609020204030204" charset="0"/>
                        <a:ea typeface="宋体" panose="02010600030101010101" pitchFamily="2" charset="-122"/>
                        <a:cs typeface="宋体" panose="02010600030101010101"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371600">
                <a:tc>
                  <a:txBody>
                    <a:bodyPr/>
                    <a:p>
                      <a:pPr indent="0">
                        <a:buNone/>
                      </a:pPr>
                      <a:r>
                        <a:rPr lang="en-US" sz="1800" b="0">
                          <a:latin typeface="Consolas" panose="020B0609020204030204" charset="0"/>
                          <a:cs typeface="Consolas" panose="020B0609020204030204" charset="0"/>
                        </a:rPr>
                        <a:t>translate(table, /)</a:t>
                      </a:r>
                      <a:endParaRPr lang="en-US" altLang="en-US" sz="18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Consolas" panose="020B0609020204030204" charset="0"/>
                          <a:cs typeface="Consolas" panose="020B0609020204030204" charset="0"/>
                        </a:rPr>
                        <a:t>根据参数table指定的映射表对当前字符串中的字符进行替换并返回替换后的新字符串，不影响原字符串，参数table一般为字符串方法maketrans()创建的映射表，其中映射为空值None的字符将会被删除而不出现在新字符串中</a:t>
                      </a:r>
                      <a:endParaRPr lang="en-US" altLang="en-US" sz="1800" b="0">
                        <a:latin typeface="Consolas" panose="020B0609020204030204" charset="0"/>
                        <a:ea typeface="Consolas" panose="020B0609020204030204" charset="0"/>
                        <a:cs typeface="Consolas" panose="020B0609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7.4.1  find()、rfind()、index()、rindex()、count()</a:t>
            </a:r>
            <a:endParaRPr lang="zh-CN" altLang="en-US"/>
          </a:p>
        </p:txBody>
      </p:sp>
      <p:sp>
        <p:nvSpPr>
          <p:cNvPr id="3" name="内容占位符 2"/>
          <p:cNvSpPr>
            <a:spLocks noGrp="1"/>
          </p:cNvSpPr>
          <p:nvPr>
            <p:ph idx="1"/>
          </p:nvPr>
        </p:nvSpPr>
        <p:spPr/>
        <p:txBody>
          <a:bodyPr>
            <a:normAutofit/>
          </a:bodyPr>
          <a:p>
            <a:pPr fontAlgn="base">
              <a:lnSpc>
                <a:spcPct val="140000"/>
              </a:lnSpc>
              <a:spcBef>
                <a:spcPts val="600"/>
              </a:spcBef>
              <a:spcAft>
                <a:spcPts val="0"/>
              </a:spcAft>
            </a:pPr>
            <a:r>
              <a:rPr lang="en-US" altLang="zh-CN" sz="2400">
                <a:latin typeface="宋体" panose="02010600030101010101" pitchFamily="2" charset="-122"/>
                <a:sym typeface="+mn-ea"/>
              </a:rPr>
              <a:t>find(sub[, start[, end]])</a:t>
            </a:r>
            <a:r>
              <a:rPr lang="zh-CN" altLang="en-US" sz="2400">
                <a:latin typeface="宋体" panose="02010600030101010101" pitchFamily="2" charset="-122"/>
                <a:sym typeface="+mn-ea"/>
              </a:rPr>
              <a:t>和</a:t>
            </a:r>
            <a:r>
              <a:rPr lang="en-US" altLang="zh-CN" sz="2400">
                <a:latin typeface="宋体" panose="02010600030101010101" pitchFamily="2" charset="-122"/>
                <a:sym typeface="+mn-ea"/>
              </a:rPr>
              <a:t>rfind(sub[, start[, end]])</a:t>
            </a:r>
            <a:r>
              <a:rPr lang="zh-CN" altLang="en-US" sz="2400">
                <a:latin typeface="宋体" panose="02010600030101010101" pitchFamily="2" charset="-122"/>
                <a:sym typeface="+mn-ea"/>
              </a:rPr>
              <a:t>方法分别用来查找另一个字符串在</a:t>
            </a:r>
            <a:r>
              <a:rPr lang="zh-CN" altLang="en-US" sz="2400">
                <a:latin typeface="宋体" panose="02010600030101010101" pitchFamily="2" charset="-122"/>
                <a:sym typeface="+mn-ea"/>
              </a:rPr>
              <a:t>当前字符串指定范围（默认是整个字符串）中</a:t>
            </a:r>
            <a:r>
              <a:rPr lang="zh-CN" altLang="en-US" sz="2400">
                <a:solidFill>
                  <a:srgbClr val="FF0000"/>
                </a:solidFill>
                <a:latin typeface="宋体" panose="02010600030101010101" pitchFamily="2" charset="-122"/>
                <a:sym typeface="+mn-ea"/>
              </a:rPr>
              <a:t>首次</a:t>
            </a:r>
            <a:r>
              <a:rPr lang="zh-CN" altLang="en-US" sz="2400">
                <a:latin typeface="宋体" panose="02010600030101010101" pitchFamily="2" charset="-122"/>
                <a:sym typeface="+mn-ea"/>
              </a:rPr>
              <a:t>和</a:t>
            </a:r>
            <a:r>
              <a:rPr lang="zh-CN" altLang="en-US" sz="2400">
                <a:solidFill>
                  <a:srgbClr val="FF0000"/>
                </a:solidFill>
                <a:latin typeface="宋体" panose="02010600030101010101" pitchFamily="2" charset="-122"/>
                <a:sym typeface="+mn-ea"/>
              </a:rPr>
              <a:t>最后一次</a:t>
            </a:r>
            <a:r>
              <a:rPr lang="zh-CN" altLang="en-US" sz="2400">
                <a:latin typeface="宋体" panose="02010600030101010101" pitchFamily="2" charset="-122"/>
                <a:sym typeface="+mn-ea"/>
              </a:rPr>
              <a:t>出现的位置，如果</a:t>
            </a:r>
            <a:r>
              <a:rPr lang="zh-CN" altLang="en-US" sz="2400">
                <a:solidFill>
                  <a:srgbClr val="FF0000"/>
                </a:solidFill>
                <a:latin typeface="宋体" panose="02010600030101010101" pitchFamily="2" charset="-122"/>
                <a:sym typeface="+mn-ea"/>
              </a:rPr>
              <a:t>不存在则返回</a:t>
            </a:r>
            <a:r>
              <a:rPr lang="en-US" altLang="zh-CN" sz="2400">
                <a:solidFill>
                  <a:srgbClr val="FF0000"/>
                </a:solidFill>
                <a:latin typeface="宋体" panose="02010600030101010101" pitchFamily="2" charset="-122"/>
                <a:sym typeface="+mn-ea"/>
              </a:rPr>
              <a:t>-1</a:t>
            </a:r>
            <a:r>
              <a:rPr lang="zh-CN" altLang="en-US" sz="2400">
                <a:latin typeface="宋体" panose="02010600030101010101" pitchFamily="2" charset="-122"/>
                <a:sym typeface="+mn-ea"/>
              </a:rPr>
              <a:t>；</a:t>
            </a:r>
            <a:endParaRPr lang="zh-CN" altLang="en-US" sz="2400" strike="noStrike" noProof="1">
              <a:latin typeface="宋体" panose="02010600030101010101" pitchFamily="2" charset="-122"/>
            </a:endParaRPr>
          </a:p>
          <a:p>
            <a:pPr fontAlgn="base">
              <a:lnSpc>
                <a:spcPct val="140000"/>
              </a:lnSpc>
              <a:spcBef>
                <a:spcPts val="600"/>
              </a:spcBef>
              <a:spcAft>
                <a:spcPts val="0"/>
              </a:spcAft>
            </a:pPr>
            <a:r>
              <a:rPr lang="en-US" altLang="zh-CN" sz="2400">
                <a:latin typeface="宋体" panose="02010600030101010101" pitchFamily="2" charset="-122"/>
                <a:sym typeface="+mn-ea"/>
              </a:rPr>
              <a:t>index(sub[, start[, end]])</a:t>
            </a:r>
            <a:r>
              <a:rPr lang="zh-CN" altLang="en-US" sz="2400">
                <a:latin typeface="宋体" panose="02010600030101010101" pitchFamily="2" charset="-122"/>
                <a:sym typeface="+mn-ea"/>
              </a:rPr>
              <a:t>和</a:t>
            </a:r>
            <a:r>
              <a:rPr lang="en-US" altLang="zh-CN" sz="2400">
                <a:latin typeface="宋体" panose="02010600030101010101" pitchFamily="2" charset="-122"/>
                <a:sym typeface="+mn-ea"/>
              </a:rPr>
              <a:t>rindex(sub[, start[, end]])</a:t>
            </a:r>
            <a:r>
              <a:rPr lang="zh-CN" altLang="en-US" sz="2400">
                <a:latin typeface="宋体" panose="02010600030101010101" pitchFamily="2" charset="-122"/>
                <a:sym typeface="+mn-ea"/>
              </a:rPr>
              <a:t>方法用来返回另一个字符串在</a:t>
            </a:r>
            <a:r>
              <a:rPr lang="zh-CN" altLang="en-US" sz="2400">
                <a:latin typeface="宋体" panose="02010600030101010101" pitchFamily="2" charset="-122"/>
                <a:sym typeface="+mn-ea"/>
              </a:rPr>
              <a:t>当前字符串指定范围中</a:t>
            </a:r>
            <a:r>
              <a:rPr lang="zh-CN" altLang="en-US" sz="2400">
                <a:solidFill>
                  <a:srgbClr val="FF0000"/>
                </a:solidFill>
                <a:latin typeface="宋体" panose="02010600030101010101" pitchFamily="2" charset="-122"/>
                <a:sym typeface="+mn-ea"/>
              </a:rPr>
              <a:t>首次</a:t>
            </a:r>
            <a:r>
              <a:rPr lang="zh-CN" altLang="en-US" sz="2400">
                <a:latin typeface="宋体" panose="02010600030101010101" pitchFamily="2" charset="-122"/>
                <a:sym typeface="+mn-ea"/>
              </a:rPr>
              <a:t>和</a:t>
            </a:r>
            <a:r>
              <a:rPr lang="zh-CN" altLang="en-US" sz="2400">
                <a:solidFill>
                  <a:srgbClr val="FF0000"/>
                </a:solidFill>
                <a:latin typeface="宋体" panose="02010600030101010101" pitchFamily="2" charset="-122"/>
                <a:sym typeface="+mn-ea"/>
              </a:rPr>
              <a:t>最后一次</a:t>
            </a:r>
            <a:r>
              <a:rPr lang="zh-CN" altLang="en-US" sz="2400">
                <a:latin typeface="宋体" panose="02010600030101010101" pitchFamily="2" charset="-122"/>
                <a:sym typeface="+mn-ea"/>
              </a:rPr>
              <a:t>出现的位置，如果</a:t>
            </a:r>
            <a:r>
              <a:rPr lang="zh-CN" altLang="en-US" sz="2400">
                <a:solidFill>
                  <a:srgbClr val="FF0000"/>
                </a:solidFill>
                <a:latin typeface="宋体" panose="02010600030101010101" pitchFamily="2" charset="-122"/>
                <a:sym typeface="+mn-ea"/>
              </a:rPr>
              <a:t>不存在则抛出异常</a:t>
            </a:r>
            <a:r>
              <a:rPr lang="zh-CN" altLang="en-US" sz="2400">
                <a:latin typeface="宋体" panose="02010600030101010101" pitchFamily="2" charset="-122"/>
                <a:sym typeface="+mn-ea"/>
              </a:rPr>
              <a:t>；</a:t>
            </a:r>
            <a:endParaRPr lang="zh-CN" altLang="en-US" sz="2400" strike="noStrike" noProof="1">
              <a:latin typeface="宋体" panose="02010600030101010101" pitchFamily="2" charset="-122"/>
            </a:endParaRPr>
          </a:p>
          <a:p>
            <a:pPr fontAlgn="base">
              <a:lnSpc>
                <a:spcPct val="140000"/>
              </a:lnSpc>
              <a:spcBef>
                <a:spcPts val="600"/>
              </a:spcBef>
              <a:spcAft>
                <a:spcPts val="0"/>
              </a:spcAft>
            </a:pPr>
            <a:r>
              <a:rPr lang="en-US" altLang="zh-CN" sz="2400">
                <a:latin typeface="宋体" panose="02010600030101010101" pitchFamily="2" charset="-122"/>
                <a:sym typeface="+mn-ea"/>
              </a:rPr>
              <a:t>count(sub[, start[, end]])</a:t>
            </a:r>
            <a:r>
              <a:rPr lang="zh-CN" altLang="en-US" sz="2400">
                <a:latin typeface="宋体" panose="02010600030101010101" pitchFamily="2" charset="-122"/>
                <a:sym typeface="+mn-ea"/>
              </a:rPr>
              <a:t>方法用来返回</a:t>
            </a:r>
            <a:r>
              <a:rPr lang="zh-CN" altLang="en-US" sz="2400">
                <a:latin typeface="宋体" panose="02010600030101010101" pitchFamily="2" charset="-122"/>
                <a:sym typeface="+mn-ea"/>
              </a:rPr>
              <a:t>另一个字符串在当前字符串中出现的</a:t>
            </a:r>
            <a:r>
              <a:rPr lang="zh-CN" altLang="en-US" sz="2400">
                <a:solidFill>
                  <a:srgbClr val="FF0000"/>
                </a:solidFill>
                <a:latin typeface="宋体" panose="02010600030101010101" pitchFamily="2" charset="-122"/>
                <a:sym typeface="+mn-ea"/>
              </a:rPr>
              <a:t>次数</a:t>
            </a:r>
            <a:r>
              <a:rPr lang="zh-CN" altLang="en-US" sz="2400">
                <a:latin typeface="宋体" panose="02010600030101010101" pitchFamily="2" charset="-122"/>
                <a:sym typeface="+mn-ea"/>
              </a:rPr>
              <a:t>。</a:t>
            </a:r>
            <a:endParaRPr lang="zh-CN" altLang="en-US" sz="2400"/>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7.4.1  find()、rfind()、index()、rindex()、count()</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37890" name="文本占位符 31746"/>
          <p:cNvSpPr>
            <a:spLocks noGrp="1"/>
          </p:cNvSpPr>
          <p:nvPr>
            <p:ph idx="1"/>
          </p:nvPr>
        </p:nvSpPr>
        <p:spPr>
          <a:xfrm>
            <a:off x="739775" y="1373505"/>
            <a:ext cx="5121275" cy="4526280"/>
          </a:xfrm>
          <a:ln w="22225">
            <a:solidFill>
              <a:schemeClr val="accent1"/>
            </a:solidFill>
            <a:miter/>
          </a:ln>
        </p:spPr>
        <p:txBody>
          <a:bodyPr anchor="t"/>
          <a:p>
            <a:pPr marL="1905" indent="-344805" defTabSz="914400">
              <a:lnSpc>
                <a:spcPct val="100000"/>
              </a:lnSpc>
              <a:spcBef>
                <a:spcPct val="0"/>
              </a:spcBef>
              <a:buSzPct val="70000"/>
              <a:buFont typeface="Wingdings" panose="05000000000000000000" pitchFamily="2" charset="2"/>
              <a:buNone/>
            </a:pPr>
            <a:r>
              <a:rPr lang="en-US" altLang="zh-CN" sz="1800">
                <a:latin typeface="Consolas" panose="020B0609020204030204" charset="0"/>
              </a:rPr>
              <a:t>&gt;&gt;&gt; s = </a:t>
            </a:r>
            <a:r>
              <a:rPr lang="en-US" altLang="zh-CN" sz="1800">
                <a:latin typeface="Consolas" panose="020B0609020204030204" charset="0"/>
                <a:ea typeface="宋体" panose="02010600030101010101" pitchFamily="2" charset="-122"/>
                <a:sym typeface="宋体" panose="02010600030101010101" pitchFamily="2" charset="-122"/>
              </a:rPr>
              <a:t>'</a:t>
            </a:r>
            <a:r>
              <a:rPr lang="en-US" altLang="zh-CN" sz="1800">
                <a:latin typeface="Consolas" panose="020B0609020204030204" charset="0"/>
              </a:rPr>
              <a:t>apple,peach,banana,peach,pear</a:t>
            </a:r>
            <a:r>
              <a:rPr lang="en-US" altLang="zh-CN" sz="1800">
                <a:latin typeface="Consolas" panose="020B0609020204030204" charset="0"/>
                <a:ea typeface="宋体" panose="02010600030101010101" pitchFamily="2" charset="-122"/>
                <a:sym typeface="宋体" panose="02010600030101010101" pitchFamily="2" charset="-122"/>
              </a:rPr>
              <a:t>'</a:t>
            </a:r>
            <a:endParaRPr lang="en-US" altLang="zh-CN" sz="1800">
              <a:latin typeface="Consolas" panose="020B0609020204030204" charset="0"/>
            </a:endParaRPr>
          </a:p>
          <a:p>
            <a:pPr marL="1905" indent="-344805" defTabSz="914400">
              <a:lnSpc>
                <a:spcPct val="100000"/>
              </a:lnSpc>
              <a:spcBef>
                <a:spcPct val="0"/>
              </a:spcBef>
              <a:buSzPct val="70000"/>
              <a:buFont typeface="Wingdings" panose="05000000000000000000" pitchFamily="2" charset="2"/>
              <a:buNone/>
            </a:pPr>
            <a:r>
              <a:rPr lang="en-US" altLang="zh-CN" sz="1800">
                <a:latin typeface="Consolas" panose="020B0609020204030204" charset="0"/>
              </a:rPr>
              <a:t>&gt;&gt;&gt; s.find(</a:t>
            </a:r>
            <a:r>
              <a:rPr lang="en-US" altLang="zh-CN" sz="1800">
                <a:latin typeface="Consolas" panose="020B0609020204030204" charset="0"/>
                <a:ea typeface="宋体" panose="02010600030101010101" pitchFamily="2" charset="-122"/>
                <a:sym typeface="宋体" panose="02010600030101010101" pitchFamily="2" charset="-122"/>
              </a:rPr>
              <a:t>'</a:t>
            </a:r>
            <a:r>
              <a:rPr lang="en-US" altLang="zh-CN" sz="1800">
                <a:latin typeface="Consolas" panose="020B0609020204030204" charset="0"/>
              </a:rPr>
              <a:t>peach</a:t>
            </a:r>
            <a:r>
              <a:rPr lang="en-US" altLang="zh-CN" sz="1800">
                <a:latin typeface="Consolas" panose="020B0609020204030204" charset="0"/>
                <a:ea typeface="宋体" panose="02010600030101010101" pitchFamily="2" charset="-122"/>
                <a:sym typeface="宋体" panose="02010600030101010101" pitchFamily="2" charset="-122"/>
              </a:rPr>
              <a:t>'</a:t>
            </a:r>
            <a:r>
              <a:rPr lang="en-US" altLang="zh-CN" sz="1800">
                <a:latin typeface="Consolas" panose="020B0609020204030204" charset="0"/>
              </a:rPr>
              <a:t>)</a:t>
            </a:r>
            <a:endParaRPr lang="en-US" altLang="zh-CN" sz="1800">
              <a:latin typeface="Consolas" panose="020B0609020204030204" charset="0"/>
            </a:endParaRPr>
          </a:p>
          <a:p>
            <a:pPr marL="1905" indent="-344805" defTabSz="914400">
              <a:lnSpc>
                <a:spcPct val="100000"/>
              </a:lnSpc>
              <a:spcBef>
                <a:spcPct val="0"/>
              </a:spcBef>
              <a:buSzPct val="70000"/>
              <a:buFont typeface="Wingdings" panose="05000000000000000000" pitchFamily="2" charset="2"/>
              <a:buNone/>
            </a:pPr>
            <a:r>
              <a:rPr lang="en-US" altLang="zh-CN" sz="1800">
                <a:solidFill>
                  <a:srgbClr val="00B0F0"/>
                </a:solidFill>
                <a:latin typeface="Consolas" panose="020B0609020204030204" charset="0"/>
              </a:rPr>
              <a:t>6</a:t>
            </a:r>
            <a:endParaRPr lang="en-US" altLang="zh-CN" sz="1800">
              <a:solidFill>
                <a:srgbClr val="00B0F0"/>
              </a:solidFill>
              <a:latin typeface="Consolas" panose="020B0609020204030204" charset="0"/>
            </a:endParaRPr>
          </a:p>
          <a:p>
            <a:pPr marL="1905" indent="-344805" defTabSz="914400">
              <a:lnSpc>
                <a:spcPct val="100000"/>
              </a:lnSpc>
              <a:spcBef>
                <a:spcPct val="0"/>
              </a:spcBef>
              <a:buSzPct val="70000"/>
              <a:buFont typeface="Wingdings" panose="05000000000000000000" pitchFamily="2" charset="2"/>
              <a:buNone/>
            </a:pPr>
            <a:r>
              <a:rPr lang="en-US" altLang="zh-CN" sz="1800">
                <a:latin typeface="Consolas" panose="020B0609020204030204" charset="0"/>
              </a:rPr>
              <a:t>&gt;&gt;&gt; s.find(</a:t>
            </a:r>
            <a:r>
              <a:rPr lang="en-US" altLang="zh-CN" sz="1800">
                <a:latin typeface="Consolas" panose="020B0609020204030204" charset="0"/>
                <a:ea typeface="宋体" panose="02010600030101010101" pitchFamily="2" charset="-122"/>
                <a:sym typeface="宋体" panose="02010600030101010101" pitchFamily="2" charset="-122"/>
              </a:rPr>
              <a:t>'</a:t>
            </a:r>
            <a:r>
              <a:rPr lang="en-US" altLang="zh-CN" sz="1800">
                <a:latin typeface="Consolas" panose="020B0609020204030204" charset="0"/>
              </a:rPr>
              <a:t>peach</a:t>
            </a:r>
            <a:r>
              <a:rPr lang="en-US" altLang="zh-CN" sz="1800">
                <a:latin typeface="Consolas" panose="020B0609020204030204" charset="0"/>
                <a:ea typeface="宋体" panose="02010600030101010101" pitchFamily="2" charset="-122"/>
                <a:sym typeface="宋体" panose="02010600030101010101" pitchFamily="2" charset="-122"/>
              </a:rPr>
              <a:t>'</a:t>
            </a:r>
            <a:r>
              <a:rPr lang="en-US" altLang="zh-CN" sz="1800">
                <a:latin typeface="Consolas" panose="020B0609020204030204" charset="0"/>
              </a:rPr>
              <a:t>, 7)</a:t>
            </a:r>
            <a:endParaRPr lang="en-US" altLang="zh-CN" sz="1800">
              <a:latin typeface="Consolas" panose="020B0609020204030204" charset="0"/>
            </a:endParaRPr>
          </a:p>
          <a:p>
            <a:pPr marL="1905" indent="-344805" defTabSz="914400">
              <a:lnSpc>
                <a:spcPct val="100000"/>
              </a:lnSpc>
              <a:spcBef>
                <a:spcPct val="0"/>
              </a:spcBef>
              <a:buSzPct val="70000"/>
              <a:buFont typeface="Wingdings" panose="05000000000000000000" pitchFamily="2" charset="2"/>
              <a:buNone/>
            </a:pPr>
            <a:r>
              <a:rPr lang="en-US" altLang="zh-CN" sz="1800">
                <a:solidFill>
                  <a:srgbClr val="00B0F0"/>
                </a:solidFill>
                <a:latin typeface="Consolas" panose="020B0609020204030204" charset="0"/>
              </a:rPr>
              <a:t>19</a:t>
            </a:r>
            <a:endParaRPr lang="en-US" altLang="zh-CN" sz="1800">
              <a:solidFill>
                <a:srgbClr val="00B0F0"/>
              </a:solidFill>
              <a:latin typeface="Consolas" panose="020B0609020204030204" charset="0"/>
            </a:endParaRPr>
          </a:p>
          <a:p>
            <a:pPr marL="1905" indent="-344805" defTabSz="914400">
              <a:lnSpc>
                <a:spcPct val="100000"/>
              </a:lnSpc>
              <a:spcBef>
                <a:spcPct val="0"/>
              </a:spcBef>
              <a:buSzPct val="70000"/>
              <a:buFont typeface="Wingdings" panose="05000000000000000000" pitchFamily="2" charset="2"/>
              <a:buNone/>
            </a:pPr>
            <a:r>
              <a:rPr lang="en-US" altLang="zh-CN" sz="1800">
                <a:latin typeface="Consolas" panose="020B0609020204030204" charset="0"/>
              </a:rPr>
              <a:t>&gt;&gt;&gt; s.find(</a:t>
            </a:r>
            <a:r>
              <a:rPr lang="en-US" altLang="zh-CN" sz="1800">
                <a:latin typeface="Consolas" panose="020B0609020204030204" charset="0"/>
                <a:ea typeface="宋体" panose="02010600030101010101" pitchFamily="2" charset="-122"/>
                <a:sym typeface="宋体" panose="02010600030101010101" pitchFamily="2" charset="-122"/>
              </a:rPr>
              <a:t>'</a:t>
            </a:r>
            <a:r>
              <a:rPr lang="en-US" altLang="zh-CN" sz="1800">
                <a:latin typeface="Consolas" panose="020B0609020204030204" charset="0"/>
              </a:rPr>
              <a:t>peach</a:t>
            </a:r>
            <a:r>
              <a:rPr lang="en-US" altLang="zh-CN" sz="1800">
                <a:latin typeface="Consolas" panose="020B0609020204030204" charset="0"/>
                <a:ea typeface="宋体" panose="02010600030101010101" pitchFamily="2" charset="-122"/>
                <a:sym typeface="宋体" panose="02010600030101010101" pitchFamily="2" charset="-122"/>
              </a:rPr>
              <a:t>'</a:t>
            </a:r>
            <a:r>
              <a:rPr lang="en-US" altLang="zh-CN" sz="1800">
                <a:latin typeface="Consolas" panose="020B0609020204030204" charset="0"/>
              </a:rPr>
              <a:t>, 7, 20)</a:t>
            </a:r>
            <a:endParaRPr lang="en-US" altLang="zh-CN" sz="1800">
              <a:latin typeface="Consolas" panose="020B0609020204030204" charset="0"/>
            </a:endParaRPr>
          </a:p>
          <a:p>
            <a:pPr marL="1905" indent="-344805" defTabSz="914400">
              <a:lnSpc>
                <a:spcPct val="100000"/>
              </a:lnSpc>
              <a:spcBef>
                <a:spcPct val="0"/>
              </a:spcBef>
              <a:buSzPct val="70000"/>
              <a:buFont typeface="Wingdings" panose="05000000000000000000" pitchFamily="2" charset="2"/>
              <a:buNone/>
            </a:pPr>
            <a:r>
              <a:rPr lang="en-US" altLang="zh-CN" sz="1800">
                <a:solidFill>
                  <a:srgbClr val="00B0F0"/>
                </a:solidFill>
                <a:latin typeface="Consolas" panose="020B0609020204030204" charset="0"/>
              </a:rPr>
              <a:t>-1</a:t>
            </a:r>
            <a:endParaRPr lang="en-US" altLang="zh-CN" sz="1800">
              <a:solidFill>
                <a:srgbClr val="00B0F0"/>
              </a:solidFill>
              <a:latin typeface="Consolas" panose="020B0609020204030204" charset="0"/>
            </a:endParaRPr>
          </a:p>
          <a:p>
            <a:pPr marL="1905" indent="-344805" defTabSz="914400">
              <a:lnSpc>
                <a:spcPct val="100000"/>
              </a:lnSpc>
              <a:spcBef>
                <a:spcPct val="0"/>
              </a:spcBef>
              <a:buSzPct val="70000"/>
              <a:buFont typeface="Wingdings" panose="05000000000000000000" pitchFamily="2" charset="2"/>
              <a:buNone/>
            </a:pPr>
            <a:r>
              <a:rPr lang="en-US" altLang="zh-CN" sz="1800">
                <a:latin typeface="Consolas" panose="020B0609020204030204" charset="0"/>
              </a:rPr>
              <a:t>&gt;&gt;&gt; s.rfind('p')</a:t>
            </a:r>
            <a:endParaRPr lang="en-US" altLang="zh-CN" sz="1800">
              <a:latin typeface="Consolas" panose="020B0609020204030204" charset="0"/>
            </a:endParaRPr>
          </a:p>
          <a:p>
            <a:pPr marL="1905" indent="-344805" defTabSz="914400">
              <a:lnSpc>
                <a:spcPct val="100000"/>
              </a:lnSpc>
              <a:spcBef>
                <a:spcPct val="0"/>
              </a:spcBef>
              <a:buSzPct val="70000"/>
              <a:buFont typeface="Wingdings" panose="05000000000000000000" pitchFamily="2" charset="2"/>
              <a:buNone/>
            </a:pPr>
            <a:r>
              <a:rPr lang="en-US" altLang="zh-CN" sz="1800">
                <a:solidFill>
                  <a:srgbClr val="00B0F0"/>
                </a:solidFill>
                <a:latin typeface="Consolas" panose="020B0609020204030204" charset="0"/>
              </a:rPr>
              <a:t>25</a:t>
            </a:r>
            <a:endParaRPr lang="en-US" altLang="zh-CN" sz="1800">
              <a:solidFill>
                <a:srgbClr val="00B0F0"/>
              </a:solidFill>
              <a:latin typeface="Consolas" panose="020B0609020204030204" charset="0"/>
            </a:endParaRPr>
          </a:p>
          <a:p>
            <a:pPr marL="1905" indent="-344805" defTabSz="914400">
              <a:lnSpc>
                <a:spcPct val="100000"/>
              </a:lnSpc>
              <a:spcBef>
                <a:spcPct val="0"/>
              </a:spcBef>
              <a:buSzPct val="70000"/>
              <a:buFont typeface="Wingdings" panose="05000000000000000000" pitchFamily="2" charset="2"/>
              <a:buNone/>
            </a:pPr>
            <a:r>
              <a:rPr lang="en-US" altLang="zh-CN" sz="1800">
                <a:latin typeface="Consolas" panose="020B0609020204030204" charset="0"/>
              </a:rPr>
              <a:t>&gt;&gt;&gt; s.index('p')</a:t>
            </a:r>
            <a:endParaRPr lang="en-US" altLang="zh-CN" sz="1800">
              <a:latin typeface="Consolas" panose="020B0609020204030204" charset="0"/>
            </a:endParaRPr>
          </a:p>
          <a:p>
            <a:pPr marL="1905" indent="-344805" defTabSz="914400">
              <a:lnSpc>
                <a:spcPct val="100000"/>
              </a:lnSpc>
              <a:spcBef>
                <a:spcPct val="0"/>
              </a:spcBef>
              <a:buSzPct val="70000"/>
              <a:buFont typeface="Wingdings" panose="05000000000000000000" pitchFamily="2" charset="2"/>
              <a:buNone/>
            </a:pPr>
            <a:r>
              <a:rPr lang="en-US" altLang="zh-CN" sz="1800">
                <a:solidFill>
                  <a:srgbClr val="00B0F0"/>
                </a:solidFill>
                <a:latin typeface="Consolas" panose="020B0609020204030204" charset="0"/>
              </a:rPr>
              <a:t>1</a:t>
            </a:r>
            <a:endParaRPr lang="en-US" altLang="zh-CN" sz="1800">
              <a:solidFill>
                <a:srgbClr val="00B0F0"/>
              </a:solidFill>
              <a:latin typeface="Consolas" panose="020B0609020204030204" charset="0"/>
            </a:endParaRPr>
          </a:p>
          <a:p>
            <a:pPr marL="1905" indent="-344805" defTabSz="914400">
              <a:lnSpc>
                <a:spcPct val="100000"/>
              </a:lnSpc>
              <a:spcBef>
                <a:spcPct val="0"/>
              </a:spcBef>
              <a:buSzPct val="70000"/>
              <a:buFont typeface="Wingdings" panose="05000000000000000000" pitchFamily="2" charset="2"/>
              <a:buNone/>
            </a:pPr>
            <a:r>
              <a:rPr lang="en-US" altLang="zh-CN" sz="1800">
                <a:latin typeface="Consolas" panose="020B0609020204030204" charset="0"/>
              </a:rPr>
              <a:t>&gt;&gt;&gt; s.index('pe')</a:t>
            </a:r>
            <a:endParaRPr lang="en-US" altLang="zh-CN" sz="1800">
              <a:latin typeface="Consolas" panose="020B0609020204030204" charset="0"/>
            </a:endParaRPr>
          </a:p>
          <a:p>
            <a:pPr marL="1905" indent="-344805" defTabSz="914400">
              <a:lnSpc>
                <a:spcPct val="100000"/>
              </a:lnSpc>
              <a:spcBef>
                <a:spcPct val="0"/>
              </a:spcBef>
              <a:buSzPct val="70000"/>
              <a:buFont typeface="Wingdings" panose="05000000000000000000" pitchFamily="2" charset="2"/>
              <a:buNone/>
            </a:pPr>
            <a:r>
              <a:rPr lang="en-US" altLang="zh-CN" sz="1800">
                <a:solidFill>
                  <a:srgbClr val="00B0F0"/>
                </a:solidFill>
                <a:latin typeface="Consolas" panose="020B0609020204030204" charset="0"/>
              </a:rPr>
              <a:t>6</a:t>
            </a:r>
            <a:endParaRPr lang="en-US" altLang="zh-CN" sz="1800">
              <a:solidFill>
                <a:srgbClr val="00B0F0"/>
              </a:solidFill>
              <a:latin typeface="Consolas" panose="020B0609020204030204" charset="0"/>
            </a:endParaRPr>
          </a:p>
          <a:p>
            <a:pPr marL="1905" indent="-344805" defTabSz="914400">
              <a:lnSpc>
                <a:spcPct val="100000"/>
              </a:lnSpc>
              <a:spcBef>
                <a:spcPct val="0"/>
              </a:spcBef>
              <a:buSzPct val="70000"/>
              <a:buFont typeface="Wingdings" panose="05000000000000000000" pitchFamily="2" charset="2"/>
              <a:buNone/>
            </a:pPr>
            <a:endParaRPr lang="en-US" altLang="zh-CN" sz="1800">
              <a:latin typeface="Consolas" panose="020B0609020204030204" charset="0"/>
            </a:endParaRPr>
          </a:p>
        </p:txBody>
      </p:sp>
      <p:sp>
        <p:nvSpPr>
          <p:cNvPr id="37891" name="文本框 1"/>
          <p:cNvSpPr txBox="1"/>
          <p:nvPr/>
        </p:nvSpPr>
        <p:spPr>
          <a:xfrm>
            <a:off x="6025515" y="1373505"/>
            <a:ext cx="4339590" cy="4523105"/>
          </a:xfrm>
          <a:prstGeom prst="rect">
            <a:avLst/>
          </a:prstGeom>
          <a:noFill/>
          <a:ln w="22225" cap="flat" cmpd="sng">
            <a:solidFill>
              <a:schemeClr val="accent1"/>
            </a:solidFill>
            <a:prstDash val="solid"/>
            <a:round/>
            <a:headEnd type="none" w="med" len="med"/>
            <a:tailEnd type="none" w="med" len="med"/>
          </a:ln>
        </p:spPr>
        <p:txBody>
          <a:bodyPr wrap="square" anchor="t">
            <a:spAutoFit/>
          </a:bodyPr>
          <a:p>
            <a:pPr marL="1905"/>
            <a:r>
              <a:rPr lang="en-US" altLang="zh-CN">
                <a:latin typeface="Consolas" panose="020B0609020204030204" charset="0"/>
                <a:ea typeface="宋体" panose="02010600030101010101" pitchFamily="2" charset="-122"/>
                <a:sym typeface="宋体" panose="02010600030101010101" pitchFamily="2" charset="-122"/>
              </a:rPr>
              <a:t>&gt;&gt;&gt; s.index('pear')</a:t>
            </a:r>
            <a:endParaRPr lang="en-US" altLang="zh-CN">
              <a:latin typeface="Consolas" panose="020B0609020204030204" charset="0"/>
              <a:ea typeface="宋体" panose="02010600030101010101" pitchFamily="2" charset="-122"/>
            </a:endParaRPr>
          </a:p>
          <a:p>
            <a:pPr marL="1905"/>
            <a:r>
              <a:rPr lang="en-US" altLang="zh-CN">
                <a:solidFill>
                  <a:srgbClr val="00B0F0"/>
                </a:solidFill>
                <a:latin typeface="Consolas" panose="020B0609020204030204" charset="0"/>
                <a:ea typeface="宋体" panose="02010600030101010101" pitchFamily="2" charset="-122"/>
                <a:sym typeface="宋体" panose="02010600030101010101" pitchFamily="2" charset="-122"/>
              </a:rPr>
              <a:t>25</a:t>
            </a:r>
            <a:endParaRPr lang="en-US" altLang="zh-CN">
              <a:solidFill>
                <a:srgbClr val="00B0F0"/>
              </a:solidFill>
              <a:latin typeface="Consolas" panose="020B0609020204030204" charset="0"/>
              <a:ea typeface="宋体" panose="02010600030101010101" pitchFamily="2" charset="-122"/>
              <a:sym typeface="宋体" panose="02010600030101010101" pitchFamily="2" charset="-122"/>
            </a:endParaRPr>
          </a:p>
          <a:p>
            <a:pPr marL="1905"/>
            <a:r>
              <a:rPr lang="en-US" altLang="zh-CN">
                <a:latin typeface="Consolas" panose="020B0609020204030204" charset="0"/>
                <a:ea typeface="宋体" panose="02010600030101010101" pitchFamily="2" charset="-122"/>
                <a:sym typeface="宋体" panose="02010600030101010101" pitchFamily="2" charset="-122"/>
              </a:rPr>
              <a:t>&gt;&gt;&gt; s.index('ppp')</a:t>
            </a:r>
            <a:endParaRPr lang="en-US" altLang="zh-CN">
              <a:latin typeface="Consolas" panose="020B0609020204030204" charset="0"/>
              <a:ea typeface="宋体" panose="02010600030101010101" pitchFamily="2" charset="-122"/>
            </a:endParaRPr>
          </a:p>
          <a:p>
            <a:pPr marL="1905"/>
            <a:r>
              <a:rPr lang="en-US" altLang="zh-CN">
                <a:solidFill>
                  <a:srgbClr val="FF0000"/>
                </a:solidFill>
                <a:latin typeface="Consolas" panose="020B0609020204030204" charset="0"/>
                <a:ea typeface="宋体" panose="02010600030101010101" pitchFamily="2" charset="-122"/>
                <a:sym typeface="宋体" panose="02010600030101010101" pitchFamily="2" charset="-122"/>
              </a:rPr>
              <a:t>Traceback (most recent call last):</a:t>
            </a:r>
            <a:endParaRPr lang="en-US" altLang="zh-CN">
              <a:solidFill>
                <a:srgbClr val="FF0000"/>
              </a:solidFill>
              <a:latin typeface="Consolas" panose="020B0609020204030204" charset="0"/>
              <a:ea typeface="宋体" panose="02010600030101010101" pitchFamily="2" charset="-122"/>
              <a:sym typeface="宋体" panose="02010600030101010101" pitchFamily="2" charset="-122"/>
            </a:endParaRPr>
          </a:p>
          <a:p>
            <a:pPr marL="1905"/>
            <a:r>
              <a:rPr lang="en-US" altLang="zh-CN">
                <a:solidFill>
                  <a:srgbClr val="FF0000"/>
                </a:solidFill>
                <a:latin typeface="Consolas" panose="020B0609020204030204" charset="0"/>
                <a:ea typeface="宋体" panose="02010600030101010101" pitchFamily="2" charset="-122"/>
                <a:sym typeface="宋体" panose="02010600030101010101" pitchFamily="2" charset="-122"/>
              </a:rPr>
              <a:t>  File "&lt;pyshell#11&gt;", line 1, in &lt;module&gt;</a:t>
            </a:r>
            <a:endParaRPr lang="en-US" altLang="zh-CN">
              <a:solidFill>
                <a:srgbClr val="FF0000"/>
              </a:solidFill>
              <a:latin typeface="Consolas" panose="020B0609020204030204" charset="0"/>
              <a:ea typeface="宋体" panose="02010600030101010101" pitchFamily="2" charset="-122"/>
              <a:sym typeface="宋体" panose="02010600030101010101" pitchFamily="2" charset="-122"/>
            </a:endParaRPr>
          </a:p>
          <a:p>
            <a:pPr marL="1905"/>
            <a:r>
              <a:rPr lang="en-US" altLang="zh-CN">
                <a:solidFill>
                  <a:srgbClr val="FF0000"/>
                </a:solidFill>
                <a:latin typeface="Consolas" panose="020B0609020204030204" charset="0"/>
                <a:ea typeface="宋体" panose="02010600030101010101" pitchFamily="2" charset="-122"/>
                <a:sym typeface="宋体" panose="02010600030101010101" pitchFamily="2" charset="-122"/>
              </a:rPr>
              <a:t>    s.index('ppp')</a:t>
            </a:r>
            <a:endParaRPr lang="en-US" altLang="zh-CN">
              <a:solidFill>
                <a:srgbClr val="FF0000"/>
              </a:solidFill>
              <a:latin typeface="Consolas" panose="020B0609020204030204" charset="0"/>
              <a:ea typeface="宋体" panose="02010600030101010101" pitchFamily="2" charset="-122"/>
              <a:sym typeface="宋体" panose="02010600030101010101" pitchFamily="2" charset="-122"/>
            </a:endParaRPr>
          </a:p>
          <a:p>
            <a:pPr marL="1905"/>
            <a:r>
              <a:rPr lang="en-US" altLang="zh-CN">
                <a:solidFill>
                  <a:srgbClr val="FF0000"/>
                </a:solidFill>
                <a:latin typeface="Consolas" panose="020B0609020204030204" charset="0"/>
                <a:ea typeface="宋体" panose="02010600030101010101" pitchFamily="2" charset="-122"/>
                <a:sym typeface="宋体" panose="02010600030101010101" pitchFamily="2" charset="-122"/>
              </a:rPr>
              <a:t>ValueError: substring not found</a:t>
            </a:r>
            <a:endParaRPr lang="en-US" altLang="zh-CN">
              <a:solidFill>
                <a:srgbClr val="FF0000"/>
              </a:solidFill>
              <a:latin typeface="Consolas" panose="020B0609020204030204" charset="0"/>
              <a:ea typeface="宋体" panose="02010600030101010101" pitchFamily="2" charset="-122"/>
              <a:sym typeface="宋体" panose="02010600030101010101" pitchFamily="2" charset="-122"/>
            </a:endParaRPr>
          </a:p>
          <a:p>
            <a:pPr marL="1905"/>
            <a:r>
              <a:rPr lang="en-US" altLang="zh-CN">
                <a:latin typeface="Consolas" panose="020B0609020204030204" charset="0"/>
                <a:ea typeface="宋体" panose="02010600030101010101" pitchFamily="2" charset="-122"/>
                <a:sym typeface="宋体" panose="02010600030101010101" pitchFamily="2" charset="-122"/>
              </a:rPr>
              <a:t>&gt;&gt;&gt; s.count('p')</a:t>
            </a:r>
            <a:endParaRPr lang="en-US" altLang="zh-CN">
              <a:latin typeface="Consolas" panose="020B0609020204030204" charset="0"/>
              <a:ea typeface="宋体" panose="02010600030101010101" pitchFamily="2" charset="-122"/>
            </a:endParaRPr>
          </a:p>
          <a:p>
            <a:pPr marL="1905"/>
            <a:r>
              <a:rPr lang="en-US" altLang="zh-CN">
                <a:solidFill>
                  <a:srgbClr val="00B0F0"/>
                </a:solidFill>
                <a:latin typeface="Consolas" panose="020B0609020204030204" charset="0"/>
                <a:ea typeface="宋体" panose="02010600030101010101" pitchFamily="2" charset="-122"/>
                <a:sym typeface="宋体" panose="02010600030101010101" pitchFamily="2" charset="-122"/>
              </a:rPr>
              <a:t>5</a:t>
            </a:r>
            <a:endParaRPr lang="en-US" altLang="zh-CN">
              <a:solidFill>
                <a:srgbClr val="00B0F0"/>
              </a:solidFill>
              <a:latin typeface="Consolas" panose="020B0609020204030204" charset="0"/>
              <a:ea typeface="宋体" panose="02010600030101010101" pitchFamily="2" charset="-122"/>
              <a:sym typeface="宋体" panose="02010600030101010101" pitchFamily="2" charset="-122"/>
            </a:endParaRPr>
          </a:p>
          <a:p>
            <a:pPr marL="1905"/>
            <a:r>
              <a:rPr lang="en-US" altLang="zh-CN">
                <a:latin typeface="Consolas" panose="020B0609020204030204" charset="0"/>
                <a:ea typeface="宋体" panose="02010600030101010101" pitchFamily="2" charset="-122"/>
                <a:sym typeface="宋体" panose="02010600030101010101" pitchFamily="2" charset="-122"/>
              </a:rPr>
              <a:t>&gt;&gt;&gt; s.count('pp')</a:t>
            </a:r>
            <a:endParaRPr lang="en-US" altLang="zh-CN">
              <a:latin typeface="Consolas" panose="020B0609020204030204" charset="0"/>
              <a:ea typeface="宋体" panose="02010600030101010101" pitchFamily="2" charset="-122"/>
            </a:endParaRPr>
          </a:p>
          <a:p>
            <a:pPr marL="1905"/>
            <a:r>
              <a:rPr lang="en-US" altLang="zh-CN">
                <a:solidFill>
                  <a:srgbClr val="00B0F0"/>
                </a:solidFill>
                <a:latin typeface="Consolas" panose="020B0609020204030204" charset="0"/>
                <a:ea typeface="宋体" panose="02010600030101010101" pitchFamily="2" charset="-122"/>
                <a:sym typeface="宋体" panose="02010600030101010101" pitchFamily="2" charset="-122"/>
              </a:rPr>
              <a:t>1</a:t>
            </a:r>
            <a:endParaRPr lang="en-US" altLang="zh-CN">
              <a:solidFill>
                <a:srgbClr val="00B0F0"/>
              </a:solidFill>
              <a:latin typeface="Consolas" panose="020B0609020204030204" charset="0"/>
              <a:ea typeface="宋体" panose="02010600030101010101" pitchFamily="2" charset="-122"/>
              <a:sym typeface="宋体" panose="02010600030101010101" pitchFamily="2" charset="-122"/>
            </a:endParaRPr>
          </a:p>
          <a:p>
            <a:pPr marL="1905"/>
            <a:r>
              <a:rPr lang="en-US" altLang="zh-CN">
                <a:latin typeface="Consolas" panose="020B0609020204030204" charset="0"/>
                <a:ea typeface="宋体" panose="02010600030101010101" pitchFamily="2" charset="-122"/>
                <a:sym typeface="宋体" panose="02010600030101010101" pitchFamily="2" charset="-122"/>
              </a:rPr>
              <a:t>&gt;&gt;&gt; s.count('ppp')</a:t>
            </a:r>
            <a:endParaRPr lang="en-US" altLang="zh-CN">
              <a:latin typeface="Consolas" panose="020B0609020204030204" charset="0"/>
              <a:ea typeface="宋体" panose="02010600030101010101" pitchFamily="2" charset="-122"/>
            </a:endParaRPr>
          </a:p>
          <a:p>
            <a:pPr marL="1905"/>
            <a:r>
              <a:rPr lang="en-US" altLang="zh-CN">
                <a:solidFill>
                  <a:srgbClr val="00B0F0"/>
                </a:solidFill>
                <a:latin typeface="Consolas" panose="020B0609020204030204" charset="0"/>
                <a:ea typeface="宋体" panose="02010600030101010101" pitchFamily="2" charset="-122"/>
                <a:sym typeface="宋体" panose="02010600030101010101" pitchFamily="2" charset="-122"/>
              </a:rPr>
              <a:t>0</a:t>
            </a:r>
            <a:endParaRPr lang="en-US" altLang="zh-CN">
              <a:solidFill>
                <a:srgbClr val="00B0F0"/>
              </a:solidFill>
              <a:latin typeface="Consolas" panose="020B0609020204030204" charset="0"/>
              <a:ea typeface="宋体" panose="02010600030101010101" pitchFamily="2" charset="-122"/>
              <a:sym typeface="宋体" panose="02010600030101010101" pitchFamily="2" charset="-122"/>
            </a:endParaRPr>
          </a:p>
          <a:p>
            <a:pPr marL="1905"/>
            <a:endParaRPr lang="en-US" altLang="zh-CN">
              <a:solidFill>
                <a:srgbClr val="00B0F0"/>
              </a:solidFill>
              <a:latin typeface="Consolas" panose="020B0609020204030204" charset="0"/>
              <a:ea typeface="宋体" panose="02010600030101010101" pitchFamily="2" charset="-122"/>
              <a:sym typeface="宋体" panose="02010600030101010101" pitchFamily="2" charset="-122"/>
            </a:endParaRPr>
          </a:p>
          <a:p>
            <a:pPr marL="1905"/>
            <a:endParaRPr lang="en-US" altLang="zh-CN">
              <a:solidFill>
                <a:srgbClr val="00B0F0"/>
              </a:solidFill>
              <a:latin typeface="Consolas" panose="020B0609020204030204" charset="0"/>
              <a:ea typeface="宋体" panose="02010600030101010101" pitchFamily="2" charset="-122"/>
              <a:sym typeface="宋体" panose="02010600030101010101" pitchFamily="2"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7.4.2  split()、rsplit()</a:t>
            </a:r>
            <a:endParaRPr lang="zh-CN" altLang="en-US"/>
          </a:p>
        </p:txBody>
      </p:sp>
      <p:sp>
        <p:nvSpPr>
          <p:cNvPr id="3" name="内容占位符 2"/>
          <p:cNvSpPr>
            <a:spLocks noGrp="1"/>
          </p:cNvSpPr>
          <p:nvPr>
            <p:ph idx="1"/>
          </p:nvPr>
        </p:nvSpPr>
        <p:spPr/>
        <p:txBody>
          <a:bodyPr>
            <a:normAutofit/>
          </a:bodyPr>
          <a:p>
            <a:pPr>
              <a:lnSpc>
                <a:spcPct val="150000"/>
              </a:lnSpc>
              <a:spcBef>
                <a:spcPts val="1200"/>
              </a:spcBef>
              <a:spcAft>
                <a:spcPts val="1200"/>
              </a:spcAft>
            </a:pPr>
            <a:r>
              <a:rPr lang="en-US" altLang="zh-CN" sz="2400">
                <a:latin typeface="宋体" panose="02010600030101010101" pitchFamily="2" charset="-122"/>
                <a:sym typeface="+mn-ea"/>
              </a:rPr>
              <a:t>split(sep=None, maxsplit=-1)</a:t>
            </a:r>
            <a:r>
              <a:rPr lang="zh-CN" altLang="en-US" sz="2400">
                <a:latin typeface="宋体" panose="02010600030101010101" pitchFamily="2" charset="-122"/>
                <a:sym typeface="+mn-ea"/>
              </a:rPr>
              <a:t>和</a:t>
            </a:r>
            <a:r>
              <a:rPr lang="en-US" altLang="zh-CN" sz="2400">
                <a:latin typeface="宋体" panose="02010600030101010101" pitchFamily="2" charset="-122"/>
                <a:sym typeface="+mn-ea"/>
              </a:rPr>
              <a:t>rsplit(sep=None, maxsplit=-1)</a:t>
            </a:r>
            <a:r>
              <a:rPr lang="zh-CN" altLang="en-US" sz="2400">
                <a:latin typeface="宋体" panose="02010600030101010101" pitchFamily="2" charset="-122"/>
                <a:sym typeface="+mn-ea"/>
              </a:rPr>
              <a:t>方法分别用来</a:t>
            </a:r>
            <a:r>
              <a:rPr lang="zh-CN" altLang="en-US" sz="2400">
                <a:solidFill>
                  <a:srgbClr val="FF0000"/>
                </a:solidFill>
                <a:latin typeface="宋体" panose="02010600030101010101" pitchFamily="2" charset="-122"/>
                <a:sym typeface="+mn-ea"/>
              </a:rPr>
              <a:t>以</a:t>
            </a:r>
            <a:r>
              <a:rPr lang="zh-CN" altLang="en-US" sz="2400">
                <a:solidFill>
                  <a:srgbClr val="FF0000"/>
                </a:solidFill>
                <a:latin typeface="宋体" panose="02010600030101010101" pitchFamily="2" charset="-122"/>
                <a:sym typeface="+mn-ea"/>
              </a:rPr>
              <a:t>参数字符</a:t>
            </a:r>
            <a:r>
              <a:rPr lang="zh-CN" altLang="en-US" sz="2400">
                <a:solidFill>
                  <a:srgbClr val="FF0000"/>
                </a:solidFill>
                <a:latin typeface="宋体" panose="02010600030101010101" pitchFamily="2" charset="-122"/>
                <a:sym typeface="+mn-ea"/>
              </a:rPr>
              <a:t>串为分隔符</a:t>
            </a:r>
            <a:r>
              <a:rPr lang="zh-CN" altLang="en-US" sz="2400">
                <a:latin typeface="宋体" panose="02010600030101010101" pitchFamily="2" charset="-122"/>
                <a:sym typeface="+mn-ea"/>
              </a:rPr>
              <a:t>，把当前字符串</a:t>
            </a:r>
            <a:r>
              <a:rPr lang="zh-CN" altLang="en-US" sz="2400">
                <a:solidFill>
                  <a:srgbClr val="FF0000"/>
                </a:solidFill>
                <a:latin typeface="宋体" panose="02010600030101010101" pitchFamily="2" charset="-122"/>
                <a:sym typeface="+mn-ea"/>
              </a:rPr>
              <a:t>从左往右</a:t>
            </a:r>
            <a:r>
              <a:rPr lang="zh-CN" altLang="en-US" sz="2400">
                <a:latin typeface="宋体" panose="02010600030101010101" pitchFamily="2" charset="-122"/>
                <a:sym typeface="+mn-ea"/>
              </a:rPr>
              <a:t>或</a:t>
            </a:r>
            <a:r>
              <a:rPr lang="zh-CN" altLang="en-US" sz="2400">
                <a:solidFill>
                  <a:srgbClr val="FF0000"/>
                </a:solidFill>
                <a:latin typeface="宋体" panose="02010600030101010101" pitchFamily="2" charset="-122"/>
                <a:sym typeface="+mn-ea"/>
              </a:rPr>
              <a:t>从右往左</a:t>
            </a:r>
            <a:r>
              <a:rPr lang="zh-CN" altLang="en-US" sz="2400">
                <a:latin typeface="宋体" panose="02010600030101010101" pitchFamily="2" charset="-122"/>
                <a:sym typeface="+mn-ea"/>
              </a:rPr>
              <a:t>分隔成</a:t>
            </a:r>
            <a:r>
              <a:rPr lang="zh-CN" altLang="en-US" sz="2400">
                <a:solidFill>
                  <a:srgbClr val="FF0000"/>
                </a:solidFill>
                <a:latin typeface="宋体" panose="02010600030101010101" pitchFamily="2" charset="-122"/>
                <a:sym typeface="+mn-ea"/>
              </a:rPr>
              <a:t>多个</a:t>
            </a:r>
            <a:r>
              <a:rPr lang="zh-CN" altLang="en-US" sz="2400">
                <a:latin typeface="宋体" panose="02010600030101010101" pitchFamily="2" charset="-122"/>
                <a:sym typeface="+mn-ea"/>
              </a:rPr>
              <a:t>字符串，返回包含分隔结果的列表。</a:t>
            </a:r>
            <a:endParaRPr lang="zh-CN" altLang="en-US" sz="2400"/>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7.4.2  split()、rsplit()</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39938" name="文本占位符 33794"/>
          <p:cNvSpPr>
            <a:spLocks noGrp="1"/>
          </p:cNvSpPr>
          <p:nvPr>
            <p:ph idx="1"/>
          </p:nvPr>
        </p:nvSpPr>
        <p:spPr/>
        <p:txBody>
          <a:bodyPr anchor="t">
            <a:normAutofit/>
          </a:bodyPr>
          <a:p>
            <a:pPr marL="1905" indent="-344805" defTabSz="914400">
              <a:lnSpc>
                <a:spcPct val="100000"/>
              </a:lnSpc>
              <a:spcBef>
                <a:spcPts val="300"/>
              </a:spcBef>
              <a:buSzPct val="70000"/>
              <a:buFont typeface="Wingdings" panose="05000000000000000000" pitchFamily="2" charset="2"/>
              <a:buNone/>
            </a:pPr>
            <a:r>
              <a:rPr lang="en-US" altLang="zh-CN" sz="2000">
                <a:latin typeface="Consolas" panose="020B0609020204030204" charset="0"/>
              </a:rPr>
              <a:t>&gt;&gt;&gt; s = </a:t>
            </a:r>
            <a:r>
              <a:rPr lang="en-US" altLang="zh-CN" sz="2000">
                <a:latin typeface="Consolas" panose="020B0609020204030204" charset="0"/>
                <a:ea typeface="宋体" panose="02010600030101010101" pitchFamily="2" charset="-122"/>
                <a:sym typeface="宋体" panose="02010600030101010101" pitchFamily="2" charset="-122"/>
              </a:rPr>
              <a:t>'</a:t>
            </a:r>
            <a:r>
              <a:rPr lang="en-US" altLang="zh-CN" sz="2000">
                <a:latin typeface="Consolas" panose="020B0609020204030204" charset="0"/>
              </a:rPr>
              <a:t>apple,peach,banana,pear</a:t>
            </a:r>
            <a:r>
              <a:rPr lang="en-US" altLang="zh-CN" sz="2000">
                <a:latin typeface="Consolas" panose="020B0609020204030204" charset="0"/>
                <a:ea typeface="宋体" panose="02010600030101010101" pitchFamily="2" charset="-122"/>
                <a:sym typeface="宋体" panose="02010600030101010101" pitchFamily="2" charset="-122"/>
              </a:rPr>
              <a:t>'</a:t>
            </a:r>
            <a:endParaRPr lang="en-US" altLang="zh-CN" sz="2000">
              <a:latin typeface="Consolas" panose="020B0609020204030204" charset="0"/>
            </a:endParaRPr>
          </a:p>
          <a:p>
            <a:pPr marL="1905" indent="-344805" defTabSz="914400">
              <a:lnSpc>
                <a:spcPct val="100000"/>
              </a:lnSpc>
              <a:spcBef>
                <a:spcPts val="300"/>
              </a:spcBef>
              <a:buSzPct val="70000"/>
              <a:buFont typeface="Wingdings" panose="05000000000000000000" pitchFamily="2" charset="2"/>
              <a:buNone/>
            </a:pPr>
            <a:r>
              <a:rPr lang="en-US" altLang="zh-CN" sz="2000">
                <a:latin typeface="Consolas" panose="020B0609020204030204" charset="0"/>
              </a:rPr>
              <a:t>&gt;&gt;&gt; s.split(</a:t>
            </a:r>
            <a:r>
              <a:rPr lang="en-US" altLang="zh-CN" sz="2000">
                <a:latin typeface="Consolas" panose="020B0609020204030204" charset="0"/>
                <a:ea typeface="宋体" panose="02010600030101010101" pitchFamily="2" charset="-122"/>
                <a:sym typeface="宋体" panose="02010600030101010101" pitchFamily="2" charset="-122"/>
              </a:rPr>
              <a:t>'</a:t>
            </a:r>
            <a:r>
              <a:rPr lang="en-US" altLang="zh-CN" sz="2000">
                <a:latin typeface="Consolas" panose="020B0609020204030204" charset="0"/>
              </a:rPr>
              <a:t>,</a:t>
            </a:r>
            <a:r>
              <a:rPr lang="en-US" altLang="zh-CN" sz="2000">
                <a:latin typeface="Consolas" panose="020B0609020204030204" charset="0"/>
                <a:ea typeface="宋体" panose="02010600030101010101" pitchFamily="2" charset="-122"/>
                <a:sym typeface="宋体" panose="02010600030101010101" pitchFamily="2" charset="-122"/>
              </a:rPr>
              <a:t>'</a:t>
            </a:r>
            <a:r>
              <a:rPr lang="en-US" altLang="zh-CN" sz="2000">
                <a:latin typeface="Consolas" panose="020B0609020204030204" charset="0"/>
              </a:rPr>
              <a:t>)</a:t>
            </a:r>
            <a:endParaRPr lang="en-US" altLang="zh-CN" sz="2000">
              <a:latin typeface="Consolas" panose="020B0609020204030204" charset="0"/>
            </a:endParaRPr>
          </a:p>
          <a:p>
            <a:pPr marL="1905" indent="-344805" defTabSz="914400">
              <a:lnSpc>
                <a:spcPct val="100000"/>
              </a:lnSpc>
              <a:spcBef>
                <a:spcPts val="300"/>
              </a:spcBef>
              <a:buSzPct val="70000"/>
              <a:buFont typeface="Wingdings" panose="05000000000000000000" pitchFamily="2" charset="2"/>
              <a:buNone/>
            </a:pPr>
            <a:r>
              <a:rPr lang="en-US" altLang="zh-CN" sz="2000">
                <a:solidFill>
                  <a:srgbClr val="00B0F0"/>
                </a:solidFill>
                <a:latin typeface="Consolas" panose="020B0609020204030204" charset="0"/>
              </a:rPr>
              <a:t>[</a:t>
            </a:r>
            <a:r>
              <a:rPr lang="en-US" altLang="zh-CN" sz="2000">
                <a:solidFill>
                  <a:srgbClr val="00B0F0"/>
                </a:solidFill>
                <a:latin typeface="Consolas" panose="020B0609020204030204" charset="0"/>
                <a:sym typeface="+mn-ea"/>
              </a:rPr>
              <a:t>'</a:t>
            </a:r>
            <a:r>
              <a:rPr lang="en-US" altLang="zh-CN" sz="2000">
                <a:solidFill>
                  <a:srgbClr val="00B0F0"/>
                </a:solidFill>
                <a:latin typeface="Consolas" panose="020B0609020204030204" charset="0"/>
              </a:rPr>
              <a:t>apple</a:t>
            </a:r>
            <a:r>
              <a:rPr lang="en-US" altLang="zh-CN" sz="2000">
                <a:solidFill>
                  <a:srgbClr val="00B0F0"/>
                </a:solidFill>
                <a:latin typeface="Consolas" panose="020B0609020204030204" charset="0"/>
                <a:sym typeface="+mn-ea"/>
              </a:rPr>
              <a:t>'</a:t>
            </a:r>
            <a:r>
              <a:rPr lang="en-US" altLang="zh-CN" sz="2000">
                <a:solidFill>
                  <a:srgbClr val="00B0F0"/>
                </a:solidFill>
                <a:latin typeface="Consolas" panose="020B0609020204030204" charset="0"/>
              </a:rPr>
              <a:t>, </a:t>
            </a:r>
            <a:r>
              <a:rPr lang="en-US" altLang="zh-CN" sz="2000">
                <a:solidFill>
                  <a:srgbClr val="00B0F0"/>
                </a:solidFill>
                <a:latin typeface="Consolas" panose="020B0609020204030204" charset="0"/>
                <a:sym typeface="+mn-ea"/>
              </a:rPr>
              <a:t>'</a:t>
            </a:r>
            <a:r>
              <a:rPr lang="en-US" altLang="zh-CN" sz="2000">
                <a:solidFill>
                  <a:srgbClr val="00B0F0"/>
                </a:solidFill>
                <a:latin typeface="Consolas" panose="020B0609020204030204" charset="0"/>
              </a:rPr>
              <a:t>peach</a:t>
            </a:r>
            <a:r>
              <a:rPr lang="en-US" altLang="zh-CN" sz="2000">
                <a:solidFill>
                  <a:srgbClr val="00B0F0"/>
                </a:solidFill>
                <a:latin typeface="Consolas" panose="020B0609020204030204" charset="0"/>
                <a:sym typeface="+mn-ea"/>
              </a:rPr>
              <a:t>'</a:t>
            </a:r>
            <a:r>
              <a:rPr lang="en-US" altLang="zh-CN" sz="2000">
                <a:solidFill>
                  <a:srgbClr val="00B0F0"/>
                </a:solidFill>
                <a:latin typeface="Consolas" panose="020B0609020204030204" charset="0"/>
              </a:rPr>
              <a:t>, </a:t>
            </a:r>
            <a:r>
              <a:rPr lang="en-US" altLang="zh-CN" sz="2000">
                <a:solidFill>
                  <a:srgbClr val="00B0F0"/>
                </a:solidFill>
                <a:latin typeface="Consolas" panose="020B0609020204030204" charset="0"/>
                <a:sym typeface="+mn-ea"/>
              </a:rPr>
              <a:t>'</a:t>
            </a:r>
            <a:r>
              <a:rPr lang="en-US" altLang="zh-CN" sz="2000">
                <a:solidFill>
                  <a:srgbClr val="00B0F0"/>
                </a:solidFill>
                <a:latin typeface="Consolas" panose="020B0609020204030204" charset="0"/>
              </a:rPr>
              <a:t>banana</a:t>
            </a:r>
            <a:r>
              <a:rPr lang="en-US" altLang="zh-CN" sz="2000">
                <a:solidFill>
                  <a:srgbClr val="00B0F0"/>
                </a:solidFill>
                <a:latin typeface="Consolas" panose="020B0609020204030204" charset="0"/>
                <a:sym typeface="+mn-ea"/>
              </a:rPr>
              <a:t>'</a:t>
            </a:r>
            <a:r>
              <a:rPr lang="en-US" altLang="zh-CN" sz="2000">
                <a:solidFill>
                  <a:srgbClr val="00B0F0"/>
                </a:solidFill>
                <a:latin typeface="Consolas" panose="020B0609020204030204" charset="0"/>
              </a:rPr>
              <a:t>, </a:t>
            </a:r>
            <a:r>
              <a:rPr lang="en-US" altLang="zh-CN" sz="2000">
                <a:solidFill>
                  <a:srgbClr val="00B0F0"/>
                </a:solidFill>
                <a:latin typeface="Consolas" panose="020B0609020204030204" charset="0"/>
                <a:sym typeface="+mn-ea"/>
              </a:rPr>
              <a:t>'</a:t>
            </a:r>
            <a:r>
              <a:rPr lang="en-US" altLang="zh-CN" sz="2000">
                <a:solidFill>
                  <a:srgbClr val="00B0F0"/>
                </a:solidFill>
                <a:latin typeface="Consolas" panose="020B0609020204030204" charset="0"/>
              </a:rPr>
              <a:t>pear</a:t>
            </a:r>
            <a:r>
              <a:rPr lang="en-US" altLang="zh-CN" sz="2000">
                <a:solidFill>
                  <a:srgbClr val="00B0F0"/>
                </a:solidFill>
                <a:latin typeface="Consolas" panose="020B0609020204030204" charset="0"/>
                <a:sym typeface="+mn-ea"/>
              </a:rPr>
              <a:t>'</a:t>
            </a:r>
            <a:r>
              <a:rPr lang="en-US" altLang="zh-CN" sz="2000">
                <a:solidFill>
                  <a:srgbClr val="00B0F0"/>
                </a:solidFill>
                <a:latin typeface="Consolas" panose="020B0609020204030204" charset="0"/>
              </a:rPr>
              <a:t>]</a:t>
            </a:r>
            <a:endParaRPr lang="en-US" altLang="zh-CN" sz="2000">
              <a:solidFill>
                <a:srgbClr val="00B0F0"/>
              </a:solidFill>
              <a:latin typeface="Consolas" panose="020B0609020204030204" charset="0"/>
            </a:endParaRPr>
          </a:p>
          <a:p>
            <a:pPr marL="1905" indent="-344805" defTabSz="914400">
              <a:lnSpc>
                <a:spcPct val="100000"/>
              </a:lnSpc>
              <a:spcBef>
                <a:spcPts val="300"/>
              </a:spcBef>
              <a:buSzPct val="70000"/>
              <a:buFont typeface="Wingdings" panose="05000000000000000000" pitchFamily="2" charset="2"/>
              <a:buNone/>
            </a:pPr>
            <a:r>
              <a:rPr lang="en-US" altLang="zh-CN" sz="2000">
                <a:latin typeface="Consolas" panose="020B0609020204030204" charset="0"/>
              </a:rPr>
              <a:t>&gt;&gt;&gt; s = </a:t>
            </a:r>
            <a:r>
              <a:rPr lang="en-US" altLang="zh-CN" sz="2000">
                <a:latin typeface="Consolas" panose="020B0609020204030204" charset="0"/>
                <a:ea typeface="宋体" panose="02010600030101010101" pitchFamily="2" charset="-122"/>
                <a:sym typeface="宋体" panose="02010600030101010101" pitchFamily="2" charset="-122"/>
              </a:rPr>
              <a:t>'</a:t>
            </a:r>
            <a:r>
              <a:rPr lang="en-US" altLang="zh-CN" sz="2000">
                <a:latin typeface="Consolas" panose="020B0609020204030204" charset="0"/>
              </a:rPr>
              <a:t>2022-7-31</a:t>
            </a:r>
            <a:r>
              <a:rPr lang="en-US" altLang="zh-CN" sz="2000">
                <a:latin typeface="Consolas" panose="020B0609020204030204" charset="0"/>
                <a:ea typeface="宋体" panose="02010600030101010101" pitchFamily="2" charset="-122"/>
                <a:sym typeface="宋体" panose="02010600030101010101" pitchFamily="2" charset="-122"/>
              </a:rPr>
              <a:t>'</a:t>
            </a:r>
            <a:endParaRPr lang="en-US" altLang="zh-CN" sz="2000">
              <a:latin typeface="Consolas" panose="020B0609020204030204" charset="0"/>
            </a:endParaRPr>
          </a:p>
          <a:p>
            <a:pPr marL="1905" indent="-344805" defTabSz="914400">
              <a:lnSpc>
                <a:spcPct val="100000"/>
              </a:lnSpc>
              <a:spcBef>
                <a:spcPts val="300"/>
              </a:spcBef>
              <a:buSzPct val="70000"/>
              <a:buFont typeface="Wingdings" panose="05000000000000000000" pitchFamily="2" charset="2"/>
              <a:buNone/>
            </a:pPr>
            <a:r>
              <a:rPr lang="en-US" altLang="zh-CN" sz="2000">
                <a:latin typeface="Consolas" panose="020B0609020204030204" charset="0"/>
              </a:rPr>
              <a:t>&gt;&gt;&gt; t = s.split(</a:t>
            </a:r>
            <a:r>
              <a:rPr lang="en-US" altLang="zh-CN" sz="2000">
                <a:latin typeface="Consolas" panose="020B0609020204030204" charset="0"/>
                <a:ea typeface="宋体" panose="02010600030101010101" pitchFamily="2" charset="-122"/>
                <a:sym typeface="宋体" panose="02010600030101010101" pitchFamily="2" charset="-122"/>
              </a:rPr>
              <a:t>'</a:t>
            </a:r>
            <a:r>
              <a:rPr lang="en-US" altLang="zh-CN" sz="2000">
                <a:latin typeface="Consolas" panose="020B0609020204030204" charset="0"/>
              </a:rPr>
              <a:t>-</a:t>
            </a:r>
            <a:r>
              <a:rPr lang="en-US" altLang="zh-CN" sz="2000">
                <a:latin typeface="Consolas" panose="020B0609020204030204" charset="0"/>
                <a:ea typeface="宋体" panose="02010600030101010101" pitchFamily="2" charset="-122"/>
                <a:sym typeface="宋体" panose="02010600030101010101" pitchFamily="2" charset="-122"/>
              </a:rPr>
              <a:t>'</a:t>
            </a:r>
            <a:r>
              <a:rPr lang="en-US" altLang="zh-CN" sz="2000">
                <a:latin typeface="Consolas" panose="020B0609020204030204" charset="0"/>
              </a:rPr>
              <a:t>)</a:t>
            </a:r>
            <a:endParaRPr lang="en-US" altLang="zh-CN" sz="2000">
              <a:latin typeface="Consolas" panose="020B0609020204030204" charset="0"/>
            </a:endParaRPr>
          </a:p>
          <a:p>
            <a:pPr marL="1905" indent="-344805" defTabSz="914400">
              <a:lnSpc>
                <a:spcPct val="100000"/>
              </a:lnSpc>
              <a:spcBef>
                <a:spcPts val="300"/>
              </a:spcBef>
              <a:buSzPct val="70000"/>
              <a:buFont typeface="Wingdings" panose="05000000000000000000" pitchFamily="2" charset="2"/>
              <a:buNone/>
            </a:pPr>
            <a:r>
              <a:rPr lang="en-US" altLang="zh-CN" sz="2000">
                <a:latin typeface="Consolas" panose="020B0609020204030204" charset="0"/>
              </a:rPr>
              <a:t>&gt;&gt;&gt; print(t)</a:t>
            </a:r>
            <a:endParaRPr lang="en-US" altLang="zh-CN" sz="2000">
              <a:latin typeface="Consolas" panose="020B0609020204030204" charset="0"/>
            </a:endParaRPr>
          </a:p>
          <a:p>
            <a:pPr marL="1905" indent="-344805" defTabSz="914400">
              <a:lnSpc>
                <a:spcPct val="100000"/>
              </a:lnSpc>
              <a:spcBef>
                <a:spcPts val="300"/>
              </a:spcBef>
              <a:buSzPct val="70000"/>
              <a:buFont typeface="Wingdings" panose="05000000000000000000" pitchFamily="2" charset="2"/>
              <a:buNone/>
            </a:pPr>
            <a:r>
              <a:rPr lang="en-US" altLang="zh-CN" sz="2000">
                <a:solidFill>
                  <a:srgbClr val="00B0F0"/>
                </a:solidFill>
                <a:latin typeface="Consolas" panose="020B0609020204030204" charset="0"/>
              </a:rPr>
              <a:t>['2022', '7', '31']</a:t>
            </a:r>
            <a:endParaRPr lang="en-US" altLang="zh-CN" sz="2000">
              <a:solidFill>
                <a:srgbClr val="00B0F0"/>
              </a:solidFill>
              <a:latin typeface="Consolas" panose="020B0609020204030204" charset="0"/>
            </a:endParaRPr>
          </a:p>
          <a:p>
            <a:pPr marL="1905" indent="-344805" defTabSz="914400">
              <a:lnSpc>
                <a:spcPct val="100000"/>
              </a:lnSpc>
              <a:spcBef>
                <a:spcPts val="300"/>
              </a:spcBef>
              <a:buSzPct val="70000"/>
              <a:buFont typeface="Wingdings" panose="05000000000000000000" pitchFamily="2" charset="2"/>
              <a:buNone/>
            </a:pPr>
            <a:r>
              <a:rPr lang="en-US" altLang="zh-CN" sz="2000">
                <a:latin typeface="Consolas" panose="020B0609020204030204" charset="0"/>
              </a:rPr>
              <a:t>&gt;&gt;&gt; print(list(map(int, t)))</a:t>
            </a:r>
            <a:endParaRPr lang="en-US" altLang="zh-CN" sz="2000">
              <a:latin typeface="Consolas" panose="020B0609020204030204" charset="0"/>
            </a:endParaRPr>
          </a:p>
          <a:p>
            <a:pPr marL="1905" indent="-344805" defTabSz="914400">
              <a:lnSpc>
                <a:spcPct val="100000"/>
              </a:lnSpc>
              <a:spcBef>
                <a:spcPts val="300"/>
              </a:spcBef>
              <a:buSzPct val="70000"/>
              <a:buFont typeface="Wingdings" panose="05000000000000000000" pitchFamily="2" charset="2"/>
              <a:buNone/>
            </a:pPr>
            <a:r>
              <a:rPr lang="en-US" altLang="zh-CN" sz="2000">
                <a:solidFill>
                  <a:srgbClr val="00B0F0"/>
                </a:solidFill>
                <a:latin typeface="Consolas" panose="020B0609020204030204" charset="0"/>
              </a:rPr>
              <a:t>[2022, 7, 31]</a:t>
            </a:r>
            <a:endParaRPr lang="en-US" altLang="zh-CN" sz="2000">
              <a:solidFill>
                <a:srgbClr val="00B0F0"/>
              </a:solidFill>
              <a:latin typeface="Consolas" panose="020B0609020204030204" charset="0"/>
            </a:endParaRPr>
          </a:p>
        </p:txBody>
      </p:sp>
      <p:sp>
        <p:nvSpPr>
          <p:cNvPr id="5" name="线形标注 2 4"/>
          <p:cNvSpPr/>
          <p:nvPr/>
        </p:nvSpPr>
        <p:spPr>
          <a:xfrm>
            <a:off x="5986145" y="2784158"/>
            <a:ext cx="1393825" cy="439738"/>
          </a:xfrm>
          <a:prstGeom prst="borderCallout2">
            <a:avLst>
              <a:gd name="adj1" fmla="val 59740"/>
              <a:gd name="adj2" fmla="val 592"/>
              <a:gd name="adj3" fmla="val 56709"/>
              <a:gd name="adj4" fmla="val -16674"/>
              <a:gd name="adj5" fmla="val -188375"/>
              <a:gd name="adj6" fmla="val -218633"/>
            </a:avLst>
          </a:prstGeom>
          <a:ln>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r>
              <a:rPr lang="zh-CN" altLang="en-US" strike="noStrike" noProof="1">
                <a:solidFill>
                  <a:schemeClr val="bg1"/>
                </a:solidFill>
              </a:rPr>
              <a:t>分隔符</a:t>
            </a:r>
            <a:endParaRPr lang="zh-CN" altLang="en-US" strike="noStrike" noProof="1">
              <a:solidFill>
                <a:schemeClr val="bg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7.4.2  split()、rsplit()</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37890" name="文本占位符 35842"/>
          <p:cNvSpPr>
            <a:spLocks noGrp="1"/>
          </p:cNvSpPr>
          <p:nvPr>
            <p:ph idx="1"/>
          </p:nvPr>
        </p:nvSpPr>
        <p:spPr>
          <a:xfrm>
            <a:off x="838200" y="1321435"/>
            <a:ext cx="10515600" cy="4861560"/>
          </a:xfrm>
        </p:spPr>
        <p:txBody>
          <a:bodyPr anchor="t">
            <a:normAutofit lnSpcReduction="20000"/>
          </a:bodyPr>
          <a:p>
            <a:pPr defTabSz="914400" fontAlgn="base">
              <a:lnSpc>
                <a:spcPct val="150000"/>
              </a:lnSpc>
              <a:buSzPct val="70000"/>
              <a:buFont typeface="Wingdings" panose="05000000000000000000" charset="0"/>
              <a:buChar char=""/>
            </a:pPr>
            <a:r>
              <a:rPr lang="en-US" altLang="zh-CN" sz="2400" strike="noStrike" kern="1200" baseline="0" noProof="1">
                <a:latin typeface="宋体" panose="02010600030101010101" pitchFamily="2" charset="-122"/>
                <a:ea typeface="+mn-ea"/>
                <a:cs typeface="+mn-cs"/>
              </a:rPr>
              <a:t>split()</a:t>
            </a:r>
            <a:r>
              <a:rPr lang="zh-CN" altLang="en-US" sz="2400" strike="noStrike" kern="1200" baseline="0" noProof="1">
                <a:latin typeface="宋体" panose="02010600030101010101" pitchFamily="2" charset="-122"/>
                <a:ea typeface="+mn-ea"/>
                <a:cs typeface="+mn-cs"/>
              </a:rPr>
              <a:t>和</a:t>
            </a:r>
            <a:r>
              <a:rPr lang="en-US" altLang="zh-CN" sz="2400" strike="noStrike" kern="1200" baseline="0" noProof="1">
                <a:latin typeface="宋体" panose="02010600030101010101" pitchFamily="2" charset="-122"/>
                <a:ea typeface="+mn-ea"/>
                <a:cs typeface="+mn-cs"/>
              </a:rPr>
              <a:t>rsplit()</a:t>
            </a:r>
            <a:r>
              <a:rPr lang="zh-CN" altLang="en-US" sz="2400" strike="noStrike" kern="1200" baseline="0" noProof="1">
                <a:latin typeface="宋体" panose="02010600030101010101" pitchFamily="2" charset="-122"/>
                <a:ea typeface="+mn-ea"/>
                <a:cs typeface="+mn-cs"/>
              </a:rPr>
              <a:t>方法允许通过参数</a:t>
            </a:r>
            <a:r>
              <a:rPr lang="en-US" altLang="zh-CN" sz="2400" strike="noStrike" kern="1200" baseline="0" noProof="1">
                <a:latin typeface="宋体" panose="02010600030101010101" pitchFamily="2" charset="-122"/>
                <a:ea typeface="+mn-ea"/>
                <a:cs typeface="+mn-cs"/>
              </a:rPr>
              <a:t>maxsplit</a:t>
            </a:r>
            <a:r>
              <a:rPr lang="zh-CN" altLang="en-US" sz="2400" strike="noStrike" kern="1200" baseline="0" noProof="1">
                <a:latin typeface="宋体" panose="02010600030101010101" pitchFamily="2" charset="-122"/>
                <a:ea typeface="+mn-ea"/>
                <a:cs typeface="+mn-cs"/>
              </a:rPr>
              <a:t>指定最大分割次数，该参数默认值</a:t>
            </a:r>
            <a:r>
              <a:rPr lang="en-US" altLang="zh-CN" sz="2400" strike="noStrike" kern="1200" baseline="0" noProof="1">
                <a:latin typeface="宋体" panose="02010600030101010101" pitchFamily="2" charset="-122"/>
                <a:ea typeface="+mn-ea"/>
                <a:cs typeface="+mn-cs"/>
              </a:rPr>
              <a:t>-1</a:t>
            </a:r>
            <a:r>
              <a:rPr lang="zh-CN" altLang="en-US" sz="2400" strike="noStrike" kern="1200" baseline="0" noProof="1">
                <a:latin typeface="宋体" panose="02010600030101010101" pitchFamily="2" charset="-122"/>
                <a:ea typeface="+mn-ea"/>
                <a:cs typeface="+mn-cs"/>
              </a:rPr>
              <a:t>表示没有</a:t>
            </a:r>
            <a:r>
              <a:rPr lang="zh-CN" altLang="en-US" sz="2400" strike="noStrike" kern="1200" baseline="0" noProof="1">
                <a:latin typeface="宋体" panose="02010600030101010101" pitchFamily="2" charset="-122"/>
                <a:ea typeface="+mn-ea"/>
                <a:cs typeface="+mn-cs"/>
              </a:rPr>
              <a:t>限制。</a:t>
            </a:r>
            <a:endParaRPr lang="zh-CN" altLang="en-US" sz="2400" strike="noStrike" kern="1200" baseline="0" noProof="1">
              <a:latin typeface="宋体" panose="02010600030101010101" pitchFamily="2" charset="-122"/>
              <a:ea typeface="+mn-ea"/>
              <a:cs typeface="+mn-cs"/>
            </a:endParaRPr>
          </a:p>
          <a:p>
            <a:pPr marL="1905" indent="-344805" defTabSz="914400" fontAlgn="base">
              <a:lnSpc>
                <a:spcPct val="80000"/>
              </a:lnSpc>
              <a:buSzPct val="70000"/>
              <a:buFont typeface="Wingdings" panose="05000000000000000000" pitchFamily="2" charset="2"/>
              <a:buNone/>
            </a:pPr>
            <a:r>
              <a:rPr lang="en-US" altLang="zh-CN" sz="2000" strike="noStrike" kern="1200" baseline="0" noProof="1">
                <a:latin typeface="Consolas" panose="020B0609020204030204" charset="0"/>
                <a:ea typeface="+mn-ea"/>
                <a:cs typeface="Consolas" panose="020B0609020204030204" charset="0"/>
              </a:rPr>
              <a:t>&gt;&gt;&gt; s = '\n\nhello\t\t world \n\n\n My name is Dong   '</a:t>
            </a:r>
            <a:endParaRPr lang="en-US" altLang="zh-CN" sz="2000" strike="noStrike" kern="1200" baseline="0" noProof="1">
              <a:latin typeface="Consolas" panose="020B0609020204030204" charset="0"/>
              <a:ea typeface="+mn-ea"/>
              <a:cs typeface="Consolas" panose="020B0609020204030204" charset="0"/>
            </a:endParaRPr>
          </a:p>
          <a:p>
            <a:pPr marL="1905" indent="-344805" defTabSz="914400" fontAlgn="base">
              <a:lnSpc>
                <a:spcPct val="80000"/>
              </a:lnSpc>
              <a:buSzPct val="70000"/>
              <a:buFont typeface="Wingdings" panose="05000000000000000000" pitchFamily="2" charset="2"/>
              <a:buNone/>
            </a:pPr>
            <a:r>
              <a:rPr lang="en-US" altLang="zh-CN" sz="2000" strike="noStrike" kern="1200" baseline="0" noProof="1">
                <a:latin typeface="Consolas" panose="020B0609020204030204" charset="0"/>
                <a:ea typeface="+mn-ea"/>
                <a:cs typeface="Consolas" panose="020B0609020204030204" charset="0"/>
              </a:rPr>
              <a:t>&gt;&gt;&gt; s.split(None, 1)          # </a:t>
            </a:r>
            <a:r>
              <a:rPr lang="zh-CN" altLang="en-US" sz="2000" strike="noStrike" kern="1200" baseline="0" noProof="1">
                <a:latin typeface="Consolas" panose="020B0609020204030204" charset="0"/>
                <a:ea typeface="+mn-ea"/>
                <a:cs typeface="Consolas" panose="020B0609020204030204" charset="0"/>
              </a:rPr>
              <a:t>第一个参数</a:t>
            </a:r>
            <a:r>
              <a:rPr lang="en-US" altLang="zh-CN" sz="2000" strike="noStrike" kern="1200" baseline="0" noProof="1">
                <a:latin typeface="Consolas" panose="020B0609020204030204" charset="0"/>
                <a:ea typeface="+mn-ea"/>
                <a:cs typeface="Consolas" panose="020B0609020204030204" charset="0"/>
              </a:rPr>
              <a:t>None</a:t>
            </a:r>
            <a:r>
              <a:rPr lang="zh-CN" altLang="en-US" sz="2000" strike="noStrike" kern="1200" baseline="0" noProof="1">
                <a:latin typeface="Consolas" panose="020B0609020204030204" charset="0"/>
                <a:ea typeface="+mn-ea"/>
                <a:cs typeface="Consolas" panose="020B0609020204030204" charset="0"/>
              </a:rPr>
              <a:t>表示使用任意空白字符做分隔符</a:t>
            </a:r>
            <a:endParaRPr lang="en-US" altLang="zh-CN" sz="2000" strike="noStrike" kern="1200" baseline="0" noProof="1">
              <a:latin typeface="Consolas" panose="020B0609020204030204" charset="0"/>
              <a:ea typeface="+mn-ea"/>
              <a:cs typeface="Consolas" panose="020B0609020204030204" charset="0"/>
            </a:endParaRPr>
          </a:p>
          <a:p>
            <a:pPr marL="1905" indent="-344805" defTabSz="914400" fontAlgn="base">
              <a:lnSpc>
                <a:spcPct val="80000"/>
              </a:lnSpc>
              <a:buSzPct val="70000"/>
              <a:buFont typeface="Wingdings" panose="05000000000000000000" pitchFamily="2" charset="2"/>
              <a:buNone/>
            </a:pPr>
            <a:r>
              <a:rPr lang="en-US" altLang="zh-CN" sz="2000" strike="noStrike" kern="1200" baseline="0" noProof="1">
                <a:solidFill>
                  <a:srgbClr val="00B0F0"/>
                </a:solidFill>
                <a:latin typeface="Consolas" panose="020B0609020204030204" charset="0"/>
                <a:ea typeface="+mn-ea"/>
                <a:cs typeface="Consolas" panose="020B0609020204030204" charset="0"/>
              </a:rPr>
              <a:t>['hello', 'world \n\n\n My name is Dong   ']</a:t>
            </a:r>
            <a:endParaRPr lang="en-US" altLang="zh-CN" sz="2000" strike="noStrike" kern="1200" baseline="0" noProof="1">
              <a:solidFill>
                <a:srgbClr val="00B0F0"/>
              </a:solidFill>
              <a:latin typeface="Consolas" panose="020B0609020204030204" charset="0"/>
              <a:ea typeface="+mn-ea"/>
              <a:cs typeface="Consolas" panose="020B0609020204030204" charset="0"/>
            </a:endParaRPr>
          </a:p>
          <a:p>
            <a:pPr marL="1905" indent="-344805" defTabSz="914400" fontAlgn="base">
              <a:lnSpc>
                <a:spcPct val="80000"/>
              </a:lnSpc>
              <a:buSzPct val="70000"/>
              <a:buFont typeface="Wingdings" panose="05000000000000000000" pitchFamily="2" charset="2"/>
              <a:buNone/>
            </a:pPr>
            <a:r>
              <a:rPr lang="en-US" altLang="zh-CN" sz="2000" strike="noStrike" kern="1200" baseline="0" noProof="1">
                <a:latin typeface="Consolas" panose="020B0609020204030204" charset="0"/>
                <a:ea typeface="+mn-ea"/>
                <a:cs typeface="Consolas" panose="020B0609020204030204" charset="0"/>
              </a:rPr>
              <a:t>&gt;&gt;&gt; s.rsplit(None, 2)</a:t>
            </a:r>
            <a:endParaRPr lang="en-US" altLang="zh-CN" sz="2000" strike="noStrike" kern="1200" baseline="0" noProof="1">
              <a:latin typeface="Consolas" panose="020B0609020204030204" charset="0"/>
              <a:ea typeface="+mn-ea"/>
              <a:cs typeface="Consolas" panose="020B0609020204030204" charset="0"/>
            </a:endParaRPr>
          </a:p>
          <a:p>
            <a:pPr marL="1905" indent="-344805" defTabSz="914400" fontAlgn="base">
              <a:lnSpc>
                <a:spcPct val="80000"/>
              </a:lnSpc>
              <a:buSzPct val="70000"/>
              <a:buFont typeface="Wingdings" panose="05000000000000000000" pitchFamily="2" charset="2"/>
              <a:buNone/>
            </a:pPr>
            <a:r>
              <a:rPr lang="en-US" altLang="zh-CN" sz="2000" strike="noStrike" kern="1200" baseline="0" noProof="1">
                <a:solidFill>
                  <a:srgbClr val="00B0F0"/>
                </a:solidFill>
                <a:latin typeface="Consolas" panose="020B0609020204030204" charset="0"/>
                <a:ea typeface="+mn-ea"/>
                <a:cs typeface="Consolas" panose="020B0609020204030204" charset="0"/>
              </a:rPr>
              <a:t>['\n\nhello\t\t world \n\n\n My name', 'is', 'Dong']</a:t>
            </a:r>
            <a:endParaRPr lang="en-US" altLang="zh-CN" sz="2000" strike="noStrike" kern="1200" baseline="0" noProof="1">
              <a:solidFill>
                <a:srgbClr val="00B0F0"/>
              </a:solidFill>
              <a:latin typeface="Consolas" panose="020B0609020204030204" charset="0"/>
              <a:ea typeface="+mn-ea"/>
              <a:cs typeface="Consolas" panose="020B0609020204030204" charset="0"/>
            </a:endParaRPr>
          </a:p>
          <a:p>
            <a:pPr marL="1905" indent="-344805" defTabSz="914400" fontAlgn="base">
              <a:lnSpc>
                <a:spcPct val="80000"/>
              </a:lnSpc>
              <a:buSzPct val="70000"/>
              <a:buFont typeface="Wingdings" panose="05000000000000000000" pitchFamily="2" charset="2"/>
              <a:buNone/>
            </a:pPr>
            <a:r>
              <a:rPr lang="en-US" altLang="zh-CN" sz="2000" strike="noStrike" kern="1200" baseline="0" noProof="1">
                <a:latin typeface="Consolas" panose="020B0609020204030204" charset="0"/>
                <a:ea typeface="+mn-ea"/>
                <a:cs typeface="Consolas" panose="020B0609020204030204" charset="0"/>
              </a:rPr>
              <a:t>&gt;&gt;&gt; s.split(maxsplit=6)       # </a:t>
            </a:r>
            <a:r>
              <a:rPr lang="zh-CN" altLang="en-US" sz="2000" strike="noStrike" kern="1200" baseline="0" noProof="1">
                <a:latin typeface="Consolas" panose="020B0609020204030204" charset="0"/>
                <a:ea typeface="+mn-ea"/>
                <a:cs typeface="Consolas" panose="020B0609020204030204" charset="0"/>
              </a:rPr>
              <a:t>使用关键参数直接指定第二个参数</a:t>
            </a:r>
            <a:endParaRPr lang="zh-CN" altLang="en-US" sz="2000" strike="noStrike" kern="1200" baseline="0" noProof="1">
              <a:latin typeface="Consolas" panose="020B0609020204030204" charset="0"/>
              <a:ea typeface="+mn-ea"/>
              <a:cs typeface="Consolas" panose="020B0609020204030204" charset="0"/>
            </a:endParaRPr>
          </a:p>
          <a:p>
            <a:pPr marL="1905" indent="-344805" defTabSz="914400" fontAlgn="base">
              <a:lnSpc>
                <a:spcPct val="80000"/>
              </a:lnSpc>
              <a:buSzPct val="70000"/>
              <a:buFont typeface="Wingdings" panose="05000000000000000000" pitchFamily="2" charset="2"/>
              <a:buNone/>
            </a:pPr>
            <a:r>
              <a:rPr lang="zh-CN" altLang="en-US" sz="2000" strike="noStrike" kern="1200" baseline="0" noProof="1">
                <a:latin typeface="Consolas" panose="020B0609020204030204" charset="0"/>
                <a:ea typeface="+mn-ea"/>
                <a:cs typeface="Consolas" panose="020B0609020204030204" charset="0"/>
              </a:rPr>
              <a:t> </a:t>
            </a:r>
            <a:r>
              <a:rPr lang="en-US" altLang="zh-CN" sz="2000" strike="noStrike" kern="1200" baseline="0" noProof="1">
                <a:latin typeface="Consolas" panose="020B0609020204030204" charset="0"/>
                <a:ea typeface="+mn-ea"/>
                <a:cs typeface="Consolas" panose="020B0609020204030204" charset="0"/>
              </a:rPr>
              <a:t>                             # </a:t>
            </a:r>
            <a:r>
              <a:rPr lang="zh-CN" altLang="en-US" sz="2000" strike="noStrike" kern="1200" baseline="0" noProof="1">
                <a:latin typeface="Consolas" panose="020B0609020204030204" charset="0"/>
                <a:ea typeface="+mn-ea"/>
                <a:cs typeface="Consolas" panose="020B0609020204030204" charset="0"/>
              </a:rPr>
              <a:t>这时第一个参数使用默认值</a:t>
            </a:r>
            <a:r>
              <a:rPr lang="en-US" altLang="zh-CN" sz="2000" strike="noStrike" kern="1200" baseline="0" noProof="1">
                <a:latin typeface="Consolas" panose="020B0609020204030204" charset="0"/>
                <a:ea typeface="+mn-ea"/>
                <a:cs typeface="Consolas" panose="020B0609020204030204" charset="0"/>
              </a:rPr>
              <a:t>None</a:t>
            </a:r>
            <a:endParaRPr lang="en-US" altLang="zh-CN" sz="2000" strike="noStrike" kern="1200" baseline="0" noProof="1">
              <a:latin typeface="Consolas" panose="020B0609020204030204" charset="0"/>
              <a:ea typeface="+mn-ea"/>
              <a:cs typeface="Consolas" panose="020B0609020204030204" charset="0"/>
            </a:endParaRPr>
          </a:p>
          <a:p>
            <a:pPr marL="1905" indent="-344805" defTabSz="914400" fontAlgn="base">
              <a:lnSpc>
                <a:spcPct val="80000"/>
              </a:lnSpc>
              <a:buSzPct val="70000"/>
              <a:buFont typeface="Wingdings" panose="05000000000000000000" pitchFamily="2" charset="2"/>
              <a:buNone/>
            </a:pPr>
            <a:r>
              <a:rPr lang="en-US" altLang="zh-CN" sz="2000" strike="noStrike" kern="1200" baseline="0" noProof="1">
                <a:solidFill>
                  <a:srgbClr val="00B0F0"/>
                </a:solidFill>
                <a:latin typeface="Consolas" panose="020B0609020204030204" charset="0"/>
                <a:ea typeface="+mn-ea"/>
                <a:cs typeface="Consolas" panose="020B0609020204030204" charset="0"/>
              </a:rPr>
              <a:t>['hello', 'world', 'My', 'name', 'is', 'Dong']</a:t>
            </a:r>
            <a:endParaRPr lang="en-US" altLang="zh-CN" sz="2000" strike="noStrike" kern="1200" baseline="0" noProof="1">
              <a:solidFill>
                <a:srgbClr val="00B0F0"/>
              </a:solidFill>
              <a:latin typeface="Consolas" panose="020B0609020204030204" charset="0"/>
              <a:ea typeface="+mn-ea"/>
              <a:cs typeface="Consolas" panose="020B0609020204030204" charset="0"/>
            </a:endParaRPr>
          </a:p>
          <a:p>
            <a:pPr marL="1905" indent="-344805" defTabSz="914400" fontAlgn="base">
              <a:lnSpc>
                <a:spcPct val="80000"/>
              </a:lnSpc>
              <a:buSzPct val="70000"/>
              <a:buFont typeface="Wingdings" panose="05000000000000000000" pitchFamily="2" charset="2"/>
              <a:buNone/>
            </a:pPr>
            <a:r>
              <a:rPr lang="en-US" altLang="zh-CN" sz="2000" strike="noStrike" kern="1200" baseline="0" noProof="1">
                <a:latin typeface="Consolas" panose="020B0609020204030204" charset="0"/>
                <a:ea typeface="+mn-ea"/>
                <a:cs typeface="Consolas" panose="020B0609020204030204" charset="0"/>
              </a:rPr>
              <a:t>&gt;&gt;&gt; s.split(maxsplit=100)     # </a:t>
            </a:r>
            <a:r>
              <a:rPr lang="zh-CN" altLang="en-US" sz="2000" strike="noStrike" kern="1200" baseline="0" noProof="1">
                <a:latin typeface="Consolas" panose="020B0609020204030204" charset="0"/>
                <a:ea typeface="+mn-ea"/>
                <a:cs typeface="Consolas" panose="020B0609020204030204" charset="0"/>
              </a:rPr>
              <a:t>最大分隔次数大于可分隔次数时，相当于</a:t>
            </a:r>
            <a:r>
              <a:rPr lang="en-US" altLang="zh-CN" sz="2000" strike="noStrike" kern="1200" baseline="0" noProof="1">
                <a:latin typeface="Consolas" panose="020B0609020204030204" charset="0"/>
                <a:ea typeface="+mn-ea"/>
                <a:cs typeface="Consolas" panose="020B0609020204030204" charset="0"/>
              </a:rPr>
              <a:t>-1</a:t>
            </a:r>
            <a:endParaRPr lang="zh-CN" altLang="en-US" sz="2000" strike="noStrike" kern="1200" baseline="0" noProof="1">
              <a:latin typeface="Consolas" panose="020B0609020204030204" charset="0"/>
              <a:ea typeface="+mn-ea"/>
              <a:cs typeface="Consolas" panose="020B0609020204030204" charset="0"/>
            </a:endParaRPr>
          </a:p>
          <a:p>
            <a:pPr marL="1905" indent="-344805" defTabSz="914400" fontAlgn="base">
              <a:lnSpc>
                <a:spcPct val="80000"/>
              </a:lnSpc>
              <a:buSzPct val="70000"/>
              <a:buFont typeface="Wingdings" panose="05000000000000000000" pitchFamily="2" charset="2"/>
              <a:buNone/>
            </a:pPr>
            <a:r>
              <a:rPr lang="en-US" altLang="zh-CN" sz="2000" strike="noStrike" kern="1200" baseline="0" noProof="1">
                <a:solidFill>
                  <a:srgbClr val="00B0F0"/>
                </a:solidFill>
                <a:latin typeface="Consolas" panose="020B0609020204030204" charset="0"/>
                <a:ea typeface="+mn-ea"/>
                <a:cs typeface="Consolas" panose="020B0609020204030204" charset="0"/>
              </a:rPr>
              <a:t>['hello', 'world', 'My', 'name', 'is', 'Dong']</a:t>
            </a:r>
            <a:endParaRPr lang="en-US" altLang="zh-CN" sz="2000" strike="noStrike" kern="1200" baseline="0" noProof="1">
              <a:solidFill>
                <a:srgbClr val="00B0F0"/>
              </a:solidFill>
              <a:latin typeface="Consolas" panose="020B0609020204030204" charset="0"/>
              <a:ea typeface="+mn-ea"/>
              <a:cs typeface="Consolas" panose="020B060902020403020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7.4.2  split()、rsplit()</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36866" name="文本占位符 34818"/>
          <p:cNvSpPr>
            <a:spLocks noGrp="1"/>
          </p:cNvSpPr>
          <p:nvPr>
            <p:ph idx="1"/>
          </p:nvPr>
        </p:nvSpPr>
        <p:spPr>
          <a:xfrm>
            <a:off x="763905" y="1120140"/>
            <a:ext cx="10714355" cy="5122545"/>
          </a:xfrm>
        </p:spPr>
        <p:txBody>
          <a:bodyPr anchor="t">
            <a:normAutofit lnSpcReduction="10000"/>
          </a:bodyPr>
          <a:p>
            <a:pPr defTabSz="914400" fontAlgn="base">
              <a:lnSpc>
                <a:spcPct val="130000"/>
              </a:lnSpc>
              <a:spcBef>
                <a:spcPts val="0"/>
              </a:spcBef>
              <a:buSzPct val="70000"/>
              <a:buFont typeface="Wingdings" panose="05000000000000000000" charset="0"/>
              <a:buChar char=""/>
            </a:pPr>
            <a:r>
              <a:rPr lang="zh-CN" altLang="en-US" sz="2400" strike="noStrike" kern="1200" baseline="0" noProof="1">
                <a:latin typeface="宋体" panose="02010600030101010101" pitchFamily="2" charset="-122"/>
                <a:ea typeface="+mn-ea"/>
                <a:cs typeface="+mn-cs"/>
              </a:rPr>
              <a:t>对于</a:t>
            </a:r>
            <a:r>
              <a:rPr lang="en-US" altLang="zh-CN" sz="2400" strike="noStrike" kern="1200" baseline="0" noProof="1">
                <a:latin typeface="宋体" panose="02010600030101010101" pitchFamily="2" charset="-122"/>
                <a:ea typeface="+mn-ea"/>
                <a:cs typeface="+mn-cs"/>
              </a:rPr>
              <a:t>split()</a:t>
            </a:r>
            <a:r>
              <a:rPr lang="zh-CN" altLang="en-US" sz="2400" strike="noStrike" kern="1200" baseline="0" noProof="1">
                <a:latin typeface="宋体" panose="02010600030101010101" pitchFamily="2" charset="-122"/>
                <a:ea typeface="+mn-ea"/>
                <a:cs typeface="+mn-cs"/>
              </a:rPr>
              <a:t>和</a:t>
            </a:r>
            <a:r>
              <a:rPr lang="en-US" altLang="zh-CN" sz="2400" strike="noStrike" kern="1200" baseline="0" noProof="1">
                <a:latin typeface="宋体" panose="02010600030101010101" pitchFamily="2" charset="-122"/>
                <a:ea typeface="+mn-ea"/>
                <a:cs typeface="+mn-cs"/>
              </a:rPr>
              <a:t>rsplit()</a:t>
            </a:r>
            <a:r>
              <a:rPr lang="zh-CN" altLang="en-US" sz="2400" strike="noStrike" kern="1200" baseline="0" noProof="1">
                <a:latin typeface="宋体" panose="02010600030101010101" pitchFamily="2" charset="-122"/>
                <a:ea typeface="+mn-ea"/>
                <a:cs typeface="+mn-cs"/>
              </a:rPr>
              <a:t>方法，如果</a:t>
            </a:r>
            <a:r>
              <a:rPr lang="zh-CN" altLang="en-US" sz="2400" strike="noStrike" kern="1200" baseline="0" noProof="1">
                <a:solidFill>
                  <a:srgbClr val="FF0000"/>
                </a:solidFill>
                <a:latin typeface="宋体" panose="02010600030101010101" pitchFamily="2" charset="-122"/>
                <a:ea typeface="+mn-ea"/>
                <a:cs typeface="+mn-cs"/>
              </a:rPr>
              <a:t>不指定分隔符</a:t>
            </a:r>
            <a:r>
              <a:rPr lang="zh-CN" altLang="en-US" sz="2400" strike="noStrike" kern="1200" baseline="0" noProof="1">
                <a:latin typeface="宋体" panose="02010600030101010101" pitchFamily="2" charset="-122"/>
                <a:ea typeface="+mn-ea"/>
                <a:cs typeface="+mn-cs"/>
              </a:rPr>
              <a:t>，则字符串中的任何空白字符</a:t>
            </a:r>
            <a:r>
              <a:rPr lang="zh-CN" altLang="en-US" sz="2400" strike="noStrike" kern="1200" baseline="0" noProof="1">
                <a:latin typeface="宋体" panose="02010600030101010101" pitchFamily="2" charset="-122"/>
                <a:ea typeface="+mn-ea"/>
                <a:cs typeface="+mn-cs"/>
              </a:rPr>
              <a:t>（空格、换行符、制表符等）都将被认为是分隔符，并删除分割结果中的所有空</a:t>
            </a:r>
            <a:r>
              <a:rPr lang="zh-CN" altLang="en-US" sz="2400" strike="noStrike" kern="1200" baseline="0" noProof="1">
                <a:latin typeface="宋体" panose="02010600030101010101" pitchFamily="2" charset="-122"/>
                <a:ea typeface="+mn-ea"/>
                <a:cs typeface="+mn-cs"/>
              </a:rPr>
              <a:t>字符串。</a:t>
            </a:r>
            <a:endParaRPr lang="zh-CN" altLang="en-US" sz="2400" strike="noStrike" kern="1200" baseline="0" noProof="1">
              <a:latin typeface="宋体" panose="02010600030101010101" pitchFamily="2" charset="-122"/>
              <a:ea typeface="+mn-ea"/>
              <a:cs typeface="+mn-cs"/>
            </a:endParaRPr>
          </a:p>
          <a:p>
            <a:pPr marL="1905" indent="-344805" defTabSz="914400" fontAlgn="base">
              <a:lnSpc>
                <a:spcPct val="80000"/>
              </a:lnSpc>
              <a:buSzPct val="70000"/>
              <a:buFont typeface="Wingdings" panose="05000000000000000000" pitchFamily="2" charset="2"/>
              <a:buNone/>
            </a:pPr>
            <a:r>
              <a:rPr lang="en-US" altLang="zh-CN" sz="2000" strike="noStrike" kern="1200" baseline="0" noProof="1">
                <a:latin typeface="Consolas" panose="020B0609020204030204" charset="0"/>
                <a:ea typeface="+mn-ea"/>
                <a:cs typeface="+mn-cs"/>
              </a:rPr>
              <a:t>&gt;&gt;&gt; s = 'hello world \n\n My name is Dong   '</a:t>
            </a:r>
            <a:endParaRPr lang="en-US" altLang="zh-CN" sz="2000" strike="noStrike" kern="1200" baseline="0" noProof="1">
              <a:latin typeface="Consolas" panose="020B0609020204030204" charset="0"/>
              <a:ea typeface="+mn-ea"/>
              <a:cs typeface="+mn-cs"/>
            </a:endParaRPr>
          </a:p>
          <a:p>
            <a:pPr marL="1905" indent="-344805" defTabSz="914400" fontAlgn="base">
              <a:lnSpc>
                <a:spcPct val="80000"/>
              </a:lnSpc>
              <a:buSzPct val="70000"/>
              <a:buFont typeface="Wingdings" panose="05000000000000000000" pitchFamily="2" charset="2"/>
              <a:buNone/>
            </a:pPr>
            <a:r>
              <a:rPr lang="en-US" altLang="zh-CN" sz="2000" strike="noStrike" kern="1200" baseline="0" noProof="1">
                <a:latin typeface="Consolas" panose="020B0609020204030204" charset="0"/>
                <a:ea typeface="+mn-ea"/>
                <a:cs typeface="+mn-cs"/>
              </a:rPr>
              <a:t>&gt;&gt;&gt; s.split()</a:t>
            </a:r>
            <a:endParaRPr lang="en-US" altLang="zh-CN" sz="2000" strike="noStrike" kern="1200" baseline="0" noProof="1">
              <a:latin typeface="Consolas" panose="020B0609020204030204" charset="0"/>
              <a:ea typeface="+mn-ea"/>
              <a:cs typeface="+mn-cs"/>
            </a:endParaRPr>
          </a:p>
          <a:p>
            <a:pPr marL="1905" indent="-344805" defTabSz="914400" fontAlgn="base">
              <a:lnSpc>
                <a:spcPct val="80000"/>
              </a:lnSpc>
              <a:buSzPct val="70000"/>
              <a:buFont typeface="Wingdings" panose="05000000000000000000" pitchFamily="2" charset="2"/>
              <a:buNone/>
            </a:pPr>
            <a:r>
              <a:rPr lang="en-US" altLang="zh-CN" sz="2000" strike="noStrike" kern="1200" baseline="0" noProof="1">
                <a:solidFill>
                  <a:srgbClr val="00B0F0"/>
                </a:solidFill>
                <a:latin typeface="Consolas" panose="020B0609020204030204" charset="0"/>
                <a:ea typeface="+mn-ea"/>
                <a:cs typeface="+mn-cs"/>
              </a:rPr>
              <a:t>['hello', 'world', 'My', 'name', 'is', 'Dong']</a:t>
            </a:r>
            <a:endParaRPr lang="en-US" altLang="zh-CN" sz="2000" strike="noStrike" kern="1200" baseline="0" noProof="1">
              <a:solidFill>
                <a:srgbClr val="00B0F0"/>
              </a:solidFill>
              <a:latin typeface="Consolas" panose="020B0609020204030204" charset="0"/>
              <a:ea typeface="+mn-ea"/>
              <a:cs typeface="+mn-cs"/>
            </a:endParaRPr>
          </a:p>
          <a:p>
            <a:pPr marL="1905" indent="-344805" defTabSz="914400" fontAlgn="base">
              <a:lnSpc>
                <a:spcPct val="80000"/>
              </a:lnSpc>
              <a:buSzPct val="70000"/>
              <a:buFont typeface="Wingdings" panose="05000000000000000000" pitchFamily="2" charset="2"/>
              <a:buNone/>
            </a:pPr>
            <a:r>
              <a:rPr lang="en-US" altLang="zh-CN" sz="2000" strike="noStrike" kern="1200" baseline="0" noProof="1">
                <a:latin typeface="Consolas" panose="020B0609020204030204" charset="0"/>
                <a:ea typeface="+mn-ea"/>
                <a:cs typeface="+mn-cs"/>
              </a:rPr>
              <a:t>&gt;&gt;&gt; s = '\n\nhello world \n\n\n My name is Dong   '</a:t>
            </a:r>
            <a:endParaRPr lang="en-US" altLang="zh-CN" sz="2000" strike="noStrike" kern="1200" baseline="0" noProof="1">
              <a:latin typeface="Consolas" panose="020B0609020204030204" charset="0"/>
              <a:ea typeface="+mn-ea"/>
              <a:cs typeface="+mn-cs"/>
            </a:endParaRPr>
          </a:p>
          <a:p>
            <a:pPr marL="1905" indent="-344805" defTabSz="914400" fontAlgn="base">
              <a:lnSpc>
                <a:spcPct val="80000"/>
              </a:lnSpc>
              <a:buSzPct val="70000"/>
              <a:buFont typeface="Wingdings" panose="05000000000000000000" pitchFamily="2" charset="2"/>
              <a:buNone/>
            </a:pPr>
            <a:r>
              <a:rPr lang="en-US" altLang="zh-CN" sz="2000" strike="noStrike" kern="1200" baseline="0" noProof="1">
                <a:latin typeface="Consolas" panose="020B0609020204030204" charset="0"/>
                <a:ea typeface="+mn-ea"/>
                <a:cs typeface="+mn-cs"/>
              </a:rPr>
              <a:t>&gt;&gt;&gt; s.split()</a:t>
            </a:r>
            <a:endParaRPr lang="en-US" altLang="zh-CN" sz="2000" strike="noStrike" kern="1200" baseline="0" noProof="1">
              <a:latin typeface="Consolas" panose="020B0609020204030204" charset="0"/>
              <a:ea typeface="+mn-ea"/>
              <a:cs typeface="+mn-cs"/>
            </a:endParaRPr>
          </a:p>
          <a:p>
            <a:pPr marL="1905" indent="-344805" defTabSz="914400" fontAlgn="base">
              <a:lnSpc>
                <a:spcPct val="80000"/>
              </a:lnSpc>
              <a:buSzPct val="70000"/>
              <a:buFont typeface="Wingdings" panose="05000000000000000000" pitchFamily="2" charset="2"/>
              <a:buNone/>
            </a:pPr>
            <a:r>
              <a:rPr lang="en-US" altLang="zh-CN" sz="2000" strike="noStrike" kern="1200" baseline="0" noProof="1">
                <a:solidFill>
                  <a:srgbClr val="00B0F0"/>
                </a:solidFill>
                <a:latin typeface="Consolas" panose="020B0609020204030204" charset="0"/>
                <a:ea typeface="+mn-ea"/>
                <a:cs typeface="+mn-cs"/>
              </a:rPr>
              <a:t>['hello', 'world', 'My', 'name', 'is', 'Dong']</a:t>
            </a:r>
            <a:endParaRPr lang="en-US" altLang="zh-CN" sz="2000" strike="noStrike" kern="1200" baseline="0" noProof="1">
              <a:solidFill>
                <a:srgbClr val="00B0F0"/>
              </a:solidFill>
              <a:latin typeface="Consolas" panose="020B0609020204030204" charset="0"/>
              <a:ea typeface="+mn-ea"/>
              <a:cs typeface="+mn-cs"/>
            </a:endParaRPr>
          </a:p>
          <a:p>
            <a:pPr marL="1905" indent="-344805" defTabSz="914400" fontAlgn="base">
              <a:lnSpc>
                <a:spcPct val="80000"/>
              </a:lnSpc>
              <a:buSzPct val="70000"/>
              <a:buFont typeface="Wingdings" panose="05000000000000000000" pitchFamily="2" charset="2"/>
              <a:buNone/>
            </a:pPr>
            <a:r>
              <a:rPr lang="en-US" altLang="zh-CN" sz="2000" strike="noStrike" kern="1200" baseline="0" noProof="1">
                <a:latin typeface="Consolas" panose="020B0609020204030204" charset="0"/>
                <a:ea typeface="+mn-ea"/>
                <a:cs typeface="+mn-cs"/>
              </a:rPr>
              <a:t>&gt;&gt;&gt; s = '\n\nhello\t\t world \n\n\n My name\t is Dong   '</a:t>
            </a:r>
            <a:endParaRPr lang="en-US" altLang="zh-CN" sz="2000" strike="noStrike" kern="1200" baseline="0" noProof="1">
              <a:latin typeface="Consolas" panose="020B0609020204030204" charset="0"/>
              <a:ea typeface="+mn-ea"/>
              <a:cs typeface="+mn-cs"/>
            </a:endParaRPr>
          </a:p>
          <a:p>
            <a:pPr marL="1905" indent="-344805" defTabSz="914400" fontAlgn="base">
              <a:lnSpc>
                <a:spcPct val="80000"/>
              </a:lnSpc>
              <a:buSzPct val="70000"/>
              <a:buFont typeface="Wingdings" panose="05000000000000000000" pitchFamily="2" charset="2"/>
              <a:buNone/>
            </a:pPr>
            <a:r>
              <a:rPr lang="en-US" altLang="zh-CN" sz="2000" strike="noStrike" kern="1200" baseline="0" noProof="1">
                <a:latin typeface="Consolas" panose="020B0609020204030204" charset="0"/>
                <a:ea typeface="+mn-ea"/>
                <a:cs typeface="+mn-cs"/>
              </a:rPr>
              <a:t>&gt;&gt;&gt; s.split()</a:t>
            </a:r>
            <a:endParaRPr lang="en-US" altLang="zh-CN" sz="2000" strike="noStrike" kern="1200" baseline="0" noProof="1">
              <a:latin typeface="Consolas" panose="020B0609020204030204" charset="0"/>
              <a:ea typeface="+mn-ea"/>
              <a:cs typeface="+mn-cs"/>
            </a:endParaRPr>
          </a:p>
          <a:p>
            <a:pPr marL="1905" indent="-344805" defTabSz="914400" fontAlgn="base">
              <a:lnSpc>
                <a:spcPct val="80000"/>
              </a:lnSpc>
              <a:buSzPct val="70000"/>
              <a:buFont typeface="Wingdings" panose="05000000000000000000" pitchFamily="2" charset="2"/>
              <a:buNone/>
            </a:pPr>
            <a:r>
              <a:rPr lang="en-US" altLang="zh-CN" sz="2000" strike="noStrike" kern="1200" baseline="0" noProof="1">
                <a:solidFill>
                  <a:srgbClr val="00B0F0"/>
                </a:solidFill>
                <a:latin typeface="Consolas" panose="020B0609020204030204" charset="0"/>
                <a:ea typeface="+mn-ea"/>
                <a:cs typeface="+mn-cs"/>
              </a:rPr>
              <a:t>['hello', 'world', 'My', 'name', 'is', 'Dong']</a:t>
            </a:r>
            <a:endParaRPr lang="en-US" altLang="zh-CN" sz="2000" strike="noStrike" kern="1200" baseline="0" noProof="1">
              <a:solidFill>
                <a:srgbClr val="00B0F0"/>
              </a:solidFill>
              <a:latin typeface="Consolas" panose="020B0609020204030204" charset="0"/>
              <a:ea typeface="+mn-ea"/>
              <a:cs typeface="+mn-c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7.4.2  split()、rsplit()</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5" name="内容占位符 4"/>
          <p:cNvSpPr>
            <a:spLocks noGrp="1"/>
          </p:cNvSpPr>
          <p:nvPr>
            <p:ph idx="1"/>
          </p:nvPr>
        </p:nvSpPr>
        <p:spPr>
          <a:xfrm>
            <a:off x="763905" y="1080135"/>
            <a:ext cx="10380345" cy="4526280"/>
          </a:xfrm>
        </p:spPr>
        <p:txBody>
          <a:bodyPr/>
          <a:p>
            <a:pPr fontAlgn="base">
              <a:lnSpc>
                <a:spcPct val="150000"/>
              </a:lnSpc>
              <a:spcBef>
                <a:spcPts val="0"/>
              </a:spcBef>
              <a:buFont typeface="Wingdings" panose="05000000000000000000" charset="0"/>
              <a:buChar char=""/>
            </a:pPr>
            <a:r>
              <a:rPr lang="zh-CN" altLang="en-US" sz="2400" strike="noStrike" noProof="1">
                <a:solidFill>
                  <a:srgbClr val="FF0000"/>
                </a:solidFill>
              </a:rPr>
              <a:t>然而</a:t>
            </a:r>
            <a:r>
              <a:rPr lang="zh-CN" altLang="en-US" sz="2400" strike="noStrike" noProof="1"/>
              <a:t>，明确传递参数指定split()使用的分隔符时，情况是不一样的。</a:t>
            </a:r>
            <a:endParaRPr lang="zh-CN" altLang="en-US" sz="2400" strike="noStrike" noProof="1"/>
          </a:p>
          <a:p>
            <a:pPr marL="0" indent="0" fontAlgn="base">
              <a:buNone/>
            </a:pPr>
            <a:endParaRPr lang="zh-CN" altLang="en-US" sz="2000" strike="noStrike" noProof="1"/>
          </a:p>
          <a:p>
            <a:pPr marL="0" indent="0" fontAlgn="base">
              <a:buNone/>
            </a:pPr>
            <a:r>
              <a:rPr lang="zh-CN" altLang="en-US" sz="2000" strike="noStrike" noProof="1">
                <a:latin typeface="Consolas" panose="020B0609020204030204" charset="0"/>
              </a:rPr>
              <a:t>&gt;&gt;&gt; 'a,,,bb,,ccc'.split(',')       # 每个逗号都被作为独立的分隔符</a:t>
            </a:r>
            <a:endParaRPr lang="zh-CN" altLang="en-US" sz="2000" strike="noStrike" noProof="1">
              <a:latin typeface="Consolas" panose="020B0609020204030204" charset="0"/>
            </a:endParaRPr>
          </a:p>
          <a:p>
            <a:pPr marL="0" indent="0" fontAlgn="base">
              <a:buNone/>
            </a:pPr>
            <a:r>
              <a:rPr lang="zh-CN" altLang="en-US" sz="2000" strike="noStrike" noProof="1">
                <a:latin typeface="Consolas" panose="020B0609020204030204" charset="0"/>
              </a:rPr>
              <a:t> </a:t>
            </a:r>
            <a:r>
              <a:rPr lang="en-US" altLang="zh-CN" sz="2000" strike="noStrike" noProof="1">
                <a:latin typeface="Consolas" panose="020B0609020204030204" charset="0"/>
              </a:rPr>
              <a:t>                                  # </a:t>
            </a:r>
            <a:r>
              <a:rPr lang="zh-CN" altLang="en-US" sz="2000" strike="noStrike" noProof="1">
                <a:latin typeface="Consolas" panose="020B0609020204030204" charset="0"/>
              </a:rPr>
              <a:t>相邻逗号直接会得到一个</a:t>
            </a:r>
            <a:r>
              <a:rPr lang="zh-CN" altLang="en-US" sz="2000" strike="noStrike" noProof="1">
                <a:latin typeface="Consolas" panose="020B0609020204030204" charset="0"/>
              </a:rPr>
              <a:t>空字符串</a:t>
            </a:r>
            <a:endParaRPr lang="zh-CN" altLang="en-US" sz="2000" strike="noStrike" noProof="1">
              <a:latin typeface="Consolas" panose="020B0609020204030204" charset="0"/>
            </a:endParaRPr>
          </a:p>
          <a:p>
            <a:pPr marL="0" indent="0" fontAlgn="base">
              <a:buNone/>
            </a:pPr>
            <a:r>
              <a:rPr lang="zh-CN" altLang="en-US" sz="2000" strike="noStrike" noProof="1">
                <a:solidFill>
                  <a:srgbClr val="00B0F0"/>
                </a:solidFill>
                <a:latin typeface="Consolas" panose="020B0609020204030204" charset="0"/>
              </a:rPr>
              <a:t>['a', '', '', 'bb', '', 'ccc']</a:t>
            </a:r>
            <a:endParaRPr lang="zh-CN" altLang="en-US" sz="2000" strike="noStrike" noProof="1">
              <a:solidFill>
                <a:srgbClr val="00B0F0"/>
              </a:solidFill>
              <a:latin typeface="Consolas" panose="020B0609020204030204" charset="0"/>
            </a:endParaRPr>
          </a:p>
          <a:p>
            <a:pPr marL="0" indent="0" fontAlgn="base">
              <a:buNone/>
            </a:pPr>
            <a:r>
              <a:rPr lang="zh-CN" altLang="en-US" sz="2000" strike="noStrike" noProof="1">
                <a:latin typeface="Consolas" panose="020B0609020204030204" charset="0"/>
              </a:rPr>
              <a:t>&gt;&gt;&gt; 'a\t\t\tbb\t\tccc'.split('\t') # 每个制表符都被作为独立的分隔符</a:t>
            </a:r>
            <a:endParaRPr lang="zh-CN" altLang="en-US" sz="2000" strike="noStrike" noProof="1">
              <a:latin typeface="Consolas" panose="020B0609020204030204" charset="0"/>
            </a:endParaRPr>
          </a:p>
          <a:p>
            <a:pPr marL="0" indent="0" fontAlgn="base">
              <a:buNone/>
            </a:pPr>
            <a:r>
              <a:rPr lang="zh-CN" altLang="en-US" sz="2000" strike="noStrike" noProof="1">
                <a:latin typeface="Consolas" panose="020B0609020204030204" charset="0"/>
              </a:rPr>
              <a:t> </a:t>
            </a:r>
            <a:r>
              <a:rPr lang="en-US" altLang="zh-CN" sz="2000" strike="noStrike" noProof="1">
                <a:latin typeface="Consolas" panose="020B0609020204030204" charset="0"/>
              </a:rPr>
              <a:t>                                  # </a:t>
            </a:r>
            <a:r>
              <a:rPr lang="zh-CN" altLang="en-US" sz="2000" strike="noStrike" noProof="1">
                <a:latin typeface="Consolas" panose="020B0609020204030204" charset="0"/>
              </a:rPr>
              <a:t>相邻制表符之间会得到一个空</a:t>
            </a:r>
            <a:r>
              <a:rPr lang="zh-CN" altLang="en-US" sz="2000" strike="noStrike" noProof="1">
                <a:latin typeface="Consolas" panose="020B0609020204030204" charset="0"/>
              </a:rPr>
              <a:t>字符串</a:t>
            </a:r>
            <a:endParaRPr lang="zh-CN" altLang="en-US" sz="2000" strike="noStrike" noProof="1">
              <a:latin typeface="Consolas" panose="020B0609020204030204" charset="0"/>
            </a:endParaRPr>
          </a:p>
          <a:p>
            <a:pPr marL="0" indent="0" fontAlgn="base">
              <a:buNone/>
            </a:pPr>
            <a:r>
              <a:rPr lang="zh-CN" altLang="en-US" sz="2000" strike="noStrike" noProof="1">
                <a:solidFill>
                  <a:srgbClr val="00B0F0"/>
                </a:solidFill>
                <a:latin typeface="Consolas" panose="020B0609020204030204" charset="0"/>
              </a:rPr>
              <a:t>['a', '', '', 'bb', '', 'ccc']</a:t>
            </a:r>
            <a:endParaRPr lang="zh-CN" altLang="en-US" sz="2000" strike="noStrike" noProof="1">
              <a:solidFill>
                <a:srgbClr val="00B0F0"/>
              </a:solidFill>
              <a:latin typeface="Consolas" panose="020B0609020204030204" charset="0"/>
            </a:endParaRPr>
          </a:p>
          <a:p>
            <a:pPr marL="0" indent="0" fontAlgn="base">
              <a:buNone/>
            </a:pPr>
            <a:r>
              <a:rPr lang="zh-CN" altLang="en-US" sz="2000" strike="noStrike" noProof="1">
                <a:latin typeface="Consolas" panose="020B0609020204030204" charset="0"/>
              </a:rPr>
              <a:t>&gt;&gt;&gt; 'a\t\t\tbb\t\tccc'.split()     # 连续多个制表符被作为一个分隔符</a:t>
            </a:r>
            <a:endParaRPr lang="zh-CN" altLang="en-US" sz="2000" strike="noStrike" noProof="1">
              <a:latin typeface="Consolas" panose="020B0609020204030204" charset="0"/>
            </a:endParaRPr>
          </a:p>
          <a:p>
            <a:pPr marL="0" indent="0" fontAlgn="base">
              <a:buNone/>
            </a:pPr>
            <a:r>
              <a:rPr lang="zh-CN" altLang="en-US" sz="2000" strike="noStrike" noProof="1">
                <a:solidFill>
                  <a:srgbClr val="00B0F0"/>
                </a:solidFill>
                <a:latin typeface="Consolas" panose="020B0609020204030204" charset="0"/>
              </a:rPr>
              <a:t>['a', 'bb', 'ccc']</a:t>
            </a:r>
            <a:endParaRPr lang="zh-CN" altLang="en-US" sz="2000" strike="noStrike" noProof="1">
              <a:solidFill>
                <a:srgbClr val="00B0F0"/>
              </a:solidFill>
              <a:latin typeface="Consolas" panose="020B060902020403020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7.4.3  join()</a:t>
            </a:r>
            <a:endParaRPr lang="zh-CN" altLang="en-US"/>
          </a:p>
        </p:txBody>
      </p:sp>
      <p:sp>
        <p:nvSpPr>
          <p:cNvPr id="44034" name="文本占位符 36866"/>
          <p:cNvSpPr>
            <a:spLocks noGrp="1"/>
          </p:cNvSpPr>
          <p:nvPr>
            <p:ph idx="1"/>
          </p:nvPr>
        </p:nvSpPr>
        <p:spPr/>
        <p:txBody>
          <a:bodyPr anchor="t"/>
          <a:p>
            <a:pPr defTabSz="914400">
              <a:lnSpc>
                <a:spcPct val="120000"/>
              </a:lnSpc>
              <a:buSzPct val="70000"/>
              <a:buFont typeface="Wingdings" panose="05000000000000000000" charset="0"/>
              <a:buChar char=""/>
            </a:pPr>
            <a:r>
              <a:rPr lang="zh-CN" altLang="en-US" sz="2400" dirty="0">
                <a:latin typeface="宋体" panose="02010600030101010101" pitchFamily="2" charset="-122"/>
              </a:rPr>
              <a:t>字符串方法join(iterable, /)用于连接可迭代对象中的字符串，以当前字符串作为</a:t>
            </a:r>
            <a:r>
              <a:rPr lang="zh-CN" altLang="en-US" sz="2400" dirty="0">
                <a:latin typeface="宋体" panose="02010600030101010101" pitchFamily="2" charset="-122"/>
              </a:rPr>
              <a:t>连接符，返回连接后的新</a:t>
            </a:r>
            <a:r>
              <a:rPr lang="zh-CN" altLang="en-US" sz="2400" dirty="0">
                <a:latin typeface="宋体" panose="02010600030101010101" pitchFamily="2" charset="-122"/>
              </a:rPr>
              <a:t>字符串。</a:t>
            </a:r>
            <a:endParaRPr lang="zh-CN" altLang="en-US" sz="2400" dirty="0">
              <a:latin typeface="宋体" panose="02010600030101010101" pitchFamily="2" charset="-122"/>
            </a:endParaRPr>
          </a:p>
          <a:p>
            <a:pPr defTabSz="914400">
              <a:buSzPct val="70000"/>
              <a:buFont typeface="Wingdings" panose="05000000000000000000" pitchFamily="2" charset="2"/>
              <a:buNone/>
            </a:pPr>
            <a:endParaRPr lang="zh-CN" altLang="en-US" sz="1800" dirty="0">
              <a:latin typeface="Consolas" panose="020B0609020204030204" charset="0"/>
            </a:endParaRPr>
          </a:p>
          <a:p>
            <a:pPr defTabSz="914400">
              <a:buSzPct val="70000"/>
              <a:buFont typeface="Wingdings" panose="05000000000000000000" pitchFamily="2" charset="2"/>
              <a:buNone/>
            </a:pPr>
            <a:endParaRPr lang="zh-CN" altLang="en-US" sz="1800" dirty="0">
              <a:latin typeface="Consolas" panose="020B0609020204030204" charset="0"/>
            </a:endParaRPr>
          </a:p>
          <a:p>
            <a:pPr defTabSz="914400">
              <a:buSzPct val="70000"/>
              <a:buFont typeface="Wingdings" panose="05000000000000000000" pitchFamily="2" charset="2"/>
              <a:buNone/>
            </a:pPr>
            <a:r>
              <a:rPr lang="zh-CN" altLang="en-US" sz="2000" dirty="0">
                <a:latin typeface="Consolas" panose="020B0609020204030204" charset="0"/>
              </a:rPr>
              <a:t>&gt;&gt;&gt; li = [</a:t>
            </a:r>
            <a:r>
              <a:rPr lang="zh-CN" altLang="en-US" sz="2000" dirty="0">
                <a:latin typeface="Consolas" panose="020B0609020204030204" charset="0"/>
                <a:sym typeface="+mn-ea"/>
              </a:rPr>
              <a:t>'</a:t>
            </a:r>
            <a:r>
              <a:rPr lang="zh-CN" altLang="en-US" sz="2000" dirty="0">
                <a:latin typeface="Consolas" panose="020B0609020204030204" charset="0"/>
              </a:rPr>
              <a:t>apple</a:t>
            </a:r>
            <a:r>
              <a:rPr lang="zh-CN" altLang="en-US" sz="2000" dirty="0">
                <a:latin typeface="Consolas" panose="020B0609020204030204" charset="0"/>
                <a:sym typeface="+mn-ea"/>
              </a:rPr>
              <a:t>'</a:t>
            </a:r>
            <a:r>
              <a:rPr lang="zh-CN" altLang="en-US" sz="2000" dirty="0">
                <a:latin typeface="Consolas" panose="020B0609020204030204" charset="0"/>
              </a:rPr>
              <a:t>, </a:t>
            </a:r>
            <a:r>
              <a:rPr lang="zh-CN" altLang="en-US" sz="2000" dirty="0">
                <a:latin typeface="Consolas" panose="020B0609020204030204" charset="0"/>
                <a:sym typeface="+mn-ea"/>
              </a:rPr>
              <a:t>'</a:t>
            </a:r>
            <a:r>
              <a:rPr lang="zh-CN" altLang="en-US" sz="2000" dirty="0">
                <a:latin typeface="Consolas" panose="020B0609020204030204" charset="0"/>
              </a:rPr>
              <a:t>peach</a:t>
            </a:r>
            <a:r>
              <a:rPr lang="zh-CN" altLang="en-US" sz="2000" dirty="0">
                <a:latin typeface="Consolas" panose="020B0609020204030204" charset="0"/>
                <a:sym typeface="+mn-ea"/>
              </a:rPr>
              <a:t>'</a:t>
            </a:r>
            <a:r>
              <a:rPr lang="zh-CN" altLang="en-US" sz="2000" dirty="0">
                <a:latin typeface="Consolas" panose="020B0609020204030204" charset="0"/>
              </a:rPr>
              <a:t>, </a:t>
            </a:r>
            <a:r>
              <a:rPr lang="zh-CN" altLang="en-US" sz="2000" dirty="0">
                <a:latin typeface="Consolas" panose="020B0609020204030204" charset="0"/>
                <a:sym typeface="+mn-ea"/>
              </a:rPr>
              <a:t>'</a:t>
            </a:r>
            <a:r>
              <a:rPr lang="zh-CN" altLang="en-US" sz="2000" dirty="0">
                <a:latin typeface="Consolas" panose="020B0609020204030204" charset="0"/>
              </a:rPr>
              <a:t>banana</a:t>
            </a:r>
            <a:r>
              <a:rPr lang="zh-CN" altLang="en-US" sz="2000" dirty="0">
                <a:latin typeface="Consolas" panose="020B0609020204030204" charset="0"/>
                <a:sym typeface="+mn-ea"/>
              </a:rPr>
              <a:t>'</a:t>
            </a:r>
            <a:r>
              <a:rPr lang="zh-CN" altLang="en-US" sz="2000" dirty="0">
                <a:latin typeface="Consolas" panose="020B0609020204030204" charset="0"/>
              </a:rPr>
              <a:t>, </a:t>
            </a:r>
            <a:r>
              <a:rPr lang="zh-CN" altLang="en-US" sz="2000" dirty="0">
                <a:latin typeface="Consolas" panose="020B0609020204030204" charset="0"/>
                <a:sym typeface="+mn-ea"/>
              </a:rPr>
              <a:t>'</a:t>
            </a:r>
            <a:r>
              <a:rPr lang="zh-CN" altLang="en-US" sz="2000" dirty="0">
                <a:latin typeface="Consolas" panose="020B0609020204030204" charset="0"/>
              </a:rPr>
              <a:t>pear</a:t>
            </a:r>
            <a:r>
              <a:rPr lang="zh-CN" altLang="en-US" sz="2000" dirty="0">
                <a:latin typeface="Consolas" panose="020B0609020204030204" charset="0"/>
                <a:sym typeface="+mn-ea"/>
              </a:rPr>
              <a:t>'</a:t>
            </a:r>
            <a:r>
              <a:rPr lang="zh-CN" altLang="en-US" sz="2000" dirty="0">
                <a:latin typeface="Consolas" panose="020B0609020204030204" charset="0"/>
              </a:rPr>
              <a:t>]</a:t>
            </a:r>
            <a:endParaRPr lang="zh-CN" altLang="en-US" sz="2000" dirty="0">
              <a:latin typeface="Consolas" panose="020B0609020204030204" charset="0"/>
            </a:endParaRPr>
          </a:p>
          <a:p>
            <a:pPr defTabSz="914400">
              <a:buSzPct val="70000"/>
              <a:buFont typeface="Wingdings" panose="05000000000000000000" pitchFamily="2" charset="2"/>
              <a:buNone/>
            </a:pPr>
            <a:r>
              <a:rPr lang="zh-CN" altLang="en-US" sz="2000" dirty="0">
                <a:latin typeface="Consolas" panose="020B0609020204030204" charset="0"/>
              </a:rPr>
              <a:t>&gt;&gt;&gt; ','.join(li)</a:t>
            </a:r>
            <a:endParaRPr lang="zh-CN" altLang="en-US" sz="2000" dirty="0">
              <a:latin typeface="Consolas" panose="020B0609020204030204" charset="0"/>
            </a:endParaRPr>
          </a:p>
          <a:p>
            <a:pPr defTabSz="914400">
              <a:buSzPct val="70000"/>
              <a:buFont typeface="Wingdings" panose="05000000000000000000" pitchFamily="2" charset="2"/>
              <a:buNone/>
            </a:pPr>
            <a:r>
              <a:rPr lang="zh-CN" altLang="en-US" sz="2000" dirty="0">
                <a:solidFill>
                  <a:srgbClr val="00B0F0"/>
                </a:solidFill>
                <a:latin typeface="Consolas" panose="020B0609020204030204" charset="0"/>
              </a:rPr>
              <a:t>'apple,peach,banana,pear'</a:t>
            </a:r>
            <a:endParaRPr lang="zh-CN" altLang="en-US" sz="2000" dirty="0">
              <a:solidFill>
                <a:srgbClr val="00B0F0"/>
              </a:solidFill>
              <a:latin typeface="Consolas" panose="020B0609020204030204" charset="0"/>
            </a:endParaRPr>
          </a:p>
          <a:p>
            <a:pPr defTabSz="914400">
              <a:buSzPct val="70000"/>
              <a:buFont typeface="Wingdings" panose="05000000000000000000" pitchFamily="2" charset="2"/>
              <a:buNone/>
            </a:pPr>
            <a:r>
              <a:rPr lang="zh-CN" altLang="en-US" sz="2000" dirty="0">
                <a:latin typeface="Consolas" panose="020B0609020204030204" charset="0"/>
              </a:rPr>
              <a:t>&gt;&gt;&gt; '.'.join(li)</a:t>
            </a:r>
            <a:endParaRPr lang="zh-CN" altLang="en-US" sz="2000" dirty="0">
              <a:latin typeface="Consolas" panose="020B0609020204030204" charset="0"/>
            </a:endParaRPr>
          </a:p>
          <a:p>
            <a:pPr defTabSz="914400">
              <a:buSzPct val="70000"/>
              <a:buFont typeface="Wingdings" panose="05000000000000000000" pitchFamily="2" charset="2"/>
              <a:buNone/>
            </a:pPr>
            <a:r>
              <a:rPr lang="zh-CN" altLang="en-US" sz="2000" dirty="0">
                <a:solidFill>
                  <a:srgbClr val="00B0F0"/>
                </a:solidFill>
                <a:latin typeface="Consolas" panose="020B0609020204030204" charset="0"/>
              </a:rPr>
              <a:t>'apple.peach.banana.pear'</a:t>
            </a:r>
            <a:endParaRPr lang="zh-CN" altLang="en-US" sz="2000" dirty="0">
              <a:solidFill>
                <a:srgbClr val="00B0F0"/>
              </a:solidFill>
              <a:latin typeface="Consolas" panose="020B0609020204030204" charset="0"/>
            </a:endParaRPr>
          </a:p>
          <a:p>
            <a:pPr defTabSz="914400">
              <a:buSzPct val="70000"/>
              <a:buFont typeface="Wingdings" panose="05000000000000000000" pitchFamily="2" charset="2"/>
              <a:buNone/>
            </a:pPr>
            <a:r>
              <a:rPr lang="zh-CN" altLang="en-US" sz="2000" dirty="0">
                <a:latin typeface="Consolas" panose="020B0609020204030204" charset="0"/>
              </a:rPr>
              <a:t>&gt;&gt;&gt; '::'.join(li)</a:t>
            </a:r>
            <a:endParaRPr lang="zh-CN" altLang="en-US" sz="2000" dirty="0">
              <a:latin typeface="Consolas" panose="020B0609020204030204" charset="0"/>
            </a:endParaRPr>
          </a:p>
          <a:p>
            <a:pPr defTabSz="914400">
              <a:buSzPct val="70000"/>
              <a:buFont typeface="Wingdings" panose="05000000000000000000" pitchFamily="2" charset="2"/>
              <a:buNone/>
            </a:pPr>
            <a:r>
              <a:rPr lang="zh-CN" altLang="en-US" sz="2000" dirty="0">
                <a:solidFill>
                  <a:srgbClr val="00B0F0"/>
                </a:solidFill>
                <a:latin typeface="Consolas" panose="020B0609020204030204" charset="0"/>
              </a:rPr>
              <a:t>'apple::peach::banana::pear'</a:t>
            </a:r>
            <a:endParaRPr lang="zh-CN" altLang="en-US" sz="2000" dirty="0">
              <a:solidFill>
                <a:srgbClr val="00B0F0"/>
              </a:solidFill>
              <a:latin typeface="Consolas" panose="020B0609020204030204" charset="0"/>
            </a:endParaRPr>
          </a:p>
        </p:txBody>
      </p:sp>
      <p:sp>
        <p:nvSpPr>
          <p:cNvPr id="5" name="线形标注 1 4"/>
          <p:cNvSpPr/>
          <p:nvPr/>
        </p:nvSpPr>
        <p:spPr>
          <a:xfrm>
            <a:off x="2720023" y="2615883"/>
            <a:ext cx="1138238" cy="457200"/>
          </a:xfrm>
          <a:prstGeom prst="borderCallout1">
            <a:avLst>
              <a:gd name="adj1" fmla="val 36893"/>
              <a:gd name="adj2" fmla="val -947"/>
              <a:gd name="adj3" fmla="val 212986"/>
              <a:gd name="adj4" fmla="val -90850"/>
            </a:avLst>
          </a:prstGeom>
          <a:ln>
            <a:headEnd type="none"/>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r>
              <a:rPr lang="zh-CN" altLang="en-US" strike="noStrike" noProof="1">
                <a:solidFill>
                  <a:schemeClr val="bg1"/>
                </a:solidFill>
              </a:rPr>
              <a:t>连接符</a:t>
            </a:r>
            <a:endParaRPr lang="zh-CN" altLang="en-US" strike="noStrike" noProof="1">
              <a:solidFill>
                <a:schemeClr val="bg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7.4.3  join()</a:t>
            </a:r>
            <a:endParaRPr lang="zh-CN" altLang="en-US"/>
          </a:p>
        </p:txBody>
      </p:sp>
      <p:sp>
        <p:nvSpPr>
          <p:cNvPr id="3" name="内容占位符 2"/>
          <p:cNvSpPr>
            <a:spLocks noGrp="1"/>
          </p:cNvSpPr>
          <p:nvPr>
            <p:ph idx="1"/>
          </p:nvPr>
        </p:nvSpPr>
        <p:spPr>
          <a:xfrm>
            <a:off x="838200" y="1321435"/>
            <a:ext cx="10806430" cy="4914900"/>
          </a:xfrm>
        </p:spPr>
        <p:txBody>
          <a:bodyPr>
            <a:normAutofit lnSpcReduction="10000"/>
          </a:bodyPr>
          <a:p>
            <a:pPr fontAlgn="auto">
              <a:lnSpc>
                <a:spcPct val="140000"/>
              </a:lnSpc>
              <a:spcBef>
                <a:spcPts val="0"/>
              </a:spcBef>
            </a:pPr>
            <a:r>
              <a:rPr lang="zh-CN" altLang="en-US" sz="2400" b="1"/>
              <a:t>应用：</a:t>
            </a:r>
            <a:r>
              <a:rPr lang="zh-CN" altLang="en-US" sz="2400"/>
              <a:t>使用split()和join()方法删除字符串中多余的空白字符，连续多个空白字符只保留一个。</a:t>
            </a:r>
            <a:endParaRPr lang="zh-CN" altLang="en-US" sz="2400"/>
          </a:p>
          <a:p>
            <a:pPr marL="0" indent="0" fontAlgn="auto">
              <a:lnSpc>
                <a:spcPct val="100000"/>
              </a:lnSpc>
              <a:spcBef>
                <a:spcPts val="0"/>
              </a:spcBef>
              <a:buNone/>
            </a:pPr>
            <a:r>
              <a:rPr lang="zh-CN" altLang="en-US" sz="2000">
                <a:latin typeface="Consolas" panose="020B0609020204030204" charset="0"/>
              </a:rPr>
              <a:t>def equavilent(s1, s2):         # 判断两个字符串在Python意义上是否等价</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if s1 == s2:</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return True</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elif ' '.join(s1.split()) == ' '.join(s2.split()):</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return True</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elif ''.join(s1.split()) == ''.join(s2.split()):</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return True</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else:</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return False</a:t>
            </a:r>
            <a:endParaRPr lang="zh-CN" altLang="en-US" sz="2000">
              <a:latin typeface="Consolas" panose="020B0609020204030204" charset="0"/>
            </a:endParaRPr>
          </a:p>
          <a:p>
            <a:pPr marL="0" indent="0" fontAlgn="auto">
              <a:lnSpc>
                <a:spcPct val="100000"/>
              </a:lnSpc>
              <a:spcBef>
                <a:spcPts val="0"/>
              </a:spcBef>
              <a:buNone/>
            </a:pP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print(equavilent('pip list', 'pip    list'))</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print(equavilent('[1,2, 3, 4]', '[1, 2, 3, 4]'))</a:t>
            </a:r>
            <a:endParaRPr lang="zh-CN" altLang="en-US" sz="2000">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5" name="文本框 4"/>
          <p:cNvSpPr txBox="1"/>
          <p:nvPr/>
        </p:nvSpPr>
        <p:spPr>
          <a:xfrm>
            <a:off x="8042275" y="4906010"/>
            <a:ext cx="1122680" cy="706755"/>
          </a:xfrm>
          <a:prstGeom prst="rect">
            <a:avLst/>
          </a:prstGeom>
          <a:noFill/>
          <a:ln>
            <a:solidFill>
              <a:schemeClr val="accent1"/>
            </a:solidFill>
          </a:ln>
        </p:spPr>
        <p:txBody>
          <a:bodyPr wrap="square" rtlCol="0">
            <a:spAutoFit/>
          </a:bodyPr>
          <a:p>
            <a:r>
              <a:rPr lang="zh-CN" altLang="en-US" sz="2000">
                <a:solidFill>
                  <a:srgbClr val="00B0F0"/>
                </a:solidFill>
              </a:rPr>
              <a:t>True</a:t>
            </a:r>
            <a:endParaRPr lang="zh-CN" altLang="en-US" sz="2000">
              <a:solidFill>
                <a:srgbClr val="00B0F0"/>
              </a:solidFill>
            </a:endParaRPr>
          </a:p>
          <a:p>
            <a:r>
              <a:rPr lang="zh-CN" altLang="en-US" sz="2000">
                <a:solidFill>
                  <a:srgbClr val="00B0F0"/>
                </a:solidFill>
              </a:rPr>
              <a:t>True</a:t>
            </a:r>
            <a:endParaRPr lang="zh-CN" altLang="en-US" sz="2000">
              <a:solidFill>
                <a:srgbClr val="00B0F0"/>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7.4.4  lower()、upper()、capitalize()、title()、swapcase()</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48130" name="文本占位符 37890"/>
          <p:cNvSpPr>
            <a:spLocks noGrp="1"/>
          </p:cNvSpPr>
          <p:nvPr>
            <p:ph idx="1"/>
          </p:nvPr>
        </p:nvSpPr>
        <p:spPr>
          <a:xfrm>
            <a:off x="737235" y="1280160"/>
            <a:ext cx="9789160" cy="4526280"/>
          </a:xfrm>
        </p:spPr>
        <p:txBody>
          <a:bodyPr anchor="t">
            <a:normAutofit lnSpcReduction="10000"/>
          </a:bodyPr>
          <a:p>
            <a:pPr defTabSz="914400">
              <a:lnSpc>
                <a:spcPct val="80000"/>
              </a:lnSpc>
              <a:buSzPct val="70000"/>
              <a:buFont typeface="Wingdings" panose="05000000000000000000" charset="0"/>
              <a:buChar char=""/>
            </a:pPr>
            <a:r>
              <a:rPr lang="zh-CN" altLang="en-US" sz="2400" dirty="0">
                <a:latin typeface="宋体" panose="02010600030101010101" pitchFamily="2" charset="-122"/>
              </a:rPr>
              <a:t>lower()、upper()、capitalize()、title()、swapcase()</a:t>
            </a:r>
            <a:endParaRPr lang="zh-CN" altLang="en-US" sz="2400" dirty="0">
              <a:latin typeface="宋体" panose="02010600030101010101" pitchFamily="2" charset="-122"/>
            </a:endParaRPr>
          </a:p>
          <a:p>
            <a:pPr defTabSz="914400">
              <a:lnSpc>
                <a:spcPct val="80000"/>
              </a:lnSpc>
              <a:buSzPct val="70000"/>
              <a:buFont typeface="Wingdings" panose="05000000000000000000" pitchFamily="2" charset="2"/>
              <a:buNone/>
            </a:pPr>
            <a:endParaRPr lang="zh-CN" altLang="en-US" sz="2000" dirty="0">
              <a:latin typeface="宋体" panose="02010600030101010101" pitchFamily="2" charset="-122"/>
            </a:endParaRPr>
          </a:p>
          <a:p>
            <a:pPr defTabSz="914400">
              <a:lnSpc>
                <a:spcPct val="80000"/>
              </a:lnSpc>
              <a:buSzPct val="70000"/>
              <a:buFont typeface="Wingdings" panose="05000000000000000000" pitchFamily="2" charset="2"/>
              <a:buNone/>
            </a:pPr>
            <a:r>
              <a:rPr lang="zh-CN" altLang="en-US" sz="2000" dirty="0">
                <a:latin typeface="Consolas" panose="020B0609020204030204" charset="0"/>
              </a:rPr>
              <a:t>&gt;&gt;&gt; s = </a:t>
            </a:r>
            <a:r>
              <a:rPr lang="zh-CN" altLang="en-US" sz="2000">
                <a:latin typeface="Consolas" panose="020B0609020204030204" charset="0"/>
                <a:sym typeface="+mn-ea"/>
              </a:rPr>
              <a:t>'</a:t>
            </a:r>
            <a:r>
              <a:rPr lang="zh-CN" altLang="en-US" sz="2000" dirty="0">
                <a:latin typeface="Consolas" panose="020B0609020204030204" charset="0"/>
              </a:rPr>
              <a:t>What is Your Name?</a:t>
            </a:r>
            <a:r>
              <a:rPr lang="zh-CN" altLang="en-US" sz="2000">
                <a:latin typeface="Consolas" panose="020B0609020204030204" charset="0"/>
                <a:sym typeface="+mn-ea"/>
              </a:rPr>
              <a:t>'</a:t>
            </a:r>
            <a:endParaRPr lang="zh-CN" altLang="en-US" sz="2000" dirty="0">
              <a:latin typeface="Consolas" panose="020B0609020204030204" charset="0"/>
            </a:endParaRPr>
          </a:p>
          <a:p>
            <a:pPr defTabSz="914400">
              <a:lnSpc>
                <a:spcPct val="80000"/>
              </a:lnSpc>
              <a:buSzPct val="70000"/>
              <a:buFont typeface="Wingdings" panose="05000000000000000000" pitchFamily="2" charset="2"/>
              <a:buNone/>
            </a:pPr>
            <a:r>
              <a:rPr lang="zh-CN" altLang="en-US" sz="2000" dirty="0">
                <a:latin typeface="Consolas" panose="020B0609020204030204" charset="0"/>
              </a:rPr>
              <a:t>&gt;&gt;&gt; s.lower()                   # 返回小写字符串</a:t>
            </a:r>
            <a:endParaRPr lang="zh-CN" altLang="en-US" sz="2000" dirty="0">
              <a:latin typeface="Consolas" panose="020B0609020204030204" charset="0"/>
            </a:endParaRPr>
          </a:p>
          <a:p>
            <a:pPr defTabSz="914400">
              <a:lnSpc>
                <a:spcPct val="80000"/>
              </a:lnSpc>
              <a:buSzPct val="70000"/>
              <a:buFont typeface="Wingdings" panose="05000000000000000000" pitchFamily="2" charset="2"/>
              <a:buNone/>
            </a:pPr>
            <a:r>
              <a:rPr lang="zh-CN" altLang="en-US" sz="2000" dirty="0">
                <a:solidFill>
                  <a:srgbClr val="00B0F0"/>
                </a:solidFill>
                <a:latin typeface="Consolas" panose="020B0609020204030204" charset="0"/>
              </a:rPr>
              <a:t>'what is your name?'</a:t>
            </a:r>
            <a:endParaRPr lang="zh-CN" altLang="en-US" sz="2000" dirty="0">
              <a:solidFill>
                <a:srgbClr val="00B0F0"/>
              </a:solidFill>
              <a:latin typeface="Consolas" panose="020B0609020204030204" charset="0"/>
            </a:endParaRPr>
          </a:p>
          <a:p>
            <a:pPr defTabSz="914400">
              <a:lnSpc>
                <a:spcPct val="80000"/>
              </a:lnSpc>
              <a:buSzPct val="70000"/>
              <a:buFont typeface="Wingdings" panose="05000000000000000000" pitchFamily="2" charset="2"/>
              <a:buNone/>
            </a:pPr>
            <a:r>
              <a:rPr lang="zh-CN" altLang="en-US" sz="2000" dirty="0">
                <a:latin typeface="Consolas" panose="020B0609020204030204" charset="0"/>
              </a:rPr>
              <a:t>&gt;&gt;&gt; s.upper()                   # 返回大写字符串</a:t>
            </a:r>
            <a:endParaRPr lang="zh-CN" altLang="en-US" sz="2000" dirty="0">
              <a:latin typeface="Consolas" panose="020B0609020204030204" charset="0"/>
            </a:endParaRPr>
          </a:p>
          <a:p>
            <a:pPr defTabSz="914400">
              <a:lnSpc>
                <a:spcPct val="80000"/>
              </a:lnSpc>
              <a:buSzPct val="70000"/>
              <a:buFont typeface="Wingdings" panose="05000000000000000000" pitchFamily="2" charset="2"/>
              <a:buNone/>
            </a:pPr>
            <a:r>
              <a:rPr lang="zh-CN" altLang="en-US" sz="2000" dirty="0">
                <a:solidFill>
                  <a:srgbClr val="00B0F0"/>
                </a:solidFill>
                <a:latin typeface="Consolas" panose="020B0609020204030204" charset="0"/>
              </a:rPr>
              <a:t>'WHAT IS YOUR NAME?'</a:t>
            </a:r>
            <a:endParaRPr lang="zh-CN" altLang="en-US" sz="2000" dirty="0">
              <a:solidFill>
                <a:srgbClr val="00B0F0"/>
              </a:solidFill>
              <a:latin typeface="Consolas" panose="020B0609020204030204" charset="0"/>
            </a:endParaRPr>
          </a:p>
          <a:p>
            <a:pPr defTabSz="914400">
              <a:lnSpc>
                <a:spcPct val="80000"/>
              </a:lnSpc>
              <a:buSzPct val="70000"/>
              <a:buFont typeface="Wingdings" panose="05000000000000000000" pitchFamily="2" charset="2"/>
              <a:buNone/>
            </a:pPr>
            <a:r>
              <a:rPr lang="zh-CN" altLang="en-US" sz="2000" dirty="0">
                <a:latin typeface="Consolas" panose="020B0609020204030204" charset="0"/>
              </a:rPr>
              <a:t>&gt;&gt;&gt; s.capitalize()              # 字符串首字符大写</a:t>
            </a:r>
            <a:endParaRPr lang="zh-CN" altLang="en-US" sz="2000" dirty="0">
              <a:latin typeface="Consolas" panose="020B0609020204030204" charset="0"/>
            </a:endParaRPr>
          </a:p>
          <a:p>
            <a:pPr defTabSz="914400">
              <a:lnSpc>
                <a:spcPct val="80000"/>
              </a:lnSpc>
              <a:buSzPct val="70000"/>
              <a:buFont typeface="Wingdings" panose="05000000000000000000" pitchFamily="2" charset="2"/>
              <a:buNone/>
            </a:pPr>
            <a:r>
              <a:rPr lang="zh-CN" altLang="en-US" sz="2000" dirty="0">
                <a:solidFill>
                  <a:srgbClr val="00B0F0"/>
                </a:solidFill>
                <a:latin typeface="Consolas" panose="020B0609020204030204" charset="0"/>
              </a:rPr>
              <a:t>'What is your name?'</a:t>
            </a:r>
            <a:endParaRPr lang="zh-CN" altLang="en-US" sz="2000" dirty="0">
              <a:solidFill>
                <a:srgbClr val="00B0F0"/>
              </a:solidFill>
              <a:latin typeface="Consolas" panose="020B0609020204030204" charset="0"/>
            </a:endParaRPr>
          </a:p>
          <a:p>
            <a:pPr defTabSz="914400">
              <a:lnSpc>
                <a:spcPct val="80000"/>
              </a:lnSpc>
              <a:buSzPct val="70000"/>
              <a:buFont typeface="Wingdings" panose="05000000000000000000" pitchFamily="2" charset="2"/>
              <a:buNone/>
            </a:pPr>
            <a:r>
              <a:rPr lang="zh-CN" altLang="en-US" sz="2000" dirty="0">
                <a:latin typeface="Consolas" panose="020B0609020204030204" charset="0"/>
              </a:rPr>
              <a:t>&gt;&gt;&gt; s.title()                   # 每个单词的首字母大写</a:t>
            </a:r>
            <a:endParaRPr lang="zh-CN" altLang="en-US" sz="2000" dirty="0">
              <a:latin typeface="Consolas" panose="020B0609020204030204" charset="0"/>
            </a:endParaRPr>
          </a:p>
          <a:p>
            <a:pPr defTabSz="914400">
              <a:lnSpc>
                <a:spcPct val="80000"/>
              </a:lnSpc>
              <a:buSzPct val="70000"/>
              <a:buFont typeface="Wingdings" panose="05000000000000000000" pitchFamily="2" charset="2"/>
              <a:buNone/>
            </a:pPr>
            <a:r>
              <a:rPr lang="zh-CN" altLang="en-US" sz="2000" dirty="0">
                <a:solidFill>
                  <a:srgbClr val="00B0F0"/>
                </a:solidFill>
                <a:latin typeface="Consolas" panose="020B0609020204030204" charset="0"/>
              </a:rPr>
              <a:t>'What Is Your Name?'</a:t>
            </a:r>
            <a:endParaRPr lang="zh-CN" altLang="en-US" sz="2000" dirty="0">
              <a:solidFill>
                <a:srgbClr val="00B0F0"/>
              </a:solidFill>
              <a:latin typeface="Consolas" panose="020B0609020204030204" charset="0"/>
            </a:endParaRPr>
          </a:p>
          <a:p>
            <a:pPr defTabSz="914400">
              <a:lnSpc>
                <a:spcPct val="80000"/>
              </a:lnSpc>
              <a:buSzPct val="70000"/>
              <a:buFont typeface="Wingdings" panose="05000000000000000000" pitchFamily="2" charset="2"/>
              <a:buNone/>
            </a:pPr>
            <a:r>
              <a:rPr lang="zh-CN" altLang="en-US" sz="2000" dirty="0">
                <a:latin typeface="Consolas" panose="020B0609020204030204" charset="0"/>
              </a:rPr>
              <a:t>&gt;&gt;&gt; s.swapcase()                # 大小写互换</a:t>
            </a:r>
            <a:endParaRPr lang="zh-CN" altLang="en-US" sz="2000" dirty="0">
              <a:latin typeface="Consolas" panose="020B0609020204030204" charset="0"/>
            </a:endParaRPr>
          </a:p>
          <a:p>
            <a:pPr defTabSz="914400">
              <a:lnSpc>
                <a:spcPct val="80000"/>
              </a:lnSpc>
              <a:buSzPct val="70000"/>
              <a:buFont typeface="Wingdings" panose="05000000000000000000" pitchFamily="2" charset="2"/>
              <a:buNone/>
            </a:pPr>
            <a:r>
              <a:rPr lang="zh-CN" altLang="en-US" sz="2000" dirty="0">
                <a:solidFill>
                  <a:srgbClr val="00B0F0"/>
                </a:solidFill>
                <a:latin typeface="Consolas" panose="020B0609020204030204" charset="0"/>
              </a:rPr>
              <a:t>'wHAT IS yOUR nAME?'</a:t>
            </a:r>
            <a:endParaRPr lang="zh-CN" altLang="en-US" sz="2000" dirty="0">
              <a:solidFill>
                <a:srgbClr val="00B0F0"/>
              </a:solidFill>
              <a:latin typeface="Consolas" panose="020B0609020204030204"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7.4.5  replace()、maketrans()、translate()</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49154" name="文本占位符 38914"/>
          <p:cNvSpPr>
            <a:spLocks noGrp="1"/>
          </p:cNvSpPr>
          <p:nvPr>
            <p:ph idx="1"/>
          </p:nvPr>
        </p:nvSpPr>
        <p:spPr>
          <a:xfrm>
            <a:off x="750570" y="1266825"/>
            <a:ext cx="10381615" cy="4526280"/>
          </a:xfrm>
        </p:spPr>
        <p:txBody>
          <a:bodyPr anchor="t">
            <a:normAutofit lnSpcReduction="20000"/>
          </a:bodyPr>
          <a:p>
            <a:pPr defTabSz="914400">
              <a:lnSpc>
                <a:spcPct val="150000"/>
              </a:lnSpc>
              <a:buSzPct val="70000"/>
              <a:buFont typeface="Wingdings" panose="05000000000000000000" charset="0"/>
              <a:buChar char=""/>
            </a:pPr>
            <a:r>
              <a:rPr lang="zh-CN" altLang="en-US" sz="2400" dirty="0">
                <a:latin typeface="宋体" panose="02010600030101010101" pitchFamily="2" charset="-122"/>
              </a:rPr>
              <a:t>字符串对象的replace(old, new, count=-1, /)方法把指定子字符串的所有出现都替换为另一个字符串，类似于</a:t>
            </a:r>
            <a:r>
              <a:rPr lang="en-US" altLang="zh-CN" sz="2400" dirty="0">
                <a:latin typeface="宋体" panose="02010600030101010101" pitchFamily="2" charset="-122"/>
              </a:rPr>
              <a:t>Word</a:t>
            </a:r>
            <a:r>
              <a:rPr lang="zh-CN" altLang="en-US" sz="2400" dirty="0">
                <a:latin typeface="宋体" panose="02010600030101010101" pitchFamily="2" charset="-122"/>
              </a:rPr>
              <a:t>中的</a:t>
            </a:r>
            <a:r>
              <a:rPr lang="en-US" altLang="zh-CN" sz="2400" dirty="0">
                <a:latin typeface="宋体" panose="02010600030101010101" pitchFamily="2" charset="-122"/>
              </a:rPr>
              <a:t>“</a:t>
            </a:r>
            <a:r>
              <a:rPr lang="zh-CN" altLang="en-US" sz="2400" dirty="0">
                <a:latin typeface="宋体" panose="02010600030101010101" pitchFamily="2" charset="-122"/>
              </a:rPr>
              <a:t>全部替换</a:t>
            </a:r>
            <a:r>
              <a:rPr lang="en-US" altLang="zh-CN" sz="2400" dirty="0">
                <a:latin typeface="宋体" panose="02010600030101010101" pitchFamily="2" charset="-122"/>
              </a:rPr>
              <a:t>”</a:t>
            </a:r>
            <a:r>
              <a:rPr lang="zh-CN" altLang="en-US" sz="2400" dirty="0">
                <a:latin typeface="宋体" panose="02010600030101010101" pitchFamily="2" charset="-122"/>
              </a:rPr>
              <a:t>功能，返回替换后的新字符串。必要时可以通过参数</a:t>
            </a:r>
            <a:r>
              <a:rPr lang="en-US" altLang="zh-CN" sz="2400" dirty="0">
                <a:latin typeface="宋体" panose="02010600030101010101" pitchFamily="2" charset="-122"/>
              </a:rPr>
              <a:t>count</a:t>
            </a:r>
            <a:r>
              <a:rPr lang="zh-CN" altLang="en-US" sz="2400" dirty="0">
                <a:latin typeface="宋体" panose="02010600030101010101" pitchFamily="2" charset="-122"/>
              </a:rPr>
              <a:t>指定替换</a:t>
            </a:r>
            <a:r>
              <a:rPr lang="zh-CN" altLang="en-US" sz="2400" dirty="0">
                <a:latin typeface="宋体" panose="02010600030101010101" pitchFamily="2" charset="-122"/>
              </a:rPr>
              <a:t>次数。</a:t>
            </a:r>
            <a:endParaRPr lang="zh-CN" altLang="en-US" sz="2400" dirty="0">
              <a:latin typeface="宋体" panose="02010600030101010101" pitchFamily="2" charset="-122"/>
            </a:endParaRPr>
          </a:p>
          <a:p>
            <a:pPr defTabSz="914400">
              <a:buSzPct val="70000"/>
              <a:buFont typeface="Wingdings" panose="05000000000000000000" pitchFamily="2" charset="2"/>
              <a:buNone/>
            </a:pPr>
            <a:r>
              <a:rPr lang="zh-CN" altLang="en-US" sz="2000" dirty="0">
                <a:latin typeface="Consolas" panose="020B0609020204030204" charset="0"/>
              </a:rPr>
              <a:t>&gt;&gt;&gt; s = </a:t>
            </a:r>
            <a:r>
              <a:rPr lang="zh-CN" altLang="en-US" sz="2000">
                <a:latin typeface="Consolas" panose="020B0609020204030204" charset="0"/>
                <a:sym typeface="+mn-ea"/>
              </a:rPr>
              <a:t>'</a:t>
            </a:r>
            <a:r>
              <a:rPr lang="zh-CN" altLang="en-US" sz="2000" dirty="0">
                <a:latin typeface="Consolas" panose="020B0609020204030204" charset="0"/>
              </a:rPr>
              <a:t>中国，中国</a:t>
            </a:r>
            <a:r>
              <a:rPr lang="zh-CN" altLang="en-US" sz="2000">
                <a:latin typeface="Consolas" panose="020B0609020204030204" charset="0"/>
                <a:sym typeface="+mn-ea"/>
              </a:rPr>
              <a:t>'</a:t>
            </a:r>
            <a:endParaRPr lang="zh-CN" altLang="en-US" sz="2000" dirty="0">
              <a:latin typeface="Consolas" panose="020B0609020204030204" charset="0"/>
            </a:endParaRPr>
          </a:p>
          <a:p>
            <a:pPr defTabSz="914400">
              <a:buSzPct val="70000"/>
              <a:buFont typeface="Wingdings" panose="05000000000000000000" pitchFamily="2" charset="2"/>
              <a:buNone/>
            </a:pPr>
            <a:r>
              <a:rPr lang="zh-CN" altLang="en-US" sz="2000" dirty="0">
                <a:latin typeface="Consolas" panose="020B0609020204030204" charset="0"/>
              </a:rPr>
              <a:t>&gt;&gt;&gt; s2 = s.replace(</a:t>
            </a:r>
            <a:r>
              <a:rPr lang="zh-CN" altLang="en-US" sz="2000">
                <a:latin typeface="Consolas" panose="020B0609020204030204" charset="0"/>
                <a:sym typeface="+mn-ea"/>
              </a:rPr>
              <a:t>'</a:t>
            </a:r>
            <a:r>
              <a:rPr lang="zh-CN" altLang="en-US" sz="2000" dirty="0">
                <a:latin typeface="Consolas" panose="020B0609020204030204" charset="0"/>
              </a:rPr>
              <a:t>中国</a:t>
            </a:r>
            <a:r>
              <a:rPr lang="zh-CN" altLang="en-US" sz="2000">
                <a:latin typeface="Consolas" panose="020B0609020204030204" charset="0"/>
                <a:sym typeface="+mn-ea"/>
              </a:rPr>
              <a:t>'</a:t>
            </a:r>
            <a:r>
              <a:rPr lang="zh-CN" altLang="en-US" sz="2000" dirty="0">
                <a:latin typeface="Consolas" panose="020B0609020204030204" charset="0"/>
              </a:rPr>
              <a:t>, </a:t>
            </a:r>
            <a:r>
              <a:rPr lang="zh-CN" altLang="en-US" sz="2000">
                <a:latin typeface="Consolas" panose="020B0609020204030204" charset="0"/>
                <a:sym typeface="+mn-ea"/>
              </a:rPr>
              <a:t>'</a:t>
            </a:r>
            <a:r>
              <a:rPr lang="zh-CN" altLang="en-US" sz="2000" dirty="0">
                <a:latin typeface="Consolas" panose="020B0609020204030204" charset="0"/>
              </a:rPr>
              <a:t>中华人民共和国</a:t>
            </a:r>
            <a:r>
              <a:rPr lang="zh-CN" altLang="en-US" sz="2000">
                <a:latin typeface="Consolas" panose="020B0609020204030204" charset="0"/>
                <a:sym typeface="+mn-ea"/>
              </a:rPr>
              <a:t>'</a:t>
            </a:r>
            <a:r>
              <a:rPr lang="zh-CN" altLang="en-US" sz="2000" dirty="0">
                <a:latin typeface="Consolas" panose="020B0609020204030204" charset="0"/>
              </a:rPr>
              <a:t>)  </a:t>
            </a:r>
            <a:r>
              <a:rPr lang="en-US" altLang="zh-CN" sz="2000" dirty="0">
                <a:latin typeface="Consolas" panose="020B0609020204030204" charset="0"/>
              </a:rPr>
              <a:t># </a:t>
            </a:r>
            <a:r>
              <a:rPr lang="zh-CN" altLang="en-US" sz="2000" dirty="0">
                <a:latin typeface="Consolas" panose="020B0609020204030204" charset="0"/>
              </a:rPr>
              <a:t>两个参数都作为一个</a:t>
            </a:r>
            <a:r>
              <a:rPr lang="zh-CN" altLang="en-US" sz="2000" dirty="0">
                <a:latin typeface="Consolas" panose="020B0609020204030204" charset="0"/>
              </a:rPr>
              <a:t>整体</a:t>
            </a:r>
            <a:endParaRPr lang="zh-CN" altLang="en-US" sz="2000" dirty="0">
              <a:latin typeface="Consolas" panose="020B0609020204030204" charset="0"/>
            </a:endParaRPr>
          </a:p>
          <a:p>
            <a:pPr defTabSz="914400">
              <a:buSzPct val="70000"/>
              <a:buFont typeface="Wingdings" panose="05000000000000000000" pitchFamily="2" charset="2"/>
              <a:buNone/>
            </a:pPr>
            <a:r>
              <a:rPr lang="zh-CN" altLang="en-US" sz="2000" dirty="0">
                <a:latin typeface="Consolas" panose="020B0609020204030204" charset="0"/>
              </a:rPr>
              <a:t>&gt;&gt;&gt; </a:t>
            </a:r>
            <a:r>
              <a:rPr lang="en-US" altLang="zh-CN" sz="2000" dirty="0">
                <a:latin typeface="Consolas" panose="020B0609020204030204" charset="0"/>
              </a:rPr>
              <a:t>print(</a:t>
            </a:r>
            <a:r>
              <a:rPr lang="zh-CN" altLang="en-US" sz="2000" dirty="0">
                <a:latin typeface="Consolas" panose="020B0609020204030204" charset="0"/>
              </a:rPr>
              <a:t>s2</a:t>
            </a:r>
            <a:r>
              <a:rPr lang="en-US" altLang="zh-CN" sz="2000" dirty="0">
                <a:latin typeface="Consolas" panose="020B0609020204030204" charset="0"/>
              </a:rPr>
              <a:t>)</a:t>
            </a:r>
            <a:endParaRPr lang="en-US" altLang="zh-CN" sz="2000" dirty="0">
              <a:latin typeface="Consolas" panose="020B0609020204030204" charset="0"/>
            </a:endParaRPr>
          </a:p>
          <a:p>
            <a:pPr defTabSz="914400">
              <a:buSzPct val="70000"/>
              <a:buFont typeface="Wingdings" panose="05000000000000000000" pitchFamily="2" charset="2"/>
              <a:buNone/>
            </a:pPr>
            <a:r>
              <a:rPr lang="zh-CN" altLang="en-US" sz="2000" dirty="0">
                <a:solidFill>
                  <a:srgbClr val="00B0F0"/>
                </a:solidFill>
                <a:latin typeface="Consolas" panose="020B0609020204030204" charset="0"/>
              </a:rPr>
              <a:t>中华人民共和国，中华人民共和国</a:t>
            </a:r>
            <a:endParaRPr lang="zh-CN" altLang="en-US" sz="2000" dirty="0">
              <a:solidFill>
                <a:srgbClr val="00B0F0"/>
              </a:solidFill>
              <a:latin typeface="Consolas" panose="020B060902020403020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7.4.5  replace()、maketrans()、translate()</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40962" name="文本占位符 39938"/>
          <p:cNvSpPr>
            <a:spLocks noGrp="1"/>
          </p:cNvSpPr>
          <p:nvPr>
            <p:ph idx="1"/>
          </p:nvPr>
        </p:nvSpPr>
        <p:spPr>
          <a:xfrm>
            <a:off x="789940" y="1165860"/>
            <a:ext cx="10116820" cy="4719955"/>
          </a:xfrm>
        </p:spPr>
        <p:txBody>
          <a:bodyPr anchor="t">
            <a:normAutofit lnSpcReduction="10000"/>
          </a:bodyPr>
          <a:p>
            <a:pPr defTabSz="914400" fontAlgn="base">
              <a:lnSpc>
                <a:spcPct val="150000"/>
              </a:lnSpc>
              <a:spcBef>
                <a:spcPts val="0"/>
              </a:spcBef>
              <a:buSzPct val="70000"/>
              <a:buFont typeface="Wingdings" panose="05000000000000000000" charset="0"/>
              <a:buChar char=""/>
            </a:pPr>
            <a:r>
              <a:rPr sz="2400" strike="noStrike" kern="1200" baseline="0" noProof="1" dirty="0">
                <a:latin typeface="宋体" panose="02010600030101010101" pitchFamily="2" charset="-122"/>
                <a:ea typeface="+mn-ea"/>
                <a:cs typeface="+mn-cs"/>
              </a:rPr>
              <a:t>字符串对象的</a:t>
            </a:r>
            <a:r>
              <a:rPr sz="2400" strike="noStrike" kern="1200" baseline="0" noProof="1" dirty="0">
                <a:solidFill>
                  <a:srgbClr val="FF0000"/>
                </a:solidFill>
                <a:latin typeface="宋体" panose="02010600030101010101" pitchFamily="2" charset="-122"/>
                <a:ea typeface="+mn-ea"/>
                <a:cs typeface="+mn-cs"/>
              </a:rPr>
              <a:t>maketrans()</a:t>
            </a:r>
            <a:r>
              <a:rPr sz="2400" strike="noStrike" kern="1200" baseline="0" noProof="1" dirty="0">
                <a:latin typeface="宋体" panose="02010600030101010101" pitchFamily="2" charset="-122"/>
                <a:ea typeface="+mn-ea"/>
                <a:cs typeface="+mn-cs"/>
              </a:rPr>
              <a:t>方法用来生成字符映射表，</a:t>
            </a:r>
            <a:r>
              <a:rPr sz="2400" strike="noStrike" kern="1200" baseline="0" noProof="1" dirty="0">
                <a:solidFill>
                  <a:srgbClr val="FF0000"/>
                </a:solidFill>
                <a:latin typeface="宋体" panose="02010600030101010101" pitchFamily="2" charset="-122"/>
                <a:ea typeface="+mn-ea"/>
                <a:cs typeface="+mn-cs"/>
              </a:rPr>
              <a:t>translate()</a:t>
            </a:r>
            <a:r>
              <a:rPr sz="2400" strike="noStrike" kern="1200" baseline="0" noProof="1" dirty="0">
                <a:latin typeface="宋体" panose="02010600030101010101" pitchFamily="2" charset="-122"/>
                <a:ea typeface="+mn-ea"/>
                <a:cs typeface="+mn-cs"/>
              </a:rPr>
              <a:t>方法用来根据映射表中定义的对应关系转换字符串并替换其中的字符，使用这两个方法的组合</a:t>
            </a:r>
            <a:r>
              <a:rPr sz="2400" strike="noStrike" kern="1200" baseline="0" noProof="1" dirty="0">
                <a:solidFill>
                  <a:srgbClr val="FF0000"/>
                </a:solidFill>
                <a:latin typeface="宋体" panose="02010600030101010101" pitchFamily="2" charset="-122"/>
                <a:ea typeface="+mn-ea"/>
                <a:cs typeface="+mn-cs"/>
              </a:rPr>
              <a:t>可以同时处理多个字符</a:t>
            </a:r>
            <a:r>
              <a:rPr sz="2400" strike="noStrike" kern="1200" baseline="0" noProof="1" dirty="0">
                <a:latin typeface="宋体" panose="02010600030101010101" pitchFamily="2" charset="-122"/>
                <a:ea typeface="+mn-ea"/>
                <a:cs typeface="+mn-cs"/>
              </a:rPr>
              <a:t>。</a:t>
            </a:r>
            <a:endParaRPr sz="2400" strike="noStrike" kern="1200" baseline="0" noProof="1" dirty="0">
              <a:latin typeface="宋体" panose="02010600030101010101" pitchFamily="2" charset="-122"/>
              <a:ea typeface="+mn-ea"/>
              <a:cs typeface="+mn-cs"/>
            </a:endParaRPr>
          </a:p>
          <a:p>
            <a:pPr marL="0" indent="0" defTabSz="914400" fontAlgn="base">
              <a:buSzPct val="70000"/>
              <a:buFont typeface="Wingdings" panose="05000000000000000000" pitchFamily="2" charset="2"/>
              <a:buNone/>
            </a:pPr>
            <a:r>
              <a:rPr sz="2000" strike="noStrike" kern="1200" baseline="0" noProof="1" dirty="0">
                <a:latin typeface="Consolas" panose="020B0609020204030204" charset="0"/>
                <a:ea typeface="+mn-ea"/>
                <a:cs typeface="+mn-cs"/>
              </a:rPr>
              <a:t>&gt;&gt;&gt; table = ''.maketrans('0123456789', '〇一二三四五六七八九')</a:t>
            </a:r>
            <a:endParaRPr sz="2000" strike="noStrike" kern="1200" baseline="0" noProof="1" dirty="0">
              <a:latin typeface="Consolas" panose="020B0609020204030204" charset="0"/>
              <a:ea typeface="+mn-ea"/>
              <a:cs typeface="+mn-cs"/>
            </a:endParaRPr>
          </a:p>
          <a:p>
            <a:pPr marL="0" indent="0" defTabSz="914400" fontAlgn="base">
              <a:buSzPct val="70000"/>
              <a:buFont typeface="Wingdings" panose="05000000000000000000" pitchFamily="2" charset="2"/>
              <a:buNone/>
            </a:pPr>
            <a:r>
              <a:rPr sz="2000" strike="noStrike" kern="1200" baseline="0" noProof="1" dirty="0">
                <a:latin typeface="Consolas" panose="020B0609020204030204" charset="0"/>
                <a:ea typeface="+mn-ea"/>
                <a:cs typeface="+mn-cs"/>
              </a:rPr>
              <a:t>&gt;&gt;&gt; '2021年10月30日'.translate(table)</a:t>
            </a:r>
            <a:endParaRPr sz="2000" strike="noStrike" kern="1200" baseline="0" noProof="1" dirty="0">
              <a:latin typeface="Consolas" panose="020B0609020204030204" charset="0"/>
              <a:ea typeface="+mn-ea"/>
              <a:cs typeface="+mn-cs"/>
            </a:endParaRPr>
          </a:p>
          <a:p>
            <a:pPr marL="0" indent="0" defTabSz="914400" fontAlgn="base">
              <a:buSzPct val="70000"/>
              <a:buFont typeface="Wingdings" panose="05000000000000000000" pitchFamily="2" charset="2"/>
              <a:buNone/>
            </a:pPr>
            <a:r>
              <a:rPr sz="2000" strike="noStrike" kern="1200" baseline="0" noProof="1" dirty="0">
                <a:solidFill>
                  <a:srgbClr val="00B0F0"/>
                </a:solidFill>
                <a:latin typeface="Consolas" panose="020B0609020204030204" charset="0"/>
                <a:ea typeface="+mn-ea"/>
                <a:cs typeface="+mn-cs"/>
              </a:rPr>
              <a:t>'二〇二一年一〇月三〇日'</a:t>
            </a:r>
            <a:endParaRPr sz="2000" strike="noStrike" kern="1200" baseline="0" noProof="1" dirty="0">
              <a:solidFill>
                <a:srgbClr val="00B0F0"/>
              </a:solidFill>
              <a:latin typeface="Consolas" panose="020B0609020204030204" charset="0"/>
              <a:ea typeface="+mn-ea"/>
              <a:cs typeface="+mn-c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7.4.5  replace()、maketrans()、translate()</a:t>
            </a:r>
            <a:endParaRPr lang="zh-CN" altLang="en-US"/>
          </a:p>
        </p:txBody>
      </p:sp>
      <p:sp>
        <p:nvSpPr>
          <p:cNvPr id="3" name="内容占位符 2"/>
          <p:cNvSpPr>
            <a:spLocks noGrp="1"/>
          </p:cNvSpPr>
          <p:nvPr>
            <p:ph idx="1"/>
          </p:nvPr>
        </p:nvSpPr>
        <p:spPr/>
        <p:txBody>
          <a:bodyPr>
            <a:normAutofit/>
          </a:bodyPr>
          <a:p>
            <a:pPr marL="326390" indent="-326390" defTabSz="914400" fontAlgn="base">
              <a:lnSpc>
                <a:spcPct val="100000"/>
              </a:lnSpc>
              <a:spcBef>
                <a:spcPts val="0"/>
              </a:spcBef>
              <a:buSzPct val="70000"/>
              <a:buFont typeface="Wingdings" panose="05000000000000000000" charset="0"/>
              <a:buChar char="n"/>
            </a:pPr>
            <a:r>
              <a:rPr lang="zh-CN" altLang="en-US" sz="2400" b="1">
                <a:sym typeface="+mn-ea"/>
              </a:rPr>
              <a:t>应用：</a:t>
            </a:r>
            <a:r>
              <a:rPr lang="zh-CN" altLang="en-US" sz="2400">
                <a:sym typeface="+mn-ea"/>
              </a:rPr>
              <a:t>凯撒加密，每个字母替换为后面第</a:t>
            </a:r>
            <a:r>
              <a:rPr lang="en-US" altLang="zh-CN" sz="2400">
                <a:sym typeface="+mn-ea"/>
              </a:rPr>
              <a:t>k</a:t>
            </a:r>
            <a:r>
              <a:rPr lang="zh-CN" altLang="en-US" sz="2400">
                <a:sym typeface="+mn-ea"/>
              </a:rPr>
              <a:t>个。</a:t>
            </a:r>
            <a:endParaRPr lang="zh-CN" altLang="en-US" sz="2400" strike="noStrike" kern="1200" baseline="0" noProof="1">
              <a:latin typeface="+mn-lt"/>
              <a:ea typeface="+mn-ea"/>
              <a:cs typeface="+mn-cs"/>
            </a:endParaRPr>
          </a:p>
          <a:p>
            <a:pPr marL="0" indent="0" defTabSz="914400" fontAlgn="base">
              <a:lnSpc>
                <a:spcPct val="100000"/>
              </a:lnSpc>
              <a:spcBef>
                <a:spcPts val="0"/>
              </a:spcBef>
              <a:buSzPct val="70000"/>
              <a:buFont typeface="Wingdings" panose="05000000000000000000" pitchFamily="2" charset="2"/>
              <a:buNone/>
            </a:pPr>
            <a:r>
              <a:rPr lang="zh-CN" altLang="en-US" sz="2000">
                <a:latin typeface="Consolas" panose="020B0609020204030204" charset="0"/>
                <a:sym typeface="+mn-ea"/>
              </a:rPr>
              <a:t>&gt;&gt;&gt; import string</a:t>
            </a:r>
            <a:endParaRPr lang="zh-CN" altLang="en-US" sz="2000" strike="noStrike" kern="1200" baseline="0" noProof="1">
              <a:latin typeface="Consolas" panose="020B0609020204030204" charset="0"/>
              <a:ea typeface="+mn-ea"/>
              <a:cs typeface="+mn-cs"/>
            </a:endParaRPr>
          </a:p>
          <a:p>
            <a:pPr marL="0" indent="0" defTabSz="914400" fontAlgn="base">
              <a:lnSpc>
                <a:spcPct val="100000"/>
              </a:lnSpc>
              <a:spcBef>
                <a:spcPts val="0"/>
              </a:spcBef>
              <a:buSzPct val="70000"/>
              <a:buFont typeface="Wingdings" panose="05000000000000000000" pitchFamily="2" charset="2"/>
              <a:buNone/>
            </a:pPr>
            <a:r>
              <a:rPr lang="zh-CN" altLang="en-US" sz="2000">
                <a:latin typeface="Consolas" panose="020B0609020204030204" charset="0"/>
                <a:sym typeface="+mn-ea"/>
              </a:rPr>
              <a:t>&gt;&gt;&gt; def kaisa(s, k):</a:t>
            </a:r>
            <a:endParaRPr lang="zh-CN" altLang="en-US" sz="2000" strike="noStrike" kern="1200" baseline="0" noProof="1">
              <a:latin typeface="Consolas" panose="020B0609020204030204" charset="0"/>
              <a:ea typeface="+mn-ea"/>
              <a:cs typeface="+mn-cs"/>
            </a:endParaRPr>
          </a:p>
          <a:p>
            <a:pPr marL="0" indent="0" defTabSz="914400" fontAlgn="base">
              <a:lnSpc>
                <a:spcPct val="100000"/>
              </a:lnSpc>
              <a:spcBef>
                <a:spcPts val="0"/>
              </a:spcBef>
              <a:buSzPct val="70000"/>
              <a:buFont typeface="Wingdings" panose="05000000000000000000" pitchFamily="2" charset="2"/>
              <a:buNone/>
            </a:pPr>
            <a:r>
              <a:rPr lang="zh-CN" altLang="en-US" sz="2000">
                <a:latin typeface="Consolas" panose="020B0609020204030204" charset="0"/>
                <a:sym typeface="+mn-ea"/>
              </a:rPr>
              <a:t>    lower = string.ascii_lowercase          # 小写字母</a:t>
            </a:r>
            <a:endParaRPr lang="zh-CN" altLang="en-US" sz="2000" strike="noStrike" kern="1200" baseline="0" noProof="1">
              <a:latin typeface="Consolas" panose="020B0609020204030204" charset="0"/>
              <a:ea typeface="+mn-ea"/>
              <a:cs typeface="+mn-cs"/>
            </a:endParaRPr>
          </a:p>
          <a:p>
            <a:pPr marL="0" indent="0" defTabSz="914400" fontAlgn="base">
              <a:lnSpc>
                <a:spcPct val="100000"/>
              </a:lnSpc>
              <a:spcBef>
                <a:spcPts val="0"/>
              </a:spcBef>
              <a:buSzPct val="70000"/>
              <a:buFont typeface="Wingdings" panose="05000000000000000000" pitchFamily="2" charset="2"/>
              <a:buNone/>
            </a:pPr>
            <a:r>
              <a:rPr lang="zh-CN" altLang="en-US" sz="2000">
                <a:latin typeface="Consolas" panose="020B0609020204030204" charset="0"/>
                <a:sym typeface="+mn-ea"/>
              </a:rPr>
              <a:t>    upper = string.ascii_uppercase          # 大写字母</a:t>
            </a:r>
            <a:endParaRPr lang="zh-CN" altLang="en-US" sz="2000" strike="noStrike" kern="1200" baseline="0" noProof="1">
              <a:latin typeface="Consolas" panose="020B0609020204030204" charset="0"/>
              <a:ea typeface="+mn-ea"/>
              <a:cs typeface="+mn-cs"/>
            </a:endParaRPr>
          </a:p>
          <a:p>
            <a:pPr marL="0" indent="0" defTabSz="914400" fontAlgn="base">
              <a:lnSpc>
                <a:spcPct val="100000"/>
              </a:lnSpc>
              <a:spcBef>
                <a:spcPts val="0"/>
              </a:spcBef>
              <a:buSzPct val="70000"/>
              <a:buFont typeface="Wingdings" panose="05000000000000000000" pitchFamily="2" charset="2"/>
              <a:buNone/>
            </a:pPr>
            <a:r>
              <a:rPr lang="zh-CN" altLang="en-US" sz="2000">
                <a:latin typeface="Consolas" panose="020B0609020204030204" charset="0"/>
                <a:sym typeface="+mn-ea"/>
              </a:rPr>
              <a:t>    before = string.ascii_letters</a:t>
            </a:r>
            <a:endParaRPr lang="zh-CN" altLang="en-US" sz="2000" strike="noStrike" kern="1200" baseline="0" noProof="1">
              <a:latin typeface="Consolas" panose="020B0609020204030204" charset="0"/>
              <a:ea typeface="+mn-ea"/>
              <a:cs typeface="+mn-cs"/>
            </a:endParaRPr>
          </a:p>
          <a:p>
            <a:pPr marL="0" indent="0" defTabSz="914400" fontAlgn="base">
              <a:lnSpc>
                <a:spcPct val="100000"/>
              </a:lnSpc>
              <a:spcBef>
                <a:spcPts val="0"/>
              </a:spcBef>
              <a:buSzPct val="70000"/>
              <a:buFont typeface="Wingdings" panose="05000000000000000000" pitchFamily="2" charset="2"/>
              <a:buNone/>
            </a:pPr>
            <a:r>
              <a:rPr lang="zh-CN" altLang="en-US" sz="2000">
                <a:latin typeface="Consolas" panose="020B0609020204030204" charset="0"/>
                <a:sym typeface="+mn-ea"/>
              </a:rPr>
              <a:t>    after = lower[k:] + lower[:k] + upper[k:] + upper[:k]</a:t>
            </a:r>
            <a:endParaRPr lang="zh-CN" altLang="en-US" sz="2000" strike="noStrike" kern="1200" baseline="0" noProof="1">
              <a:latin typeface="Consolas" panose="020B0609020204030204" charset="0"/>
              <a:ea typeface="+mn-ea"/>
              <a:cs typeface="+mn-cs"/>
            </a:endParaRPr>
          </a:p>
          <a:p>
            <a:pPr marL="0" indent="0" defTabSz="914400" fontAlgn="base">
              <a:lnSpc>
                <a:spcPct val="100000"/>
              </a:lnSpc>
              <a:spcBef>
                <a:spcPts val="0"/>
              </a:spcBef>
              <a:buSzPct val="70000"/>
              <a:buFont typeface="Wingdings" panose="05000000000000000000" pitchFamily="2" charset="2"/>
              <a:buNone/>
            </a:pPr>
            <a:r>
              <a:rPr lang="zh-CN" altLang="en-US" sz="2000">
                <a:latin typeface="Consolas" panose="020B0609020204030204" charset="0"/>
                <a:sym typeface="+mn-ea"/>
              </a:rPr>
              <a:t>    table = ''.maketrans(before, after)     # 创建映射表</a:t>
            </a:r>
            <a:endParaRPr lang="zh-CN" altLang="en-US" sz="2000" strike="noStrike" kern="1200" baseline="0" noProof="1">
              <a:latin typeface="Consolas" panose="020B0609020204030204" charset="0"/>
              <a:ea typeface="+mn-ea"/>
              <a:cs typeface="+mn-cs"/>
            </a:endParaRPr>
          </a:p>
          <a:p>
            <a:pPr marL="0" indent="0" defTabSz="914400" fontAlgn="base">
              <a:lnSpc>
                <a:spcPct val="100000"/>
              </a:lnSpc>
              <a:spcBef>
                <a:spcPts val="0"/>
              </a:spcBef>
              <a:buSzPct val="70000"/>
              <a:buFont typeface="Wingdings" panose="05000000000000000000" pitchFamily="2" charset="2"/>
              <a:buNone/>
            </a:pPr>
            <a:r>
              <a:rPr lang="zh-CN" altLang="en-US" sz="2000">
                <a:latin typeface="Consolas" panose="020B0609020204030204" charset="0"/>
                <a:sym typeface="+mn-ea"/>
              </a:rPr>
              <a:t>    return s.translate(table)</a:t>
            </a:r>
            <a:endParaRPr lang="zh-CN" altLang="en-US" sz="2000" strike="noStrike" kern="1200" baseline="0" noProof="1">
              <a:latin typeface="Consolas" panose="020B0609020204030204" charset="0"/>
              <a:ea typeface="+mn-ea"/>
              <a:cs typeface="+mn-cs"/>
            </a:endParaRPr>
          </a:p>
          <a:p>
            <a:pPr marL="0" indent="0" defTabSz="914400" fontAlgn="base">
              <a:lnSpc>
                <a:spcPct val="100000"/>
              </a:lnSpc>
              <a:spcBef>
                <a:spcPts val="0"/>
              </a:spcBef>
              <a:buSzPct val="70000"/>
              <a:buFont typeface="Wingdings" panose="05000000000000000000" pitchFamily="2" charset="2"/>
              <a:buNone/>
            </a:pPr>
            <a:endParaRPr lang="zh-CN" altLang="en-US" sz="2000" strike="noStrike" kern="1200" baseline="0" noProof="1">
              <a:latin typeface="Consolas" panose="020B0609020204030204" charset="0"/>
              <a:ea typeface="+mn-ea"/>
              <a:cs typeface="+mn-cs"/>
            </a:endParaRPr>
          </a:p>
          <a:p>
            <a:pPr marL="0" indent="0" defTabSz="914400" fontAlgn="base">
              <a:lnSpc>
                <a:spcPct val="100000"/>
              </a:lnSpc>
              <a:spcBef>
                <a:spcPts val="0"/>
              </a:spcBef>
              <a:buSzPct val="70000"/>
              <a:buFont typeface="Wingdings" panose="05000000000000000000" pitchFamily="2" charset="2"/>
              <a:buNone/>
            </a:pPr>
            <a:r>
              <a:rPr lang="zh-CN" altLang="en-US" sz="2000">
                <a:latin typeface="Consolas" panose="020B0609020204030204" charset="0"/>
                <a:sym typeface="+mn-ea"/>
              </a:rPr>
              <a:t>&gt;&gt;&gt; s = "Python is a great programming language. I like it!"</a:t>
            </a:r>
            <a:endParaRPr lang="zh-CN" altLang="en-US" sz="2000" strike="noStrike" kern="1200" baseline="0" noProof="1">
              <a:latin typeface="Consolas" panose="020B0609020204030204" charset="0"/>
              <a:ea typeface="+mn-ea"/>
              <a:cs typeface="+mn-cs"/>
            </a:endParaRPr>
          </a:p>
          <a:p>
            <a:pPr marL="0" indent="0" defTabSz="914400" fontAlgn="base">
              <a:lnSpc>
                <a:spcPct val="100000"/>
              </a:lnSpc>
              <a:spcBef>
                <a:spcPts val="0"/>
              </a:spcBef>
              <a:buSzPct val="70000"/>
              <a:buFont typeface="Wingdings" panose="05000000000000000000" pitchFamily="2" charset="2"/>
              <a:buNone/>
            </a:pPr>
            <a:r>
              <a:rPr lang="zh-CN" altLang="en-US" sz="2000">
                <a:latin typeface="Consolas" panose="020B0609020204030204" charset="0"/>
                <a:sym typeface="+mn-ea"/>
              </a:rPr>
              <a:t>&gt;&gt;&gt; kaisa(s, 3)</a:t>
            </a:r>
            <a:endParaRPr lang="zh-CN" altLang="en-US" sz="2000" strike="noStrike" kern="1200" baseline="0" noProof="1">
              <a:latin typeface="Consolas" panose="020B0609020204030204" charset="0"/>
              <a:ea typeface="+mn-ea"/>
              <a:cs typeface="+mn-cs"/>
            </a:endParaRPr>
          </a:p>
          <a:p>
            <a:pPr marL="0" indent="0" defTabSz="914400" fontAlgn="base">
              <a:lnSpc>
                <a:spcPct val="100000"/>
              </a:lnSpc>
              <a:spcBef>
                <a:spcPts val="0"/>
              </a:spcBef>
              <a:buSzPct val="70000"/>
              <a:buFont typeface="Wingdings" panose="05000000000000000000" pitchFamily="2" charset="2"/>
              <a:buNone/>
            </a:pPr>
            <a:r>
              <a:rPr lang="zh-CN" altLang="en-US" sz="2000">
                <a:solidFill>
                  <a:srgbClr val="00B0F0"/>
                </a:solidFill>
                <a:latin typeface="Consolas" panose="020B0609020204030204" charset="0"/>
                <a:sym typeface="+mn-ea"/>
              </a:rPr>
              <a:t>'Sbwkrq lv d juhdw surjudpplqj odqjxdjh. L olnh lw!'</a:t>
            </a:r>
            <a:endParaRPr lang="zh-CN" altLang="en-US" sz="2000">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7.4.6  strip()、rstrip()、lstrip()</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53250" name="文本占位符 40962"/>
          <p:cNvSpPr>
            <a:spLocks noGrp="1"/>
          </p:cNvSpPr>
          <p:nvPr>
            <p:ph idx="1"/>
          </p:nvPr>
        </p:nvSpPr>
        <p:spPr/>
        <p:txBody>
          <a:bodyPr anchor="t">
            <a:normAutofit lnSpcReduction="20000"/>
          </a:bodyPr>
          <a:p>
            <a:pPr defTabSz="914400" fontAlgn="auto">
              <a:lnSpc>
                <a:spcPct val="140000"/>
              </a:lnSpc>
              <a:spcBef>
                <a:spcPts val="0"/>
              </a:spcBef>
              <a:buSzPct val="70000"/>
              <a:buFont typeface="Wingdings" panose="05000000000000000000" charset="0"/>
              <a:buChar char=""/>
            </a:pPr>
            <a:r>
              <a:rPr lang="en-US" altLang="zh-CN" sz="2400">
                <a:latin typeface="宋体" panose="02010600030101010101" pitchFamily="2" charset="-122"/>
              </a:rPr>
              <a:t>strip(chars=None, /)</a:t>
            </a:r>
            <a:r>
              <a:rPr lang="zh-CN" altLang="en-US" sz="2400">
                <a:latin typeface="宋体" panose="02010600030101010101" pitchFamily="2" charset="-122"/>
              </a:rPr>
              <a:t>、</a:t>
            </a:r>
            <a:r>
              <a:rPr lang="en-US" altLang="zh-CN" sz="2400">
                <a:latin typeface="宋体" panose="02010600030101010101" pitchFamily="2" charset="-122"/>
              </a:rPr>
              <a:t>r</a:t>
            </a:r>
            <a:r>
              <a:rPr lang="zh-CN" altLang="en-US" sz="2400">
                <a:latin typeface="宋体" panose="02010600030101010101" pitchFamily="2" charset="-122"/>
              </a:rPr>
              <a:t>strip(chars=None, /)、</a:t>
            </a:r>
            <a:r>
              <a:rPr lang="en-US" altLang="zh-CN" sz="2400">
                <a:latin typeface="宋体" panose="02010600030101010101" pitchFamily="2" charset="-122"/>
              </a:rPr>
              <a:t>l</a:t>
            </a:r>
            <a:r>
              <a:rPr lang="zh-CN" altLang="en-US" sz="2400">
                <a:latin typeface="宋体" panose="02010600030101010101" pitchFamily="2" charset="-122"/>
              </a:rPr>
              <a:t>strip(chars=None, /)用于删除字符串两侧、右侧、左侧的空白字符或指定的字符，返回处理后的新</a:t>
            </a:r>
            <a:r>
              <a:rPr lang="zh-CN" altLang="en-US" sz="2400">
                <a:latin typeface="宋体" panose="02010600030101010101" pitchFamily="2" charset="-122"/>
              </a:rPr>
              <a:t>字符串。</a:t>
            </a:r>
            <a:endParaRPr lang="zh-CN" altLang="en-US" sz="2400">
              <a:latin typeface="宋体" panose="02010600030101010101" pitchFamily="2" charset="-122"/>
            </a:endParaRPr>
          </a:p>
          <a:p>
            <a:pPr defTabSz="914400" fontAlgn="auto">
              <a:lnSpc>
                <a:spcPct val="100000"/>
              </a:lnSpc>
              <a:spcBef>
                <a:spcPts val="0"/>
              </a:spcBef>
              <a:buSzPct val="70000"/>
              <a:buFont typeface="Wingdings" panose="05000000000000000000" pitchFamily="2" charset="2"/>
              <a:buNone/>
            </a:pPr>
            <a:r>
              <a:rPr lang="en-US" altLang="zh-CN" sz="2000">
                <a:latin typeface="Consolas" panose="020B0609020204030204" charset="0"/>
              </a:rPr>
              <a:t>&gt;&gt;&gt; s = </a:t>
            </a:r>
            <a:r>
              <a:rPr lang="en-US" altLang="zh-CN" sz="2000">
                <a:latin typeface="Consolas" panose="020B0609020204030204" charset="0"/>
                <a:sym typeface="+mn-ea"/>
              </a:rPr>
              <a:t>'</a:t>
            </a:r>
            <a:r>
              <a:rPr lang="en-US" altLang="zh-CN" sz="2000">
                <a:latin typeface="Consolas" panose="020B0609020204030204" charset="0"/>
              </a:rPr>
              <a:t> abc  </a:t>
            </a:r>
            <a:r>
              <a:rPr lang="en-US" altLang="zh-CN" sz="2000">
                <a:latin typeface="Consolas" panose="020B0609020204030204" charset="0"/>
                <a:sym typeface="+mn-ea"/>
              </a:rPr>
              <a:t>'</a:t>
            </a:r>
            <a:endParaRPr lang="en-US" altLang="zh-CN" sz="2000">
              <a:latin typeface="Consolas" panose="020B0609020204030204" charset="0"/>
            </a:endParaRPr>
          </a:p>
          <a:p>
            <a:pPr defTabSz="914400" fontAlgn="auto">
              <a:lnSpc>
                <a:spcPct val="100000"/>
              </a:lnSpc>
              <a:spcBef>
                <a:spcPts val="0"/>
              </a:spcBef>
              <a:buSzPct val="70000"/>
              <a:buFont typeface="Wingdings" panose="05000000000000000000" pitchFamily="2" charset="2"/>
              <a:buNone/>
            </a:pPr>
            <a:r>
              <a:rPr lang="en-US" altLang="zh-CN" sz="2000">
                <a:latin typeface="Consolas" panose="020B0609020204030204" charset="0"/>
              </a:rPr>
              <a:t>&gt;&gt;&gt; s.strip()                             # 删除空白字符</a:t>
            </a:r>
            <a:endParaRPr lang="en-US" altLang="zh-CN" sz="2000">
              <a:latin typeface="Consolas" panose="020B0609020204030204" charset="0"/>
            </a:endParaRPr>
          </a:p>
          <a:p>
            <a:pPr defTabSz="914400" fontAlgn="auto">
              <a:lnSpc>
                <a:spcPct val="100000"/>
              </a:lnSpc>
              <a:spcBef>
                <a:spcPts val="0"/>
              </a:spcBef>
              <a:buSzPct val="70000"/>
              <a:buFont typeface="Wingdings" panose="05000000000000000000" pitchFamily="2" charset="2"/>
              <a:buNone/>
            </a:pPr>
            <a:r>
              <a:rPr lang="en-US" altLang="zh-CN" sz="2000">
                <a:solidFill>
                  <a:srgbClr val="00B0F0"/>
                </a:solidFill>
                <a:latin typeface="Consolas" panose="020B0609020204030204" charset="0"/>
                <a:sym typeface="宋体" panose="02010600030101010101" pitchFamily="2" charset="-122"/>
              </a:rPr>
              <a:t>'</a:t>
            </a:r>
            <a:r>
              <a:rPr lang="en-US" altLang="zh-CN" sz="2000">
                <a:solidFill>
                  <a:srgbClr val="00B0F0"/>
                </a:solidFill>
                <a:latin typeface="Consolas" panose="020B0609020204030204" charset="0"/>
              </a:rPr>
              <a:t>abc</a:t>
            </a:r>
            <a:r>
              <a:rPr lang="en-US" altLang="zh-CN" sz="2000">
                <a:solidFill>
                  <a:srgbClr val="00B0F0"/>
                </a:solidFill>
                <a:latin typeface="Consolas" panose="020B0609020204030204" charset="0"/>
                <a:sym typeface="宋体" panose="02010600030101010101" pitchFamily="2" charset="-122"/>
              </a:rPr>
              <a:t>'</a:t>
            </a:r>
            <a:endParaRPr lang="en-US" altLang="zh-CN" sz="2000">
              <a:solidFill>
                <a:srgbClr val="00B0F0"/>
              </a:solidFill>
              <a:latin typeface="Consolas" panose="020B0609020204030204" charset="0"/>
            </a:endParaRPr>
          </a:p>
          <a:p>
            <a:pPr defTabSz="914400" fontAlgn="auto">
              <a:lnSpc>
                <a:spcPct val="100000"/>
              </a:lnSpc>
              <a:spcBef>
                <a:spcPts val="0"/>
              </a:spcBef>
              <a:buSzPct val="70000"/>
              <a:buFont typeface="Wingdings" panose="05000000000000000000" pitchFamily="2" charset="2"/>
              <a:buNone/>
            </a:pPr>
            <a:r>
              <a:rPr lang="en-US" altLang="zh-CN" sz="2000">
                <a:latin typeface="Consolas" panose="020B0609020204030204" charset="0"/>
              </a:rPr>
              <a:t>&gt;&gt;&gt; '\n\nhello world   \n\n'.strip()      # 删除空白字符</a:t>
            </a:r>
            <a:endParaRPr lang="en-US" altLang="zh-CN" sz="2000">
              <a:latin typeface="Consolas" panose="020B0609020204030204" charset="0"/>
            </a:endParaRPr>
          </a:p>
          <a:p>
            <a:pPr defTabSz="914400" fontAlgn="auto">
              <a:lnSpc>
                <a:spcPct val="100000"/>
              </a:lnSpc>
              <a:spcBef>
                <a:spcPts val="0"/>
              </a:spcBef>
              <a:buSzPct val="70000"/>
              <a:buFont typeface="Wingdings" panose="05000000000000000000" pitchFamily="2" charset="2"/>
              <a:buNone/>
            </a:pPr>
            <a:r>
              <a:rPr lang="en-US" altLang="zh-CN" sz="2000">
                <a:solidFill>
                  <a:srgbClr val="00B0F0"/>
                </a:solidFill>
                <a:latin typeface="Consolas" panose="020B0609020204030204" charset="0"/>
              </a:rPr>
              <a:t>'hello world'</a:t>
            </a:r>
            <a:endParaRPr lang="en-US" altLang="zh-CN" sz="2000">
              <a:solidFill>
                <a:srgbClr val="00B0F0"/>
              </a:solidFill>
              <a:latin typeface="Consolas" panose="020B0609020204030204" charset="0"/>
            </a:endParaRPr>
          </a:p>
          <a:p>
            <a:pPr defTabSz="914400" fontAlgn="auto">
              <a:lnSpc>
                <a:spcPct val="100000"/>
              </a:lnSpc>
              <a:spcBef>
                <a:spcPts val="0"/>
              </a:spcBef>
              <a:buSzPct val="70000"/>
              <a:buFont typeface="Wingdings" panose="05000000000000000000" pitchFamily="2" charset="2"/>
              <a:buNone/>
            </a:pPr>
            <a:r>
              <a:rPr lang="en-US" altLang="zh-CN" sz="2000">
                <a:latin typeface="Consolas" panose="020B0609020204030204" charset="0"/>
              </a:rPr>
              <a:t>&gt;&gt;&gt; </a:t>
            </a:r>
            <a:r>
              <a:rPr lang="en-US" altLang="zh-CN" sz="2000">
                <a:latin typeface="Consolas" panose="020B0609020204030204" charset="0"/>
                <a:sym typeface="+mn-ea"/>
              </a:rPr>
              <a:t>'</a:t>
            </a:r>
            <a:r>
              <a:rPr lang="en-US" altLang="zh-CN" sz="2000">
                <a:latin typeface="Consolas" panose="020B0609020204030204" charset="0"/>
              </a:rPr>
              <a:t>aaaassddf</a:t>
            </a:r>
            <a:r>
              <a:rPr lang="en-US" altLang="zh-CN" sz="2000">
                <a:latin typeface="Consolas" panose="020B0609020204030204" charset="0"/>
                <a:sym typeface="+mn-ea"/>
              </a:rPr>
              <a:t>'</a:t>
            </a:r>
            <a:r>
              <a:rPr lang="en-US" altLang="zh-CN" sz="2000">
                <a:latin typeface="Consolas" panose="020B0609020204030204" charset="0"/>
              </a:rPr>
              <a:t>.strip(</a:t>
            </a:r>
            <a:r>
              <a:rPr lang="en-US" altLang="zh-CN" sz="2000">
                <a:latin typeface="Consolas" panose="020B0609020204030204" charset="0"/>
                <a:sym typeface="+mn-ea"/>
              </a:rPr>
              <a:t>'</a:t>
            </a:r>
            <a:r>
              <a:rPr lang="en-US" altLang="zh-CN" sz="2000">
                <a:latin typeface="Consolas" panose="020B0609020204030204" charset="0"/>
              </a:rPr>
              <a:t>a</a:t>
            </a:r>
            <a:r>
              <a:rPr lang="en-US" altLang="zh-CN" sz="2000">
                <a:latin typeface="Consolas" panose="020B0609020204030204" charset="0"/>
                <a:sym typeface="+mn-ea"/>
              </a:rPr>
              <a:t>'</a:t>
            </a:r>
            <a:r>
              <a:rPr lang="en-US" altLang="zh-CN" sz="2000">
                <a:latin typeface="Consolas" panose="020B0609020204030204" charset="0"/>
              </a:rPr>
              <a:t>)                # 删除指定</a:t>
            </a:r>
            <a:r>
              <a:rPr lang="zh-CN" altLang="en-US" sz="2000">
                <a:latin typeface="Consolas" panose="020B0609020204030204" charset="0"/>
              </a:rPr>
              <a:t>的</a:t>
            </a:r>
            <a:r>
              <a:rPr lang="en-US" altLang="zh-CN" sz="2000">
                <a:latin typeface="Consolas" panose="020B0609020204030204" charset="0"/>
              </a:rPr>
              <a:t>字符</a:t>
            </a:r>
            <a:endParaRPr lang="en-US" altLang="zh-CN" sz="2000">
              <a:latin typeface="Consolas" panose="020B0609020204030204" charset="0"/>
            </a:endParaRPr>
          </a:p>
          <a:p>
            <a:pPr defTabSz="914400" fontAlgn="auto">
              <a:lnSpc>
                <a:spcPct val="100000"/>
              </a:lnSpc>
              <a:spcBef>
                <a:spcPts val="0"/>
              </a:spcBef>
              <a:buSzPct val="70000"/>
              <a:buFont typeface="Wingdings" panose="05000000000000000000" pitchFamily="2" charset="2"/>
              <a:buNone/>
            </a:pPr>
            <a:r>
              <a:rPr lang="en-US" altLang="zh-CN" sz="2000">
                <a:solidFill>
                  <a:srgbClr val="00B0F0"/>
                </a:solidFill>
                <a:latin typeface="Consolas" panose="020B0609020204030204" charset="0"/>
                <a:sym typeface="宋体" panose="02010600030101010101" pitchFamily="2" charset="-122"/>
              </a:rPr>
              <a:t>'</a:t>
            </a:r>
            <a:r>
              <a:rPr lang="en-US" altLang="zh-CN" sz="2000">
                <a:solidFill>
                  <a:srgbClr val="00B0F0"/>
                </a:solidFill>
                <a:latin typeface="Consolas" panose="020B0609020204030204" charset="0"/>
              </a:rPr>
              <a:t>ssddf</a:t>
            </a:r>
            <a:r>
              <a:rPr lang="en-US" altLang="zh-CN" sz="2000">
                <a:solidFill>
                  <a:srgbClr val="00B0F0"/>
                </a:solidFill>
                <a:latin typeface="Consolas" panose="020B0609020204030204" charset="0"/>
                <a:sym typeface="宋体" panose="02010600030101010101" pitchFamily="2" charset="-122"/>
              </a:rPr>
              <a:t>'</a:t>
            </a:r>
            <a:endParaRPr lang="en-US" altLang="zh-CN" sz="2000">
              <a:solidFill>
                <a:srgbClr val="00B0F0"/>
              </a:solidFill>
              <a:latin typeface="Consolas" panose="020B0609020204030204" charset="0"/>
            </a:endParaRPr>
          </a:p>
          <a:p>
            <a:pPr defTabSz="914400" fontAlgn="auto">
              <a:lnSpc>
                <a:spcPct val="100000"/>
              </a:lnSpc>
              <a:spcBef>
                <a:spcPts val="0"/>
              </a:spcBef>
              <a:buSzPct val="70000"/>
              <a:buFont typeface="Wingdings" panose="05000000000000000000" pitchFamily="2" charset="2"/>
              <a:buNone/>
            </a:pPr>
            <a:r>
              <a:rPr lang="en-US" altLang="zh-CN" sz="2000">
                <a:latin typeface="Consolas" panose="020B0609020204030204" charset="0"/>
              </a:rPr>
              <a:t>&gt;&gt;&gt; </a:t>
            </a:r>
            <a:r>
              <a:rPr lang="en-US" altLang="zh-CN" sz="2000">
                <a:latin typeface="Consolas" panose="020B0609020204030204" charset="0"/>
                <a:sym typeface="+mn-ea"/>
              </a:rPr>
              <a:t>'</a:t>
            </a:r>
            <a:r>
              <a:rPr lang="en-US" altLang="zh-CN" sz="2000">
                <a:latin typeface="Consolas" panose="020B0609020204030204" charset="0"/>
              </a:rPr>
              <a:t>aaaassddf</a:t>
            </a:r>
            <a:r>
              <a:rPr lang="en-US" altLang="zh-CN" sz="2000">
                <a:latin typeface="Consolas" panose="020B0609020204030204" charset="0"/>
                <a:sym typeface="+mn-ea"/>
              </a:rPr>
              <a:t>'</a:t>
            </a:r>
            <a:r>
              <a:rPr lang="en-US" altLang="zh-CN" sz="2000">
                <a:latin typeface="Consolas" panose="020B0609020204030204" charset="0"/>
              </a:rPr>
              <a:t>.strip(</a:t>
            </a:r>
            <a:r>
              <a:rPr lang="en-US" altLang="zh-CN" sz="2000">
                <a:latin typeface="Consolas" panose="020B0609020204030204" charset="0"/>
                <a:sym typeface="+mn-ea"/>
              </a:rPr>
              <a:t>'</a:t>
            </a:r>
            <a:r>
              <a:rPr lang="en-US" altLang="zh-CN" sz="2000">
                <a:latin typeface="Consolas" panose="020B0609020204030204" charset="0"/>
              </a:rPr>
              <a:t>af</a:t>
            </a:r>
            <a:r>
              <a:rPr lang="en-US" altLang="zh-CN" sz="2000">
                <a:latin typeface="Consolas" panose="020B0609020204030204" charset="0"/>
                <a:sym typeface="+mn-ea"/>
              </a:rPr>
              <a:t>'</a:t>
            </a:r>
            <a:r>
              <a:rPr lang="en-US" altLang="zh-CN" sz="2000">
                <a:latin typeface="Consolas" panose="020B0609020204030204" charset="0"/>
              </a:rPr>
              <a:t>)               # </a:t>
            </a:r>
            <a:r>
              <a:rPr lang="zh-CN" altLang="en-US" sz="2000">
                <a:latin typeface="Consolas" panose="020B0609020204030204" charset="0"/>
              </a:rPr>
              <a:t>删除两侧的字符</a:t>
            </a:r>
            <a:r>
              <a:rPr lang="en-US" altLang="zh-CN" sz="2000">
                <a:latin typeface="Consolas" panose="020B0609020204030204" charset="0"/>
              </a:rPr>
              <a:t>a</a:t>
            </a:r>
            <a:r>
              <a:rPr lang="zh-CN" altLang="en-US" sz="2000">
                <a:latin typeface="Consolas" panose="020B0609020204030204" charset="0"/>
              </a:rPr>
              <a:t>和</a:t>
            </a:r>
            <a:r>
              <a:rPr lang="en-US" altLang="zh-CN" sz="2000">
                <a:latin typeface="Consolas" panose="020B0609020204030204" charset="0"/>
              </a:rPr>
              <a:t>f</a:t>
            </a:r>
            <a:endParaRPr lang="en-US" altLang="zh-CN" sz="2000">
              <a:latin typeface="Consolas" panose="020B0609020204030204" charset="0"/>
            </a:endParaRPr>
          </a:p>
          <a:p>
            <a:pPr defTabSz="914400" fontAlgn="auto">
              <a:lnSpc>
                <a:spcPct val="100000"/>
              </a:lnSpc>
              <a:spcBef>
                <a:spcPts val="0"/>
              </a:spcBef>
              <a:buSzPct val="70000"/>
              <a:buFont typeface="Wingdings" panose="05000000000000000000" pitchFamily="2" charset="2"/>
              <a:buNone/>
            </a:pPr>
            <a:r>
              <a:rPr lang="en-US" altLang="zh-CN" sz="2000">
                <a:solidFill>
                  <a:srgbClr val="00B0F0"/>
                </a:solidFill>
                <a:latin typeface="Consolas" panose="020B0609020204030204" charset="0"/>
                <a:sym typeface="宋体" panose="02010600030101010101" pitchFamily="2" charset="-122"/>
              </a:rPr>
              <a:t>'</a:t>
            </a:r>
            <a:r>
              <a:rPr lang="en-US" altLang="zh-CN" sz="2000">
                <a:solidFill>
                  <a:srgbClr val="00B0F0"/>
                </a:solidFill>
                <a:latin typeface="Consolas" panose="020B0609020204030204" charset="0"/>
              </a:rPr>
              <a:t>ssdd'</a:t>
            </a:r>
            <a:endParaRPr lang="en-US" altLang="zh-CN" sz="2000">
              <a:solidFill>
                <a:srgbClr val="00B0F0"/>
              </a:solidFill>
              <a:latin typeface="Consolas" panose="020B0609020204030204" charset="0"/>
            </a:endParaRPr>
          </a:p>
          <a:p>
            <a:pPr defTabSz="914400" fontAlgn="auto">
              <a:lnSpc>
                <a:spcPct val="100000"/>
              </a:lnSpc>
              <a:spcBef>
                <a:spcPts val="0"/>
              </a:spcBef>
              <a:buSzPct val="70000"/>
              <a:buFont typeface="Wingdings" panose="05000000000000000000" pitchFamily="2" charset="2"/>
              <a:buNone/>
            </a:pPr>
            <a:r>
              <a:rPr lang="en-US" altLang="zh-CN" sz="2000">
                <a:latin typeface="Consolas" panose="020B0609020204030204" charset="0"/>
              </a:rPr>
              <a:t>&gt;&gt;&gt; </a:t>
            </a:r>
            <a:r>
              <a:rPr lang="en-US" altLang="zh-CN" sz="2000">
                <a:latin typeface="Consolas" panose="020B0609020204030204" charset="0"/>
                <a:sym typeface="+mn-ea"/>
              </a:rPr>
              <a:t>'</a:t>
            </a:r>
            <a:r>
              <a:rPr lang="en-US" altLang="zh-CN" sz="2000">
                <a:latin typeface="Consolas" panose="020B0609020204030204" charset="0"/>
              </a:rPr>
              <a:t>aaaassddfaaa</a:t>
            </a:r>
            <a:r>
              <a:rPr lang="en-US" altLang="zh-CN" sz="2000">
                <a:latin typeface="Consolas" panose="020B0609020204030204" charset="0"/>
                <a:sym typeface="+mn-ea"/>
              </a:rPr>
              <a:t>'</a:t>
            </a:r>
            <a:r>
              <a:rPr lang="en-US" altLang="zh-CN" sz="2000">
                <a:latin typeface="Consolas" panose="020B0609020204030204" charset="0"/>
              </a:rPr>
              <a:t>.rstrip(</a:t>
            </a:r>
            <a:r>
              <a:rPr lang="en-US" altLang="zh-CN" sz="2000">
                <a:latin typeface="Consolas" panose="020B0609020204030204" charset="0"/>
                <a:sym typeface="+mn-ea"/>
              </a:rPr>
              <a:t>'</a:t>
            </a:r>
            <a:r>
              <a:rPr lang="en-US" altLang="zh-CN" sz="2000">
                <a:latin typeface="Consolas" panose="020B0609020204030204" charset="0"/>
              </a:rPr>
              <a:t>a</a:t>
            </a:r>
            <a:r>
              <a:rPr lang="en-US" altLang="zh-CN" sz="2000">
                <a:latin typeface="Consolas" panose="020B0609020204030204" charset="0"/>
                <a:sym typeface="+mn-ea"/>
              </a:rPr>
              <a:t>'</a:t>
            </a:r>
            <a:r>
              <a:rPr lang="en-US" altLang="zh-CN" sz="2000">
                <a:latin typeface="Consolas" panose="020B0609020204030204" charset="0"/>
              </a:rPr>
              <a:t>)            # 删除字符串右端指定</a:t>
            </a:r>
            <a:r>
              <a:rPr lang="zh-CN" altLang="en-US" sz="2000">
                <a:latin typeface="Consolas" panose="020B0609020204030204" charset="0"/>
              </a:rPr>
              <a:t>的</a:t>
            </a:r>
            <a:r>
              <a:rPr lang="en-US" altLang="zh-CN" sz="2000">
                <a:latin typeface="Consolas" panose="020B0609020204030204" charset="0"/>
              </a:rPr>
              <a:t>字符</a:t>
            </a:r>
            <a:endParaRPr lang="en-US" altLang="zh-CN" sz="2000">
              <a:latin typeface="Consolas" panose="020B0609020204030204" charset="0"/>
            </a:endParaRPr>
          </a:p>
          <a:p>
            <a:pPr defTabSz="914400" fontAlgn="auto">
              <a:lnSpc>
                <a:spcPct val="100000"/>
              </a:lnSpc>
              <a:spcBef>
                <a:spcPts val="0"/>
              </a:spcBef>
              <a:buSzPct val="70000"/>
              <a:buFont typeface="Wingdings" panose="05000000000000000000" pitchFamily="2" charset="2"/>
              <a:buNone/>
            </a:pPr>
            <a:r>
              <a:rPr lang="en-US" altLang="zh-CN" sz="2000">
                <a:solidFill>
                  <a:srgbClr val="00B0F0"/>
                </a:solidFill>
                <a:latin typeface="Consolas" panose="020B0609020204030204" charset="0"/>
              </a:rPr>
              <a:t>'aaaassddf'</a:t>
            </a:r>
            <a:endParaRPr lang="en-US" altLang="zh-CN" sz="2000">
              <a:solidFill>
                <a:srgbClr val="00B0F0"/>
              </a:solidFill>
              <a:latin typeface="Consolas" panose="020B0609020204030204" charset="0"/>
            </a:endParaRPr>
          </a:p>
          <a:p>
            <a:pPr defTabSz="914400" fontAlgn="auto">
              <a:lnSpc>
                <a:spcPct val="100000"/>
              </a:lnSpc>
              <a:spcBef>
                <a:spcPts val="0"/>
              </a:spcBef>
              <a:buSzPct val="70000"/>
              <a:buFont typeface="Wingdings" panose="05000000000000000000" pitchFamily="2" charset="2"/>
              <a:buNone/>
            </a:pPr>
            <a:r>
              <a:rPr lang="en-US" altLang="zh-CN" sz="2000">
                <a:latin typeface="Consolas" panose="020B0609020204030204" charset="0"/>
              </a:rPr>
              <a:t>&gt;&gt;&gt; </a:t>
            </a:r>
            <a:r>
              <a:rPr lang="en-US" altLang="zh-CN" sz="2000">
                <a:latin typeface="Consolas" panose="020B0609020204030204" charset="0"/>
                <a:sym typeface="+mn-ea"/>
              </a:rPr>
              <a:t>'</a:t>
            </a:r>
            <a:r>
              <a:rPr lang="en-US" altLang="zh-CN" sz="2000">
                <a:latin typeface="Consolas" panose="020B0609020204030204" charset="0"/>
              </a:rPr>
              <a:t>aaaassddfaaa</a:t>
            </a:r>
            <a:r>
              <a:rPr lang="en-US" altLang="zh-CN" sz="2000">
                <a:latin typeface="Consolas" panose="020B0609020204030204" charset="0"/>
                <a:sym typeface="+mn-ea"/>
              </a:rPr>
              <a:t>'</a:t>
            </a:r>
            <a:r>
              <a:rPr lang="en-US" altLang="zh-CN" sz="2000">
                <a:latin typeface="Consolas" panose="020B0609020204030204" charset="0"/>
              </a:rPr>
              <a:t>.lstrip(</a:t>
            </a:r>
            <a:r>
              <a:rPr lang="en-US" altLang="zh-CN" sz="2000">
                <a:latin typeface="Consolas" panose="020B0609020204030204" charset="0"/>
                <a:sym typeface="+mn-ea"/>
              </a:rPr>
              <a:t>'</a:t>
            </a:r>
            <a:r>
              <a:rPr lang="en-US" altLang="zh-CN" sz="2000">
                <a:latin typeface="Consolas" panose="020B0609020204030204" charset="0"/>
              </a:rPr>
              <a:t>a</a:t>
            </a:r>
            <a:r>
              <a:rPr lang="en-US" altLang="zh-CN" sz="2000">
                <a:latin typeface="Consolas" panose="020B0609020204030204" charset="0"/>
                <a:sym typeface="+mn-ea"/>
              </a:rPr>
              <a:t>'</a:t>
            </a:r>
            <a:r>
              <a:rPr lang="en-US" altLang="zh-CN" sz="2000">
                <a:latin typeface="Consolas" panose="020B0609020204030204" charset="0"/>
              </a:rPr>
              <a:t>)            # 删除字符串左端指定</a:t>
            </a:r>
            <a:r>
              <a:rPr lang="zh-CN" altLang="en-US" sz="2000">
                <a:latin typeface="Consolas" panose="020B0609020204030204" charset="0"/>
              </a:rPr>
              <a:t>的</a:t>
            </a:r>
            <a:r>
              <a:rPr lang="en-US" altLang="zh-CN" sz="2000">
                <a:latin typeface="Consolas" panose="020B0609020204030204" charset="0"/>
              </a:rPr>
              <a:t>字符</a:t>
            </a:r>
            <a:endParaRPr lang="en-US" altLang="zh-CN" sz="2000">
              <a:latin typeface="Consolas" panose="020B0609020204030204" charset="0"/>
            </a:endParaRPr>
          </a:p>
          <a:p>
            <a:pPr defTabSz="914400" fontAlgn="auto">
              <a:lnSpc>
                <a:spcPct val="100000"/>
              </a:lnSpc>
              <a:spcBef>
                <a:spcPts val="0"/>
              </a:spcBef>
              <a:buSzPct val="70000"/>
              <a:buFont typeface="Wingdings" panose="05000000000000000000" pitchFamily="2" charset="2"/>
              <a:buNone/>
            </a:pPr>
            <a:r>
              <a:rPr lang="en-US" altLang="zh-CN" sz="2000">
                <a:solidFill>
                  <a:srgbClr val="00B0F0"/>
                </a:solidFill>
                <a:latin typeface="Consolas" panose="020B0609020204030204" charset="0"/>
              </a:rPr>
              <a:t>'ssddfaaa'</a:t>
            </a:r>
            <a:endParaRPr lang="en-US" altLang="zh-CN" sz="2000">
              <a:solidFill>
                <a:srgbClr val="00B0F0"/>
              </a:solidFill>
              <a:latin typeface="Consolas" panose="020B0609020204030204"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7.4.6  strip()、rstrip()、lstrip()</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5" name="内容占位符 4"/>
          <p:cNvSpPr>
            <a:spLocks noGrp="1"/>
          </p:cNvSpPr>
          <p:nvPr>
            <p:ph idx="1"/>
          </p:nvPr>
        </p:nvSpPr>
        <p:spPr>
          <a:xfrm>
            <a:off x="776605" y="1257300"/>
            <a:ext cx="10215245" cy="4847590"/>
          </a:xfrm>
        </p:spPr>
        <p:txBody>
          <a:bodyPr>
            <a:normAutofit lnSpcReduction="10000"/>
          </a:bodyPr>
          <a:p>
            <a:pPr marL="498475" indent="-471170" fontAlgn="base">
              <a:lnSpc>
                <a:spcPct val="140000"/>
              </a:lnSpc>
              <a:spcBef>
                <a:spcPts val="0"/>
              </a:spcBef>
              <a:buFont typeface="Wingdings" panose="05000000000000000000" charset="0"/>
              <a:buChar char=""/>
            </a:pPr>
            <a:r>
              <a:rPr lang="zh-CN" altLang="en-US" sz="2400" strike="noStrike" noProof="1"/>
              <a:t>这三个</a:t>
            </a:r>
            <a:r>
              <a:rPr lang="zh-CN" altLang="en-US" sz="2400" strike="noStrike" noProof="1"/>
              <a:t>方法的</a:t>
            </a:r>
            <a:r>
              <a:rPr lang="zh-CN" altLang="en-US" sz="2400" strike="noStrike" noProof="1">
                <a:solidFill>
                  <a:srgbClr val="FF0000"/>
                </a:solidFill>
              </a:rPr>
              <a:t>参数指定的字符串不作为一个整体对待</a:t>
            </a:r>
            <a:r>
              <a:rPr lang="zh-CN" altLang="en-US" sz="2400" strike="noStrike" noProof="1"/>
              <a:t>，而是在原字符串的两侧、右侧、左侧删除参数字符串中包含的所有字符，</a:t>
            </a:r>
            <a:r>
              <a:rPr lang="zh-CN" altLang="en-US" sz="2400" strike="noStrike" noProof="1">
                <a:solidFill>
                  <a:srgbClr val="FF0000"/>
                </a:solidFill>
              </a:rPr>
              <a:t>一层一层地从外往里扒</a:t>
            </a:r>
            <a:r>
              <a:rPr lang="zh-CN" altLang="en-US" sz="2400" strike="noStrike" noProof="1"/>
              <a:t>。</a:t>
            </a:r>
            <a:endParaRPr lang="zh-CN" altLang="en-US" sz="2400" strike="noStrike" noProof="1"/>
          </a:p>
          <a:p>
            <a:pPr marL="0" indent="0" fontAlgn="base">
              <a:lnSpc>
                <a:spcPct val="100000"/>
              </a:lnSpc>
              <a:spcBef>
                <a:spcPts val="0"/>
              </a:spcBef>
              <a:buNone/>
            </a:pPr>
            <a:r>
              <a:rPr lang="zh-CN" altLang="en-US" sz="2000" strike="noStrike" noProof="1">
                <a:latin typeface="Consolas" panose="020B0609020204030204" charset="0"/>
              </a:rPr>
              <a:t>&gt;&gt;&gt; 'aabbccddeeeffg'.strip('af')  # 字母f不在字符串两侧，所以不删除</a:t>
            </a:r>
            <a:endParaRPr lang="zh-CN" altLang="en-US" sz="2000" strike="noStrike" noProof="1">
              <a:latin typeface="Consolas" panose="020B0609020204030204" charset="0"/>
            </a:endParaRPr>
          </a:p>
          <a:p>
            <a:pPr marL="0" indent="0" fontAlgn="base">
              <a:lnSpc>
                <a:spcPct val="100000"/>
              </a:lnSpc>
              <a:spcBef>
                <a:spcPts val="0"/>
              </a:spcBef>
              <a:buNone/>
            </a:pPr>
            <a:r>
              <a:rPr lang="zh-CN" altLang="en-US" sz="2000" strike="noStrike" noProof="1">
                <a:solidFill>
                  <a:srgbClr val="00B0F0"/>
                </a:solidFill>
                <a:latin typeface="Consolas" panose="020B0609020204030204" charset="0"/>
              </a:rPr>
              <a:t>'bbccddeeeffg'</a:t>
            </a:r>
            <a:endParaRPr lang="zh-CN" altLang="en-US" sz="2000" strike="noStrike" noProof="1">
              <a:solidFill>
                <a:srgbClr val="00B0F0"/>
              </a:solidFill>
              <a:latin typeface="Consolas" panose="020B0609020204030204" charset="0"/>
            </a:endParaRPr>
          </a:p>
          <a:p>
            <a:pPr marL="0" indent="0" fontAlgn="base">
              <a:lnSpc>
                <a:spcPct val="100000"/>
              </a:lnSpc>
              <a:spcBef>
                <a:spcPts val="0"/>
              </a:spcBef>
              <a:buNone/>
            </a:pPr>
            <a:r>
              <a:rPr lang="zh-CN" altLang="en-US" sz="2000" strike="noStrike" noProof="1">
                <a:latin typeface="Consolas" panose="020B0609020204030204" charset="0"/>
              </a:rPr>
              <a:t>&gt;&gt;&gt; 'aabbccddeeeffg'.strip('gaf')</a:t>
            </a:r>
            <a:endParaRPr lang="zh-CN" altLang="en-US" sz="2000" strike="noStrike" noProof="1">
              <a:latin typeface="Consolas" panose="020B0609020204030204" charset="0"/>
            </a:endParaRPr>
          </a:p>
          <a:p>
            <a:pPr marL="0" indent="0" fontAlgn="base">
              <a:lnSpc>
                <a:spcPct val="100000"/>
              </a:lnSpc>
              <a:spcBef>
                <a:spcPts val="0"/>
              </a:spcBef>
              <a:buNone/>
            </a:pPr>
            <a:r>
              <a:rPr lang="zh-CN" altLang="en-US" sz="2000" strike="noStrike" noProof="1">
                <a:solidFill>
                  <a:srgbClr val="00B0F0"/>
                </a:solidFill>
                <a:latin typeface="Consolas" panose="020B0609020204030204" charset="0"/>
              </a:rPr>
              <a:t>'bbccddeee'</a:t>
            </a:r>
            <a:endParaRPr lang="zh-CN" altLang="en-US" sz="2000" strike="noStrike" noProof="1">
              <a:solidFill>
                <a:srgbClr val="00B0F0"/>
              </a:solidFill>
              <a:latin typeface="Consolas" panose="020B0609020204030204" charset="0"/>
            </a:endParaRPr>
          </a:p>
          <a:p>
            <a:pPr marL="0" indent="0" fontAlgn="base">
              <a:lnSpc>
                <a:spcPct val="100000"/>
              </a:lnSpc>
              <a:spcBef>
                <a:spcPts val="0"/>
              </a:spcBef>
              <a:buNone/>
            </a:pPr>
            <a:r>
              <a:rPr lang="zh-CN" altLang="en-US" sz="2000" strike="noStrike" noProof="1">
                <a:latin typeface="Consolas" panose="020B0609020204030204" charset="0"/>
              </a:rPr>
              <a:t>&gt;&gt;&gt; 'aabbccddeeeffg'.strip('gaef')</a:t>
            </a:r>
            <a:endParaRPr lang="zh-CN" altLang="en-US" sz="2000" strike="noStrike" noProof="1">
              <a:latin typeface="Consolas" panose="020B0609020204030204" charset="0"/>
            </a:endParaRPr>
          </a:p>
          <a:p>
            <a:pPr marL="0" indent="0" fontAlgn="base">
              <a:lnSpc>
                <a:spcPct val="100000"/>
              </a:lnSpc>
              <a:spcBef>
                <a:spcPts val="0"/>
              </a:spcBef>
              <a:buNone/>
            </a:pPr>
            <a:r>
              <a:rPr lang="zh-CN" altLang="en-US" sz="2000" strike="noStrike" noProof="1">
                <a:solidFill>
                  <a:srgbClr val="00B0F0"/>
                </a:solidFill>
                <a:latin typeface="Consolas" panose="020B0609020204030204" charset="0"/>
              </a:rPr>
              <a:t>'bbccdd'</a:t>
            </a:r>
            <a:endParaRPr lang="zh-CN" altLang="en-US" sz="2000" strike="noStrike" noProof="1">
              <a:solidFill>
                <a:srgbClr val="00B0F0"/>
              </a:solidFill>
              <a:latin typeface="Consolas" panose="020B0609020204030204" charset="0"/>
            </a:endParaRPr>
          </a:p>
          <a:p>
            <a:pPr marL="0" indent="0" fontAlgn="base">
              <a:lnSpc>
                <a:spcPct val="100000"/>
              </a:lnSpc>
              <a:spcBef>
                <a:spcPts val="0"/>
              </a:spcBef>
              <a:buNone/>
            </a:pPr>
            <a:r>
              <a:rPr lang="zh-CN" altLang="en-US" sz="2000" strike="noStrike" noProof="1">
                <a:latin typeface="Consolas" panose="020B0609020204030204" charset="0"/>
              </a:rPr>
              <a:t>&gt;&gt;&gt; 'aabbccddeeeffg'.strip('gbaef')</a:t>
            </a:r>
            <a:endParaRPr lang="zh-CN" altLang="en-US" sz="2000" strike="noStrike" noProof="1">
              <a:latin typeface="Consolas" panose="020B0609020204030204" charset="0"/>
            </a:endParaRPr>
          </a:p>
          <a:p>
            <a:pPr marL="0" indent="0" fontAlgn="base">
              <a:lnSpc>
                <a:spcPct val="100000"/>
              </a:lnSpc>
              <a:spcBef>
                <a:spcPts val="0"/>
              </a:spcBef>
              <a:buNone/>
            </a:pPr>
            <a:r>
              <a:rPr lang="zh-CN" altLang="en-US" sz="2000" strike="noStrike" noProof="1">
                <a:solidFill>
                  <a:srgbClr val="00B0F0"/>
                </a:solidFill>
                <a:latin typeface="Consolas" panose="020B0609020204030204" charset="0"/>
              </a:rPr>
              <a:t>'ccdd'</a:t>
            </a:r>
            <a:endParaRPr lang="zh-CN" altLang="en-US" sz="2000" strike="noStrike" noProof="1">
              <a:solidFill>
                <a:srgbClr val="00B0F0"/>
              </a:solidFill>
              <a:latin typeface="Consolas" panose="020B0609020204030204" charset="0"/>
            </a:endParaRPr>
          </a:p>
          <a:p>
            <a:pPr marL="0" indent="0" fontAlgn="base">
              <a:lnSpc>
                <a:spcPct val="100000"/>
              </a:lnSpc>
              <a:spcBef>
                <a:spcPts val="0"/>
              </a:spcBef>
              <a:buNone/>
            </a:pPr>
            <a:r>
              <a:rPr lang="zh-CN" altLang="en-US" sz="2000" strike="noStrike" noProof="1">
                <a:latin typeface="Consolas" panose="020B0609020204030204" charset="0"/>
              </a:rPr>
              <a:t>&gt;&gt;&gt; 'aabbccddeeeffg'.strip('gbaefcd')</a:t>
            </a:r>
            <a:endParaRPr lang="zh-CN" altLang="en-US" sz="2000" strike="noStrike" noProof="1">
              <a:latin typeface="Consolas" panose="020B0609020204030204" charset="0"/>
            </a:endParaRPr>
          </a:p>
          <a:p>
            <a:pPr marL="0" indent="0" fontAlgn="base">
              <a:lnSpc>
                <a:spcPct val="100000"/>
              </a:lnSpc>
              <a:spcBef>
                <a:spcPts val="0"/>
              </a:spcBef>
              <a:buNone/>
            </a:pPr>
            <a:r>
              <a:rPr lang="zh-CN" altLang="en-US" sz="2000" strike="noStrike" noProof="1">
                <a:solidFill>
                  <a:srgbClr val="00B0F0"/>
                </a:solidFill>
                <a:latin typeface="Consolas" panose="020B0609020204030204" charset="0"/>
              </a:rPr>
              <a:t>''</a:t>
            </a:r>
            <a:endParaRPr lang="zh-CN" altLang="en-US" sz="2000" strike="noStrike" noProof="1">
              <a:solidFill>
                <a:srgbClr val="00B0F0"/>
              </a:solidFill>
              <a:latin typeface="Consolas" panose="020B060902020403020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7.4.7  startswith()、endswith()</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59394" name="内容占位符 2"/>
          <p:cNvSpPr>
            <a:spLocks noGrp="1"/>
          </p:cNvSpPr>
          <p:nvPr>
            <p:ph idx="1"/>
          </p:nvPr>
        </p:nvSpPr>
        <p:spPr>
          <a:xfrm>
            <a:off x="748665" y="1166495"/>
            <a:ext cx="11089005" cy="4525645"/>
          </a:xfrm>
        </p:spPr>
        <p:txBody>
          <a:bodyPr anchor="t"/>
          <a:p>
            <a:pPr defTabSz="914400">
              <a:lnSpc>
                <a:spcPct val="150000"/>
              </a:lnSpc>
              <a:spcBef>
                <a:spcPct val="0"/>
              </a:spcBef>
              <a:buSzPct val="70000"/>
              <a:buFont typeface="Wingdings" panose="05000000000000000000" charset="0"/>
              <a:buChar char=""/>
            </a:pPr>
            <a:r>
              <a:rPr lang="en-US" altLang="x-none" sz="2400" dirty="0">
                <a:latin typeface="宋体" panose="02010600030101010101" pitchFamily="2" charset="-122"/>
                <a:sym typeface="Arial" panose="020B0604020202020204" pitchFamily="34" charset="0"/>
              </a:rPr>
              <a:t>s.start</a:t>
            </a:r>
            <a:r>
              <a:rPr lang="zh-CN" altLang="en-US" sz="2400" dirty="0">
                <a:latin typeface="宋体" panose="02010600030101010101" pitchFamily="2" charset="-122"/>
                <a:sym typeface="Arial" panose="020B0604020202020204" pitchFamily="34" charset="0"/>
              </a:rPr>
              <a:t>s</a:t>
            </a:r>
            <a:r>
              <a:rPr lang="en-US" altLang="x-none" sz="2400" dirty="0">
                <a:latin typeface="宋体" panose="02010600030101010101" pitchFamily="2" charset="-122"/>
                <a:sym typeface="Arial" panose="020B0604020202020204" pitchFamily="34" charset="0"/>
              </a:rPr>
              <a:t>with(t)</a:t>
            </a:r>
            <a:r>
              <a:rPr lang="zh-CN" altLang="en-US" sz="2400" dirty="0">
                <a:latin typeface="宋体" panose="02010600030101010101" pitchFamily="2" charset="-122"/>
                <a:sym typeface="Arial" panose="020B0604020202020204" pitchFamily="34" charset="0"/>
              </a:rPr>
              <a:t>、</a:t>
            </a:r>
            <a:r>
              <a:rPr lang="en-US" altLang="x-none" sz="2400" dirty="0">
                <a:latin typeface="宋体" panose="02010600030101010101" pitchFamily="2" charset="-122"/>
                <a:sym typeface="Arial" panose="020B0604020202020204" pitchFamily="34" charset="0"/>
              </a:rPr>
              <a:t>s.endswith(t)</a:t>
            </a:r>
            <a:r>
              <a:rPr lang="zh-CN" altLang="en-US" sz="2400" dirty="0">
                <a:latin typeface="宋体" panose="02010600030101010101" pitchFamily="2" charset="-122"/>
                <a:sym typeface="Arial" panose="020B0604020202020204" pitchFamily="34" charset="0"/>
              </a:rPr>
              <a:t>，判断字符串是否以指定字符串开始或结束</a:t>
            </a:r>
            <a:endParaRPr lang="zh-CN" altLang="en-US" sz="2400" dirty="0">
              <a:latin typeface="宋体" panose="02010600030101010101" pitchFamily="2" charset="-122"/>
            </a:endParaRPr>
          </a:p>
          <a:p>
            <a:pPr defTabSz="914400">
              <a:lnSpc>
                <a:spcPct val="100000"/>
              </a:lnSpc>
              <a:spcBef>
                <a:spcPct val="0"/>
              </a:spcBef>
              <a:buSzPct val="70000"/>
              <a:buFont typeface="Wingdings" panose="05000000000000000000" pitchFamily="2" charset="2"/>
              <a:buNone/>
            </a:pPr>
            <a:endParaRPr lang="zh-CN" altLang="en-US" sz="1800" dirty="0">
              <a:latin typeface="Times New Roman" panose="02020603050405020304" pitchFamily="2" charset="0"/>
              <a:sym typeface="Arial" panose="020B0604020202020204" pitchFamily="34" charset="0"/>
            </a:endParaRPr>
          </a:p>
          <a:p>
            <a:pPr defTabSz="914400">
              <a:lnSpc>
                <a:spcPct val="100000"/>
              </a:lnSpc>
              <a:spcBef>
                <a:spcPct val="0"/>
              </a:spcBef>
              <a:buSzPct val="70000"/>
              <a:buFont typeface="Wingdings" panose="05000000000000000000" pitchFamily="2" charset="2"/>
              <a:buNone/>
            </a:pPr>
            <a:r>
              <a:rPr lang="zh-CN" altLang="en-US" sz="1800" dirty="0">
                <a:latin typeface="Consolas" panose="020B0609020204030204" charset="0"/>
                <a:cs typeface="Consolas" panose="020B0609020204030204" charset="0"/>
                <a:sym typeface="Arial" panose="020B0604020202020204" pitchFamily="34" charset="0"/>
              </a:rPr>
              <a:t>&gt;&gt;&gt; s = 'Beautiful is better than ugly.'</a:t>
            </a:r>
            <a:endParaRPr lang="zh-CN" altLang="en-US" sz="1800" dirty="0">
              <a:latin typeface="Consolas" panose="020B0609020204030204" charset="0"/>
              <a:cs typeface="Consolas" panose="020B0609020204030204" charset="0"/>
              <a:sym typeface="Arial" panose="020B0604020202020204" pitchFamily="34" charset="0"/>
            </a:endParaRPr>
          </a:p>
          <a:p>
            <a:pPr defTabSz="914400">
              <a:lnSpc>
                <a:spcPct val="100000"/>
              </a:lnSpc>
              <a:spcBef>
                <a:spcPct val="0"/>
              </a:spcBef>
              <a:buSzPct val="70000"/>
              <a:buFont typeface="Wingdings" panose="05000000000000000000" pitchFamily="2" charset="2"/>
              <a:buNone/>
            </a:pPr>
            <a:r>
              <a:rPr lang="zh-CN" altLang="en-US" sz="1800" dirty="0">
                <a:latin typeface="Consolas" panose="020B0609020204030204" charset="0"/>
                <a:cs typeface="Consolas" panose="020B0609020204030204" charset="0"/>
                <a:sym typeface="Arial" panose="020B0604020202020204" pitchFamily="34" charset="0"/>
              </a:rPr>
              <a:t>&gt;&gt;&gt; s.startswith('Be')             # 检测整个字符串</a:t>
            </a:r>
            <a:endParaRPr lang="zh-CN" altLang="en-US" sz="1800" dirty="0">
              <a:latin typeface="Consolas" panose="020B0609020204030204" charset="0"/>
              <a:cs typeface="Consolas" panose="020B0609020204030204" charset="0"/>
              <a:sym typeface="Arial" panose="020B0604020202020204" pitchFamily="34" charset="0"/>
            </a:endParaRPr>
          </a:p>
          <a:p>
            <a:pPr defTabSz="914400">
              <a:lnSpc>
                <a:spcPct val="100000"/>
              </a:lnSpc>
              <a:spcBef>
                <a:spcPct val="0"/>
              </a:spcBef>
              <a:buSzPct val="70000"/>
              <a:buFont typeface="Wingdings" panose="05000000000000000000" pitchFamily="2" charset="2"/>
              <a:buNone/>
            </a:pPr>
            <a:r>
              <a:rPr lang="zh-CN" altLang="en-US" sz="1800" dirty="0">
                <a:solidFill>
                  <a:srgbClr val="00B0F0"/>
                </a:solidFill>
                <a:latin typeface="Consolas" panose="020B0609020204030204" charset="0"/>
                <a:cs typeface="Consolas" panose="020B0609020204030204" charset="0"/>
                <a:sym typeface="Arial" panose="020B0604020202020204" pitchFamily="34" charset="0"/>
              </a:rPr>
              <a:t>True</a:t>
            </a:r>
            <a:endParaRPr lang="zh-CN" altLang="en-US" sz="1800" dirty="0">
              <a:solidFill>
                <a:srgbClr val="00B0F0"/>
              </a:solidFill>
              <a:latin typeface="Consolas" panose="020B0609020204030204" charset="0"/>
              <a:cs typeface="Consolas" panose="020B0609020204030204" charset="0"/>
              <a:sym typeface="Arial" panose="020B0604020202020204" pitchFamily="34" charset="0"/>
            </a:endParaRPr>
          </a:p>
          <a:p>
            <a:pPr defTabSz="914400">
              <a:lnSpc>
                <a:spcPct val="100000"/>
              </a:lnSpc>
              <a:spcBef>
                <a:spcPct val="0"/>
              </a:spcBef>
              <a:buSzPct val="70000"/>
              <a:buFont typeface="Wingdings" panose="05000000000000000000" pitchFamily="2" charset="2"/>
              <a:buNone/>
            </a:pPr>
            <a:r>
              <a:rPr lang="zh-CN" altLang="en-US" sz="1800" dirty="0">
                <a:latin typeface="Consolas" panose="020B0609020204030204" charset="0"/>
                <a:cs typeface="Consolas" panose="020B0609020204030204" charset="0"/>
                <a:sym typeface="Arial" panose="020B0604020202020204" pitchFamily="34" charset="0"/>
              </a:rPr>
              <a:t>&gt;&gt;&gt; s.startswith('Be', 5)      </a:t>
            </a:r>
            <a:r>
              <a:rPr lang="en-US" altLang="zh-CN" sz="1800" dirty="0">
                <a:latin typeface="Consolas" panose="020B0609020204030204" charset="0"/>
                <a:cs typeface="Consolas" panose="020B0609020204030204" charset="0"/>
                <a:sym typeface="Arial" panose="020B0604020202020204" pitchFamily="34" charset="0"/>
              </a:rPr>
              <a:t> </a:t>
            </a:r>
            <a:r>
              <a:rPr lang="zh-CN" altLang="en-US" sz="1800" dirty="0">
                <a:latin typeface="Consolas" panose="020B0609020204030204" charset="0"/>
                <a:cs typeface="Consolas" panose="020B0609020204030204" charset="0"/>
                <a:sym typeface="Arial" panose="020B0604020202020204" pitchFamily="34" charset="0"/>
              </a:rPr>
              <a:t>   # 指定检测范围起始位置</a:t>
            </a:r>
            <a:endParaRPr lang="zh-CN" altLang="en-US" sz="1800" dirty="0">
              <a:latin typeface="Consolas" panose="020B0609020204030204" charset="0"/>
              <a:cs typeface="Consolas" panose="020B0609020204030204" charset="0"/>
              <a:sym typeface="Arial" panose="020B0604020202020204" pitchFamily="34" charset="0"/>
            </a:endParaRPr>
          </a:p>
          <a:p>
            <a:pPr defTabSz="914400">
              <a:lnSpc>
                <a:spcPct val="100000"/>
              </a:lnSpc>
              <a:spcBef>
                <a:spcPct val="0"/>
              </a:spcBef>
              <a:buSzPct val="70000"/>
              <a:buFont typeface="Wingdings" panose="05000000000000000000" pitchFamily="2" charset="2"/>
              <a:buNone/>
            </a:pPr>
            <a:r>
              <a:rPr lang="zh-CN" altLang="en-US" sz="1800" dirty="0">
                <a:solidFill>
                  <a:srgbClr val="00B0F0"/>
                </a:solidFill>
                <a:latin typeface="Consolas" panose="020B0609020204030204" charset="0"/>
                <a:cs typeface="Consolas" panose="020B0609020204030204" charset="0"/>
                <a:sym typeface="Arial" panose="020B0604020202020204" pitchFamily="34" charset="0"/>
              </a:rPr>
              <a:t>False</a:t>
            </a:r>
            <a:endParaRPr lang="zh-CN" altLang="en-US" sz="1800" dirty="0">
              <a:solidFill>
                <a:srgbClr val="00B0F0"/>
              </a:solidFill>
              <a:latin typeface="Consolas" panose="020B0609020204030204" charset="0"/>
              <a:cs typeface="Consolas" panose="020B0609020204030204" charset="0"/>
              <a:sym typeface="Arial" panose="020B0604020202020204" pitchFamily="34" charset="0"/>
            </a:endParaRPr>
          </a:p>
          <a:p>
            <a:pPr defTabSz="914400">
              <a:lnSpc>
                <a:spcPct val="100000"/>
              </a:lnSpc>
              <a:spcBef>
                <a:spcPct val="0"/>
              </a:spcBef>
              <a:buSzPct val="70000"/>
              <a:buFont typeface="Wingdings" panose="05000000000000000000" pitchFamily="2" charset="2"/>
              <a:buNone/>
            </a:pPr>
            <a:r>
              <a:rPr lang="zh-CN" altLang="en-US" sz="1800" dirty="0">
                <a:latin typeface="Consolas" panose="020B0609020204030204" charset="0"/>
                <a:cs typeface="Consolas" panose="020B0609020204030204" charset="0"/>
                <a:sym typeface="Arial" panose="020B0604020202020204" pitchFamily="34" charset="0"/>
              </a:rPr>
              <a:t>&gt;&gt;&gt; s.startswith('Be', 0, 5)  </a:t>
            </a:r>
            <a:r>
              <a:rPr lang="en-US" altLang="zh-CN" sz="1800" dirty="0">
                <a:latin typeface="Consolas" panose="020B0609020204030204" charset="0"/>
                <a:cs typeface="Consolas" panose="020B0609020204030204" charset="0"/>
                <a:sym typeface="Arial" panose="020B0604020202020204" pitchFamily="34" charset="0"/>
              </a:rPr>
              <a:t>  </a:t>
            </a:r>
            <a:r>
              <a:rPr lang="zh-CN" altLang="en-US" sz="1800" dirty="0">
                <a:latin typeface="Consolas" panose="020B0609020204030204" charset="0"/>
                <a:cs typeface="Consolas" panose="020B0609020204030204" charset="0"/>
                <a:sym typeface="Arial" panose="020B0604020202020204" pitchFamily="34" charset="0"/>
              </a:rPr>
              <a:t>   # 指定检测范围起始和结束位置</a:t>
            </a:r>
            <a:endParaRPr lang="zh-CN" altLang="en-US" sz="1800" dirty="0">
              <a:latin typeface="Consolas" panose="020B0609020204030204" charset="0"/>
              <a:cs typeface="Consolas" panose="020B0609020204030204" charset="0"/>
              <a:sym typeface="Arial" panose="020B0604020202020204" pitchFamily="34" charset="0"/>
            </a:endParaRPr>
          </a:p>
          <a:p>
            <a:pPr defTabSz="914400">
              <a:lnSpc>
                <a:spcPct val="100000"/>
              </a:lnSpc>
              <a:spcBef>
                <a:spcPct val="0"/>
              </a:spcBef>
              <a:buSzPct val="70000"/>
              <a:buFont typeface="Wingdings" panose="05000000000000000000" pitchFamily="2" charset="2"/>
              <a:buNone/>
            </a:pPr>
            <a:r>
              <a:rPr lang="zh-CN" altLang="en-US" sz="1800" dirty="0">
                <a:solidFill>
                  <a:srgbClr val="00B0F0"/>
                </a:solidFill>
                <a:latin typeface="Consolas" panose="020B0609020204030204" charset="0"/>
                <a:cs typeface="Consolas" panose="020B0609020204030204" charset="0"/>
                <a:sym typeface="Arial" panose="020B0604020202020204" pitchFamily="34" charset="0"/>
              </a:rPr>
              <a:t>True</a:t>
            </a:r>
            <a:endParaRPr lang="zh-CN" altLang="en-US" sz="1800" dirty="0">
              <a:solidFill>
                <a:srgbClr val="00B0F0"/>
              </a:solidFill>
              <a:latin typeface="Consolas" panose="020B0609020204030204" charset="0"/>
              <a:cs typeface="Consolas" panose="020B0609020204030204" charset="0"/>
              <a:sym typeface="Arial" panose="020B0604020202020204" pitchFamily="34" charset="0"/>
            </a:endParaRPr>
          </a:p>
          <a:p>
            <a:pPr defTabSz="914400">
              <a:lnSpc>
                <a:spcPct val="100000"/>
              </a:lnSpc>
              <a:spcBef>
                <a:spcPct val="0"/>
              </a:spcBef>
              <a:buSzPct val="70000"/>
              <a:buFont typeface="Wingdings" panose="05000000000000000000" pitchFamily="2" charset="2"/>
              <a:buNone/>
            </a:pPr>
            <a:r>
              <a:rPr lang="zh-CN" altLang="en-US" sz="1800" dirty="0">
                <a:latin typeface="Consolas" panose="020B0609020204030204" charset="0"/>
                <a:cs typeface="Consolas" panose="020B0609020204030204" charset="0"/>
                <a:sym typeface="Arial" panose="020B0604020202020204" pitchFamily="34" charset="0"/>
              </a:rPr>
              <a:t>&gt;&gt;&gt; import os</a:t>
            </a:r>
            <a:endParaRPr lang="zh-CN" altLang="en-US" sz="1800" dirty="0">
              <a:latin typeface="Consolas" panose="020B0609020204030204" charset="0"/>
              <a:cs typeface="Consolas" panose="020B0609020204030204" charset="0"/>
            </a:endParaRPr>
          </a:p>
          <a:p>
            <a:pPr defTabSz="914400">
              <a:lnSpc>
                <a:spcPct val="100000"/>
              </a:lnSpc>
              <a:spcBef>
                <a:spcPct val="0"/>
              </a:spcBef>
              <a:buSzPct val="70000"/>
              <a:buFont typeface="Wingdings" panose="05000000000000000000" pitchFamily="2" charset="2"/>
              <a:buNone/>
            </a:pPr>
            <a:r>
              <a:rPr lang="zh-CN" altLang="en-US" sz="1800" dirty="0">
                <a:latin typeface="Consolas" panose="020B0609020204030204" charset="0"/>
                <a:cs typeface="Consolas" panose="020B0609020204030204" charset="0"/>
                <a:sym typeface="Arial" panose="020B0604020202020204" pitchFamily="34" charset="0"/>
              </a:rPr>
              <a:t>&gt;&gt;&gt; [filename</a:t>
            </a:r>
            <a:endParaRPr lang="zh-CN" altLang="en-US" sz="1800" dirty="0">
              <a:latin typeface="Consolas" panose="020B0609020204030204" charset="0"/>
              <a:cs typeface="Consolas" panose="020B0609020204030204" charset="0"/>
              <a:sym typeface="Arial" panose="020B0604020202020204" pitchFamily="34" charset="0"/>
            </a:endParaRPr>
          </a:p>
          <a:p>
            <a:pPr defTabSz="914400">
              <a:lnSpc>
                <a:spcPct val="100000"/>
              </a:lnSpc>
              <a:spcBef>
                <a:spcPct val="0"/>
              </a:spcBef>
              <a:buSzPct val="70000"/>
              <a:buFont typeface="Wingdings" panose="05000000000000000000" pitchFamily="2" charset="2"/>
              <a:buNone/>
            </a:pPr>
            <a:r>
              <a:rPr lang="zh-CN" altLang="en-US" sz="1800" dirty="0">
                <a:latin typeface="Consolas" panose="020B0609020204030204" charset="0"/>
                <a:cs typeface="Consolas" panose="020B0609020204030204" charset="0"/>
                <a:sym typeface="Arial" panose="020B0604020202020204" pitchFamily="34" charset="0"/>
              </a:rPr>
              <a:t> </a:t>
            </a:r>
            <a:r>
              <a:rPr lang="en-US" altLang="zh-CN" sz="1800" dirty="0">
                <a:latin typeface="Consolas" panose="020B0609020204030204" charset="0"/>
                <a:cs typeface="Consolas" panose="020B0609020204030204" charset="0"/>
                <a:sym typeface="Arial" panose="020B0604020202020204" pitchFamily="34" charset="0"/>
              </a:rPr>
              <a:t>    </a:t>
            </a:r>
            <a:r>
              <a:rPr lang="zh-CN" altLang="en-US" sz="1800" dirty="0">
                <a:latin typeface="Consolas" panose="020B0609020204030204" charset="0"/>
                <a:cs typeface="Consolas" panose="020B0609020204030204" charset="0"/>
                <a:sym typeface="Arial" panose="020B0604020202020204" pitchFamily="34" charset="0"/>
              </a:rPr>
              <a:t>for filename in os.listdir(r'c:\\')</a:t>
            </a:r>
            <a:endParaRPr lang="zh-CN" altLang="en-US" sz="1800" dirty="0">
              <a:latin typeface="Consolas" panose="020B0609020204030204" charset="0"/>
              <a:cs typeface="Consolas" panose="020B0609020204030204" charset="0"/>
              <a:sym typeface="Arial" panose="020B0604020202020204" pitchFamily="34" charset="0"/>
            </a:endParaRPr>
          </a:p>
          <a:p>
            <a:pPr defTabSz="914400">
              <a:lnSpc>
                <a:spcPct val="100000"/>
              </a:lnSpc>
              <a:spcBef>
                <a:spcPct val="0"/>
              </a:spcBef>
              <a:buSzPct val="70000"/>
              <a:buFont typeface="Wingdings" panose="05000000000000000000" pitchFamily="2" charset="2"/>
              <a:buNone/>
            </a:pPr>
            <a:r>
              <a:rPr lang="zh-CN" altLang="en-US" sz="1800" dirty="0">
                <a:latin typeface="Consolas" panose="020B0609020204030204" charset="0"/>
                <a:cs typeface="Consolas" panose="020B0609020204030204" charset="0"/>
                <a:sym typeface="Arial" panose="020B0604020202020204" pitchFamily="34" charset="0"/>
              </a:rPr>
              <a:t> </a:t>
            </a:r>
            <a:r>
              <a:rPr lang="en-US" altLang="zh-CN" sz="1800" dirty="0">
                <a:latin typeface="Consolas" panose="020B0609020204030204" charset="0"/>
                <a:cs typeface="Consolas" panose="020B0609020204030204" charset="0"/>
                <a:sym typeface="Arial" panose="020B0604020202020204" pitchFamily="34" charset="0"/>
              </a:rPr>
              <a:t>    </a:t>
            </a:r>
            <a:r>
              <a:rPr lang="zh-CN" altLang="en-US" sz="1800" dirty="0">
                <a:latin typeface="Consolas" panose="020B0609020204030204" charset="0"/>
                <a:cs typeface="Consolas" panose="020B0609020204030204" charset="0"/>
                <a:sym typeface="Arial" panose="020B0604020202020204" pitchFamily="34" charset="0"/>
              </a:rPr>
              <a:t>if filename.endswith(('.bmp','.jpg','.gif'))]</a:t>
            </a:r>
            <a:endParaRPr lang="zh-CN" altLang="en-US" sz="1800" dirty="0">
              <a:latin typeface="Consolas" panose="020B0609020204030204" charset="0"/>
              <a:cs typeface="Consolas" panose="020B0609020204030204" charset="0"/>
              <a:sym typeface="Arial" panose="020B0604020202020204" pitchFamily="34" charset="0"/>
            </a:endParaRPr>
          </a:p>
          <a:p>
            <a:pPr defTabSz="914400">
              <a:lnSpc>
                <a:spcPct val="100000"/>
              </a:lnSpc>
              <a:spcBef>
                <a:spcPct val="0"/>
              </a:spcBef>
              <a:buSzPct val="70000"/>
              <a:buFont typeface="Wingdings" panose="05000000000000000000" pitchFamily="2" charset="2"/>
              <a:buNone/>
            </a:pPr>
            <a:r>
              <a:rPr lang="en-US" altLang="zh-CN" sz="1800">
                <a:latin typeface="Consolas" panose="020B0609020204030204" charset="0"/>
                <a:cs typeface="Consolas" panose="020B0609020204030204" charset="0"/>
              </a:rPr>
              <a:t>                                   # </a:t>
            </a:r>
            <a:r>
              <a:rPr lang="zh-CN" altLang="en-US" sz="1800">
                <a:latin typeface="Consolas" panose="020B0609020204030204" charset="0"/>
                <a:cs typeface="Consolas" panose="020B0609020204030204" charset="0"/>
              </a:rPr>
              <a:t>列表</a:t>
            </a:r>
            <a:r>
              <a:rPr lang="en-US" altLang="zh-CN" sz="1800">
                <a:latin typeface="Consolas" panose="020B0609020204030204" charset="0"/>
                <a:cs typeface="Consolas" panose="020B0609020204030204" charset="0"/>
              </a:rPr>
              <a:t>C</a:t>
            </a:r>
            <a:r>
              <a:rPr lang="zh-CN" altLang="en-US" sz="1800">
                <a:latin typeface="Consolas" panose="020B0609020204030204" charset="0"/>
                <a:cs typeface="Consolas" panose="020B0609020204030204" charset="0"/>
              </a:rPr>
              <a:t>盘根目录下所有</a:t>
            </a:r>
            <a:r>
              <a:rPr lang="en-US" altLang="zh-CN" sz="1800">
                <a:latin typeface="Consolas" panose="020B0609020204030204" charset="0"/>
                <a:cs typeface="Consolas" panose="020B0609020204030204" charset="0"/>
              </a:rPr>
              <a:t>bmp</a:t>
            </a:r>
            <a:r>
              <a:rPr lang="zh-CN" altLang="en-US" sz="1800">
                <a:latin typeface="Consolas" panose="020B0609020204030204" charset="0"/>
                <a:cs typeface="Consolas" panose="020B0609020204030204" charset="0"/>
              </a:rPr>
              <a:t>、</a:t>
            </a:r>
            <a:r>
              <a:rPr lang="en-US" altLang="zh-CN" sz="1800">
                <a:latin typeface="Consolas" panose="020B0609020204030204" charset="0"/>
                <a:cs typeface="Consolas" panose="020B0609020204030204" charset="0"/>
              </a:rPr>
              <a:t>jpg</a:t>
            </a:r>
            <a:r>
              <a:rPr lang="zh-CN" altLang="en-US" sz="1800">
                <a:latin typeface="Consolas" panose="020B0609020204030204" charset="0"/>
                <a:cs typeface="Consolas" panose="020B0609020204030204" charset="0"/>
              </a:rPr>
              <a:t>、</a:t>
            </a:r>
            <a:r>
              <a:rPr lang="en-US" altLang="zh-CN" sz="1800">
                <a:latin typeface="Consolas" panose="020B0609020204030204" charset="0"/>
                <a:cs typeface="Consolas" panose="020B0609020204030204" charset="0"/>
              </a:rPr>
              <a:t>gif</a:t>
            </a:r>
            <a:r>
              <a:rPr lang="zh-CN" altLang="en-US" sz="1800">
                <a:latin typeface="Consolas" panose="020B0609020204030204" charset="0"/>
                <a:cs typeface="Consolas" panose="020B0609020204030204" charset="0"/>
              </a:rPr>
              <a:t>文件名</a:t>
            </a:r>
            <a:endParaRPr lang="zh-CN" altLang="en-US" sz="1800">
              <a:latin typeface="Consolas" panose="020B0609020204030204" charset="0"/>
              <a:cs typeface="Consolas" panose="020B060902020403020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zh-CN" altLang="en-US" sz="2400"/>
              <a:t>7.4.8  isalnum()、isalpha()、isdigit()、isdecimal()、isnumeric()、isspace()、isupper()、islower()</a:t>
            </a:r>
            <a:endParaRPr lang="zh-CN" altLang="en-US" sz="2400"/>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5" name="内容占位符 4"/>
          <p:cNvSpPr>
            <a:spLocks noGrp="1"/>
          </p:cNvSpPr>
          <p:nvPr>
            <p:ph idx="1"/>
          </p:nvPr>
        </p:nvSpPr>
        <p:spPr>
          <a:xfrm>
            <a:off x="683895" y="1146810"/>
            <a:ext cx="10811510" cy="4526280"/>
          </a:xfrm>
        </p:spPr>
        <p:txBody>
          <a:bodyPr>
            <a:normAutofit lnSpcReduction="20000"/>
          </a:bodyPr>
          <a:p>
            <a:pPr marL="438785" indent="-438785" fontAlgn="base">
              <a:lnSpc>
                <a:spcPct val="150000"/>
              </a:lnSpc>
              <a:spcBef>
                <a:spcPts val="0"/>
              </a:spcBef>
              <a:buFont typeface="Wingdings" panose="05000000000000000000" charset="0"/>
              <a:buChar char="n"/>
            </a:pPr>
            <a:r>
              <a:rPr lang="zh-CN" altLang="en-US" sz="2400" strike="noStrike" noProof="1"/>
              <a:t>isalnum()、isalpha()、isdigit()、isdecimal()、isnumeric()、isspace()、isupper()、islower()，用来测试字符串是否全部为数字或字母、是否</a:t>
            </a:r>
            <a:r>
              <a:rPr lang="zh-CN" altLang="en-US" sz="2400">
                <a:sym typeface="+mn-ea"/>
              </a:rPr>
              <a:t>全部</a:t>
            </a:r>
            <a:r>
              <a:rPr lang="zh-CN" altLang="en-US" sz="2400" strike="noStrike" noProof="1"/>
              <a:t>为字母、是否</a:t>
            </a:r>
            <a:r>
              <a:rPr lang="zh-CN" altLang="en-US" sz="2400">
                <a:sym typeface="+mn-ea"/>
              </a:rPr>
              <a:t>全部</a:t>
            </a:r>
            <a:r>
              <a:rPr lang="zh-CN" altLang="en-US" sz="2400" strike="noStrike" noProof="1"/>
              <a:t>为数字字符、是否</a:t>
            </a:r>
            <a:r>
              <a:rPr lang="zh-CN" altLang="en-US" sz="2400">
                <a:sym typeface="+mn-ea"/>
              </a:rPr>
              <a:t>全部</a:t>
            </a:r>
            <a:r>
              <a:rPr lang="zh-CN" altLang="en-US" sz="2400" strike="noStrike" noProof="1"/>
              <a:t>为空白字符、是否</a:t>
            </a:r>
            <a:r>
              <a:rPr lang="zh-CN" altLang="en-US" sz="2400">
                <a:sym typeface="+mn-ea"/>
              </a:rPr>
              <a:t>全部</a:t>
            </a:r>
            <a:r>
              <a:rPr lang="zh-CN" altLang="en-US" sz="2400" strike="noStrike" noProof="1"/>
              <a:t>为大写字母、是否为小写字母。</a:t>
            </a:r>
            <a:endParaRPr lang="zh-CN" altLang="en-US" sz="2400" strike="noStrike" noProof="1"/>
          </a:p>
          <a:p>
            <a:pPr marL="0" indent="0" fontAlgn="base">
              <a:spcBef>
                <a:spcPts val="0"/>
              </a:spcBef>
              <a:buNone/>
            </a:pPr>
            <a:endParaRPr lang="zh-CN" altLang="en-US" sz="2000" strike="noStrike" noProof="1">
              <a:latin typeface="Consolas" panose="020B0609020204030204" charset="0"/>
            </a:endParaRPr>
          </a:p>
          <a:p>
            <a:pPr marL="0" indent="0" fontAlgn="base">
              <a:spcBef>
                <a:spcPts val="0"/>
              </a:spcBef>
              <a:buNone/>
            </a:pPr>
            <a:r>
              <a:rPr lang="zh-CN" altLang="en-US" sz="2000" strike="noStrike" noProof="1">
                <a:latin typeface="Consolas" panose="020B0609020204030204" charset="0"/>
              </a:rPr>
              <a:t>&gt;&gt;&gt; '1234abcd'.isalnum()</a:t>
            </a:r>
            <a:r>
              <a:rPr lang="en-US" altLang="zh-CN" sz="2000" strike="noStrike" noProof="1">
                <a:latin typeface="Consolas" panose="020B0609020204030204" charset="0"/>
              </a:rPr>
              <a:t>         # </a:t>
            </a:r>
            <a:r>
              <a:rPr lang="zh-CN" altLang="en-US" sz="2000" strike="noStrike" noProof="1">
                <a:latin typeface="Consolas" panose="020B0609020204030204" charset="0"/>
              </a:rPr>
              <a:t>只包含阿拉伯数字或英文字母时返回</a:t>
            </a:r>
            <a:r>
              <a:rPr lang="en-US" altLang="zh-CN" sz="2000" strike="noStrike" noProof="1">
                <a:latin typeface="Consolas" panose="020B0609020204030204" charset="0"/>
              </a:rPr>
              <a:t>True</a:t>
            </a:r>
            <a:endParaRPr lang="zh-CN" altLang="en-US" sz="2000" strike="noStrike" noProof="1">
              <a:latin typeface="Consolas" panose="020B0609020204030204" charset="0"/>
            </a:endParaRPr>
          </a:p>
          <a:p>
            <a:pPr marL="0" indent="0" fontAlgn="base">
              <a:spcBef>
                <a:spcPts val="0"/>
              </a:spcBef>
              <a:buNone/>
            </a:pPr>
            <a:r>
              <a:rPr lang="zh-CN" altLang="en-US" sz="2000" strike="noStrike" noProof="1">
                <a:solidFill>
                  <a:srgbClr val="00B0F0"/>
                </a:solidFill>
                <a:latin typeface="Consolas" panose="020B0609020204030204" charset="0"/>
              </a:rPr>
              <a:t>True</a:t>
            </a:r>
            <a:endParaRPr lang="zh-CN" altLang="en-US" sz="2000" strike="noStrike" noProof="1">
              <a:solidFill>
                <a:srgbClr val="00B0F0"/>
              </a:solidFill>
              <a:latin typeface="Consolas" panose="020B0609020204030204" charset="0"/>
            </a:endParaRPr>
          </a:p>
          <a:p>
            <a:pPr marL="0" indent="0" fontAlgn="base">
              <a:spcBef>
                <a:spcPts val="0"/>
              </a:spcBef>
              <a:buNone/>
            </a:pPr>
            <a:r>
              <a:rPr lang="zh-CN" altLang="en-US" sz="2000" strike="noStrike" noProof="1">
                <a:latin typeface="Consolas" panose="020B0609020204030204" charset="0"/>
              </a:rPr>
              <a:t>&gt;&gt;&gt; '1234abcd'.isalpha()         # 全部为英文字母时返回True</a:t>
            </a:r>
            <a:endParaRPr lang="zh-CN" altLang="en-US" sz="2000" strike="noStrike" noProof="1">
              <a:latin typeface="Consolas" panose="020B0609020204030204" charset="0"/>
            </a:endParaRPr>
          </a:p>
          <a:p>
            <a:pPr marL="0" indent="0" fontAlgn="base">
              <a:spcBef>
                <a:spcPts val="0"/>
              </a:spcBef>
              <a:buNone/>
            </a:pPr>
            <a:r>
              <a:rPr lang="zh-CN" altLang="en-US" sz="2000" strike="noStrike" noProof="1">
                <a:solidFill>
                  <a:srgbClr val="00B0F0"/>
                </a:solidFill>
                <a:latin typeface="Consolas" panose="020B0609020204030204" charset="0"/>
              </a:rPr>
              <a:t>False</a:t>
            </a:r>
            <a:endParaRPr lang="zh-CN" altLang="en-US" sz="2000" strike="noStrike" noProof="1">
              <a:solidFill>
                <a:srgbClr val="00B0F0"/>
              </a:solidFill>
              <a:latin typeface="Consolas" panose="020B0609020204030204" charset="0"/>
            </a:endParaRPr>
          </a:p>
          <a:p>
            <a:pPr marL="0" indent="0" fontAlgn="base">
              <a:spcBef>
                <a:spcPts val="0"/>
              </a:spcBef>
              <a:buNone/>
            </a:pPr>
            <a:r>
              <a:rPr lang="zh-CN" altLang="en-US" sz="2000" strike="noStrike" noProof="1">
                <a:latin typeface="Consolas" panose="020B0609020204030204" charset="0"/>
              </a:rPr>
              <a:t>&gt;&gt;&gt; '1234abcd'.isdigit()         # 全部为数字时返回True</a:t>
            </a:r>
            <a:endParaRPr lang="zh-CN" altLang="en-US" sz="2000" strike="noStrike" noProof="1">
              <a:latin typeface="Consolas" panose="020B0609020204030204" charset="0"/>
            </a:endParaRPr>
          </a:p>
          <a:p>
            <a:pPr marL="0" indent="0" fontAlgn="base">
              <a:spcBef>
                <a:spcPts val="0"/>
              </a:spcBef>
              <a:buNone/>
            </a:pPr>
            <a:r>
              <a:rPr lang="zh-CN" altLang="en-US" sz="2000" strike="noStrike" noProof="1">
                <a:solidFill>
                  <a:srgbClr val="00B0F0"/>
                </a:solidFill>
                <a:latin typeface="Consolas" panose="020B0609020204030204" charset="0"/>
              </a:rPr>
              <a:t>False</a:t>
            </a:r>
            <a:endParaRPr lang="zh-CN" altLang="en-US" sz="2000" strike="noStrike" noProof="1">
              <a:solidFill>
                <a:srgbClr val="00B0F0"/>
              </a:solidFill>
              <a:latin typeface="Consolas" panose="020B0609020204030204" charset="0"/>
            </a:endParaRPr>
          </a:p>
          <a:p>
            <a:pPr marL="0" indent="0" fontAlgn="base">
              <a:spcBef>
                <a:spcPts val="0"/>
              </a:spcBef>
              <a:buNone/>
            </a:pPr>
            <a:r>
              <a:rPr lang="zh-CN" altLang="en-US" sz="2000" strike="noStrike" noProof="1">
                <a:latin typeface="Consolas" panose="020B0609020204030204" charset="0"/>
              </a:rPr>
              <a:t>&gt;&gt;&gt; 'abcd'.isalpha()</a:t>
            </a:r>
            <a:endParaRPr lang="zh-CN" altLang="en-US" sz="2000" strike="noStrike" noProof="1">
              <a:latin typeface="Consolas" panose="020B0609020204030204" charset="0"/>
            </a:endParaRPr>
          </a:p>
          <a:p>
            <a:pPr marL="0" indent="0" fontAlgn="base">
              <a:spcBef>
                <a:spcPts val="0"/>
              </a:spcBef>
              <a:buNone/>
            </a:pPr>
            <a:r>
              <a:rPr lang="zh-CN" altLang="en-US" sz="2000" strike="noStrike" noProof="1">
                <a:solidFill>
                  <a:srgbClr val="00B0F0"/>
                </a:solidFill>
                <a:latin typeface="Consolas" panose="020B0609020204030204" charset="0"/>
              </a:rPr>
              <a:t>True</a:t>
            </a:r>
            <a:endParaRPr lang="zh-CN" altLang="en-US" sz="2000" strike="noStrike" noProof="1">
              <a:solidFill>
                <a:srgbClr val="00B0F0"/>
              </a:solidFill>
              <a:latin typeface="Consolas" panose="020B0609020204030204" charset="0"/>
            </a:endParaRPr>
          </a:p>
          <a:p>
            <a:pPr marL="0" indent="0" fontAlgn="base">
              <a:spcBef>
                <a:spcPts val="0"/>
              </a:spcBef>
              <a:buNone/>
            </a:pPr>
            <a:r>
              <a:rPr lang="zh-CN" altLang="en-US" sz="2000" strike="noStrike" noProof="1">
                <a:latin typeface="Consolas" panose="020B0609020204030204" charset="0"/>
              </a:rPr>
              <a:t>&gt;&gt;&gt; '1234.0'.isdigit()</a:t>
            </a:r>
            <a:endParaRPr lang="zh-CN" altLang="en-US" sz="2000" strike="noStrike" noProof="1">
              <a:latin typeface="Consolas" panose="020B0609020204030204" charset="0"/>
            </a:endParaRPr>
          </a:p>
          <a:p>
            <a:pPr marL="0" indent="0" fontAlgn="base">
              <a:spcBef>
                <a:spcPts val="0"/>
              </a:spcBef>
              <a:buNone/>
            </a:pPr>
            <a:r>
              <a:rPr lang="zh-CN" altLang="en-US" sz="2000" strike="noStrike" noProof="1">
                <a:solidFill>
                  <a:srgbClr val="00B0F0"/>
                </a:solidFill>
                <a:latin typeface="Consolas" panose="020B0609020204030204" charset="0"/>
              </a:rPr>
              <a:t>False</a:t>
            </a:r>
            <a:endParaRPr lang="zh-CN" altLang="en-US" sz="2000" strike="noStrike" noProof="1">
              <a:solidFill>
                <a:srgbClr val="00B0F0"/>
              </a:solidFill>
              <a:latin typeface="Consolas" panose="020B0609020204030204"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zh-CN" altLang="en-US" sz="2400"/>
              <a:t>7.4.8  isalnum()、isalpha()、isdigit()、isdecimal()、isnumeric()、isspace()、isupper()、islower()</a:t>
            </a:r>
            <a:endParaRPr lang="zh-CN" altLang="en-US" sz="2400"/>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63490" name="内容占位符 2"/>
          <p:cNvSpPr>
            <a:spLocks noGrp="1"/>
          </p:cNvSpPr>
          <p:nvPr>
            <p:ph idx="1"/>
          </p:nvPr>
        </p:nvSpPr>
        <p:spPr>
          <a:xfrm>
            <a:off x="831850" y="1293495"/>
            <a:ext cx="9770745" cy="4775200"/>
          </a:xfrm>
        </p:spPr>
        <p:txBody>
          <a:bodyPr anchor="t">
            <a:noAutofit/>
          </a:bodyPr>
          <a:p>
            <a:pPr marL="0" indent="0" defTabSz="914400" fontAlgn="auto">
              <a:lnSpc>
                <a:spcPct val="100000"/>
              </a:lnSpc>
              <a:spcBef>
                <a:spcPts val="0"/>
              </a:spcBef>
              <a:buSzPct val="70000"/>
              <a:buFont typeface="Wingdings" panose="05000000000000000000" pitchFamily="2" charset="2"/>
              <a:buNone/>
            </a:pPr>
            <a:r>
              <a:rPr lang="zh-CN" altLang="en-US" sz="2000">
                <a:latin typeface="Consolas" panose="020B0609020204030204" charset="0"/>
                <a:sym typeface="Arial" panose="020B0604020202020204" pitchFamily="34" charset="0"/>
              </a:rPr>
              <a:t>&gt;&gt;&gt; '1234'.isdigit()</a:t>
            </a:r>
            <a:endParaRPr lang="zh-CN" altLang="en-US" sz="2000">
              <a:latin typeface="Consolas" panose="020B0609020204030204" charset="0"/>
              <a:sym typeface="Arial" panose="020B0604020202020204" pitchFamily="34" charset="0"/>
            </a:endParaRPr>
          </a:p>
          <a:p>
            <a:pPr marL="0" indent="0" defTabSz="914400" fontAlgn="auto">
              <a:lnSpc>
                <a:spcPct val="100000"/>
              </a:lnSpc>
              <a:spcBef>
                <a:spcPts val="0"/>
              </a:spcBef>
              <a:buSzPct val="70000"/>
              <a:buFont typeface="Wingdings" panose="05000000000000000000" pitchFamily="2" charset="2"/>
              <a:buNone/>
            </a:pPr>
            <a:r>
              <a:rPr lang="zh-CN" altLang="en-US" sz="2000">
                <a:solidFill>
                  <a:srgbClr val="00B0F0"/>
                </a:solidFill>
                <a:latin typeface="Consolas" panose="020B0609020204030204" charset="0"/>
                <a:sym typeface="Arial" panose="020B0604020202020204" pitchFamily="34" charset="0"/>
              </a:rPr>
              <a:t>True</a:t>
            </a:r>
            <a:endParaRPr lang="zh-CN" altLang="en-US" sz="2000">
              <a:solidFill>
                <a:srgbClr val="00B0F0"/>
              </a:solidFill>
              <a:latin typeface="Consolas" panose="020B0609020204030204" charset="0"/>
              <a:sym typeface="Arial" panose="020B0604020202020204" pitchFamily="34" charset="0"/>
            </a:endParaRPr>
          </a:p>
          <a:p>
            <a:pPr marL="0" indent="0" defTabSz="914400" fontAlgn="auto">
              <a:lnSpc>
                <a:spcPct val="100000"/>
              </a:lnSpc>
              <a:spcBef>
                <a:spcPts val="0"/>
              </a:spcBef>
              <a:buSzPct val="70000"/>
              <a:buFont typeface="Wingdings" panose="05000000000000000000" pitchFamily="2" charset="2"/>
              <a:buNone/>
            </a:pPr>
            <a:r>
              <a:rPr lang="zh-CN" altLang="en-US" sz="2000">
                <a:latin typeface="Consolas" panose="020B0609020204030204" charset="0"/>
                <a:sym typeface="Arial" panose="020B0604020202020204" pitchFamily="34" charset="0"/>
              </a:rPr>
              <a:t>&gt;&gt;&gt; '九'.isnumeric()              # isnumeric()方法支持汉字数字</a:t>
            </a:r>
            <a:endParaRPr lang="zh-CN" altLang="en-US" sz="2000">
              <a:latin typeface="Consolas" panose="020B0609020204030204" charset="0"/>
              <a:sym typeface="Arial" panose="020B0604020202020204" pitchFamily="34" charset="0"/>
            </a:endParaRPr>
          </a:p>
          <a:p>
            <a:pPr marL="0" indent="0" defTabSz="914400" fontAlgn="auto">
              <a:lnSpc>
                <a:spcPct val="100000"/>
              </a:lnSpc>
              <a:spcBef>
                <a:spcPts val="0"/>
              </a:spcBef>
              <a:buSzPct val="70000"/>
              <a:buFont typeface="Wingdings" panose="05000000000000000000" pitchFamily="2" charset="2"/>
              <a:buNone/>
            </a:pPr>
            <a:r>
              <a:rPr lang="zh-CN" altLang="en-US" sz="2000">
                <a:solidFill>
                  <a:srgbClr val="00B0F0"/>
                </a:solidFill>
                <a:latin typeface="Consolas" panose="020B0609020204030204" charset="0"/>
                <a:sym typeface="Arial" panose="020B0604020202020204" pitchFamily="34" charset="0"/>
              </a:rPr>
              <a:t>True</a:t>
            </a:r>
            <a:endParaRPr lang="zh-CN" altLang="en-US" sz="2000">
              <a:solidFill>
                <a:srgbClr val="00B0F0"/>
              </a:solidFill>
              <a:latin typeface="Consolas" panose="020B0609020204030204" charset="0"/>
              <a:sym typeface="Arial" panose="020B0604020202020204" pitchFamily="34" charset="0"/>
            </a:endParaRPr>
          </a:p>
          <a:p>
            <a:pPr marL="0" indent="0" defTabSz="914400" fontAlgn="auto">
              <a:lnSpc>
                <a:spcPct val="100000"/>
              </a:lnSpc>
              <a:spcBef>
                <a:spcPts val="0"/>
              </a:spcBef>
              <a:buSzPct val="70000"/>
              <a:buFont typeface="Wingdings" panose="05000000000000000000" pitchFamily="2" charset="2"/>
              <a:buNone/>
            </a:pPr>
            <a:r>
              <a:rPr lang="zh-CN" altLang="en-US" sz="2000">
                <a:latin typeface="Consolas" panose="020B0609020204030204" charset="0"/>
                <a:sym typeface="Arial" panose="020B0604020202020204" pitchFamily="34" charset="0"/>
              </a:rPr>
              <a:t>&gt;&gt;&gt; '九'.isdigit()</a:t>
            </a:r>
            <a:endParaRPr lang="zh-CN" altLang="en-US" sz="2000">
              <a:latin typeface="Consolas" panose="020B0609020204030204" charset="0"/>
              <a:sym typeface="Arial" panose="020B0604020202020204" pitchFamily="34" charset="0"/>
            </a:endParaRPr>
          </a:p>
          <a:p>
            <a:pPr marL="0" indent="0" defTabSz="914400" fontAlgn="auto">
              <a:lnSpc>
                <a:spcPct val="100000"/>
              </a:lnSpc>
              <a:spcBef>
                <a:spcPts val="0"/>
              </a:spcBef>
              <a:buSzPct val="70000"/>
              <a:buFont typeface="Wingdings" panose="05000000000000000000" pitchFamily="2" charset="2"/>
              <a:buNone/>
            </a:pPr>
            <a:r>
              <a:rPr lang="zh-CN" altLang="en-US" sz="2000">
                <a:solidFill>
                  <a:srgbClr val="00B0F0"/>
                </a:solidFill>
                <a:latin typeface="Consolas" panose="020B0609020204030204" charset="0"/>
                <a:sym typeface="Arial" panose="020B0604020202020204" pitchFamily="34" charset="0"/>
              </a:rPr>
              <a:t>False</a:t>
            </a:r>
            <a:endParaRPr lang="zh-CN" altLang="en-US" sz="2000">
              <a:solidFill>
                <a:srgbClr val="00B0F0"/>
              </a:solidFill>
              <a:latin typeface="Consolas" panose="020B0609020204030204" charset="0"/>
              <a:sym typeface="Arial" panose="020B0604020202020204" pitchFamily="34" charset="0"/>
            </a:endParaRPr>
          </a:p>
          <a:p>
            <a:pPr marL="0" indent="0" defTabSz="914400" fontAlgn="auto">
              <a:lnSpc>
                <a:spcPct val="100000"/>
              </a:lnSpc>
              <a:spcBef>
                <a:spcPts val="0"/>
              </a:spcBef>
              <a:buSzPct val="70000"/>
              <a:buFont typeface="Wingdings" panose="05000000000000000000" pitchFamily="2" charset="2"/>
              <a:buNone/>
            </a:pPr>
            <a:r>
              <a:rPr lang="zh-CN" altLang="en-US" sz="2000">
                <a:latin typeface="Consolas" panose="020B0609020204030204" charset="0"/>
                <a:sym typeface="Arial" panose="020B0604020202020204" pitchFamily="34" charset="0"/>
              </a:rPr>
              <a:t>&gt;&gt;&gt; '九'.isdecimal()</a:t>
            </a:r>
            <a:endParaRPr lang="zh-CN" altLang="en-US" sz="2000">
              <a:latin typeface="Consolas" panose="020B0609020204030204" charset="0"/>
              <a:sym typeface="Arial" panose="020B0604020202020204" pitchFamily="34" charset="0"/>
            </a:endParaRPr>
          </a:p>
          <a:p>
            <a:pPr marL="0" indent="0" defTabSz="914400" fontAlgn="auto">
              <a:lnSpc>
                <a:spcPct val="100000"/>
              </a:lnSpc>
              <a:spcBef>
                <a:spcPts val="0"/>
              </a:spcBef>
              <a:buSzPct val="70000"/>
              <a:buFont typeface="Wingdings" panose="05000000000000000000" pitchFamily="2" charset="2"/>
              <a:buNone/>
            </a:pPr>
            <a:r>
              <a:rPr lang="zh-CN" altLang="en-US" sz="2000">
                <a:solidFill>
                  <a:srgbClr val="00B0F0"/>
                </a:solidFill>
                <a:latin typeface="Consolas" panose="020B0609020204030204" charset="0"/>
                <a:sym typeface="Arial" panose="020B0604020202020204" pitchFamily="34" charset="0"/>
              </a:rPr>
              <a:t>False</a:t>
            </a:r>
            <a:endParaRPr lang="zh-CN" altLang="en-US" sz="2000">
              <a:solidFill>
                <a:srgbClr val="00B0F0"/>
              </a:solidFill>
              <a:latin typeface="Consolas" panose="020B0609020204030204" charset="0"/>
              <a:sym typeface="Arial" panose="020B0604020202020204" pitchFamily="34" charset="0"/>
            </a:endParaRPr>
          </a:p>
          <a:p>
            <a:pPr marL="0" indent="0" defTabSz="914400" fontAlgn="auto">
              <a:lnSpc>
                <a:spcPct val="100000"/>
              </a:lnSpc>
              <a:spcBef>
                <a:spcPts val="0"/>
              </a:spcBef>
              <a:buSzPct val="70000"/>
              <a:buFont typeface="Wingdings" panose="05000000000000000000" pitchFamily="2" charset="2"/>
              <a:buNone/>
            </a:pPr>
            <a:r>
              <a:rPr lang="zh-CN" altLang="en-US" sz="2000">
                <a:latin typeface="Consolas" panose="020B0609020204030204" charset="0"/>
                <a:sym typeface="Arial" panose="020B0604020202020204" pitchFamily="34" charset="0"/>
              </a:rPr>
              <a:t>&gt;&gt;&gt; 'ⅣⅢⅩ'.isdecimal()</a:t>
            </a:r>
            <a:endParaRPr lang="zh-CN" altLang="en-US" sz="2000">
              <a:latin typeface="Consolas" panose="020B0609020204030204" charset="0"/>
              <a:sym typeface="Arial" panose="020B0604020202020204" pitchFamily="34" charset="0"/>
            </a:endParaRPr>
          </a:p>
          <a:p>
            <a:pPr marL="0" indent="0" defTabSz="914400" fontAlgn="auto">
              <a:lnSpc>
                <a:spcPct val="100000"/>
              </a:lnSpc>
              <a:spcBef>
                <a:spcPts val="0"/>
              </a:spcBef>
              <a:buSzPct val="70000"/>
              <a:buFont typeface="Wingdings" panose="05000000000000000000" pitchFamily="2" charset="2"/>
              <a:buNone/>
            </a:pPr>
            <a:r>
              <a:rPr lang="zh-CN" altLang="en-US" sz="2000">
                <a:solidFill>
                  <a:srgbClr val="00B0F0"/>
                </a:solidFill>
                <a:latin typeface="Consolas" panose="020B0609020204030204" charset="0"/>
                <a:sym typeface="Arial" panose="020B0604020202020204" pitchFamily="34" charset="0"/>
              </a:rPr>
              <a:t>False</a:t>
            </a:r>
            <a:endParaRPr lang="zh-CN" altLang="en-US" sz="2000">
              <a:solidFill>
                <a:srgbClr val="00B0F0"/>
              </a:solidFill>
              <a:latin typeface="Consolas" panose="020B0609020204030204" charset="0"/>
              <a:sym typeface="Arial" panose="020B0604020202020204" pitchFamily="34" charset="0"/>
            </a:endParaRPr>
          </a:p>
          <a:p>
            <a:pPr marL="0" indent="0" defTabSz="914400" fontAlgn="auto">
              <a:lnSpc>
                <a:spcPct val="100000"/>
              </a:lnSpc>
              <a:spcBef>
                <a:spcPts val="0"/>
              </a:spcBef>
              <a:buSzPct val="70000"/>
              <a:buFont typeface="Wingdings" panose="05000000000000000000" pitchFamily="2" charset="2"/>
              <a:buNone/>
            </a:pPr>
            <a:r>
              <a:rPr lang="zh-CN" altLang="en-US" sz="2000">
                <a:latin typeface="Consolas" panose="020B0609020204030204" charset="0"/>
                <a:sym typeface="Arial" panose="020B0604020202020204" pitchFamily="34" charset="0"/>
              </a:rPr>
              <a:t>&gt;&gt;&gt; 'ⅣⅢⅩ'.isdigit()</a:t>
            </a:r>
            <a:endParaRPr lang="zh-CN" altLang="en-US" sz="2000">
              <a:latin typeface="Consolas" panose="020B0609020204030204" charset="0"/>
              <a:sym typeface="Arial" panose="020B0604020202020204" pitchFamily="34" charset="0"/>
            </a:endParaRPr>
          </a:p>
          <a:p>
            <a:pPr marL="0" indent="0" defTabSz="914400" fontAlgn="auto">
              <a:lnSpc>
                <a:spcPct val="100000"/>
              </a:lnSpc>
              <a:spcBef>
                <a:spcPts val="0"/>
              </a:spcBef>
              <a:buSzPct val="70000"/>
              <a:buFont typeface="Wingdings" panose="05000000000000000000" pitchFamily="2" charset="2"/>
              <a:buNone/>
            </a:pPr>
            <a:r>
              <a:rPr lang="zh-CN" altLang="en-US" sz="2000">
                <a:solidFill>
                  <a:srgbClr val="00B0F0"/>
                </a:solidFill>
                <a:latin typeface="Consolas" panose="020B0609020204030204" charset="0"/>
                <a:sym typeface="Arial" panose="020B0604020202020204" pitchFamily="34" charset="0"/>
              </a:rPr>
              <a:t>False</a:t>
            </a:r>
            <a:endParaRPr lang="zh-CN" altLang="en-US" sz="2000">
              <a:solidFill>
                <a:srgbClr val="00B0F0"/>
              </a:solidFill>
              <a:latin typeface="Consolas" panose="020B0609020204030204" charset="0"/>
              <a:sym typeface="Arial" panose="020B0604020202020204" pitchFamily="34" charset="0"/>
            </a:endParaRPr>
          </a:p>
          <a:p>
            <a:pPr marL="0" indent="0" defTabSz="914400" fontAlgn="auto">
              <a:lnSpc>
                <a:spcPct val="100000"/>
              </a:lnSpc>
              <a:spcBef>
                <a:spcPts val="0"/>
              </a:spcBef>
              <a:buSzPct val="70000"/>
              <a:buFont typeface="Wingdings" panose="05000000000000000000" pitchFamily="2" charset="2"/>
              <a:buNone/>
            </a:pPr>
            <a:r>
              <a:rPr lang="zh-CN" altLang="en-US" sz="2000">
                <a:latin typeface="Consolas" panose="020B0609020204030204" charset="0"/>
                <a:sym typeface="Arial" panose="020B0604020202020204" pitchFamily="34" charset="0"/>
              </a:rPr>
              <a:t>&gt;&gt;&gt; 'ⅣⅢⅩ'.isnumeric()          # 支持罗马数字</a:t>
            </a:r>
            <a:endParaRPr lang="zh-CN" altLang="en-US" sz="2000">
              <a:latin typeface="Consolas" panose="020B0609020204030204" charset="0"/>
              <a:sym typeface="Arial" panose="020B0604020202020204" pitchFamily="34" charset="0"/>
            </a:endParaRPr>
          </a:p>
          <a:p>
            <a:pPr marL="0" indent="0" defTabSz="914400" fontAlgn="auto">
              <a:lnSpc>
                <a:spcPct val="100000"/>
              </a:lnSpc>
              <a:spcBef>
                <a:spcPts val="0"/>
              </a:spcBef>
              <a:buSzPct val="70000"/>
              <a:buFont typeface="Wingdings" panose="05000000000000000000" pitchFamily="2" charset="2"/>
              <a:buNone/>
            </a:pPr>
            <a:r>
              <a:rPr lang="zh-CN" altLang="en-US" sz="2000">
                <a:solidFill>
                  <a:srgbClr val="00B0F0"/>
                </a:solidFill>
                <a:latin typeface="Consolas" panose="020B0609020204030204" charset="0"/>
                <a:sym typeface="Arial" panose="020B0604020202020204" pitchFamily="34" charset="0"/>
              </a:rPr>
              <a:t>True</a:t>
            </a:r>
            <a:endParaRPr lang="zh-CN" altLang="en-US" sz="2000">
              <a:solidFill>
                <a:srgbClr val="00B0F0"/>
              </a:solidFill>
              <a:latin typeface="Consolas" panose="020B0609020204030204" charset="0"/>
              <a:sym typeface="Arial" panose="020B0604020202020204" pitchFamily="34"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7.4.9  center()、ljust()、rjust()</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45059" name="文本占位符 45058"/>
          <p:cNvSpPr>
            <a:spLocks noGrp="1"/>
          </p:cNvSpPr>
          <p:nvPr>
            <p:ph idx="1"/>
          </p:nvPr>
        </p:nvSpPr>
        <p:spPr>
          <a:xfrm>
            <a:off x="776605" y="1249680"/>
            <a:ext cx="10949940" cy="4526280"/>
          </a:xfrm>
          <a:ln>
            <a:miter/>
          </a:ln>
        </p:spPr>
        <p:txBody>
          <a:bodyPr anchor="t">
            <a:normAutofit/>
          </a:bodyPr>
          <a:p>
            <a:pPr marL="429260" indent="-401955" fontAlgn="base">
              <a:lnSpc>
                <a:spcPct val="130000"/>
              </a:lnSpc>
              <a:spcBef>
                <a:spcPts val="0"/>
              </a:spcBef>
              <a:buFont typeface="Wingdings" panose="05000000000000000000" charset="0"/>
              <a:buChar char=""/>
            </a:pPr>
            <a:r>
              <a:rPr lang="en-US" altLang="zh-CN" sz="2400" strike="noStrike" noProof="1">
                <a:latin typeface="Consolas" panose="020B0609020204030204" charset="0"/>
                <a:cs typeface="Consolas" panose="020B0609020204030204" charset="0"/>
              </a:rPr>
              <a:t>center(width, fillchar=</a:t>
            </a:r>
            <a:r>
              <a:rPr lang="en-US" altLang="zh-CN" sz="2400">
                <a:latin typeface="Consolas" panose="020B0609020204030204" charset="0"/>
                <a:cs typeface="Consolas" panose="020B0609020204030204" charset="0"/>
                <a:sym typeface="+mn-ea"/>
              </a:rPr>
              <a:t>'</a:t>
            </a:r>
            <a:r>
              <a:rPr lang="en-US" altLang="zh-CN" sz="2400" strike="noStrike" noProof="1">
                <a:latin typeface="Consolas" panose="020B0609020204030204" charset="0"/>
                <a:cs typeface="Consolas" panose="020B0609020204030204" charset="0"/>
              </a:rPr>
              <a:t> </a:t>
            </a:r>
            <a:r>
              <a:rPr lang="en-US" altLang="zh-CN" sz="2400">
                <a:latin typeface="Consolas" panose="020B0609020204030204" charset="0"/>
                <a:cs typeface="Consolas" panose="020B0609020204030204" charset="0"/>
                <a:sym typeface="+mn-ea"/>
              </a:rPr>
              <a:t>'</a:t>
            </a:r>
            <a:r>
              <a:rPr lang="en-US" altLang="zh-CN" sz="2400" strike="noStrike" noProof="1">
                <a:latin typeface="Consolas" panose="020B0609020204030204" charset="0"/>
                <a:cs typeface="Consolas" panose="020B0609020204030204" charset="0"/>
              </a:rPr>
              <a:t>, /)</a:t>
            </a:r>
            <a:r>
              <a:rPr lang="zh-CN" altLang="en-US" sz="2400" strike="noStrike" noProof="1">
                <a:latin typeface="Consolas" panose="020B0609020204030204" charset="0"/>
                <a:cs typeface="Consolas" panose="020B0609020204030204" charset="0"/>
              </a:rPr>
              <a:t>、</a:t>
            </a:r>
            <a:r>
              <a:rPr lang="en-US" altLang="zh-CN" sz="2400" strike="noStrike" noProof="1">
                <a:latin typeface="Consolas" panose="020B0609020204030204" charset="0"/>
                <a:cs typeface="Consolas" panose="020B0609020204030204" charset="0"/>
              </a:rPr>
              <a:t>ljust(width, fillchar=' ', /)</a:t>
            </a:r>
            <a:r>
              <a:rPr lang="zh-CN" altLang="en-US" sz="2400" strike="noStrike" noProof="1">
                <a:latin typeface="Consolas" panose="020B0609020204030204" charset="0"/>
                <a:cs typeface="Consolas" panose="020B0609020204030204" charset="0"/>
              </a:rPr>
              <a:t>、</a:t>
            </a:r>
            <a:r>
              <a:rPr lang="en-US" altLang="zh-CN" sz="2400" strike="noStrike" noProof="1">
                <a:latin typeface="Consolas" panose="020B0609020204030204" charset="0"/>
                <a:cs typeface="Consolas" panose="020B0609020204030204" charset="0"/>
              </a:rPr>
              <a:t>rjust(width, fillchar=' ', /)</a:t>
            </a:r>
            <a:r>
              <a:rPr lang="zh-CN" altLang="en-US" sz="2400" strike="noStrike" noProof="1">
                <a:latin typeface="Consolas" panose="020B0609020204030204" charset="0"/>
                <a:cs typeface="Consolas" panose="020B0609020204030204" charset="0"/>
              </a:rPr>
              <a:t>，返回指定宽度的新字符串，原字符串</a:t>
            </a:r>
            <a:r>
              <a:rPr lang="zh-CN" altLang="en-US" sz="2400" strike="noStrike" noProof="1">
                <a:solidFill>
                  <a:srgbClr val="FF0000"/>
                </a:solidFill>
                <a:latin typeface="Consolas" panose="020B0609020204030204" charset="0"/>
                <a:cs typeface="Consolas" panose="020B0609020204030204" charset="0"/>
              </a:rPr>
              <a:t>居中</a:t>
            </a:r>
            <a:r>
              <a:rPr lang="zh-CN" altLang="en-US" sz="2400" strike="noStrike" noProof="1">
                <a:latin typeface="Consolas" panose="020B0609020204030204" charset="0"/>
                <a:cs typeface="Consolas" panose="020B0609020204030204" charset="0"/>
              </a:rPr>
              <a:t>、</a:t>
            </a:r>
            <a:r>
              <a:rPr lang="zh-CN" altLang="en-US" sz="2400">
                <a:solidFill>
                  <a:srgbClr val="FF0000"/>
                </a:solidFill>
                <a:latin typeface="Consolas" panose="020B0609020204030204" charset="0"/>
                <a:cs typeface="Consolas" panose="020B0609020204030204" charset="0"/>
                <a:sym typeface="+mn-ea"/>
              </a:rPr>
              <a:t>居</a:t>
            </a:r>
            <a:r>
              <a:rPr lang="zh-CN" altLang="en-US" sz="2400" strike="noStrike" noProof="1">
                <a:solidFill>
                  <a:srgbClr val="FF0000"/>
                </a:solidFill>
                <a:latin typeface="Consolas" panose="020B0609020204030204" charset="0"/>
                <a:cs typeface="Consolas" panose="020B0609020204030204" charset="0"/>
              </a:rPr>
              <a:t>左</a:t>
            </a:r>
            <a:r>
              <a:rPr lang="zh-CN" altLang="en-US" sz="2400" strike="noStrike" noProof="1">
                <a:latin typeface="Consolas" panose="020B0609020204030204" charset="0"/>
                <a:cs typeface="Consolas" panose="020B0609020204030204" charset="0"/>
              </a:rPr>
              <a:t>或</a:t>
            </a:r>
            <a:r>
              <a:rPr lang="zh-CN" altLang="en-US" sz="2400">
                <a:solidFill>
                  <a:srgbClr val="FF0000"/>
                </a:solidFill>
                <a:latin typeface="Consolas" panose="020B0609020204030204" charset="0"/>
                <a:cs typeface="Consolas" panose="020B0609020204030204" charset="0"/>
                <a:sym typeface="+mn-ea"/>
              </a:rPr>
              <a:t>居</a:t>
            </a:r>
            <a:r>
              <a:rPr lang="zh-CN" altLang="en-US" sz="2400" strike="noStrike" noProof="1">
                <a:solidFill>
                  <a:srgbClr val="FF0000"/>
                </a:solidFill>
                <a:latin typeface="Consolas" panose="020B0609020204030204" charset="0"/>
                <a:cs typeface="Consolas" panose="020B0609020204030204" charset="0"/>
              </a:rPr>
              <a:t>右</a:t>
            </a:r>
            <a:r>
              <a:rPr lang="zh-CN" altLang="en-US" sz="2400" strike="noStrike" noProof="1">
                <a:latin typeface="Consolas" panose="020B0609020204030204" charset="0"/>
                <a:cs typeface="Consolas" panose="020B0609020204030204" charset="0"/>
              </a:rPr>
              <a:t>出现在新字符串中，如果指定宽度大于字符串长度，则使用指定的字符（默认为空格）进行填充。</a:t>
            </a:r>
            <a:endParaRPr lang="zh-CN" altLang="en-US" sz="2400" strike="noStrike" noProof="1">
              <a:latin typeface="Consolas" panose="020B0609020204030204" charset="0"/>
              <a:cs typeface="Consolas" panose="020B0609020204030204" charset="0"/>
            </a:endParaRPr>
          </a:p>
          <a:p>
            <a:pPr marL="1905" indent="0" fontAlgn="base">
              <a:lnSpc>
                <a:spcPct val="100000"/>
              </a:lnSpc>
              <a:spcBef>
                <a:spcPts val="0"/>
              </a:spcBef>
              <a:buNone/>
            </a:pPr>
            <a:r>
              <a:rPr lang="en-US" altLang="zh-CN" sz="2000" strike="noStrike" noProof="1">
                <a:latin typeface="Consolas" panose="020B0609020204030204" charset="0"/>
                <a:cs typeface="Consolas" panose="020B0609020204030204" charset="0"/>
              </a:rPr>
              <a:t>&gt;&gt;&gt; 'Hello world!'.center(20)        # 居中，</a:t>
            </a:r>
            <a:r>
              <a:rPr lang="zh-CN" altLang="en-US" sz="2000" strike="noStrike" noProof="1">
                <a:latin typeface="Consolas" panose="020B0609020204030204" charset="0"/>
                <a:cs typeface="Consolas" panose="020B0609020204030204" charset="0"/>
              </a:rPr>
              <a:t>两侧</a:t>
            </a:r>
            <a:r>
              <a:rPr lang="en-US" altLang="zh-CN" sz="2000" strike="noStrike" noProof="1">
                <a:latin typeface="Consolas" panose="020B0609020204030204" charset="0"/>
                <a:cs typeface="Consolas" panose="020B0609020204030204" charset="0"/>
              </a:rPr>
              <a:t>以空格进行填充</a:t>
            </a:r>
            <a:endParaRPr lang="en-US" altLang="zh-CN" sz="2000" strike="noStrike" noProof="1">
              <a:latin typeface="Consolas" panose="020B0609020204030204" charset="0"/>
              <a:cs typeface="Consolas" panose="020B0609020204030204" charset="0"/>
            </a:endParaRPr>
          </a:p>
          <a:p>
            <a:pPr marL="1905" indent="0" fontAlgn="base">
              <a:lnSpc>
                <a:spcPct val="100000"/>
              </a:lnSpc>
              <a:spcBef>
                <a:spcPts val="0"/>
              </a:spcBef>
              <a:buNone/>
            </a:pPr>
            <a:r>
              <a:rPr lang="en-US" altLang="zh-CN" sz="2000" strike="noStrike" noProof="1">
                <a:solidFill>
                  <a:srgbClr val="00B0F0"/>
                </a:solidFill>
                <a:latin typeface="Consolas" panose="020B0609020204030204" charset="0"/>
                <a:cs typeface="Consolas" panose="020B0609020204030204" charset="0"/>
              </a:rPr>
              <a:t>'    Hello world!    '</a:t>
            </a:r>
            <a:endParaRPr lang="en-US" altLang="zh-CN" sz="2000" strike="noStrike" noProof="1">
              <a:solidFill>
                <a:srgbClr val="00B0F0"/>
              </a:solidFill>
              <a:latin typeface="Consolas" panose="020B0609020204030204" charset="0"/>
              <a:cs typeface="Consolas" panose="020B0609020204030204" charset="0"/>
            </a:endParaRPr>
          </a:p>
          <a:p>
            <a:pPr marL="1905" indent="0" fontAlgn="base">
              <a:lnSpc>
                <a:spcPct val="100000"/>
              </a:lnSpc>
              <a:spcBef>
                <a:spcPts val="0"/>
              </a:spcBef>
              <a:buNone/>
            </a:pPr>
            <a:r>
              <a:rPr lang="en-US" altLang="zh-CN" sz="2000" strike="noStrike" noProof="1">
                <a:latin typeface="Consolas" panose="020B0609020204030204" charset="0"/>
                <a:cs typeface="Consolas" panose="020B0609020204030204" charset="0"/>
              </a:rPr>
              <a:t>&gt;&gt;&gt; 'Hello world!'.center(20, '=')   # 居中，</a:t>
            </a:r>
            <a:r>
              <a:rPr lang="zh-CN" altLang="en-US" sz="2000" strike="noStrike" noProof="1">
                <a:latin typeface="Consolas" panose="020B0609020204030204" charset="0"/>
                <a:cs typeface="Consolas" panose="020B0609020204030204" charset="0"/>
              </a:rPr>
              <a:t>两侧</a:t>
            </a:r>
            <a:r>
              <a:rPr lang="en-US" altLang="zh-CN" sz="2000" strike="noStrike" noProof="1">
                <a:latin typeface="Consolas" panose="020B0609020204030204" charset="0"/>
                <a:cs typeface="Consolas" panose="020B0609020204030204" charset="0"/>
              </a:rPr>
              <a:t>以字符=进行填充</a:t>
            </a:r>
            <a:endParaRPr lang="en-US" altLang="zh-CN" sz="2000" strike="noStrike" noProof="1">
              <a:latin typeface="Consolas" panose="020B0609020204030204" charset="0"/>
              <a:cs typeface="Consolas" panose="020B0609020204030204" charset="0"/>
            </a:endParaRPr>
          </a:p>
          <a:p>
            <a:pPr marL="1905" indent="0" fontAlgn="base">
              <a:lnSpc>
                <a:spcPct val="100000"/>
              </a:lnSpc>
              <a:spcBef>
                <a:spcPts val="0"/>
              </a:spcBef>
              <a:buNone/>
            </a:pPr>
            <a:r>
              <a:rPr lang="en-US" altLang="zh-CN" sz="2000" strike="noStrike" noProof="1">
                <a:solidFill>
                  <a:srgbClr val="00B0F0"/>
                </a:solidFill>
                <a:latin typeface="Consolas" panose="020B0609020204030204" charset="0"/>
                <a:cs typeface="Consolas" panose="020B0609020204030204" charset="0"/>
              </a:rPr>
              <a:t>'====Hello world!===='</a:t>
            </a:r>
            <a:endParaRPr lang="en-US" altLang="zh-CN" sz="2000" strike="noStrike" noProof="1">
              <a:solidFill>
                <a:srgbClr val="00B0F0"/>
              </a:solidFill>
              <a:latin typeface="Consolas" panose="020B0609020204030204" charset="0"/>
              <a:cs typeface="Consolas" panose="020B0609020204030204" charset="0"/>
            </a:endParaRPr>
          </a:p>
          <a:p>
            <a:pPr marL="1905" indent="0" fontAlgn="base">
              <a:lnSpc>
                <a:spcPct val="100000"/>
              </a:lnSpc>
              <a:spcBef>
                <a:spcPts val="0"/>
              </a:spcBef>
              <a:buNone/>
            </a:pPr>
            <a:r>
              <a:rPr lang="en-US" altLang="zh-CN" sz="2000" strike="noStrike" noProof="1">
                <a:latin typeface="Consolas" panose="020B0609020204030204" charset="0"/>
                <a:cs typeface="Consolas" panose="020B0609020204030204" charset="0"/>
              </a:rPr>
              <a:t>&gt;&gt;&gt; 'Hello world!'.ljust(20, '=')    # </a:t>
            </a:r>
            <a:r>
              <a:rPr lang="zh-CN" altLang="en-US" sz="2000" strike="noStrike" noProof="1">
                <a:latin typeface="Consolas" panose="020B0609020204030204" charset="0"/>
                <a:cs typeface="Consolas" panose="020B0609020204030204" charset="0"/>
              </a:rPr>
              <a:t>居左，右侧以字符</a:t>
            </a:r>
            <a:r>
              <a:rPr lang="en-US" altLang="zh-CN" sz="2000" strike="noStrike" noProof="1">
                <a:latin typeface="Consolas" panose="020B0609020204030204" charset="0"/>
                <a:cs typeface="Consolas" panose="020B0609020204030204" charset="0"/>
              </a:rPr>
              <a:t>=</a:t>
            </a:r>
            <a:r>
              <a:rPr lang="zh-CN" altLang="en-US" sz="2000" strike="noStrike" noProof="1">
                <a:latin typeface="Consolas" panose="020B0609020204030204" charset="0"/>
                <a:cs typeface="Consolas" panose="020B0609020204030204" charset="0"/>
              </a:rPr>
              <a:t>进行填充</a:t>
            </a:r>
            <a:endParaRPr lang="en-US" altLang="zh-CN" sz="2000" strike="noStrike" noProof="1">
              <a:latin typeface="Consolas" panose="020B0609020204030204" charset="0"/>
              <a:cs typeface="Consolas" panose="020B0609020204030204" charset="0"/>
            </a:endParaRPr>
          </a:p>
          <a:p>
            <a:pPr marL="1905" indent="0" fontAlgn="base">
              <a:lnSpc>
                <a:spcPct val="100000"/>
              </a:lnSpc>
              <a:spcBef>
                <a:spcPts val="0"/>
              </a:spcBef>
              <a:buNone/>
            </a:pPr>
            <a:r>
              <a:rPr lang="en-US" altLang="zh-CN" sz="2000" strike="noStrike" noProof="1">
                <a:solidFill>
                  <a:srgbClr val="00B0F0"/>
                </a:solidFill>
                <a:latin typeface="Consolas" panose="020B0609020204030204" charset="0"/>
                <a:cs typeface="Consolas" panose="020B0609020204030204" charset="0"/>
              </a:rPr>
              <a:t>'Hello world!========'</a:t>
            </a:r>
            <a:endParaRPr lang="en-US" altLang="zh-CN" sz="2000" strike="noStrike" noProof="1">
              <a:solidFill>
                <a:srgbClr val="00B0F0"/>
              </a:solidFill>
              <a:latin typeface="Consolas" panose="020B0609020204030204" charset="0"/>
              <a:cs typeface="Consolas" panose="020B0609020204030204" charset="0"/>
            </a:endParaRPr>
          </a:p>
          <a:p>
            <a:pPr marL="1905" indent="0" fontAlgn="base">
              <a:lnSpc>
                <a:spcPct val="100000"/>
              </a:lnSpc>
              <a:spcBef>
                <a:spcPts val="0"/>
              </a:spcBef>
              <a:buNone/>
            </a:pPr>
            <a:r>
              <a:rPr lang="en-US" altLang="zh-CN" sz="2000" strike="noStrike" noProof="1">
                <a:latin typeface="Consolas" panose="020B0609020204030204" charset="0"/>
                <a:cs typeface="Consolas" panose="020B0609020204030204" charset="0"/>
              </a:rPr>
              <a:t>&gt;&gt;&gt; 'Hello world!'.rjust(20, '=')    # </a:t>
            </a:r>
            <a:r>
              <a:rPr lang="zh-CN" altLang="en-US" sz="2000" strike="noStrike" noProof="1">
                <a:latin typeface="Consolas" panose="020B0609020204030204" charset="0"/>
                <a:cs typeface="Consolas" panose="020B0609020204030204" charset="0"/>
              </a:rPr>
              <a:t>居右，左侧以字符</a:t>
            </a:r>
            <a:r>
              <a:rPr lang="en-US" altLang="zh-CN" sz="2000" strike="noStrike" noProof="1">
                <a:latin typeface="Consolas" panose="020B0609020204030204" charset="0"/>
                <a:cs typeface="Consolas" panose="020B0609020204030204" charset="0"/>
              </a:rPr>
              <a:t>=</a:t>
            </a:r>
            <a:r>
              <a:rPr lang="zh-CN" altLang="en-US" sz="2000" strike="noStrike" noProof="1">
                <a:latin typeface="Consolas" panose="020B0609020204030204" charset="0"/>
                <a:cs typeface="Consolas" panose="020B0609020204030204" charset="0"/>
              </a:rPr>
              <a:t>进行填充</a:t>
            </a:r>
            <a:endParaRPr lang="en-US" altLang="zh-CN" sz="2000" strike="noStrike" noProof="1">
              <a:latin typeface="Consolas" panose="020B0609020204030204" charset="0"/>
              <a:cs typeface="Consolas" panose="020B0609020204030204" charset="0"/>
            </a:endParaRPr>
          </a:p>
          <a:p>
            <a:pPr marL="1905" indent="0" fontAlgn="base">
              <a:lnSpc>
                <a:spcPct val="100000"/>
              </a:lnSpc>
              <a:spcBef>
                <a:spcPts val="0"/>
              </a:spcBef>
              <a:buNone/>
            </a:pPr>
            <a:r>
              <a:rPr lang="en-US" altLang="zh-CN" sz="2000" strike="noStrike" noProof="1">
                <a:solidFill>
                  <a:srgbClr val="00B0F0"/>
                </a:solidFill>
                <a:latin typeface="Consolas" panose="020B0609020204030204" charset="0"/>
                <a:cs typeface="Consolas" panose="020B0609020204030204" charset="0"/>
              </a:rPr>
              <a:t>'========Hello world!'</a:t>
            </a:r>
            <a:endParaRPr lang="en-US" altLang="zh-CN" sz="2000" strike="noStrike" noProof="1">
              <a:solidFill>
                <a:srgbClr val="00B0F0"/>
              </a:solidFill>
              <a:latin typeface="Consolas" panose="020B0609020204030204" charset="0"/>
              <a:cs typeface="Consolas" panose="020B0609020204030204"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7.4.10  字符串对象支持的运算符</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5" name="Content Placeholder 2"/>
          <p:cNvSpPr>
            <a:spLocks noGrp="1"/>
          </p:cNvSpPr>
          <p:nvPr>
            <p:ph idx="1"/>
          </p:nvPr>
        </p:nvSpPr>
        <p:spPr>
          <a:xfrm>
            <a:off x="749300" y="1273175"/>
            <a:ext cx="10769600" cy="4526280"/>
          </a:xfrm>
        </p:spPr>
        <p:txBody>
          <a:bodyPr/>
          <a:p>
            <a:pPr marL="442595" indent="-442595" fontAlgn="base">
              <a:lnSpc>
                <a:spcPct val="150000"/>
              </a:lnSpc>
              <a:spcBef>
                <a:spcPts val="0"/>
              </a:spcBef>
              <a:buFont typeface="Wingdings" panose="05000000000000000000" charset="0"/>
              <a:buChar char=""/>
            </a:pPr>
            <a:r>
              <a:rPr lang="en-US" sz="2400" strike="noStrike" noProof="1"/>
              <a:t>Python字符串支持</a:t>
            </a:r>
            <a:r>
              <a:rPr lang="zh-CN" altLang="en-US" sz="2400" strike="noStrike" noProof="1"/>
              <a:t>加法运算符，表示两个字符串连接，生成</a:t>
            </a:r>
            <a:r>
              <a:rPr lang="zh-CN" altLang="en-US" sz="2400" strike="noStrike" noProof="1">
                <a:solidFill>
                  <a:srgbClr val="FF0000"/>
                </a:solidFill>
              </a:rPr>
              <a:t>新字符串</a:t>
            </a:r>
            <a:r>
              <a:rPr lang="en-US" sz="2400" strike="noStrike" noProof="1"/>
              <a:t>。</a:t>
            </a:r>
            <a:endParaRPr lang="en-US" sz="2400" strike="noStrike" noProof="1"/>
          </a:p>
          <a:p>
            <a:pPr marL="0" indent="0" fontAlgn="base">
              <a:buNone/>
            </a:pPr>
            <a:endParaRPr lang="en-US" sz="2400" strike="noStrike" noProof="1"/>
          </a:p>
          <a:p>
            <a:pPr marL="0" indent="0" fontAlgn="base">
              <a:buNone/>
            </a:pPr>
            <a:r>
              <a:rPr lang="en-US" sz="2000" strike="noStrike" noProof="1">
                <a:latin typeface="Consolas" panose="020B0609020204030204" charset="0"/>
              </a:rPr>
              <a:t>&gt;&gt;&gt; 'hello ' + 'world'</a:t>
            </a:r>
            <a:endParaRPr lang="en-US" sz="2000" strike="noStrike" noProof="1">
              <a:latin typeface="Consolas" panose="020B0609020204030204" charset="0"/>
            </a:endParaRPr>
          </a:p>
          <a:p>
            <a:pPr marL="0" indent="0" fontAlgn="base">
              <a:buNone/>
            </a:pPr>
            <a:r>
              <a:rPr lang="en-US" sz="2000" strike="noStrike" noProof="1">
                <a:solidFill>
                  <a:srgbClr val="00B0F0"/>
                </a:solidFill>
                <a:latin typeface="Consolas" panose="020B0609020204030204" charset="0"/>
              </a:rPr>
              <a:t>'hello world'</a:t>
            </a:r>
            <a:endParaRPr lang="en-US" sz="2000" strike="noStrike" noProof="1">
              <a:solidFill>
                <a:srgbClr val="00B0F0"/>
              </a:solidFill>
              <a:latin typeface="Consolas" panose="020B0609020204030204"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7.4.10  字符串对象支持的运算符</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5" name="Content Placeholder 2"/>
          <p:cNvSpPr>
            <a:spLocks noGrp="1"/>
          </p:cNvSpPr>
          <p:nvPr>
            <p:ph idx="1"/>
          </p:nvPr>
        </p:nvSpPr>
        <p:spPr>
          <a:xfrm>
            <a:off x="749300" y="1273175"/>
            <a:ext cx="10769600" cy="4526280"/>
          </a:xfrm>
        </p:spPr>
        <p:txBody>
          <a:bodyPr/>
          <a:p>
            <a:pPr marL="442595" indent="-442595" fontAlgn="base">
              <a:lnSpc>
                <a:spcPct val="150000"/>
              </a:lnSpc>
              <a:spcBef>
                <a:spcPts val="0"/>
              </a:spcBef>
              <a:buFont typeface="Wingdings" panose="05000000000000000000" charset="0"/>
              <a:buChar char=""/>
            </a:pPr>
            <a:r>
              <a:rPr lang="en-US" sz="2400" strike="noStrike" noProof="1"/>
              <a:t>Python字符串支持与</a:t>
            </a:r>
            <a:r>
              <a:rPr lang="en-US" sz="2400" strike="noStrike" noProof="1">
                <a:solidFill>
                  <a:srgbClr val="FF0000"/>
                </a:solidFill>
              </a:rPr>
              <a:t>整数</a:t>
            </a:r>
            <a:r>
              <a:rPr lang="en-US" sz="2400" strike="noStrike" noProof="1"/>
              <a:t>的乘法运算，表示序列重复，也就是</a:t>
            </a:r>
            <a:r>
              <a:rPr lang="en-US" sz="2400" strike="noStrike" noProof="1">
                <a:solidFill>
                  <a:srgbClr val="FF0000"/>
                </a:solidFill>
              </a:rPr>
              <a:t>字符串内容的重复</a:t>
            </a:r>
            <a:r>
              <a:rPr lang="zh-CN" altLang="en-US" sz="2400" strike="noStrike" noProof="1">
                <a:solidFill>
                  <a:srgbClr val="FF0000"/>
                </a:solidFill>
              </a:rPr>
              <a:t>，得到新字符串</a:t>
            </a:r>
            <a:r>
              <a:rPr lang="en-US" sz="2400" strike="noStrike" noProof="1"/>
              <a:t>。</a:t>
            </a:r>
            <a:endParaRPr lang="en-US" sz="2400" strike="noStrike" noProof="1"/>
          </a:p>
          <a:p>
            <a:pPr marL="0" indent="0" fontAlgn="base">
              <a:buNone/>
            </a:pPr>
            <a:r>
              <a:rPr lang="en-US" sz="2000" strike="noStrike" noProof="1">
                <a:latin typeface="Consolas" panose="020B0609020204030204" charset="0"/>
              </a:rPr>
              <a:t>&gt;&gt;&gt; 'abcd' * 3</a:t>
            </a:r>
            <a:endParaRPr lang="en-US" sz="2000" strike="noStrike" noProof="1">
              <a:latin typeface="Consolas" panose="020B0609020204030204" charset="0"/>
            </a:endParaRPr>
          </a:p>
          <a:p>
            <a:pPr marL="0" indent="0" fontAlgn="base">
              <a:buNone/>
            </a:pPr>
            <a:r>
              <a:rPr lang="en-US" sz="2000" strike="noStrike" noProof="1">
                <a:solidFill>
                  <a:srgbClr val="00B0F0"/>
                </a:solidFill>
                <a:latin typeface="Consolas" panose="020B0609020204030204" charset="0"/>
              </a:rPr>
              <a:t>'abcdabcdabcd'</a:t>
            </a:r>
            <a:endParaRPr lang="en-US" sz="2000" strike="noStrike" noProof="1">
              <a:solidFill>
                <a:srgbClr val="00B0F0"/>
              </a:solidFill>
              <a:latin typeface="Consolas" panose="020B0609020204030204" charset="0"/>
            </a:endParaRPr>
          </a:p>
          <a:p>
            <a:pPr marL="0" indent="0" fontAlgn="base">
              <a:buNone/>
            </a:pPr>
            <a:r>
              <a:rPr lang="en-US" sz="2000" strike="noStrike" noProof="1">
                <a:latin typeface="Consolas" panose="020B0609020204030204" charset="0"/>
              </a:rPr>
              <a:t>&gt;&gt;&gt; from itertools import repeat</a:t>
            </a:r>
            <a:endParaRPr lang="en-US" sz="2000" strike="noStrike" noProof="1">
              <a:latin typeface="Consolas" panose="020B0609020204030204" charset="0"/>
            </a:endParaRPr>
          </a:p>
          <a:p>
            <a:pPr marL="0" indent="0" fontAlgn="base">
              <a:buNone/>
            </a:pPr>
            <a:r>
              <a:rPr lang="en-US" sz="2000" strike="noStrike" noProof="1">
                <a:latin typeface="Consolas" panose="020B0609020204030204" charset="0"/>
              </a:rPr>
              <a:t>&gt;&gt;&gt; repeat('Python', 3)</a:t>
            </a:r>
            <a:endParaRPr lang="en-US" sz="2000" strike="noStrike" noProof="1">
              <a:latin typeface="Consolas" panose="020B0609020204030204" charset="0"/>
            </a:endParaRPr>
          </a:p>
          <a:p>
            <a:pPr marL="0" indent="0" fontAlgn="base">
              <a:buNone/>
            </a:pPr>
            <a:r>
              <a:rPr lang="en-US" sz="2000" strike="noStrike" noProof="1">
                <a:solidFill>
                  <a:srgbClr val="00B0F0"/>
                </a:solidFill>
                <a:latin typeface="Consolas" panose="020B0609020204030204" charset="0"/>
              </a:rPr>
              <a:t>repeat('Python', 3)</a:t>
            </a:r>
            <a:endParaRPr lang="en-US" sz="2000" strike="noStrike" noProof="1">
              <a:solidFill>
                <a:srgbClr val="00B0F0"/>
              </a:solidFill>
              <a:latin typeface="Consolas" panose="020B0609020204030204" charset="0"/>
            </a:endParaRPr>
          </a:p>
          <a:p>
            <a:pPr marL="0" indent="0" fontAlgn="base">
              <a:buNone/>
            </a:pPr>
            <a:r>
              <a:rPr lang="en-US" sz="2000" strike="noStrike" noProof="1">
                <a:latin typeface="Consolas" panose="020B0609020204030204" charset="0"/>
              </a:rPr>
              <a:t>&gt;&gt;&gt; ''.join(repeat('Python', 3))</a:t>
            </a:r>
            <a:endParaRPr lang="en-US" sz="2000" strike="noStrike" noProof="1">
              <a:latin typeface="Consolas" panose="020B0609020204030204" charset="0"/>
            </a:endParaRPr>
          </a:p>
          <a:p>
            <a:pPr marL="0" indent="0" fontAlgn="base">
              <a:buNone/>
            </a:pPr>
            <a:r>
              <a:rPr lang="en-US" sz="2000" strike="noStrike" noProof="1">
                <a:solidFill>
                  <a:srgbClr val="00B0F0"/>
                </a:solidFill>
                <a:latin typeface="Consolas" panose="020B0609020204030204" charset="0"/>
              </a:rPr>
              <a:t>'PythonPythonPython'</a:t>
            </a:r>
            <a:endParaRPr lang="en-US" sz="2000" strike="noStrike" noProof="1">
              <a:solidFill>
                <a:srgbClr val="00B0F0"/>
              </a:solidFill>
              <a:latin typeface="Consolas" panose="020B0609020204030204"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7.4.10  字符串对象支持的运算符</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57346" name="文本占位符 44034"/>
          <p:cNvSpPr>
            <a:spLocks noGrp="1"/>
          </p:cNvSpPr>
          <p:nvPr>
            <p:ph idx="1"/>
          </p:nvPr>
        </p:nvSpPr>
        <p:spPr/>
        <p:txBody>
          <a:bodyPr anchor="t"/>
          <a:p>
            <a:pPr defTabSz="914400">
              <a:lnSpc>
                <a:spcPct val="80000"/>
              </a:lnSpc>
              <a:buSzPct val="70000"/>
              <a:buFont typeface="Wingdings" panose="05000000000000000000" charset="0"/>
              <a:buChar char=""/>
            </a:pPr>
            <a:r>
              <a:rPr lang="zh-CN" altLang="en-US" sz="2400" dirty="0">
                <a:latin typeface="宋体" panose="02010600030101010101" pitchFamily="2" charset="-122"/>
                <a:sym typeface="Arial" panose="020B0604020202020204" pitchFamily="34" charset="0"/>
              </a:rPr>
              <a:t>成员判断，关键字</a:t>
            </a:r>
            <a:r>
              <a:rPr lang="en-US" altLang="zh-CN" sz="2400" dirty="0">
                <a:latin typeface="宋体" panose="02010600030101010101" pitchFamily="2" charset="-122"/>
                <a:sym typeface="Arial" panose="020B0604020202020204" pitchFamily="34" charset="0"/>
              </a:rPr>
              <a:t>in</a:t>
            </a:r>
            <a:endParaRPr lang="en-US" altLang="zh-CN" sz="2400" dirty="0">
              <a:latin typeface="宋体" panose="02010600030101010101" pitchFamily="2" charset="-122"/>
              <a:sym typeface="Arial" panose="020B0604020202020204" pitchFamily="34" charset="0"/>
            </a:endParaRPr>
          </a:p>
          <a:p>
            <a:pPr defTabSz="914400">
              <a:lnSpc>
                <a:spcPct val="80000"/>
              </a:lnSpc>
              <a:buSzPct val="70000"/>
              <a:buFont typeface="Wingdings" panose="05000000000000000000" pitchFamily="2" charset="2"/>
              <a:buNone/>
            </a:pPr>
            <a:endParaRPr lang="en-US" altLang="zh-CN" sz="1800" dirty="0">
              <a:latin typeface="Consolas" panose="020B0609020204030204" charset="0"/>
            </a:endParaRPr>
          </a:p>
          <a:p>
            <a:pPr defTabSz="914400">
              <a:lnSpc>
                <a:spcPct val="80000"/>
              </a:lnSpc>
              <a:buSzPct val="70000"/>
              <a:buFont typeface="Wingdings" panose="05000000000000000000" pitchFamily="2" charset="2"/>
              <a:buNone/>
            </a:pPr>
            <a:r>
              <a:rPr lang="en-US" altLang="zh-CN" sz="2000" dirty="0">
                <a:latin typeface="Consolas" panose="020B0609020204030204" charset="0"/>
              </a:rPr>
              <a:t>&gt;&gt;&gt; </a:t>
            </a:r>
            <a:r>
              <a:rPr lang="zh-CN" altLang="en-US" sz="2000" dirty="0">
                <a:latin typeface="Consolas" panose="020B0609020204030204" charset="0"/>
                <a:sym typeface="+mn-ea"/>
              </a:rPr>
              <a:t>'</a:t>
            </a:r>
            <a:r>
              <a:rPr lang="en-US" altLang="zh-CN" sz="2000" dirty="0">
                <a:latin typeface="Consolas" panose="020B0609020204030204" charset="0"/>
              </a:rPr>
              <a:t>a</a:t>
            </a:r>
            <a:r>
              <a:rPr lang="zh-CN" altLang="en-US" sz="2000" dirty="0">
                <a:latin typeface="Consolas" panose="020B0609020204030204" charset="0"/>
                <a:sym typeface="+mn-ea"/>
              </a:rPr>
              <a:t>'</a:t>
            </a:r>
            <a:r>
              <a:rPr lang="en-US" altLang="zh-CN" sz="2000" dirty="0">
                <a:latin typeface="Consolas" panose="020B0609020204030204" charset="0"/>
              </a:rPr>
              <a:t> in </a:t>
            </a:r>
            <a:r>
              <a:rPr lang="zh-CN" altLang="en-US" sz="2000" dirty="0">
                <a:latin typeface="Consolas" panose="020B0609020204030204" charset="0"/>
                <a:sym typeface="+mn-ea"/>
              </a:rPr>
              <a:t>'</a:t>
            </a:r>
            <a:r>
              <a:rPr lang="en-US" altLang="zh-CN" sz="2000" dirty="0">
                <a:latin typeface="Consolas" panose="020B0609020204030204" charset="0"/>
              </a:rPr>
              <a:t>abcde</a:t>
            </a:r>
            <a:r>
              <a:rPr lang="zh-CN" altLang="en-US" sz="2000" dirty="0">
                <a:latin typeface="Consolas" panose="020B0609020204030204" charset="0"/>
                <a:sym typeface="+mn-ea"/>
              </a:rPr>
              <a:t>'</a:t>
            </a:r>
            <a:r>
              <a:rPr lang="en-US" altLang="zh-CN" sz="2000" dirty="0">
                <a:latin typeface="Consolas" panose="020B0609020204030204" charset="0"/>
              </a:rPr>
              <a:t>     # </a:t>
            </a:r>
            <a:r>
              <a:rPr lang="zh-CN" altLang="en-US" sz="2000" dirty="0">
                <a:latin typeface="Consolas" panose="020B0609020204030204" charset="0"/>
              </a:rPr>
              <a:t>测试一个字符中是否存在于另一个字符串中</a:t>
            </a:r>
            <a:endParaRPr lang="zh-CN" altLang="en-US" sz="2000" dirty="0">
              <a:latin typeface="Consolas" panose="020B0609020204030204" charset="0"/>
            </a:endParaRPr>
          </a:p>
          <a:p>
            <a:pPr defTabSz="914400">
              <a:lnSpc>
                <a:spcPct val="80000"/>
              </a:lnSpc>
              <a:buSzPct val="70000"/>
              <a:buFont typeface="Wingdings" panose="05000000000000000000" pitchFamily="2" charset="2"/>
              <a:buNone/>
            </a:pPr>
            <a:r>
              <a:rPr lang="en-US" altLang="zh-CN" sz="2000" dirty="0">
                <a:solidFill>
                  <a:srgbClr val="00B0F0"/>
                </a:solidFill>
                <a:latin typeface="Consolas" panose="020B0609020204030204" charset="0"/>
              </a:rPr>
              <a:t>True</a:t>
            </a:r>
            <a:endParaRPr lang="en-US" altLang="zh-CN" sz="2000" dirty="0">
              <a:solidFill>
                <a:srgbClr val="00B0F0"/>
              </a:solidFill>
              <a:latin typeface="Consolas" panose="020B0609020204030204" charset="0"/>
            </a:endParaRPr>
          </a:p>
          <a:p>
            <a:pPr defTabSz="914400">
              <a:lnSpc>
                <a:spcPct val="80000"/>
              </a:lnSpc>
              <a:buSzPct val="70000"/>
              <a:buFont typeface="Wingdings" panose="05000000000000000000" pitchFamily="2" charset="2"/>
              <a:buNone/>
            </a:pPr>
            <a:r>
              <a:rPr lang="en-US" altLang="zh-CN" sz="2000" dirty="0">
                <a:latin typeface="Consolas" panose="020B0609020204030204" charset="0"/>
              </a:rPr>
              <a:t>&gt;&gt;&gt; 'ab' in 'abcde'</a:t>
            </a:r>
            <a:endParaRPr lang="en-US" altLang="zh-CN" sz="2000" dirty="0">
              <a:latin typeface="Consolas" panose="020B0609020204030204" charset="0"/>
            </a:endParaRPr>
          </a:p>
          <a:p>
            <a:pPr defTabSz="914400">
              <a:lnSpc>
                <a:spcPct val="80000"/>
              </a:lnSpc>
              <a:buSzPct val="70000"/>
              <a:buFont typeface="Wingdings" panose="05000000000000000000" pitchFamily="2" charset="2"/>
              <a:buNone/>
            </a:pPr>
            <a:r>
              <a:rPr lang="en-US" altLang="zh-CN" sz="2000" dirty="0">
                <a:solidFill>
                  <a:srgbClr val="00B0F0"/>
                </a:solidFill>
                <a:latin typeface="Consolas" panose="020B0609020204030204" charset="0"/>
              </a:rPr>
              <a:t>True</a:t>
            </a:r>
            <a:endParaRPr lang="en-US" altLang="zh-CN" sz="2000" dirty="0">
              <a:solidFill>
                <a:srgbClr val="00B0F0"/>
              </a:solidFill>
              <a:latin typeface="Consolas" panose="020B0609020204030204" charset="0"/>
            </a:endParaRPr>
          </a:p>
          <a:p>
            <a:pPr defTabSz="914400">
              <a:lnSpc>
                <a:spcPct val="80000"/>
              </a:lnSpc>
              <a:buSzPct val="70000"/>
              <a:buFont typeface="Wingdings" panose="05000000000000000000" pitchFamily="2" charset="2"/>
              <a:buNone/>
            </a:pPr>
            <a:r>
              <a:rPr lang="en-US" altLang="zh-CN" sz="2000" dirty="0">
                <a:latin typeface="Consolas" panose="020B0609020204030204" charset="0"/>
              </a:rPr>
              <a:t>&gt;&gt;&gt; 'ac' in 'abcde'    # </a:t>
            </a:r>
            <a:r>
              <a:rPr lang="zh-CN" altLang="en-US" sz="2000" dirty="0">
                <a:latin typeface="Consolas" panose="020B0609020204030204" charset="0"/>
              </a:rPr>
              <a:t>关键字</a:t>
            </a:r>
            <a:r>
              <a:rPr lang="en-US" altLang="zh-CN" sz="2000" dirty="0">
                <a:latin typeface="Consolas" panose="020B0609020204030204" charset="0"/>
              </a:rPr>
              <a:t>in</a:t>
            </a:r>
            <a:r>
              <a:rPr lang="zh-CN" altLang="en-US" sz="2000" dirty="0">
                <a:latin typeface="Consolas" panose="020B0609020204030204" charset="0"/>
              </a:rPr>
              <a:t>左边的字符串作为一个整体对待</a:t>
            </a:r>
            <a:endParaRPr lang="zh-CN" altLang="en-US" sz="2000" dirty="0">
              <a:latin typeface="Consolas" panose="020B0609020204030204" charset="0"/>
            </a:endParaRPr>
          </a:p>
          <a:p>
            <a:pPr defTabSz="914400">
              <a:lnSpc>
                <a:spcPct val="80000"/>
              </a:lnSpc>
              <a:buSzPct val="70000"/>
              <a:buFont typeface="Wingdings" panose="05000000000000000000" pitchFamily="2" charset="2"/>
              <a:buNone/>
            </a:pPr>
            <a:r>
              <a:rPr lang="en-US" altLang="zh-CN" sz="2000" dirty="0">
                <a:solidFill>
                  <a:srgbClr val="00B0F0"/>
                </a:solidFill>
                <a:latin typeface="Consolas" panose="020B0609020204030204" charset="0"/>
              </a:rPr>
              <a:t>False</a:t>
            </a:r>
            <a:endParaRPr lang="en-US" altLang="zh-CN" sz="2000" dirty="0">
              <a:solidFill>
                <a:srgbClr val="00B0F0"/>
              </a:solidFill>
              <a:latin typeface="Consolas" panose="020B0609020204030204" charset="0"/>
            </a:endParaRPr>
          </a:p>
          <a:p>
            <a:pPr defTabSz="914400">
              <a:lnSpc>
                <a:spcPct val="80000"/>
              </a:lnSpc>
              <a:buSzPct val="70000"/>
              <a:buFont typeface="Wingdings" panose="05000000000000000000" pitchFamily="2" charset="2"/>
              <a:buNone/>
            </a:pPr>
            <a:r>
              <a:rPr lang="en-US" altLang="zh-CN" sz="2000" dirty="0">
                <a:latin typeface="Consolas" panose="020B0609020204030204" charset="0"/>
              </a:rPr>
              <a:t>&gt;&gt;&gt; </a:t>
            </a:r>
            <a:r>
              <a:rPr lang="zh-CN" altLang="en-US" sz="2000" dirty="0">
                <a:latin typeface="Consolas" panose="020B0609020204030204" charset="0"/>
                <a:sym typeface="+mn-ea"/>
              </a:rPr>
              <a:t>'</a:t>
            </a:r>
            <a:r>
              <a:rPr lang="en-US" altLang="zh-CN" sz="2000" dirty="0">
                <a:latin typeface="Consolas" panose="020B0609020204030204" charset="0"/>
              </a:rPr>
              <a:t>j</a:t>
            </a:r>
            <a:r>
              <a:rPr lang="zh-CN" altLang="en-US" sz="2000" dirty="0">
                <a:latin typeface="Consolas" panose="020B0609020204030204" charset="0"/>
                <a:sym typeface="+mn-ea"/>
              </a:rPr>
              <a:t>'</a:t>
            </a:r>
            <a:r>
              <a:rPr lang="en-US" altLang="zh-CN" sz="2000" dirty="0">
                <a:latin typeface="Consolas" panose="020B0609020204030204" charset="0"/>
              </a:rPr>
              <a:t> in </a:t>
            </a:r>
            <a:r>
              <a:rPr lang="zh-CN" altLang="en-US" sz="2000" dirty="0">
                <a:latin typeface="Consolas" panose="020B0609020204030204" charset="0"/>
                <a:sym typeface="+mn-ea"/>
              </a:rPr>
              <a:t>'</a:t>
            </a:r>
            <a:r>
              <a:rPr lang="en-US" altLang="zh-CN" sz="2000" dirty="0">
                <a:latin typeface="Consolas" panose="020B0609020204030204" charset="0"/>
              </a:rPr>
              <a:t>abcde</a:t>
            </a:r>
            <a:r>
              <a:rPr lang="zh-CN" altLang="en-US" sz="2000" dirty="0">
                <a:latin typeface="Consolas" panose="020B0609020204030204" charset="0"/>
                <a:sym typeface="+mn-ea"/>
              </a:rPr>
              <a:t>'</a:t>
            </a:r>
            <a:endParaRPr lang="en-US" altLang="zh-CN" sz="2000" dirty="0">
              <a:latin typeface="Consolas" panose="020B0609020204030204" charset="0"/>
            </a:endParaRPr>
          </a:p>
          <a:p>
            <a:pPr defTabSz="914400">
              <a:lnSpc>
                <a:spcPct val="80000"/>
              </a:lnSpc>
              <a:buSzPct val="70000"/>
              <a:buFont typeface="Wingdings" panose="05000000000000000000" pitchFamily="2" charset="2"/>
              <a:buNone/>
            </a:pPr>
            <a:r>
              <a:rPr lang="en-US" altLang="zh-CN" sz="2000" dirty="0">
                <a:solidFill>
                  <a:srgbClr val="00B0F0"/>
                </a:solidFill>
                <a:latin typeface="Consolas" panose="020B0609020204030204" charset="0"/>
              </a:rPr>
              <a:t>False</a:t>
            </a:r>
            <a:endParaRPr lang="en-US" altLang="zh-CN" sz="2000" dirty="0">
              <a:solidFill>
                <a:srgbClr val="00B0F0"/>
              </a:solidFill>
              <a:latin typeface="Consolas" panose="020B0609020204030204"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7.4.5  replace()、maketrans()、translate()</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5" name="Content Placeholder 2"/>
          <p:cNvSpPr>
            <a:spLocks noGrp="1"/>
          </p:cNvSpPr>
          <p:nvPr>
            <p:ph idx="1"/>
          </p:nvPr>
        </p:nvSpPr>
        <p:spPr>
          <a:xfrm>
            <a:off x="790575" y="1165860"/>
            <a:ext cx="10562590" cy="4526280"/>
          </a:xfrm>
        </p:spPr>
        <p:txBody>
          <a:bodyPr/>
          <a:p>
            <a:pPr fontAlgn="base">
              <a:lnSpc>
                <a:spcPct val="150000"/>
              </a:lnSpc>
              <a:spcBef>
                <a:spcPts val="0"/>
              </a:spcBef>
              <a:buFont typeface="Arial" panose="020B0604020202020204" pitchFamily="34" charset="0"/>
              <a:buChar char="•"/>
            </a:pPr>
            <a:r>
              <a:rPr lang="zh-CN" altLang="en-US" sz="2400" b="1" strike="noStrike" noProof="1"/>
              <a:t>应用：</a:t>
            </a:r>
            <a:r>
              <a:rPr lang="en-US" sz="2400" strike="noStrike" noProof="1"/>
              <a:t>测试用户输入中是否有敏感词，如果有的话就把敏感词替换为3个星号***。</a:t>
            </a:r>
            <a:endParaRPr lang="en-US" sz="2400" strike="noStrike" noProof="1"/>
          </a:p>
          <a:p>
            <a:pPr marL="0" indent="0" fontAlgn="base">
              <a:buNone/>
            </a:pPr>
            <a:r>
              <a:rPr lang="en-US" sz="2000" strike="noStrike" noProof="1">
                <a:latin typeface="Consolas" panose="020B0609020204030204" charset="0"/>
              </a:rPr>
              <a:t>&gt;&gt;&gt; words = ('测试', '非法', '暴力', '话')</a:t>
            </a:r>
            <a:endParaRPr lang="en-US" sz="2000" strike="noStrike" noProof="1">
              <a:latin typeface="Consolas" panose="020B0609020204030204" charset="0"/>
            </a:endParaRPr>
          </a:p>
          <a:p>
            <a:pPr marL="0" indent="0" fontAlgn="base">
              <a:buNone/>
            </a:pPr>
            <a:r>
              <a:rPr lang="en-US" sz="2000" strike="noStrike" noProof="1">
                <a:latin typeface="Consolas" panose="020B0609020204030204" charset="0"/>
              </a:rPr>
              <a:t>&gt;&gt;&gt; text = '这句话里含有非法内容'</a:t>
            </a:r>
            <a:endParaRPr lang="en-US" sz="2000" strike="noStrike" noProof="1">
              <a:latin typeface="Consolas" panose="020B0609020204030204" charset="0"/>
            </a:endParaRPr>
          </a:p>
          <a:p>
            <a:pPr marL="0" indent="0" fontAlgn="base">
              <a:buNone/>
            </a:pPr>
            <a:r>
              <a:rPr lang="en-US" sz="2000" strike="noStrike" noProof="1">
                <a:latin typeface="Consolas" panose="020B0609020204030204" charset="0"/>
              </a:rPr>
              <a:t>&gt;&gt;&gt; for word in words:</a:t>
            </a:r>
            <a:endParaRPr lang="en-US" sz="2000" strike="noStrike" noProof="1">
              <a:latin typeface="Consolas" panose="020B0609020204030204" charset="0"/>
            </a:endParaRPr>
          </a:p>
          <a:p>
            <a:pPr marL="0" indent="0" fontAlgn="base">
              <a:buNone/>
            </a:pPr>
            <a:r>
              <a:rPr lang="en-US" sz="2000" strike="noStrike" noProof="1">
                <a:latin typeface="Consolas" panose="020B0609020204030204" charset="0"/>
              </a:rPr>
              <a:t>    if word in text:</a:t>
            </a:r>
            <a:endParaRPr lang="en-US" sz="2000" strike="noStrike" noProof="1">
              <a:latin typeface="Consolas" panose="020B0609020204030204" charset="0"/>
            </a:endParaRPr>
          </a:p>
          <a:p>
            <a:pPr marL="0" indent="0" fontAlgn="base">
              <a:buNone/>
            </a:pPr>
            <a:r>
              <a:rPr lang="en-US" sz="2000" strike="noStrike" noProof="1">
                <a:latin typeface="Consolas" panose="020B0609020204030204" charset="0"/>
                <a:sym typeface="+mn-ea"/>
              </a:rPr>
              <a:t>        </a:t>
            </a:r>
            <a:r>
              <a:rPr lang="en-US" sz="2000" strike="noStrike" noProof="1">
                <a:latin typeface="Consolas" panose="020B0609020204030204" charset="0"/>
              </a:rPr>
              <a:t>text = text.replace(word, '***')		</a:t>
            </a:r>
            <a:endParaRPr lang="en-US" sz="2000" strike="noStrike" noProof="1">
              <a:latin typeface="Consolas" panose="020B0609020204030204" charset="0"/>
            </a:endParaRPr>
          </a:p>
          <a:p>
            <a:pPr marL="0" indent="0" fontAlgn="base">
              <a:buNone/>
            </a:pPr>
            <a:r>
              <a:rPr lang="en-US" sz="2000" strike="noStrike" noProof="1">
                <a:latin typeface="Consolas" panose="020B0609020204030204" charset="0"/>
              </a:rPr>
              <a:t>&gt;&gt;&gt; text</a:t>
            </a:r>
            <a:endParaRPr lang="en-US" sz="2000" strike="noStrike" noProof="1">
              <a:latin typeface="Consolas" panose="020B0609020204030204" charset="0"/>
            </a:endParaRPr>
          </a:p>
          <a:p>
            <a:pPr marL="0" indent="0" fontAlgn="base">
              <a:buNone/>
            </a:pPr>
            <a:r>
              <a:rPr lang="en-US" sz="2000" strike="noStrike" noProof="1">
                <a:solidFill>
                  <a:srgbClr val="00B0F0"/>
                </a:solidFill>
                <a:latin typeface="Consolas" panose="020B0609020204030204" charset="0"/>
              </a:rPr>
              <a:t>'这句***里含有***内容'</a:t>
            </a:r>
            <a:endParaRPr lang="en-US" sz="2000" strike="noStrike" noProof="1">
              <a:solidFill>
                <a:srgbClr val="00B0F0"/>
              </a:solidFill>
              <a:latin typeface="Consolas" panose="020B0609020204030204"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7.4.11  适用于字符串对象的内置函数</a:t>
            </a:r>
            <a:endParaRPr lang="zh-CN" altLang="en-US"/>
          </a:p>
        </p:txBody>
      </p:sp>
      <p:sp>
        <p:nvSpPr>
          <p:cNvPr id="3" name="内容占位符 2"/>
          <p:cNvSpPr>
            <a:spLocks noGrp="1"/>
          </p:cNvSpPr>
          <p:nvPr>
            <p:ph idx="1"/>
          </p:nvPr>
        </p:nvSpPr>
        <p:spPr>
          <a:xfrm>
            <a:off x="838200" y="1321435"/>
            <a:ext cx="10515600" cy="4908550"/>
          </a:xfrm>
        </p:spPr>
        <p:txBody>
          <a:bodyPr>
            <a:noAutofit/>
          </a:bodyPr>
          <a:p>
            <a:pPr marL="0" indent="0" fontAlgn="auto">
              <a:lnSpc>
                <a:spcPct val="100000"/>
              </a:lnSpc>
              <a:spcBef>
                <a:spcPts val="0"/>
              </a:spcBef>
              <a:buNone/>
            </a:pPr>
            <a:r>
              <a:rPr lang="zh-CN" altLang="en-US" sz="1700">
                <a:latin typeface="Consolas" panose="020B0609020204030204" charset="0"/>
              </a:rPr>
              <a:t>&gt;&gt;&gt; x = 'Hello world.'</a:t>
            </a:r>
            <a:endParaRPr lang="zh-CN" altLang="en-US" sz="1700">
              <a:latin typeface="Consolas" panose="020B0609020204030204" charset="0"/>
            </a:endParaRPr>
          </a:p>
          <a:p>
            <a:pPr marL="0" indent="0" fontAlgn="auto">
              <a:lnSpc>
                <a:spcPct val="100000"/>
              </a:lnSpc>
              <a:spcBef>
                <a:spcPts val="0"/>
              </a:spcBef>
              <a:buNone/>
            </a:pPr>
            <a:r>
              <a:rPr lang="zh-CN" altLang="en-US" sz="1700">
                <a:latin typeface="Consolas" panose="020B0609020204030204" charset="0"/>
                <a:sym typeface="+mn-ea"/>
              </a:rPr>
              <a:t>&gt;&gt;&gt; list(zip(x,x))               # 组合对应位置上的字符</a:t>
            </a:r>
            <a:endParaRPr lang="zh-CN" altLang="en-US" sz="1700">
              <a:latin typeface="Consolas" panose="020B0609020204030204" charset="0"/>
            </a:endParaRPr>
          </a:p>
          <a:p>
            <a:pPr marL="0" indent="0" fontAlgn="auto">
              <a:lnSpc>
                <a:spcPct val="100000"/>
              </a:lnSpc>
              <a:spcBef>
                <a:spcPts val="0"/>
              </a:spcBef>
              <a:buNone/>
            </a:pPr>
            <a:r>
              <a:rPr lang="zh-CN" altLang="en-US" sz="1700">
                <a:solidFill>
                  <a:srgbClr val="00B0F0"/>
                </a:solidFill>
                <a:latin typeface="Consolas" panose="020B0609020204030204" charset="0"/>
                <a:sym typeface="+mn-ea"/>
              </a:rPr>
              <a:t>[('H', 'H'), ('e', 'e'), ('l', 'l'), ('l', 'l'), ('o', 'o'), (' ', ' '), ('w', 'w'), ('o', 'o'), ('r', 'r'), ('l', 'l'), ('d', 'd'), ('.', '.')]</a:t>
            </a:r>
            <a:endParaRPr lang="zh-CN" altLang="en-US" sz="1700">
              <a:solidFill>
                <a:srgbClr val="00B0F0"/>
              </a:solidFill>
              <a:latin typeface="Consolas" panose="020B0609020204030204" charset="0"/>
            </a:endParaRPr>
          </a:p>
          <a:p>
            <a:pPr marL="0" indent="0" fontAlgn="auto">
              <a:lnSpc>
                <a:spcPct val="100000"/>
              </a:lnSpc>
              <a:spcBef>
                <a:spcPts val="0"/>
              </a:spcBef>
              <a:buNone/>
            </a:pPr>
            <a:r>
              <a:rPr lang="zh-CN" altLang="en-US" sz="1700">
                <a:latin typeface="Consolas" panose="020B0609020204030204" charset="0"/>
                <a:sym typeface="+mn-ea"/>
              </a:rPr>
              <a:t>&gt;&gt;&gt; sorted(x)</a:t>
            </a:r>
            <a:r>
              <a:rPr lang="en-US" altLang="zh-CN" sz="1700">
                <a:latin typeface="Consolas" panose="020B0609020204030204" charset="0"/>
                <a:sym typeface="+mn-ea"/>
              </a:rPr>
              <a:t>                    # </a:t>
            </a:r>
            <a:r>
              <a:rPr lang="zh-CN" altLang="en-US" sz="1700">
                <a:latin typeface="Consolas" panose="020B0609020204030204" charset="0"/>
                <a:sym typeface="+mn-ea"/>
              </a:rPr>
              <a:t>按字符</a:t>
            </a:r>
            <a:r>
              <a:rPr lang="en-US" altLang="zh-CN" sz="1700">
                <a:latin typeface="Consolas" panose="020B0609020204030204" charset="0"/>
                <a:sym typeface="+mn-ea"/>
              </a:rPr>
              <a:t>Unicode</a:t>
            </a:r>
            <a:r>
              <a:rPr lang="zh-CN" altLang="en-US" sz="1700">
                <a:latin typeface="Consolas" panose="020B0609020204030204" charset="0"/>
                <a:sym typeface="+mn-ea"/>
              </a:rPr>
              <a:t>编码排序</a:t>
            </a:r>
            <a:endParaRPr lang="zh-CN" altLang="en-US" sz="1700">
              <a:latin typeface="Consolas" panose="020B0609020204030204" charset="0"/>
            </a:endParaRPr>
          </a:p>
          <a:p>
            <a:pPr marL="0" indent="0" fontAlgn="auto">
              <a:lnSpc>
                <a:spcPct val="100000"/>
              </a:lnSpc>
              <a:spcBef>
                <a:spcPts val="0"/>
              </a:spcBef>
              <a:buNone/>
            </a:pPr>
            <a:r>
              <a:rPr lang="zh-CN" altLang="en-US" sz="1700">
                <a:solidFill>
                  <a:srgbClr val="00B0F0"/>
                </a:solidFill>
                <a:latin typeface="Consolas" panose="020B0609020204030204" charset="0"/>
                <a:sym typeface="+mn-ea"/>
              </a:rPr>
              <a:t>[' ', '.', 'H', 'd', 'e', 'l', 'l', 'l', 'o', 'o', 'r', 'w']</a:t>
            </a:r>
            <a:endParaRPr lang="zh-CN" altLang="en-US" sz="1700">
              <a:solidFill>
                <a:srgbClr val="00B0F0"/>
              </a:solidFill>
              <a:latin typeface="Consolas" panose="020B0609020204030204" charset="0"/>
            </a:endParaRPr>
          </a:p>
          <a:p>
            <a:pPr marL="0" indent="0" fontAlgn="auto">
              <a:lnSpc>
                <a:spcPct val="100000"/>
              </a:lnSpc>
              <a:spcBef>
                <a:spcPts val="0"/>
              </a:spcBef>
              <a:buNone/>
            </a:pPr>
            <a:r>
              <a:rPr lang="zh-CN" altLang="en-US" sz="1700">
                <a:latin typeface="Consolas" panose="020B0609020204030204" charset="0"/>
                <a:sym typeface="+mn-ea"/>
              </a:rPr>
              <a:t>&gt;&gt;&gt; list(reversed(x))</a:t>
            </a:r>
            <a:r>
              <a:rPr lang="en-US" altLang="zh-CN" sz="1700">
                <a:latin typeface="Consolas" panose="020B0609020204030204" charset="0"/>
                <a:sym typeface="+mn-ea"/>
              </a:rPr>
              <a:t>            # </a:t>
            </a:r>
            <a:r>
              <a:rPr lang="zh-CN" altLang="en-US" sz="1700">
                <a:latin typeface="Consolas" panose="020B0609020204030204" charset="0"/>
                <a:sym typeface="+mn-ea"/>
              </a:rPr>
              <a:t>翻转</a:t>
            </a:r>
            <a:endParaRPr lang="zh-CN" altLang="en-US" sz="1700">
              <a:latin typeface="Consolas" panose="020B0609020204030204" charset="0"/>
            </a:endParaRPr>
          </a:p>
          <a:p>
            <a:pPr marL="0" indent="0" fontAlgn="auto">
              <a:lnSpc>
                <a:spcPct val="100000"/>
              </a:lnSpc>
              <a:spcBef>
                <a:spcPts val="0"/>
              </a:spcBef>
              <a:buNone/>
            </a:pPr>
            <a:r>
              <a:rPr lang="zh-CN" altLang="en-US" sz="1700">
                <a:solidFill>
                  <a:srgbClr val="00B0F0"/>
                </a:solidFill>
                <a:latin typeface="Consolas" panose="020B0609020204030204" charset="0"/>
                <a:sym typeface="+mn-ea"/>
              </a:rPr>
              <a:t>['.', 'd', 'l', 'r', 'o', 'w', ' ', 'o', 'l', 'l', 'e', 'H']</a:t>
            </a:r>
            <a:endParaRPr lang="zh-CN" altLang="en-US" sz="1700">
              <a:solidFill>
                <a:srgbClr val="00B0F0"/>
              </a:solidFill>
              <a:latin typeface="Consolas" panose="020B0609020204030204" charset="0"/>
            </a:endParaRPr>
          </a:p>
          <a:p>
            <a:pPr marL="0" indent="0" fontAlgn="auto">
              <a:lnSpc>
                <a:spcPct val="100000"/>
              </a:lnSpc>
              <a:spcBef>
                <a:spcPts val="0"/>
              </a:spcBef>
              <a:buNone/>
            </a:pPr>
            <a:r>
              <a:rPr lang="zh-CN" altLang="en-US" sz="1700">
                <a:latin typeface="Consolas" panose="020B0609020204030204" charset="0"/>
                <a:sym typeface="+mn-ea"/>
              </a:rPr>
              <a:t>&gt;&gt;&gt; list(enumerate(x))</a:t>
            </a:r>
            <a:r>
              <a:rPr lang="en-US" altLang="zh-CN" sz="1700">
                <a:latin typeface="Consolas" panose="020B0609020204030204" charset="0"/>
                <a:sym typeface="+mn-ea"/>
              </a:rPr>
              <a:t>           # </a:t>
            </a:r>
            <a:r>
              <a:rPr lang="zh-CN" altLang="en-US" sz="1700">
                <a:latin typeface="Consolas" panose="020B0609020204030204" charset="0"/>
                <a:sym typeface="+mn-ea"/>
              </a:rPr>
              <a:t>枚举字符串中的字符</a:t>
            </a:r>
            <a:endParaRPr lang="zh-CN" altLang="en-US" sz="1700">
              <a:latin typeface="Consolas" panose="020B0609020204030204" charset="0"/>
            </a:endParaRPr>
          </a:p>
          <a:p>
            <a:pPr marL="0" indent="0" fontAlgn="auto">
              <a:lnSpc>
                <a:spcPct val="100000"/>
              </a:lnSpc>
              <a:spcBef>
                <a:spcPts val="0"/>
              </a:spcBef>
              <a:buNone/>
            </a:pPr>
            <a:r>
              <a:rPr lang="zh-CN" altLang="en-US" sz="1700">
                <a:solidFill>
                  <a:srgbClr val="00B0F0"/>
                </a:solidFill>
                <a:latin typeface="Consolas" panose="020B0609020204030204" charset="0"/>
                <a:sym typeface="+mn-ea"/>
              </a:rPr>
              <a:t>[(0, 'H'), (1, 'e'), (2, 'l'), (3, 'l'), (4, 'o'), (5, ' '), (6, 'w'), (7, 'o'), (8, 'r'), (9, 'l'), (10, 'd'), (11, '.')]</a:t>
            </a:r>
            <a:endParaRPr lang="zh-CN" altLang="en-US" sz="1700">
              <a:solidFill>
                <a:srgbClr val="00B0F0"/>
              </a:solidFill>
              <a:latin typeface="Consolas" panose="020B0609020204030204" charset="0"/>
            </a:endParaRPr>
          </a:p>
          <a:p>
            <a:pPr marL="0" indent="0" fontAlgn="auto">
              <a:lnSpc>
                <a:spcPct val="100000"/>
              </a:lnSpc>
              <a:spcBef>
                <a:spcPts val="0"/>
              </a:spcBef>
              <a:buNone/>
            </a:pPr>
            <a:r>
              <a:rPr lang="zh-CN" altLang="en-US" sz="1700">
                <a:latin typeface="Consolas" panose="020B0609020204030204" charset="0"/>
                <a:sym typeface="+mn-ea"/>
              </a:rPr>
              <a:t>&gt;&gt;&gt; list(map(</a:t>
            </a:r>
            <a:r>
              <a:rPr lang="en-US" altLang="zh-CN" sz="1700">
                <a:latin typeface="Consolas" panose="020B0609020204030204" charset="0"/>
                <a:sym typeface="+mn-ea"/>
              </a:rPr>
              <a:t>lambda i,j: i+j</a:t>
            </a:r>
            <a:r>
              <a:rPr lang="zh-CN" altLang="en-US" sz="1700">
                <a:latin typeface="Consolas" panose="020B0609020204030204" charset="0"/>
                <a:sym typeface="+mn-ea"/>
              </a:rPr>
              <a:t>, x, x))</a:t>
            </a:r>
            <a:endParaRPr lang="zh-CN" altLang="en-US" sz="1700">
              <a:latin typeface="Consolas" panose="020B0609020204030204" charset="0"/>
            </a:endParaRPr>
          </a:p>
          <a:p>
            <a:pPr marL="0" indent="0" fontAlgn="auto">
              <a:lnSpc>
                <a:spcPct val="100000"/>
              </a:lnSpc>
              <a:spcBef>
                <a:spcPts val="0"/>
              </a:spcBef>
              <a:buNone/>
            </a:pPr>
            <a:r>
              <a:rPr lang="zh-CN" altLang="en-US" sz="1700">
                <a:solidFill>
                  <a:srgbClr val="00B0F0"/>
                </a:solidFill>
                <a:latin typeface="Consolas" panose="020B0609020204030204" charset="0"/>
                <a:sym typeface="+mn-ea"/>
              </a:rPr>
              <a:t>['HH', 'ee', 'll', 'll', 'oo', '  ', 'ww', 'oo', 'rr', 'll', 'dd', '..']</a:t>
            </a:r>
            <a:endParaRPr lang="zh-CN" altLang="en-US" sz="1700">
              <a:solidFill>
                <a:srgbClr val="00B0F0"/>
              </a:solidFill>
              <a:latin typeface="Consolas" panose="020B0609020204030204" charset="0"/>
            </a:endParaRPr>
          </a:p>
          <a:p>
            <a:pPr marL="0" indent="0" fontAlgn="auto">
              <a:lnSpc>
                <a:spcPct val="100000"/>
              </a:lnSpc>
              <a:spcBef>
                <a:spcPts val="0"/>
              </a:spcBef>
              <a:buNone/>
            </a:pPr>
            <a:r>
              <a:rPr lang="zh-CN" altLang="en-US" sz="1700">
                <a:latin typeface="Consolas" panose="020B0609020204030204" charset="0"/>
              </a:rPr>
              <a:t>&gt;&gt;&gt; len(x)                       # 字符串长度</a:t>
            </a:r>
            <a:endParaRPr lang="zh-CN" altLang="en-US" sz="1700">
              <a:latin typeface="Consolas" panose="020B0609020204030204" charset="0"/>
            </a:endParaRPr>
          </a:p>
          <a:p>
            <a:pPr marL="0" indent="0" fontAlgn="auto">
              <a:lnSpc>
                <a:spcPct val="100000"/>
              </a:lnSpc>
              <a:spcBef>
                <a:spcPts val="0"/>
              </a:spcBef>
              <a:buNone/>
            </a:pPr>
            <a:r>
              <a:rPr lang="zh-CN" altLang="en-US" sz="1700">
                <a:solidFill>
                  <a:srgbClr val="00B0F0"/>
                </a:solidFill>
                <a:latin typeface="Consolas" panose="020B0609020204030204" charset="0"/>
              </a:rPr>
              <a:t>12</a:t>
            </a:r>
            <a:endParaRPr lang="zh-CN" altLang="en-US" sz="1700">
              <a:solidFill>
                <a:srgbClr val="00B0F0"/>
              </a:solidFill>
              <a:latin typeface="Consolas" panose="020B0609020204030204" charset="0"/>
            </a:endParaRPr>
          </a:p>
          <a:p>
            <a:pPr marL="0" indent="0" fontAlgn="auto">
              <a:lnSpc>
                <a:spcPct val="100000"/>
              </a:lnSpc>
              <a:spcBef>
                <a:spcPts val="0"/>
              </a:spcBef>
              <a:buNone/>
            </a:pPr>
            <a:r>
              <a:rPr lang="zh-CN" altLang="en-US" sz="1700">
                <a:latin typeface="Consolas" panose="020B0609020204030204" charset="0"/>
              </a:rPr>
              <a:t>&gt;&gt;&gt; max(x)                       # 最大字符</a:t>
            </a:r>
            <a:endParaRPr lang="zh-CN" altLang="en-US" sz="1700">
              <a:latin typeface="Consolas" panose="020B0609020204030204" charset="0"/>
            </a:endParaRPr>
          </a:p>
          <a:p>
            <a:pPr marL="0" indent="0" fontAlgn="auto">
              <a:lnSpc>
                <a:spcPct val="100000"/>
              </a:lnSpc>
              <a:spcBef>
                <a:spcPts val="0"/>
              </a:spcBef>
              <a:buNone/>
            </a:pPr>
            <a:r>
              <a:rPr lang="zh-CN" altLang="en-US" sz="1700">
                <a:solidFill>
                  <a:srgbClr val="00B0F0"/>
                </a:solidFill>
                <a:latin typeface="Consolas" panose="020B0609020204030204" charset="0"/>
              </a:rPr>
              <a:t>'w'</a:t>
            </a:r>
            <a:endParaRPr lang="zh-CN" altLang="en-US" sz="1700">
              <a:solidFill>
                <a:srgbClr val="00B0F0"/>
              </a:solidFill>
              <a:latin typeface="Consolas" panose="020B0609020204030204" charset="0"/>
            </a:endParaRPr>
          </a:p>
          <a:p>
            <a:pPr marL="0" indent="0" fontAlgn="auto">
              <a:lnSpc>
                <a:spcPct val="100000"/>
              </a:lnSpc>
              <a:spcBef>
                <a:spcPts val="0"/>
              </a:spcBef>
              <a:buNone/>
            </a:pPr>
            <a:r>
              <a:rPr lang="zh-CN" altLang="en-US" sz="1700">
                <a:latin typeface="Consolas" panose="020B0609020204030204" charset="0"/>
              </a:rPr>
              <a:t>&gt;&gt;&gt; min(x)</a:t>
            </a:r>
            <a:endParaRPr lang="zh-CN" altLang="en-US" sz="1700">
              <a:latin typeface="Consolas" panose="020B0609020204030204" charset="0"/>
            </a:endParaRPr>
          </a:p>
          <a:p>
            <a:pPr marL="0" indent="0" fontAlgn="auto">
              <a:lnSpc>
                <a:spcPct val="100000"/>
              </a:lnSpc>
              <a:spcBef>
                <a:spcPts val="0"/>
              </a:spcBef>
              <a:buNone/>
            </a:pPr>
            <a:r>
              <a:rPr lang="zh-CN" altLang="en-US" sz="1700">
                <a:solidFill>
                  <a:srgbClr val="00B0F0"/>
                </a:solidFill>
                <a:latin typeface="Consolas" panose="020B0609020204030204" charset="0"/>
              </a:rPr>
              <a:t>' '</a:t>
            </a:r>
            <a:endParaRPr lang="zh-CN" altLang="en-US" sz="1700">
              <a:solidFill>
                <a:srgbClr val="00B0F0"/>
              </a:solidFill>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7.4.11  适用于字符串对象的内置函数</a:t>
            </a:r>
            <a:endParaRPr lang="zh-CN" altLang="en-US"/>
          </a:p>
        </p:txBody>
      </p:sp>
      <p:sp>
        <p:nvSpPr>
          <p:cNvPr id="3" name="内容占位符 2"/>
          <p:cNvSpPr>
            <a:spLocks noGrp="1"/>
          </p:cNvSpPr>
          <p:nvPr>
            <p:ph idx="1"/>
          </p:nvPr>
        </p:nvSpPr>
        <p:spPr/>
        <p:txBody>
          <a:bodyPr>
            <a:normAutofit lnSpcReduction="10000"/>
          </a:bodyPr>
          <a:p>
            <a:pPr fontAlgn="auto">
              <a:lnSpc>
                <a:spcPct val="100000"/>
              </a:lnSpc>
              <a:spcBef>
                <a:spcPts val="0"/>
              </a:spcBef>
            </a:pPr>
            <a:r>
              <a:rPr lang="zh-CN" altLang="en-US" sz="2400"/>
              <a:t>内置函数eval()用来把任意字符串转化为Python表达式并进行求值。</a:t>
            </a:r>
            <a:endParaRPr lang="zh-CN" altLang="en-US" sz="2400"/>
          </a:p>
          <a:p>
            <a:pPr marL="0" indent="0" fontAlgn="auto">
              <a:lnSpc>
                <a:spcPct val="100000"/>
              </a:lnSpc>
              <a:spcBef>
                <a:spcPts val="0"/>
              </a:spcBef>
              <a:buNone/>
            </a:pP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eval(</a:t>
            </a:r>
            <a:r>
              <a:rPr lang="zh-CN" altLang="en-US" sz="2000">
                <a:latin typeface="Consolas" panose="020B0609020204030204" charset="0"/>
                <a:sym typeface="+mn-ea"/>
              </a:rPr>
              <a:t>'</a:t>
            </a:r>
            <a:r>
              <a:rPr lang="zh-CN" altLang="en-US" sz="2000">
                <a:latin typeface="Consolas" panose="020B0609020204030204" charset="0"/>
              </a:rPr>
              <a:t>3+4</a:t>
            </a:r>
            <a:r>
              <a:rPr lang="zh-CN" altLang="en-US" sz="2000">
                <a:latin typeface="Consolas" panose="020B0609020204030204" charset="0"/>
                <a:sym typeface="+mn-ea"/>
              </a:rPr>
              <a:t>'</a:t>
            </a:r>
            <a:r>
              <a:rPr lang="zh-CN" altLang="en-US" sz="2000">
                <a:latin typeface="Consolas" panose="020B0609020204030204" charset="0"/>
              </a:rPr>
              <a:t>)                         # 计算表达式的值</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7</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eval('[1, 2, 3, 4]')</a:t>
            </a:r>
            <a:r>
              <a:rPr lang="en-US" altLang="zh-CN" sz="2000">
                <a:latin typeface="Consolas" panose="020B0609020204030204" charset="0"/>
              </a:rPr>
              <a:t>                # </a:t>
            </a:r>
            <a:r>
              <a:rPr lang="zh-CN" altLang="en-US" sz="2000">
                <a:latin typeface="Consolas" panose="020B0609020204030204" charset="0"/>
              </a:rPr>
              <a:t>还原字符串中的复杂数据</a:t>
            </a:r>
            <a:r>
              <a:rPr lang="zh-CN" altLang="en-US" sz="2000">
                <a:latin typeface="Consolas" panose="020B0609020204030204" charset="0"/>
              </a:rPr>
              <a:t>类型</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[1, 2, 3, 4]</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eval('{"a": 97, "b": 98}')</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{'a': 97, 'b': 98}</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a = 3</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b = 5</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eval('a+b')                         # 要求变量a和b已存在，否则</a:t>
            </a:r>
            <a:r>
              <a:rPr lang="zh-CN" altLang="en-US" sz="2000">
                <a:latin typeface="Consolas" panose="020B0609020204030204" charset="0"/>
              </a:rPr>
              <a:t>出错</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8</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import math</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eval('math.sqrt(3)')</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1.7320508075688772</a:t>
            </a:r>
            <a:endParaRPr lang="zh-CN" altLang="en-US" sz="2000">
              <a:solidFill>
                <a:srgbClr val="00B0F0"/>
              </a:solidFill>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7.4.11  适用于字符串对象的内置函数</a:t>
            </a:r>
            <a:endParaRPr lang="zh-CN" altLang="en-US"/>
          </a:p>
        </p:txBody>
      </p:sp>
      <p:sp>
        <p:nvSpPr>
          <p:cNvPr id="3" name="内容占位符 2"/>
          <p:cNvSpPr>
            <a:spLocks noGrp="1"/>
          </p:cNvSpPr>
          <p:nvPr>
            <p:ph idx="1"/>
          </p:nvPr>
        </p:nvSpPr>
        <p:spPr>
          <a:xfrm>
            <a:off x="838200" y="1321435"/>
            <a:ext cx="10779125" cy="4639945"/>
          </a:xfrm>
        </p:spPr>
        <p:txBody>
          <a:bodyPr/>
          <a:p>
            <a:pPr fontAlgn="auto">
              <a:lnSpc>
                <a:spcPct val="130000"/>
              </a:lnSpc>
              <a:spcBef>
                <a:spcPts val="400"/>
              </a:spcBef>
            </a:pPr>
            <a:r>
              <a:rPr lang="zh-CN" altLang="en-US" sz="2400"/>
              <a:t>Python的内置函数eval()可以计算任意合法表达式的值，如果有用户巧妙地构造并输入恶意</a:t>
            </a:r>
            <a:r>
              <a:rPr lang="zh-CN" altLang="en-US" sz="2400"/>
              <a:t>字符串，可以执行任意外部程序或者实现其他目的，例如下面的代码运行后可以启动记事本程序：</a:t>
            </a:r>
            <a:endParaRPr lang="zh-CN" altLang="en-US" sz="2400"/>
          </a:p>
          <a:p>
            <a:pPr marL="0" indent="0" fontAlgn="auto">
              <a:lnSpc>
                <a:spcPct val="100000"/>
              </a:lnSpc>
              <a:spcBef>
                <a:spcPts val="400"/>
              </a:spcBef>
              <a:buNone/>
            </a:pPr>
            <a:r>
              <a:rPr lang="zh-CN" altLang="en-US" sz="2000">
                <a:latin typeface="Consolas" panose="020B0609020204030204" charset="0"/>
              </a:rPr>
              <a:t>&gt;&gt;&gt; a = input('Please input a value:')</a:t>
            </a:r>
            <a:endParaRPr lang="zh-CN" altLang="en-US" sz="2000">
              <a:latin typeface="Consolas" panose="020B0609020204030204" charset="0"/>
            </a:endParaRPr>
          </a:p>
          <a:p>
            <a:pPr marL="0" indent="0" fontAlgn="auto">
              <a:lnSpc>
                <a:spcPct val="100000"/>
              </a:lnSpc>
              <a:spcBef>
                <a:spcPts val="400"/>
              </a:spcBef>
              <a:buNone/>
            </a:pPr>
            <a:r>
              <a:rPr lang="zh-CN" altLang="en-US" sz="2000">
                <a:solidFill>
                  <a:srgbClr val="00B0F0"/>
                </a:solidFill>
                <a:latin typeface="Consolas" panose="020B0609020204030204" charset="0"/>
              </a:rPr>
              <a:t>Please input a value:__import__('os').startfile(r'C:\Windows\\notepad.exe')</a:t>
            </a:r>
            <a:endParaRPr lang="zh-CN" altLang="en-US" sz="2000">
              <a:solidFill>
                <a:srgbClr val="00B0F0"/>
              </a:solidFill>
              <a:latin typeface="Consolas" panose="020B0609020204030204" charset="0"/>
            </a:endParaRPr>
          </a:p>
          <a:p>
            <a:pPr marL="0" indent="0" fontAlgn="auto">
              <a:lnSpc>
                <a:spcPct val="100000"/>
              </a:lnSpc>
              <a:spcBef>
                <a:spcPts val="400"/>
              </a:spcBef>
              <a:buNone/>
            </a:pPr>
            <a:r>
              <a:rPr lang="zh-CN" altLang="en-US" sz="2000">
                <a:latin typeface="Consolas" panose="020B0609020204030204" charset="0"/>
              </a:rPr>
              <a:t>&gt;&gt;&gt; eval(a)</a:t>
            </a:r>
            <a:endParaRPr lang="zh-CN" altLang="en-US" sz="2000">
              <a:latin typeface="Consolas" panose="020B0609020204030204" charset="0"/>
            </a:endParaRPr>
          </a:p>
          <a:p>
            <a:pPr fontAlgn="auto">
              <a:lnSpc>
                <a:spcPct val="130000"/>
              </a:lnSpc>
              <a:spcBef>
                <a:spcPts val="400"/>
              </a:spcBef>
            </a:pPr>
            <a:r>
              <a:rPr lang="zh-CN" altLang="en-US" sz="2400"/>
              <a:t>下面的代码则会导致屏幕一闪，那一瞬间在当前文件夹中创建了一个子文件夹testtest：</a:t>
            </a:r>
            <a:endParaRPr lang="zh-CN" altLang="en-US" sz="2400"/>
          </a:p>
          <a:p>
            <a:pPr marL="0" indent="0" fontAlgn="auto">
              <a:lnSpc>
                <a:spcPct val="100000"/>
              </a:lnSpc>
              <a:spcBef>
                <a:spcPts val="400"/>
              </a:spcBef>
              <a:buNone/>
            </a:pPr>
            <a:r>
              <a:rPr lang="zh-CN" altLang="en-US" sz="2000">
                <a:latin typeface="Consolas" panose="020B0609020204030204" charset="0"/>
              </a:rPr>
              <a:t>&gt;&gt;&gt; eval("__import__('os').system('md testtest')")</a:t>
            </a:r>
            <a:endParaRPr lang="zh-CN" altLang="en-US" sz="2000">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7.4.11  适用于字符串对象的内置函数</a:t>
            </a:r>
            <a:endParaRPr lang="zh-CN" altLang="en-US"/>
          </a:p>
        </p:txBody>
      </p:sp>
      <p:sp>
        <p:nvSpPr>
          <p:cNvPr id="3" name="内容占位符 2"/>
          <p:cNvSpPr>
            <a:spLocks noGrp="1"/>
          </p:cNvSpPr>
          <p:nvPr>
            <p:ph idx="1"/>
          </p:nvPr>
        </p:nvSpPr>
        <p:spPr/>
        <p:txBody>
          <a:bodyPr>
            <a:normAutofit/>
          </a:bodyPr>
          <a:p>
            <a:pPr>
              <a:lnSpc>
                <a:spcPct val="120000"/>
              </a:lnSpc>
            </a:pPr>
            <a:r>
              <a:rPr lang="zh-CN" altLang="en-US" sz="2400"/>
              <a:t>对字符串中的内容进行类型转换时，建议使用安全函数</a:t>
            </a:r>
            <a:r>
              <a:rPr lang="en-US" altLang="zh-CN" sz="2400"/>
              <a:t>ast.literal_eval()</a:t>
            </a:r>
            <a:r>
              <a:rPr lang="zh-CN" altLang="en-US" sz="2400"/>
              <a:t>。</a:t>
            </a:r>
            <a:endParaRPr lang="zh-CN" altLang="en-US" sz="2400"/>
          </a:p>
          <a:p>
            <a:pPr marL="0" indent="0">
              <a:buNone/>
            </a:pPr>
            <a:r>
              <a:rPr lang="zh-CN" altLang="en-US" sz="1800">
                <a:latin typeface="Consolas" panose="020B0609020204030204" charset="0"/>
                <a:cs typeface="Consolas" panose="020B0609020204030204" charset="0"/>
              </a:rPr>
              <a:t>&gt;&gt;&gt; import ast</a:t>
            </a:r>
            <a:endParaRPr lang="zh-CN" altLang="en-US" sz="1800">
              <a:latin typeface="Consolas" panose="020B0609020204030204" charset="0"/>
              <a:cs typeface="Consolas" panose="020B0609020204030204" charset="0"/>
            </a:endParaRPr>
          </a:p>
          <a:p>
            <a:pPr marL="0" indent="0">
              <a:buNone/>
            </a:pPr>
            <a:r>
              <a:rPr lang="zh-CN" altLang="en-US" sz="1800">
                <a:latin typeface="Consolas" panose="020B0609020204030204" charset="0"/>
                <a:cs typeface="Consolas" panose="020B0609020204030204" charset="0"/>
              </a:rPr>
              <a:t>&gt;&gt;&gt; ast.literal_eval('[1, 2, 3, 4]')</a:t>
            </a:r>
            <a:endParaRPr lang="zh-CN" altLang="en-US" sz="1800">
              <a:latin typeface="Consolas" panose="020B0609020204030204" charset="0"/>
              <a:cs typeface="Consolas" panose="020B0609020204030204" charset="0"/>
            </a:endParaRPr>
          </a:p>
          <a:p>
            <a:pPr marL="0" indent="0">
              <a:buNone/>
            </a:pPr>
            <a:r>
              <a:rPr lang="zh-CN" altLang="en-US" sz="1800">
                <a:solidFill>
                  <a:srgbClr val="00B0F0"/>
                </a:solidFill>
                <a:latin typeface="Consolas" panose="020B0609020204030204" charset="0"/>
                <a:cs typeface="Consolas" panose="020B0609020204030204" charset="0"/>
              </a:rPr>
              <a:t>[1, 2, 3, 4]</a:t>
            </a:r>
            <a:endParaRPr lang="zh-CN" altLang="en-US" sz="1800">
              <a:solidFill>
                <a:srgbClr val="00B0F0"/>
              </a:solidFill>
              <a:latin typeface="Consolas" panose="020B0609020204030204" charset="0"/>
              <a:cs typeface="Consolas" panose="020B0609020204030204" charset="0"/>
            </a:endParaRPr>
          </a:p>
          <a:p>
            <a:pPr marL="0" indent="0">
              <a:buNone/>
            </a:pPr>
            <a:r>
              <a:rPr lang="zh-CN" altLang="en-US" sz="1800">
                <a:latin typeface="Consolas" panose="020B0609020204030204" charset="0"/>
                <a:cs typeface="Consolas" panose="020B0609020204030204" charset="0"/>
              </a:rPr>
              <a:t>&gt;&gt;&gt; ast.literal_eval('3+5')</a:t>
            </a:r>
            <a:endParaRPr lang="zh-CN" altLang="en-US" sz="1800">
              <a:latin typeface="Consolas" panose="020B0609020204030204" charset="0"/>
              <a:cs typeface="Consolas" panose="020B0609020204030204" charset="0"/>
            </a:endParaRPr>
          </a:p>
          <a:p>
            <a:pPr marL="0" indent="0">
              <a:buNone/>
            </a:pPr>
            <a:r>
              <a:rPr lang="zh-CN" altLang="en-US" sz="1800">
                <a:solidFill>
                  <a:srgbClr val="FF0000"/>
                </a:solidFill>
                <a:latin typeface="Consolas" panose="020B0609020204030204" charset="0"/>
                <a:cs typeface="Consolas" panose="020B0609020204030204" charset="0"/>
              </a:rPr>
              <a:t>ValueError: malformed node or string: &lt;_ast.BinOp object at 0x000002427F4E3EE0&gt;</a:t>
            </a:r>
            <a:endParaRPr lang="zh-CN" altLang="en-US" sz="1800">
              <a:solidFill>
                <a:srgbClr val="FF0000"/>
              </a:solidFill>
              <a:latin typeface="Consolas" panose="020B0609020204030204" charset="0"/>
              <a:cs typeface="Consolas" panose="020B0609020204030204" charset="0"/>
            </a:endParaRPr>
          </a:p>
          <a:p>
            <a:pPr marL="0" indent="0">
              <a:buNone/>
            </a:pPr>
            <a:r>
              <a:rPr lang="zh-CN" altLang="en-US" sz="1800">
                <a:latin typeface="Consolas" panose="020B0609020204030204" charset="0"/>
                <a:cs typeface="Consolas" panose="020B0609020204030204" charset="0"/>
              </a:rPr>
              <a:t>&gt;&gt;&gt; ast.literal_eval(r"__import__('os').startfile(r'C:\Windows\notepad.exe')")</a:t>
            </a:r>
            <a:endParaRPr lang="zh-CN" altLang="en-US" sz="1800">
              <a:latin typeface="Consolas" panose="020B0609020204030204" charset="0"/>
              <a:cs typeface="Consolas" panose="020B0609020204030204" charset="0"/>
            </a:endParaRPr>
          </a:p>
          <a:p>
            <a:pPr marL="0" indent="0">
              <a:buNone/>
            </a:pPr>
            <a:r>
              <a:rPr lang="zh-CN" altLang="en-US" sz="1800">
                <a:solidFill>
                  <a:srgbClr val="FF0000"/>
                </a:solidFill>
                <a:latin typeface="Consolas" panose="020B0609020204030204" charset="0"/>
                <a:cs typeface="Consolas" panose="020B0609020204030204" charset="0"/>
              </a:rPr>
              <a:t>ValueError: malformed node or string: &lt;_ast.Call object at 0x000002427F4FF9D0&gt;</a:t>
            </a:r>
            <a:endParaRPr lang="zh-CN" altLang="en-US" sz="1800">
              <a:solidFill>
                <a:srgbClr val="FF0000"/>
              </a:solidFill>
              <a:latin typeface="Consolas" panose="020B0609020204030204" charset="0"/>
              <a:cs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7.4.12  字符串对象的切片操作</a:t>
            </a:r>
            <a:endParaRPr lang="zh-CN" altLang="en-US"/>
          </a:p>
        </p:txBody>
      </p:sp>
      <p:sp>
        <p:nvSpPr>
          <p:cNvPr id="3" name="内容占位符 2"/>
          <p:cNvSpPr>
            <a:spLocks noGrp="1"/>
          </p:cNvSpPr>
          <p:nvPr>
            <p:ph idx="1"/>
          </p:nvPr>
        </p:nvSpPr>
        <p:spPr/>
        <p:txBody>
          <a:bodyPr/>
          <a:p>
            <a:r>
              <a:rPr lang="zh-CN" altLang="en-US" sz="2400"/>
              <a:t>切片也适用于字符串，但只能</a:t>
            </a:r>
            <a:r>
              <a:rPr lang="zh-CN" altLang="en-US" sz="2400"/>
              <a:t>用来读取其中的元素，不支持字符串修改。</a:t>
            </a:r>
            <a:endParaRPr lang="zh-CN" altLang="en-US" sz="2400"/>
          </a:p>
          <a:p>
            <a:pPr marL="0" indent="0">
              <a:buNone/>
            </a:pPr>
            <a:endParaRPr lang="zh-CN" altLang="en-US" sz="2000">
              <a:latin typeface="Consolas" panose="020B0609020204030204" charset="0"/>
            </a:endParaRPr>
          </a:p>
          <a:p>
            <a:pPr marL="0" indent="0">
              <a:buNone/>
            </a:pPr>
            <a:r>
              <a:rPr lang="zh-CN" altLang="en-US" sz="2000">
                <a:latin typeface="Consolas" panose="020B0609020204030204" charset="0"/>
              </a:rPr>
              <a:t>&gt;&gt;&gt; 'Explicit is better than implicit.'[:8]</a:t>
            </a:r>
            <a:endParaRPr lang="zh-CN" altLang="en-US" sz="2000">
              <a:latin typeface="Consolas" panose="020B0609020204030204" charset="0"/>
            </a:endParaRPr>
          </a:p>
          <a:p>
            <a:pPr marL="0" indent="0">
              <a:buNone/>
            </a:pPr>
            <a:r>
              <a:rPr lang="zh-CN" altLang="en-US" sz="2000">
                <a:solidFill>
                  <a:srgbClr val="00B0F0"/>
                </a:solidFill>
                <a:latin typeface="Consolas" panose="020B0609020204030204" charset="0"/>
              </a:rPr>
              <a:t>'Explicit'</a:t>
            </a:r>
            <a:endParaRPr lang="zh-CN" altLang="en-US" sz="2000">
              <a:solidFill>
                <a:srgbClr val="00B0F0"/>
              </a:solidFill>
              <a:latin typeface="Consolas" panose="020B0609020204030204" charset="0"/>
            </a:endParaRPr>
          </a:p>
          <a:p>
            <a:pPr marL="0" indent="0">
              <a:buNone/>
            </a:pPr>
            <a:r>
              <a:rPr lang="zh-CN" altLang="en-US" sz="2000">
                <a:latin typeface="Consolas" panose="020B0609020204030204" charset="0"/>
              </a:rPr>
              <a:t>&gt;&gt;&gt; 'Explicit is better than implicit.'[9:23]</a:t>
            </a:r>
            <a:endParaRPr lang="zh-CN" altLang="en-US" sz="2000">
              <a:latin typeface="Consolas" panose="020B0609020204030204" charset="0"/>
            </a:endParaRPr>
          </a:p>
          <a:p>
            <a:pPr marL="0" indent="0">
              <a:buNone/>
            </a:pPr>
            <a:r>
              <a:rPr lang="zh-CN" altLang="en-US" sz="2000">
                <a:solidFill>
                  <a:srgbClr val="00B0F0"/>
                </a:solidFill>
                <a:latin typeface="Consolas" panose="020B0609020204030204" charset="0"/>
              </a:rPr>
              <a:t>'is better than'</a:t>
            </a:r>
            <a:endParaRPr lang="zh-CN" altLang="en-US" sz="2000">
              <a:solidFill>
                <a:srgbClr val="00B0F0"/>
              </a:solidFill>
              <a:latin typeface="Consolas" panose="020B0609020204030204" charset="0"/>
            </a:endParaRPr>
          </a:p>
          <a:p>
            <a:pPr marL="0" indent="0">
              <a:buNone/>
            </a:pPr>
            <a:endParaRPr lang="zh-CN" altLang="en-US" sz="2000">
              <a:solidFill>
                <a:srgbClr val="00B0F0"/>
              </a:solidFill>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7.5  </a:t>
            </a:r>
            <a:r>
              <a:rPr lang="zh-CN" altLang="en-US"/>
              <a:t>字符串常量</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68610" name="文本占位符 46082"/>
          <p:cNvSpPr>
            <a:spLocks noGrp="1"/>
          </p:cNvSpPr>
          <p:nvPr>
            <p:ph idx="1"/>
          </p:nvPr>
        </p:nvSpPr>
        <p:spPr>
          <a:xfrm>
            <a:off x="748665" y="1165860"/>
            <a:ext cx="10471150" cy="4900295"/>
          </a:xfrm>
        </p:spPr>
        <p:txBody>
          <a:bodyPr anchor="t">
            <a:normAutofit lnSpcReduction="20000"/>
          </a:bodyPr>
          <a:p>
            <a:pPr defTabSz="914400">
              <a:lnSpc>
                <a:spcPct val="150000"/>
              </a:lnSpc>
              <a:spcBef>
                <a:spcPct val="0"/>
              </a:spcBef>
              <a:buSzPct val="70000"/>
              <a:buFont typeface="Wingdings" panose="05000000000000000000" charset="0"/>
              <a:buChar char=""/>
            </a:pPr>
            <a:r>
              <a:rPr lang="en-US" altLang="zh-CN" sz="2400">
                <a:latin typeface="宋体" panose="02010600030101010101" pitchFamily="2" charset="-122"/>
              </a:rPr>
              <a:t>Python</a:t>
            </a:r>
            <a:r>
              <a:rPr lang="zh-CN" altLang="en-US" sz="2400">
                <a:latin typeface="宋体" panose="02010600030101010101" pitchFamily="2" charset="-122"/>
              </a:rPr>
              <a:t>标准库</a:t>
            </a:r>
            <a:r>
              <a:rPr lang="en-US" altLang="zh-CN" sz="2400">
                <a:latin typeface="宋体" panose="02010600030101010101" pitchFamily="2" charset="-122"/>
              </a:rPr>
              <a:t>string</a:t>
            </a:r>
            <a:r>
              <a:rPr lang="zh-CN" altLang="en-US" sz="2400">
                <a:latin typeface="宋体" panose="02010600030101010101" pitchFamily="2" charset="-122"/>
              </a:rPr>
              <a:t>中定义数字字符、标点符号、英文字母、大写字母、小写字母等常量。</a:t>
            </a:r>
            <a:endParaRPr lang="zh-CN" altLang="en-US" sz="2400">
              <a:latin typeface="宋体" panose="02010600030101010101" pitchFamily="2" charset="-122"/>
            </a:endParaRPr>
          </a:p>
          <a:p>
            <a:pPr defTabSz="914400">
              <a:lnSpc>
                <a:spcPct val="100000"/>
              </a:lnSpc>
              <a:spcBef>
                <a:spcPct val="0"/>
              </a:spcBef>
              <a:buSzPct val="70000"/>
              <a:buFont typeface="Wingdings" panose="05000000000000000000" pitchFamily="2" charset="2"/>
              <a:buNone/>
            </a:pPr>
            <a:r>
              <a:rPr lang="en-US" altLang="zh-CN" sz="2000">
                <a:latin typeface="Consolas" panose="020B0609020204030204" charset="0"/>
              </a:rPr>
              <a:t>&gt;&gt;&gt; import string</a:t>
            </a:r>
            <a:endParaRPr lang="en-US" altLang="zh-CN" sz="2000">
              <a:latin typeface="Consolas" panose="020B0609020204030204" charset="0"/>
            </a:endParaRPr>
          </a:p>
          <a:p>
            <a:pPr defTabSz="914400">
              <a:lnSpc>
                <a:spcPct val="100000"/>
              </a:lnSpc>
              <a:spcBef>
                <a:spcPts val="600"/>
              </a:spcBef>
              <a:buSzPct val="70000"/>
              <a:buFont typeface="Wingdings" panose="05000000000000000000" pitchFamily="2" charset="2"/>
              <a:buNone/>
            </a:pPr>
            <a:r>
              <a:rPr lang="en-US" altLang="zh-CN" sz="2000">
                <a:latin typeface="Consolas" panose="020B0609020204030204" charset="0"/>
              </a:rPr>
              <a:t>&gt;&gt;&gt; string.digits</a:t>
            </a:r>
            <a:endParaRPr lang="en-US" altLang="zh-CN" sz="2000">
              <a:latin typeface="Consolas" panose="020B0609020204030204" charset="0"/>
            </a:endParaRPr>
          </a:p>
          <a:p>
            <a:pPr defTabSz="914400">
              <a:lnSpc>
                <a:spcPct val="100000"/>
              </a:lnSpc>
              <a:spcBef>
                <a:spcPts val="600"/>
              </a:spcBef>
              <a:buSzPct val="70000"/>
              <a:buFont typeface="Wingdings" panose="05000000000000000000" pitchFamily="2" charset="2"/>
              <a:buNone/>
            </a:pPr>
            <a:r>
              <a:rPr lang="en-US" altLang="zh-CN" sz="2000">
                <a:solidFill>
                  <a:srgbClr val="00B0F0"/>
                </a:solidFill>
                <a:latin typeface="Consolas" panose="020B0609020204030204" charset="0"/>
              </a:rPr>
              <a:t>'0123456789'</a:t>
            </a:r>
            <a:endParaRPr lang="en-US" altLang="zh-CN" sz="2000">
              <a:solidFill>
                <a:srgbClr val="00B0F0"/>
              </a:solidFill>
              <a:latin typeface="Consolas" panose="020B0609020204030204" charset="0"/>
            </a:endParaRPr>
          </a:p>
          <a:p>
            <a:pPr defTabSz="914400">
              <a:lnSpc>
                <a:spcPct val="100000"/>
              </a:lnSpc>
              <a:spcBef>
                <a:spcPts val="600"/>
              </a:spcBef>
              <a:buSzPct val="70000"/>
              <a:buFont typeface="Wingdings" panose="05000000000000000000" pitchFamily="2" charset="2"/>
              <a:buNone/>
            </a:pPr>
            <a:r>
              <a:rPr lang="en-US" altLang="zh-CN" sz="2000">
                <a:latin typeface="Consolas" panose="020B0609020204030204" charset="0"/>
              </a:rPr>
              <a:t>&gt;&gt;&gt; string.punctuation</a:t>
            </a:r>
            <a:endParaRPr lang="en-US" altLang="zh-CN" sz="2000">
              <a:latin typeface="Consolas" panose="020B0609020204030204" charset="0"/>
            </a:endParaRPr>
          </a:p>
          <a:p>
            <a:pPr defTabSz="914400">
              <a:lnSpc>
                <a:spcPct val="100000"/>
              </a:lnSpc>
              <a:spcBef>
                <a:spcPts val="600"/>
              </a:spcBef>
              <a:buSzPct val="70000"/>
              <a:buFont typeface="Wingdings" panose="05000000000000000000" pitchFamily="2" charset="2"/>
              <a:buNone/>
            </a:pPr>
            <a:r>
              <a:rPr lang="en-US" altLang="zh-CN" sz="2000">
                <a:solidFill>
                  <a:srgbClr val="00B0F0"/>
                </a:solidFill>
                <a:latin typeface="Consolas" panose="020B0609020204030204" charset="0"/>
              </a:rPr>
              <a:t>'!"#$%&amp;\'()*+,-./:;&lt;=&gt;?@[\\]^_`{|}~'</a:t>
            </a:r>
            <a:endParaRPr lang="en-US" altLang="zh-CN" sz="2000">
              <a:solidFill>
                <a:srgbClr val="00B0F0"/>
              </a:solidFill>
              <a:latin typeface="Consolas" panose="020B0609020204030204" charset="0"/>
            </a:endParaRPr>
          </a:p>
          <a:p>
            <a:pPr defTabSz="914400">
              <a:lnSpc>
                <a:spcPct val="100000"/>
              </a:lnSpc>
              <a:spcBef>
                <a:spcPts val="600"/>
              </a:spcBef>
              <a:buSzPct val="70000"/>
              <a:buFont typeface="Wingdings" panose="05000000000000000000" pitchFamily="2" charset="2"/>
              <a:buNone/>
            </a:pPr>
            <a:r>
              <a:rPr lang="en-US" altLang="zh-CN" sz="2000">
                <a:latin typeface="Consolas" panose="020B0609020204030204" charset="0"/>
              </a:rPr>
              <a:t>&gt;&gt;&gt; string.ascii_letters</a:t>
            </a:r>
            <a:endParaRPr lang="en-US" altLang="zh-CN" sz="2000">
              <a:latin typeface="Consolas" panose="020B0609020204030204" charset="0"/>
            </a:endParaRPr>
          </a:p>
          <a:p>
            <a:pPr defTabSz="914400">
              <a:lnSpc>
                <a:spcPct val="100000"/>
              </a:lnSpc>
              <a:spcBef>
                <a:spcPts val="600"/>
              </a:spcBef>
              <a:buSzPct val="70000"/>
              <a:buFont typeface="Wingdings" panose="05000000000000000000" pitchFamily="2" charset="2"/>
              <a:buNone/>
            </a:pPr>
            <a:r>
              <a:rPr lang="en-US" altLang="zh-CN" sz="2000">
                <a:solidFill>
                  <a:srgbClr val="00B0F0"/>
                </a:solidFill>
                <a:latin typeface="Consolas" panose="020B0609020204030204" charset="0"/>
              </a:rPr>
              <a:t>'abcdefghijklmnopqrstuvwxyzABCDEFGHIJKLMNOPQRSTUVWXYZ'</a:t>
            </a:r>
            <a:endParaRPr lang="en-US" altLang="zh-CN" sz="2000">
              <a:solidFill>
                <a:srgbClr val="00B0F0"/>
              </a:solidFill>
              <a:latin typeface="Consolas" panose="020B0609020204030204" charset="0"/>
            </a:endParaRPr>
          </a:p>
          <a:p>
            <a:pPr defTabSz="914400">
              <a:lnSpc>
                <a:spcPct val="100000"/>
              </a:lnSpc>
              <a:spcBef>
                <a:spcPts val="600"/>
              </a:spcBef>
              <a:buSzPct val="70000"/>
              <a:buFont typeface="Wingdings" panose="05000000000000000000" pitchFamily="2" charset="2"/>
              <a:buNone/>
            </a:pPr>
            <a:r>
              <a:rPr lang="en-US" altLang="zh-CN" sz="2000">
                <a:latin typeface="Consolas" panose="020B0609020204030204" charset="0"/>
              </a:rPr>
              <a:t>&gt;&gt;&gt; string.ascii_lowercase</a:t>
            </a:r>
            <a:endParaRPr lang="en-US" altLang="zh-CN" sz="2000">
              <a:latin typeface="Consolas" panose="020B0609020204030204" charset="0"/>
            </a:endParaRPr>
          </a:p>
          <a:p>
            <a:pPr defTabSz="914400">
              <a:lnSpc>
                <a:spcPct val="100000"/>
              </a:lnSpc>
              <a:spcBef>
                <a:spcPts val="600"/>
              </a:spcBef>
              <a:buSzPct val="70000"/>
              <a:buFont typeface="Wingdings" panose="05000000000000000000" pitchFamily="2" charset="2"/>
              <a:buNone/>
            </a:pPr>
            <a:r>
              <a:rPr lang="en-US" altLang="zh-CN" sz="2000">
                <a:solidFill>
                  <a:srgbClr val="00B0F0"/>
                </a:solidFill>
                <a:latin typeface="Consolas" panose="020B0609020204030204" charset="0"/>
              </a:rPr>
              <a:t>'abcdefghijklmnopqrstuvwxyz'</a:t>
            </a:r>
            <a:endParaRPr lang="en-US" altLang="zh-CN" sz="2000">
              <a:solidFill>
                <a:srgbClr val="00B0F0"/>
              </a:solidFill>
              <a:latin typeface="Consolas" panose="020B0609020204030204" charset="0"/>
            </a:endParaRPr>
          </a:p>
          <a:p>
            <a:pPr defTabSz="914400">
              <a:lnSpc>
                <a:spcPct val="100000"/>
              </a:lnSpc>
              <a:spcBef>
                <a:spcPts val="600"/>
              </a:spcBef>
              <a:buSzPct val="70000"/>
              <a:buFont typeface="Wingdings" panose="05000000000000000000" pitchFamily="2" charset="2"/>
              <a:buNone/>
            </a:pPr>
            <a:r>
              <a:rPr lang="en-US" altLang="zh-CN" sz="2000">
                <a:latin typeface="Consolas" panose="020B0609020204030204" charset="0"/>
              </a:rPr>
              <a:t>&gt;&gt;&gt; string.ascii_uppercase</a:t>
            </a:r>
            <a:endParaRPr lang="en-US" altLang="zh-CN" sz="2000">
              <a:latin typeface="Consolas" panose="020B0609020204030204" charset="0"/>
            </a:endParaRPr>
          </a:p>
          <a:p>
            <a:pPr defTabSz="914400">
              <a:lnSpc>
                <a:spcPct val="100000"/>
              </a:lnSpc>
              <a:spcBef>
                <a:spcPts val="600"/>
              </a:spcBef>
              <a:buSzPct val="70000"/>
              <a:buFont typeface="Wingdings" panose="05000000000000000000" pitchFamily="2" charset="2"/>
              <a:buNone/>
            </a:pPr>
            <a:r>
              <a:rPr lang="en-US" altLang="zh-CN" sz="2000">
                <a:solidFill>
                  <a:srgbClr val="00B0F0"/>
                </a:solidFill>
                <a:latin typeface="Consolas" panose="020B0609020204030204" charset="0"/>
              </a:rPr>
              <a:t>'ABCDEFGHIJKLMNOPQRSTUVWXYZ'</a:t>
            </a:r>
            <a:endParaRPr lang="en-US" altLang="zh-CN" sz="2000">
              <a:solidFill>
                <a:srgbClr val="00B0F0"/>
              </a:solidFill>
              <a:latin typeface="Consolas" panose="020B0609020204030204"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7.5  </a:t>
            </a:r>
            <a:r>
              <a:rPr lang="zh-CN" altLang="en-US">
                <a:sym typeface="+mn-ea"/>
              </a:rPr>
              <a:t>字符串常量</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5" name="内容占位符 4"/>
          <p:cNvSpPr>
            <a:spLocks noGrp="1"/>
          </p:cNvSpPr>
          <p:nvPr>
            <p:ph idx="1"/>
          </p:nvPr>
        </p:nvSpPr>
        <p:spPr>
          <a:ln>
            <a:miter/>
          </a:ln>
        </p:spPr>
        <p:txBody>
          <a:bodyPr anchor="t">
            <a:normAutofit lnSpcReduction="10000"/>
          </a:bodyPr>
          <a:p>
            <a:pPr fontAlgn="base">
              <a:buFont typeface="Arial" panose="020B0604020202020204" pitchFamily="34" charset="0"/>
              <a:buChar char="•"/>
            </a:pPr>
            <a:r>
              <a:rPr lang="zh-CN" altLang="zh-CN" sz="2400" b="1" strike="noStrike" noProof="1"/>
              <a:t>应用：</a:t>
            </a:r>
            <a:r>
              <a:rPr lang="zh-CN" altLang="zh-CN" sz="2400" strike="noStrike" noProof="1"/>
              <a:t>生成指定长度的随机密码。</a:t>
            </a:r>
            <a:r>
              <a:rPr lang="zh-CN" altLang="zh-CN" sz="2400" strike="noStrike" noProof="1">
                <a:hlinkClick r:id="rId1" action="ppaction://hlinkfile"/>
              </a:rPr>
              <a:t>code\7.5.py</a:t>
            </a:r>
            <a:endParaRPr lang="zh-CN" altLang="zh-CN" sz="2400" strike="noStrike" noProof="1"/>
          </a:p>
          <a:p>
            <a:pPr marL="0" indent="0" fontAlgn="base">
              <a:buNone/>
            </a:pPr>
            <a:r>
              <a:rPr lang="zh-CN" altLang="en-US" sz="2000" strike="noStrike" noProof="1">
                <a:latin typeface="Consolas" panose="020B0609020204030204" charset="0"/>
                <a:cs typeface="Consolas" panose="020B0609020204030204" charset="0"/>
              </a:rPr>
              <a:t>from random import choices</a:t>
            </a:r>
            <a:endParaRPr lang="zh-CN" altLang="en-US" sz="2000" strike="noStrike" noProof="1">
              <a:latin typeface="Consolas" panose="020B0609020204030204" charset="0"/>
              <a:cs typeface="Consolas" panose="020B0609020204030204" charset="0"/>
            </a:endParaRPr>
          </a:p>
          <a:p>
            <a:pPr marL="0" indent="0" fontAlgn="base">
              <a:buNone/>
            </a:pPr>
            <a:r>
              <a:rPr lang="zh-CN" altLang="en-US" sz="2000" strike="noStrike" noProof="1">
                <a:latin typeface="Consolas" panose="020B0609020204030204" charset="0"/>
                <a:cs typeface="Consolas" panose="020B0609020204030204" charset="0"/>
              </a:rPr>
              <a:t>from string import ascii_letters, digits</a:t>
            </a:r>
            <a:endParaRPr lang="zh-CN" altLang="en-US" sz="2000" strike="noStrike" noProof="1">
              <a:latin typeface="Consolas" panose="020B0609020204030204" charset="0"/>
              <a:cs typeface="Consolas" panose="020B0609020204030204" charset="0"/>
            </a:endParaRPr>
          </a:p>
          <a:p>
            <a:pPr marL="0" indent="0" fontAlgn="base">
              <a:buNone/>
            </a:pPr>
            <a:endParaRPr lang="zh-CN" altLang="en-US" sz="2000" strike="noStrike" noProof="1">
              <a:latin typeface="Consolas" panose="020B0609020204030204" charset="0"/>
              <a:cs typeface="Consolas" panose="020B0609020204030204" charset="0"/>
            </a:endParaRPr>
          </a:p>
          <a:p>
            <a:pPr marL="0" indent="0" fontAlgn="base">
              <a:buNone/>
            </a:pPr>
            <a:r>
              <a:rPr lang="zh-CN" altLang="en-US" sz="2000" strike="noStrike" noProof="1">
                <a:latin typeface="Consolas" panose="020B0609020204030204" charset="0"/>
                <a:cs typeface="Consolas" panose="020B0609020204030204" charset="0"/>
              </a:rPr>
              <a:t>characters = ascii_letters + digits + ',._'</a:t>
            </a:r>
            <a:endParaRPr lang="zh-CN" altLang="en-US" sz="2000" strike="noStrike" noProof="1">
              <a:latin typeface="Consolas" panose="020B0609020204030204" charset="0"/>
              <a:cs typeface="Consolas" panose="020B0609020204030204" charset="0"/>
            </a:endParaRPr>
          </a:p>
          <a:p>
            <a:pPr marL="0" indent="0" fontAlgn="base">
              <a:buNone/>
            </a:pPr>
            <a:endParaRPr lang="zh-CN" altLang="en-US" sz="2000" strike="noStrike" noProof="1">
              <a:latin typeface="Consolas" panose="020B0609020204030204" charset="0"/>
              <a:cs typeface="Consolas" panose="020B0609020204030204" charset="0"/>
            </a:endParaRPr>
          </a:p>
          <a:p>
            <a:pPr marL="0" indent="0" fontAlgn="base">
              <a:buNone/>
            </a:pPr>
            <a:r>
              <a:rPr lang="zh-CN" altLang="en-US" sz="2000" strike="noStrike" noProof="1">
                <a:latin typeface="Consolas" panose="020B0609020204030204" charset="0"/>
                <a:cs typeface="Consolas" panose="020B0609020204030204" charset="0"/>
              </a:rPr>
              <a:t>def generate_password(length):</a:t>
            </a:r>
            <a:endParaRPr lang="zh-CN" altLang="en-US" sz="2000" strike="noStrike" noProof="1">
              <a:latin typeface="Consolas" panose="020B0609020204030204" charset="0"/>
              <a:cs typeface="Consolas" panose="020B0609020204030204" charset="0"/>
            </a:endParaRPr>
          </a:p>
          <a:p>
            <a:pPr marL="0" indent="0" fontAlgn="base">
              <a:buNone/>
            </a:pPr>
            <a:r>
              <a:rPr lang="zh-CN" altLang="en-US" sz="2000" strike="noStrike" noProof="1">
                <a:latin typeface="Consolas" panose="020B0609020204030204" charset="0"/>
                <a:cs typeface="Consolas" panose="020B0609020204030204" charset="0"/>
              </a:rPr>
              <a:t>    return ''.join(choices(characters, k=length))</a:t>
            </a:r>
            <a:endParaRPr lang="zh-CN" altLang="en-US" sz="2000" strike="noStrike" noProof="1">
              <a:latin typeface="Consolas" panose="020B0609020204030204" charset="0"/>
              <a:cs typeface="Consolas" panose="020B0609020204030204" charset="0"/>
            </a:endParaRPr>
          </a:p>
          <a:p>
            <a:pPr marL="0" indent="0" fontAlgn="base">
              <a:buNone/>
            </a:pPr>
            <a:endParaRPr lang="zh-CN" altLang="en-US" sz="2000" strike="noStrike" noProof="1">
              <a:latin typeface="Consolas" panose="020B0609020204030204" charset="0"/>
              <a:cs typeface="Consolas" panose="020B0609020204030204" charset="0"/>
            </a:endParaRPr>
          </a:p>
          <a:p>
            <a:pPr marL="0" indent="0" fontAlgn="base">
              <a:buNone/>
            </a:pPr>
            <a:r>
              <a:rPr lang="zh-CN" altLang="en-US" sz="2000" strike="noStrike" noProof="1">
                <a:latin typeface="Consolas" panose="020B0609020204030204" charset="0"/>
                <a:cs typeface="Consolas" panose="020B0609020204030204" charset="0"/>
              </a:rPr>
              <a:t>print(generate_password(10))</a:t>
            </a:r>
            <a:endParaRPr lang="zh-CN" altLang="en-US" sz="2000" strike="noStrike" noProof="1">
              <a:latin typeface="Consolas" panose="020B0609020204030204" charset="0"/>
              <a:cs typeface="Consolas" panose="020B0609020204030204" charset="0"/>
            </a:endParaRPr>
          </a:p>
          <a:p>
            <a:pPr marL="0" indent="0" fontAlgn="base">
              <a:buNone/>
            </a:pPr>
            <a:r>
              <a:rPr lang="zh-CN" altLang="en-US" sz="2000" strike="noStrike" noProof="1">
                <a:latin typeface="Consolas" panose="020B0609020204030204" charset="0"/>
                <a:cs typeface="Consolas" panose="020B0609020204030204" charset="0"/>
              </a:rPr>
              <a:t>print(generate_password(10))</a:t>
            </a:r>
            <a:endParaRPr lang="zh-CN" altLang="en-US" sz="2000" strike="noStrike" noProof="1">
              <a:latin typeface="Consolas" panose="020B0609020204030204" charset="0"/>
              <a:cs typeface="Consolas" panose="020B0609020204030204"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7.6  </a:t>
            </a:r>
            <a:r>
              <a:rPr lang="zh-CN" altLang="en-US"/>
              <a:t>中英文分词</a:t>
            </a:r>
            <a:endParaRPr lang="zh-CN" altLang="en-US"/>
          </a:p>
        </p:txBody>
      </p:sp>
      <p:sp>
        <p:nvSpPr>
          <p:cNvPr id="3" name="内容占位符 2"/>
          <p:cNvSpPr>
            <a:spLocks noGrp="1"/>
          </p:cNvSpPr>
          <p:nvPr>
            <p:ph idx="1"/>
          </p:nvPr>
        </p:nvSpPr>
        <p:spPr>
          <a:xfrm>
            <a:off x="838200" y="1321435"/>
            <a:ext cx="11070590" cy="5180965"/>
          </a:xfrm>
        </p:spPr>
        <p:txBody>
          <a:bodyPr>
            <a:normAutofit fontScale="90000"/>
          </a:bodyPr>
          <a:p>
            <a:pPr marL="0" indent="0" fontAlgn="auto">
              <a:lnSpc>
                <a:spcPct val="100000"/>
              </a:lnSpc>
              <a:spcBef>
                <a:spcPts val="0"/>
              </a:spcBef>
              <a:buNone/>
            </a:pPr>
            <a:r>
              <a:rPr lang="zh-CN" altLang="en-US" sz="2000">
                <a:latin typeface="Consolas" panose="020B0609020204030204" charset="0"/>
              </a:rPr>
              <a:t>&gt;&gt;&gt; import jieba                    # 导入jieba模块</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x = '分词的准确度直接影响了后续文本处理和挖掘算法的最终效果。'</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jieba.cut(x)                    # 使用默认词库进行分词，使用</a:t>
            </a:r>
            <a:r>
              <a:rPr lang="en-US" altLang="zh-CN" sz="2000">
                <a:latin typeface="Consolas" panose="020B0609020204030204" charset="0"/>
              </a:rPr>
              <a:t>lcut()</a:t>
            </a:r>
            <a:r>
              <a:rPr lang="zh-CN" altLang="en-US" sz="2000">
                <a:latin typeface="Consolas" panose="020B0609020204030204" charset="0"/>
              </a:rPr>
              <a:t>函数可以直接得到</a:t>
            </a:r>
            <a:r>
              <a:rPr lang="zh-CN" altLang="en-US" sz="2000">
                <a:latin typeface="Consolas" panose="020B0609020204030204" charset="0"/>
              </a:rPr>
              <a:t>列表</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&lt;generator object Tokenizer.cut at 0x000000000342C990&gt;</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list(_)</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['分词', '的', '准确度', '直接', '影响', '了', '后续', '文本处理', '和', '挖掘', '算法', '的', '最终', '效果', '。']</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list(jieba.cut('纸杯'))</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['纸杯']</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list(jieba.cut('花纸杯'))</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['花', '纸杯']</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jieba.add_word('花纸杯')         # 增加词条</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list(jieba.cut('花纸杯'))        # 使用新词</a:t>
            </a:r>
            <a:r>
              <a:rPr lang="zh-CN" altLang="en-US" sz="2000">
                <a:latin typeface="Consolas" panose="020B0609020204030204" charset="0"/>
              </a:rPr>
              <a:t>库进行分词</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['花纸杯']</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import snownlp                  </a:t>
            </a:r>
            <a:r>
              <a:rPr lang="en-US" altLang="zh-CN" sz="2000">
                <a:latin typeface="Consolas" panose="020B0609020204030204" charset="0"/>
              </a:rPr>
              <a:t># </a:t>
            </a:r>
            <a:r>
              <a:rPr lang="zh-CN" altLang="en-US" sz="2000">
                <a:latin typeface="Consolas" panose="020B0609020204030204" charset="0"/>
              </a:rPr>
              <a:t>导入snownlp模块</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snownlp.SnowNLP('学而时习之，不亦说乎').words</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['学而', '时习', '之', '，', '不亦', '说乎']</a:t>
            </a:r>
            <a:endParaRPr lang="zh-CN" altLang="en-US" sz="2000">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7.7  </a:t>
            </a:r>
            <a:r>
              <a:rPr lang="zh-CN" altLang="en-US"/>
              <a:t>汉字到拼音的转换</a:t>
            </a:r>
            <a:endParaRPr lang="zh-CN" altLang="en-US"/>
          </a:p>
        </p:txBody>
      </p:sp>
      <p:sp>
        <p:nvSpPr>
          <p:cNvPr id="3" name="内容占位符 2"/>
          <p:cNvSpPr>
            <a:spLocks noGrp="1"/>
          </p:cNvSpPr>
          <p:nvPr>
            <p:ph idx="1"/>
          </p:nvPr>
        </p:nvSpPr>
        <p:spPr>
          <a:xfrm>
            <a:off x="838200" y="1321435"/>
            <a:ext cx="10515600" cy="5125085"/>
          </a:xfrm>
        </p:spPr>
        <p:txBody>
          <a:bodyPr>
            <a:normAutofit fontScale="80000"/>
          </a:bodyPr>
          <a:p>
            <a:pPr marL="0" indent="0" fontAlgn="auto">
              <a:lnSpc>
                <a:spcPct val="110000"/>
              </a:lnSpc>
              <a:spcBef>
                <a:spcPts val="0"/>
              </a:spcBef>
              <a:buNone/>
            </a:pPr>
            <a:r>
              <a:rPr lang="zh-CN" altLang="en-US" sz="1780">
                <a:latin typeface="Consolas" panose="020B0609020204030204" charset="0"/>
              </a:rPr>
              <a:t>&gt;&gt;&gt; from pypinyin import lazy_pinyin, pinyin</a:t>
            </a:r>
            <a:endParaRPr lang="zh-CN" altLang="en-US" sz="1780">
              <a:latin typeface="Consolas" panose="020B0609020204030204" charset="0"/>
            </a:endParaRPr>
          </a:p>
          <a:p>
            <a:pPr marL="0" indent="0" fontAlgn="auto">
              <a:lnSpc>
                <a:spcPct val="110000"/>
              </a:lnSpc>
              <a:spcBef>
                <a:spcPts val="0"/>
              </a:spcBef>
              <a:buNone/>
            </a:pPr>
            <a:r>
              <a:rPr lang="zh-CN" altLang="en-US" sz="1780">
                <a:latin typeface="Consolas" panose="020B0609020204030204" charset="0"/>
              </a:rPr>
              <a:t>&gt;&gt;&gt; lazy_pinyin('董付国')          </a:t>
            </a:r>
            <a:r>
              <a:rPr lang="en-US" altLang="zh-CN" sz="1780">
                <a:latin typeface="Consolas" panose="020B0609020204030204" charset="0"/>
              </a:rPr>
              <a:t>            </a:t>
            </a:r>
            <a:r>
              <a:rPr lang="zh-CN" altLang="en-US" sz="1780">
                <a:latin typeface="Consolas" panose="020B0609020204030204" charset="0"/>
              </a:rPr>
              <a:t>  # 返回拼音</a:t>
            </a:r>
            <a:endParaRPr lang="zh-CN" altLang="en-US" sz="1780">
              <a:latin typeface="Consolas" panose="020B0609020204030204" charset="0"/>
            </a:endParaRPr>
          </a:p>
          <a:p>
            <a:pPr marL="0" indent="0" fontAlgn="auto">
              <a:lnSpc>
                <a:spcPct val="110000"/>
              </a:lnSpc>
              <a:spcBef>
                <a:spcPts val="0"/>
              </a:spcBef>
              <a:buNone/>
            </a:pPr>
            <a:r>
              <a:rPr lang="zh-CN" altLang="en-US" sz="1780">
                <a:solidFill>
                  <a:srgbClr val="00B0F0"/>
                </a:solidFill>
                <a:latin typeface="Consolas" panose="020B0609020204030204" charset="0"/>
              </a:rPr>
              <a:t>['dong', 'fu', 'guo']</a:t>
            </a:r>
            <a:endParaRPr lang="zh-CN" altLang="en-US" sz="1780">
              <a:solidFill>
                <a:srgbClr val="00B0F0"/>
              </a:solidFill>
              <a:latin typeface="Consolas" panose="020B0609020204030204" charset="0"/>
            </a:endParaRPr>
          </a:p>
          <a:p>
            <a:pPr marL="0" indent="0" fontAlgn="auto">
              <a:lnSpc>
                <a:spcPct val="110000"/>
              </a:lnSpc>
              <a:spcBef>
                <a:spcPts val="0"/>
              </a:spcBef>
              <a:buNone/>
            </a:pPr>
            <a:r>
              <a:rPr lang="zh-CN" altLang="en-US" sz="1780">
                <a:latin typeface="Consolas" panose="020B0609020204030204" charset="0"/>
              </a:rPr>
              <a:t>&gt;&gt;&gt; lazy_pinyin('董付国', 1)    </a:t>
            </a:r>
            <a:r>
              <a:rPr lang="en-US" altLang="zh-CN" sz="1780">
                <a:latin typeface="Consolas" panose="020B0609020204030204" charset="0"/>
              </a:rPr>
              <a:t>            </a:t>
            </a:r>
            <a:r>
              <a:rPr lang="zh-CN" altLang="en-US" sz="1780">
                <a:latin typeface="Consolas" panose="020B0609020204030204" charset="0"/>
              </a:rPr>
              <a:t>     # 带声调的拼音</a:t>
            </a:r>
            <a:endParaRPr lang="zh-CN" altLang="en-US" sz="1780">
              <a:latin typeface="Consolas" panose="020B0609020204030204" charset="0"/>
            </a:endParaRPr>
          </a:p>
          <a:p>
            <a:pPr marL="0" indent="0" fontAlgn="auto">
              <a:lnSpc>
                <a:spcPct val="110000"/>
              </a:lnSpc>
              <a:spcBef>
                <a:spcPts val="0"/>
              </a:spcBef>
              <a:buNone/>
            </a:pPr>
            <a:r>
              <a:rPr lang="zh-CN" altLang="en-US" sz="1780">
                <a:solidFill>
                  <a:srgbClr val="00B0F0"/>
                </a:solidFill>
                <a:latin typeface="Consolas" panose="020B0609020204030204" charset="0"/>
              </a:rPr>
              <a:t>['dǒng', 'fù', 'guó']</a:t>
            </a:r>
            <a:endParaRPr lang="zh-CN" altLang="en-US" sz="1780">
              <a:solidFill>
                <a:srgbClr val="00B0F0"/>
              </a:solidFill>
              <a:latin typeface="Consolas" panose="020B0609020204030204" charset="0"/>
            </a:endParaRPr>
          </a:p>
          <a:p>
            <a:pPr marL="0" indent="0" fontAlgn="auto">
              <a:lnSpc>
                <a:spcPct val="110000"/>
              </a:lnSpc>
              <a:spcBef>
                <a:spcPts val="0"/>
              </a:spcBef>
              <a:buNone/>
            </a:pPr>
            <a:r>
              <a:rPr lang="zh-CN" altLang="en-US" sz="1780">
                <a:latin typeface="Consolas" panose="020B0609020204030204" charset="0"/>
              </a:rPr>
              <a:t>&gt;&gt;&gt; lazy_pinyin('董付国', 2)      </a:t>
            </a:r>
            <a:r>
              <a:rPr lang="en-US" altLang="zh-CN" sz="1780">
                <a:latin typeface="Consolas" panose="020B0609020204030204" charset="0"/>
              </a:rPr>
              <a:t>            </a:t>
            </a:r>
            <a:r>
              <a:rPr lang="zh-CN" altLang="en-US" sz="1780">
                <a:latin typeface="Consolas" panose="020B0609020204030204" charset="0"/>
              </a:rPr>
              <a:t>   # 另一种拼音形式，数字表示前面字母的声调</a:t>
            </a:r>
            <a:endParaRPr lang="zh-CN" altLang="en-US" sz="1780">
              <a:latin typeface="Consolas" panose="020B0609020204030204" charset="0"/>
            </a:endParaRPr>
          </a:p>
          <a:p>
            <a:pPr marL="0" indent="0" fontAlgn="auto">
              <a:lnSpc>
                <a:spcPct val="110000"/>
              </a:lnSpc>
              <a:spcBef>
                <a:spcPts val="0"/>
              </a:spcBef>
              <a:buNone/>
            </a:pPr>
            <a:r>
              <a:rPr lang="zh-CN" altLang="en-US" sz="1780">
                <a:solidFill>
                  <a:srgbClr val="00B0F0"/>
                </a:solidFill>
                <a:latin typeface="Consolas" panose="020B0609020204030204" charset="0"/>
              </a:rPr>
              <a:t>['do3ng', 'fu4', 'guo2']</a:t>
            </a:r>
            <a:endParaRPr lang="zh-CN" altLang="en-US" sz="1780">
              <a:solidFill>
                <a:srgbClr val="00B0F0"/>
              </a:solidFill>
              <a:latin typeface="Consolas" panose="020B0609020204030204" charset="0"/>
            </a:endParaRPr>
          </a:p>
          <a:p>
            <a:pPr marL="0" indent="0" fontAlgn="auto">
              <a:lnSpc>
                <a:spcPct val="110000"/>
              </a:lnSpc>
              <a:spcBef>
                <a:spcPts val="0"/>
              </a:spcBef>
              <a:buNone/>
            </a:pPr>
            <a:r>
              <a:rPr lang="zh-CN" altLang="en-US" sz="1780">
                <a:latin typeface="Consolas" panose="020B0609020204030204" charset="0"/>
              </a:rPr>
              <a:t>&gt;&gt;&gt; lazy_pinyin('董付国', 3)      </a:t>
            </a:r>
            <a:r>
              <a:rPr lang="en-US" altLang="zh-CN" sz="1780">
                <a:latin typeface="Consolas" panose="020B0609020204030204" charset="0"/>
              </a:rPr>
              <a:t>            </a:t>
            </a:r>
            <a:r>
              <a:rPr lang="zh-CN" altLang="en-US" sz="1780">
                <a:latin typeface="Consolas" panose="020B0609020204030204" charset="0"/>
              </a:rPr>
              <a:t>   # 只返回拼音首字母</a:t>
            </a:r>
            <a:endParaRPr lang="zh-CN" altLang="en-US" sz="1780">
              <a:latin typeface="Consolas" panose="020B0609020204030204" charset="0"/>
            </a:endParaRPr>
          </a:p>
          <a:p>
            <a:pPr marL="0" indent="0" fontAlgn="auto">
              <a:lnSpc>
                <a:spcPct val="110000"/>
              </a:lnSpc>
              <a:spcBef>
                <a:spcPts val="0"/>
              </a:spcBef>
              <a:buNone/>
            </a:pPr>
            <a:r>
              <a:rPr lang="zh-CN" altLang="en-US" sz="1780">
                <a:solidFill>
                  <a:srgbClr val="00B0F0"/>
                </a:solidFill>
                <a:latin typeface="Consolas" panose="020B0609020204030204" charset="0"/>
              </a:rPr>
              <a:t>['d', 'f', 'g']</a:t>
            </a:r>
            <a:endParaRPr lang="zh-CN" altLang="en-US" sz="1780">
              <a:solidFill>
                <a:srgbClr val="00B0F0"/>
              </a:solidFill>
              <a:latin typeface="Consolas" panose="020B0609020204030204" charset="0"/>
            </a:endParaRPr>
          </a:p>
          <a:p>
            <a:pPr marL="0" indent="0" fontAlgn="auto">
              <a:lnSpc>
                <a:spcPct val="110000"/>
              </a:lnSpc>
              <a:spcBef>
                <a:spcPts val="0"/>
              </a:spcBef>
              <a:buNone/>
            </a:pPr>
            <a:r>
              <a:rPr lang="zh-CN" altLang="en-US" sz="1780">
                <a:latin typeface="Consolas" panose="020B0609020204030204" charset="0"/>
              </a:rPr>
              <a:t>&gt;&gt;&gt; lazy_pinyin('重要', 1)        </a:t>
            </a:r>
            <a:r>
              <a:rPr lang="en-US" altLang="zh-CN" sz="1780">
                <a:latin typeface="Consolas" panose="020B0609020204030204" charset="0"/>
              </a:rPr>
              <a:t>            </a:t>
            </a:r>
            <a:r>
              <a:rPr lang="zh-CN" altLang="en-US" sz="1780">
                <a:latin typeface="Consolas" panose="020B0609020204030204" charset="0"/>
              </a:rPr>
              <a:t>   # 能够根据词组智能识别多音字</a:t>
            </a:r>
            <a:endParaRPr lang="zh-CN" altLang="en-US" sz="1780">
              <a:latin typeface="Consolas" panose="020B0609020204030204" charset="0"/>
            </a:endParaRPr>
          </a:p>
          <a:p>
            <a:pPr marL="0" indent="0" fontAlgn="auto">
              <a:lnSpc>
                <a:spcPct val="110000"/>
              </a:lnSpc>
              <a:spcBef>
                <a:spcPts val="0"/>
              </a:spcBef>
              <a:buNone/>
            </a:pPr>
            <a:r>
              <a:rPr lang="zh-CN" altLang="en-US" sz="1780">
                <a:solidFill>
                  <a:srgbClr val="00B0F0"/>
                </a:solidFill>
                <a:latin typeface="Consolas" panose="020B0609020204030204" charset="0"/>
              </a:rPr>
              <a:t>['zhòng', 'yào']</a:t>
            </a:r>
            <a:endParaRPr lang="zh-CN" altLang="en-US" sz="1780">
              <a:solidFill>
                <a:srgbClr val="00B0F0"/>
              </a:solidFill>
              <a:latin typeface="Consolas" panose="020B0609020204030204" charset="0"/>
            </a:endParaRPr>
          </a:p>
          <a:p>
            <a:pPr marL="0" indent="0" fontAlgn="auto">
              <a:lnSpc>
                <a:spcPct val="110000"/>
              </a:lnSpc>
              <a:spcBef>
                <a:spcPts val="0"/>
              </a:spcBef>
              <a:buNone/>
            </a:pPr>
            <a:r>
              <a:rPr lang="zh-CN" altLang="en-US" sz="1780">
                <a:latin typeface="Consolas" panose="020B0609020204030204" charset="0"/>
              </a:rPr>
              <a:t>&gt;&gt;&gt; lazy_pinyin('重阳', 1)</a:t>
            </a:r>
            <a:endParaRPr lang="zh-CN" altLang="en-US" sz="1780">
              <a:latin typeface="Consolas" panose="020B0609020204030204" charset="0"/>
            </a:endParaRPr>
          </a:p>
          <a:p>
            <a:pPr marL="0" indent="0" fontAlgn="auto">
              <a:lnSpc>
                <a:spcPct val="110000"/>
              </a:lnSpc>
              <a:spcBef>
                <a:spcPts val="0"/>
              </a:spcBef>
              <a:buNone/>
            </a:pPr>
            <a:r>
              <a:rPr lang="zh-CN" altLang="en-US" sz="1780">
                <a:solidFill>
                  <a:srgbClr val="00B0F0"/>
                </a:solidFill>
                <a:latin typeface="Consolas" panose="020B0609020204030204" charset="0"/>
              </a:rPr>
              <a:t>['chóng', 'yáng']</a:t>
            </a:r>
            <a:endParaRPr lang="zh-CN" altLang="en-US" sz="1780">
              <a:solidFill>
                <a:srgbClr val="00B0F0"/>
              </a:solidFill>
              <a:latin typeface="Consolas" panose="020B0609020204030204" charset="0"/>
            </a:endParaRPr>
          </a:p>
          <a:p>
            <a:pPr marL="0" indent="0" fontAlgn="auto">
              <a:lnSpc>
                <a:spcPct val="110000"/>
              </a:lnSpc>
              <a:spcBef>
                <a:spcPts val="0"/>
              </a:spcBef>
              <a:buNone/>
            </a:pPr>
            <a:r>
              <a:rPr lang="zh-CN" altLang="en-US" sz="1780">
                <a:latin typeface="Consolas" panose="020B0609020204030204" charset="0"/>
              </a:rPr>
              <a:t>&gt;&gt;&gt; pinyin('重阳')                   </a:t>
            </a:r>
            <a:r>
              <a:rPr lang="en-US" altLang="zh-CN" sz="1780">
                <a:latin typeface="Consolas" panose="020B0609020204030204" charset="0"/>
              </a:rPr>
              <a:t>            </a:t>
            </a:r>
            <a:r>
              <a:rPr lang="zh-CN" altLang="en-US" sz="1780">
                <a:latin typeface="Consolas" panose="020B0609020204030204" charset="0"/>
              </a:rPr>
              <a:t># 返回拼音</a:t>
            </a:r>
            <a:endParaRPr lang="zh-CN" altLang="en-US" sz="1780">
              <a:latin typeface="Consolas" panose="020B0609020204030204" charset="0"/>
            </a:endParaRPr>
          </a:p>
          <a:p>
            <a:pPr marL="0" indent="0" fontAlgn="auto">
              <a:lnSpc>
                <a:spcPct val="110000"/>
              </a:lnSpc>
              <a:spcBef>
                <a:spcPts val="0"/>
              </a:spcBef>
              <a:buNone/>
            </a:pPr>
            <a:r>
              <a:rPr lang="zh-CN" altLang="en-US" sz="1780">
                <a:solidFill>
                  <a:srgbClr val="00B0F0"/>
                </a:solidFill>
                <a:latin typeface="Consolas" panose="020B0609020204030204" charset="0"/>
              </a:rPr>
              <a:t>[['chóng'], ['yáng']]</a:t>
            </a:r>
            <a:endParaRPr lang="zh-CN" altLang="en-US" sz="1780">
              <a:solidFill>
                <a:srgbClr val="00B0F0"/>
              </a:solidFill>
              <a:latin typeface="Consolas" panose="020B0609020204030204" charset="0"/>
            </a:endParaRPr>
          </a:p>
          <a:p>
            <a:pPr marL="0" indent="0" fontAlgn="auto">
              <a:lnSpc>
                <a:spcPct val="110000"/>
              </a:lnSpc>
              <a:spcBef>
                <a:spcPts val="0"/>
              </a:spcBef>
              <a:buNone/>
            </a:pPr>
            <a:r>
              <a:rPr lang="zh-CN" altLang="en-US" sz="1780">
                <a:latin typeface="Consolas" panose="020B0609020204030204" charset="0"/>
              </a:rPr>
              <a:t>&gt;&gt;&gt; pinyin('重阳节', heteronym=True) </a:t>
            </a:r>
            <a:r>
              <a:rPr lang="en-US" altLang="zh-CN" sz="1780">
                <a:latin typeface="Consolas" panose="020B0609020204030204" charset="0"/>
              </a:rPr>
              <a:t>            </a:t>
            </a:r>
            <a:r>
              <a:rPr lang="zh-CN" altLang="en-US" sz="1780">
                <a:latin typeface="Consolas" panose="020B0609020204030204" charset="0"/>
              </a:rPr>
              <a:t># 返回多音字的所有读音</a:t>
            </a:r>
            <a:endParaRPr lang="zh-CN" altLang="en-US" sz="1780">
              <a:latin typeface="Consolas" panose="020B0609020204030204" charset="0"/>
            </a:endParaRPr>
          </a:p>
          <a:p>
            <a:pPr marL="0" indent="0" fontAlgn="auto">
              <a:lnSpc>
                <a:spcPct val="110000"/>
              </a:lnSpc>
              <a:spcBef>
                <a:spcPts val="0"/>
              </a:spcBef>
              <a:buNone/>
            </a:pPr>
            <a:r>
              <a:rPr lang="zh-CN" altLang="en-US" sz="1780">
                <a:solidFill>
                  <a:srgbClr val="00B0F0"/>
                </a:solidFill>
                <a:latin typeface="Consolas" panose="020B0609020204030204" charset="0"/>
              </a:rPr>
              <a:t>[['chóng'], ['yáng'], ['jié', 'jiē']]</a:t>
            </a:r>
            <a:endParaRPr lang="zh-CN" altLang="en-US" sz="1780">
              <a:solidFill>
                <a:srgbClr val="00B0F0"/>
              </a:solidFill>
              <a:latin typeface="Consolas" panose="020B0609020204030204" charset="0"/>
            </a:endParaRPr>
          </a:p>
          <a:p>
            <a:pPr marL="0" indent="0" fontAlgn="auto">
              <a:lnSpc>
                <a:spcPct val="110000"/>
              </a:lnSpc>
              <a:spcBef>
                <a:spcPts val="0"/>
              </a:spcBef>
              <a:buNone/>
            </a:pPr>
            <a:r>
              <a:rPr lang="zh-CN" altLang="en-US" sz="1780">
                <a:latin typeface="Consolas" panose="020B0609020204030204" charset="0"/>
                <a:sym typeface="+mn-ea"/>
              </a:rPr>
              <a:t>&gt;&gt;&gt; x = '山东烟台的大樱桃真好吃啊'</a:t>
            </a:r>
            <a:endParaRPr lang="zh-CN" altLang="en-US" sz="1780">
              <a:latin typeface="Consolas" panose="020B0609020204030204" charset="0"/>
            </a:endParaRPr>
          </a:p>
          <a:p>
            <a:pPr marL="0" indent="0" fontAlgn="auto">
              <a:lnSpc>
                <a:spcPct val="110000"/>
              </a:lnSpc>
              <a:spcBef>
                <a:spcPts val="0"/>
              </a:spcBef>
              <a:buNone/>
            </a:pPr>
            <a:r>
              <a:rPr lang="zh-CN" altLang="en-US" sz="1780">
                <a:latin typeface="Consolas" panose="020B0609020204030204" charset="0"/>
                <a:sym typeface="+mn-ea"/>
              </a:rPr>
              <a:t>&gt;&gt;&gt; sorted(x, key=lambda ch: lazy_pinyin(ch))</a:t>
            </a:r>
            <a:r>
              <a:rPr lang="en-US" altLang="zh-CN" sz="1780">
                <a:latin typeface="Consolas" panose="020B0609020204030204" charset="0"/>
              </a:rPr>
              <a:t>  </a:t>
            </a:r>
            <a:r>
              <a:rPr lang="zh-CN" altLang="en-US" sz="1780">
                <a:latin typeface="Consolas" panose="020B0609020204030204" charset="0"/>
                <a:sym typeface="+mn-ea"/>
              </a:rPr>
              <a:t>  # 按拼音对汉字进行排序</a:t>
            </a:r>
            <a:endParaRPr lang="zh-CN" altLang="en-US" sz="1780">
              <a:latin typeface="Consolas" panose="020B0609020204030204" charset="0"/>
            </a:endParaRPr>
          </a:p>
          <a:p>
            <a:pPr marL="0" indent="0" fontAlgn="auto">
              <a:lnSpc>
                <a:spcPct val="110000"/>
              </a:lnSpc>
              <a:spcBef>
                <a:spcPts val="0"/>
              </a:spcBef>
              <a:buNone/>
            </a:pPr>
            <a:r>
              <a:rPr lang="zh-CN" altLang="en-US" sz="1780">
                <a:solidFill>
                  <a:srgbClr val="00B0F0"/>
                </a:solidFill>
                <a:latin typeface="Consolas" panose="020B0609020204030204" charset="0"/>
                <a:sym typeface="+mn-ea"/>
              </a:rPr>
              <a:t>['啊', '吃', '大', '的', '东', '好', '山', '台', '桃', '烟', '樱', '真']</a:t>
            </a:r>
            <a:endParaRPr lang="zh-CN" altLang="en-US" sz="1780">
              <a:solidFill>
                <a:srgbClr val="00B0F0"/>
              </a:solidFill>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7.8  </a:t>
            </a:r>
            <a:r>
              <a:rPr lang="zh-CN" altLang="en-US"/>
              <a:t>精彩案例赏析</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6" name="内容占位符 5"/>
          <p:cNvSpPr>
            <a:spLocks noGrp="1"/>
          </p:cNvSpPr>
          <p:nvPr>
            <p:ph idx="1"/>
          </p:nvPr>
        </p:nvSpPr>
        <p:spPr>
          <a:xfrm>
            <a:off x="748665" y="1259840"/>
            <a:ext cx="10756265" cy="4526280"/>
          </a:xfrm>
        </p:spPr>
        <p:txBody>
          <a:bodyPr/>
          <a:p>
            <a:pPr marL="401320" indent="-401320" fontAlgn="base">
              <a:lnSpc>
                <a:spcPct val="150000"/>
              </a:lnSpc>
              <a:spcBef>
                <a:spcPts val="0"/>
              </a:spcBef>
              <a:buFont typeface="Wingdings" panose="05000000000000000000" charset="0"/>
              <a:buChar char="n"/>
            </a:pPr>
            <a:r>
              <a:rPr lang="zh-CN" altLang="en-US" sz="2400" b="1" strike="noStrike" noProof="1"/>
              <a:t>例</a:t>
            </a:r>
            <a:r>
              <a:rPr lang="en-US" altLang="zh-CN" sz="2400" b="1" strike="noStrike" noProof="1"/>
              <a:t>7</a:t>
            </a:r>
            <a:r>
              <a:rPr lang="zh-CN" altLang="en-US" sz="2400" b="1" strike="noStrike" noProof="1"/>
              <a:t>-1  </a:t>
            </a:r>
            <a:r>
              <a:rPr lang="zh-CN" altLang="en-US" sz="2400" strike="noStrike" noProof="1"/>
              <a:t>编写函数实现字符串加密和解密，循环使用指定密钥，采用异或算法。</a:t>
            </a:r>
            <a:r>
              <a:rPr lang="zh-CN" altLang="en-US" sz="2400" strike="noStrike" noProof="1">
                <a:hlinkClick r:id="rId1" action="ppaction://hlinkfile"/>
              </a:rPr>
              <a:t>code\例7-1.py</a:t>
            </a:r>
            <a:endParaRPr lang="zh-CN" altLang="en-US" sz="2400" strike="noStrike" noProof="1"/>
          </a:p>
          <a:p>
            <a:pPr marL="0" indent="0" fontAlgn="base">
              <a:buNone/>
            </a:pPr>
            <a:r>
              <a:rPr lang="zh-CN" altLang="en-US" sz="1800" strike="noStrike" noProof="1">
                <a:latin typeface="Consolas" panose="020B0609020204030204" charset="0"/>
              </a:rPr>
              <a:t>from itertools import cycle</a:t>
            </a:r>
            <a:endParaRPr lang="zh-CN" altLang="en-US" sz="1800" strike="noStrike" noProof="1">
              <a:latin typeface="Consolas" panose="020B0609020204030204" charset="0"/>
            </a:endParaRPr>
          </a:p>
          <a:p>
            <a:pPr marL="0" indent="0" fontAlgn="base">
              <a:lnSpc>
                <a:spcPct val="100000"/>
              </a:lnSpc>
              <a:spcBef>
                <a:spcPts val="0"/>
              </a:spcBef>
              <a:buNone/>
            </a:pPr>
            <a:endParaRPr lang="zh-CN" altLang="en-US" sz="1800" strike="noStrike" noProof="1">
              <a:latin typeface="Consolas" panose="020B0609020204030204" charset="0"/>
            </a:endParaRPr>
          </a:p>
          <a:p>
            <a:pPr marL="0" indent="0" fontAlgn="base">
              <a:lnSpc>
                <a:spcPct val="100000"/>
              </a:lnSpc>
              <a:spcBef>
                <a:spcPts val="0"/>
              </a:spcBef>
              <a:buNone/>
            </a:pPr>
            <a:r>
              <a:rPr lang="zh-CN" altLang="en-US" sz="1800" strike="noStrike" noProof="1">
                <a:latin typeface="Consolas" panose="020B0609020204030204" charset="0"/>
              </a:rPr>
              <a:t>def convert(source, key):</a:t>
            </a:r>
            <a:endParaRPr lang="zh-CN" altLang="en-US" sz="1800" strike="noStrike" noProof="1">
              <a:latin typeface="Consolas" panose="020B0609020204030204" charset="0"/>
            </a:endParaRPr>
          </a:p>
          <a:p>
            <a:pPr marL="0" indent="0" fontAlgn="base">
              <a:lnSpc>
                <a:spcPct val="100000"/>
              </a:lnSpc>
              <a:spcBef>
                <a:spcPts val="0"/>
              </a:spcBef>
              <a:buNone/>
            </a:pPr>
            <a:r>
              <a:rPr lang="zh-CN" altLang="en-US" sz="1800" strike="noStrike" noProof="1">
                <a:latin typeface="Consolas" panose="020B0609020204030204" charset="0"/>
              </a:rPr>
              <a:t>    # 对应位置上字符的Unicode编码进行异或运算，异或运算两次可得到原文，即A^B^B=A</a:t>
            </a:r>
            <a:endParaRPr lang="zh-CN" altLang="en-US" sz="1800" strike="noStrike" noProof="1">
              <a:latin typeface="Consolas" panose="020B0609020204030204" charset="0"/>
            </a:endParaRPr>
          </a:p>
          <a:p>
            <a:pPr marL="0" indent="0" fontAlgn="base">
              <a:lnSpc>
                <a:spcPct val="100000"/>
              </a:lnSpc>
              <a:spcBef>
                <a:spcPts val="0"/>
              </a:spcBef>
              <a:buNone/>
            </a:pPr>
            <a:r>
              <a:rPr lang="zh-CN" altLang="en-US" sz="1800" strike="noStrike" noProof="1">
                <a:latin typeface="Consolas" panose="020B0609020204030204" charset="0"/>
              </a:rPr>
              <a:t>    return ''.join(map(lambda s, k: chr(ord(s)^ord(k)), source, cycle(key)))</a:t>
            </a:r>
            <a:endParaRPr lang="zh-CN" altLang="en-US" sz="1800" strike="noStrike" noProof="1">
              <a:latin typeface="Consolas" panose="020B0609020204030204" charset="0"/>
            </a:endParaRPr>
          </a:p>
          <a:p>
            <a:pPr marL="0" indent="0" fontAlgn="base">
              <a:lnSpc>
                <a:spcPct val="100000"/>
              </a:lnSpc>
              <a:spcBef>
                <a:spcPts val="0"/>
              </a:spcBef>
              <a:buNone/>
            </a:pPr>
            <a:endParaRPr lang="zh-CN" altLang="en-US" sz="1800" strike="noStrike" noProof="1">
              <a:latin typeface="Consolas" panose="020B0609020204030204" charset="0"/>
            </a:endParaRPr>
          </a:p>
          <a:p>
            <a:pPr marL="0" indent="0" fontAlgn="base">
              <a:lnSpc>
                <a:spcPct val="100000"/>
              </a:lnSpc>
              <a:spcBef>
                <a:spcPts val="0"/>
              </a:spcBef>
              <a:buNone/>
            </a:pPr>
            <a:r>
              <a:rPr lang="zh-CN" altLang="en-US" sz="1800" strike="noStrike" noProof="1">
                <a:latin typeface="Consolas" panose="020B0609020204030204" charset="0"/>
              </a:rPr>
              <a:t>source = '微信公众号：Python小屋。'</a:t>
            </a:r>
            <a:endParaRPr lang="zh-CN" altLang="en-US" sz="1800" strike="noStrike" noProof="1">
              <a:latin typeface="Consolas" panose="020B0609020204030204" charset="0"/>
            </a:endParaRPr>
          </a:p>
          <a:p>
            <a:pPr marL="0" indent="0" fontAlgn="base">
              <a:lnSpc>
                <a:spcPct val="100000"/>
              </a:lnSpc>
              <a:spcBef>
                <a:spcPts val="0"/>
              </a:spcBef>
              <a:buNone/>
            </a:pPr>
            <a:r>
              <a:rPr lang="zh-CN" altLang="en-US" sz="1800" strike="noStrike" noProof="1">
                <a:latin typeface="Consolas" panose="020B0609020204030204" charset="0"/>
              </a:rPr>
              <a:t>key = '董付国'</a:t>
            </a:r>
            <a:endParaRPr lang="zh-CN" altLang="en-US" sz="1800" strike="noStrike" noProof="1">
              <a:latin typeface="Consolas" panose="020B0609020204030204" charset="0"/>
            </a:endParaRPr>
          </a:p>
          <a:p>
            <a:pPr marL="0" indent="0" fontAlgn="base">
              <a:lnSpc>
                <a:spcPct val="100000"/>
              </a:lnSpc>
              <a:spcBef>
                <a:spcPts val="0"/>
              </a:spcBef>
              <a:buNone/>
            </a:pPr>
            <a:r>
              <a:rPr lang="zh-CN" altLang="en-US" sz="1800" strike="noStrike" noProof="1">
                <a:latin typeface="Consolas" panose="020B0609020204030204" charset="0"/>
              </a:rPr>
              <a:t>encrypted = convert(source, key)</a:t>
            </a:r>
            <a:endParaRPr lang="zh-CN" altLang="en-US" sz="1800" strike="noStrike" noProof="1">
              <a:latin typeface="Consolas" panose="020B0609020204030204" charset="0"/>
            </a:endParaRPr>
          </a:p>
          <a:p>
            <a:pPr marL="0" indent="0" fontAlgn="base">
              <a:lnSpc>
                <a:spcPct val="100000"/>
              </a:lnSpc>
              <a:spcBef>
                <a:spcPts val="0"/>
              </a:spcBef>
              <a:buNone/>
            </a:pPr>
            <a:r>
              <a:rPr lang="zh-CN" altLang="en-US" sz="1800" strike="noStrike" noProof="1">
                <a:latin typeface="Consolas" panose="020B0609020204030204" charset="0"/>
              </a:rPr>
              <a:t>decrypted = convert(encrypted, key)</a:t>
            </a:r>
            <a:endParaRPr lang="zh-CN" altLang="en-US" sz="1800" strike="noStrike" noProof="1">
              <a:latin typeface="Consolas" panose="020B0609020204030204" charset="0"/>
            </a:endParaRPr>
          </a:p>
          <a:p>
            <a:pPr marL="0" indent="0" fontAlgn="base">
              <a:lnSpc>
                <a:spcPct val="100000"/>
              </a:lnSpc>
              <a:spcBef>
                <a:spcPts val="0"/>
              </a:spcBef>
              <a:buNone/>
            </a:pPr>
            <a:r>
              <a:rPr lang="zh-CN" altLang="en-US" sz="1800" strike="noStrike" noProof="1">
                <a:latin typeface="Consolas" panose="020B0609020204030204" charset="0"/>
              </a:rPr>
              <a:t>print(f'原文：{source}\n加密后：{encrypted}\n解密后：{decrypted}')</a:t>
            </a:r>
            <a:endParaRPr lang="zh-CN" altLang="en-US" sz="1800" strike="noStrike" noProof="1">
              <a:latin typeface="Consolas" panose="020B0609020204030204" charset="0"/>
            </a:endParaRPr>
          </a:p>
        </p:txBody>
      </p:sp>
      <p:pic>
        <p:nvPicPr>
          <p:cNvPr id="3" name="图片 1" descr="1635644673(1)"/>
          <p:cNvPicPr>
            <a:picLocks noChangeAspect="1"/>
          </p:cNvPicPr>
          <p:nvPr/>
        </p:nvPicPr>
        <p:blipFill>
          <a:blip r:embed="rId2"/>
          <a:stretch>
            <a:fillRect/>
          </a:stretch>
        </p:blipFill>
        <p:spPr>
          <a:xfrm>
            <a:off x="5511800" y="3474720"/>
            <a:ext cx="4786630" cy="1060450"/>
          </a:xfrm>
          <a:prstGeom prst="rect">
            <a:avLst/>
          </a:prstGeom>
          <a:ln>
            <a:solidFill>
              <a:schemeClr val="accent1"/>
            </a:solidFill>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7.8  </a:t>
            </a:r>
            <a:r>
              <a:rPr lang="zh-CN" altLang="en-US">
                <a:sym typeface="+mn-ea"/>
              </a:rPr>
              <a:t>精彩案例赏析</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5" name="内容占位符 4"/>
          <p:cNvSpPr>
            <a:spLocks noGrp="1"/>
          </p:cNvSpPr>
          <p:nvPr>
            <p:ph idx="1"/>
          </p:nvPr>
        </p:nvSpPr>
        <p:spPr>
          <a:xfrm>
            <a:off x="720725" y="1260475"/>
            <a:ext cx="10935970" cy="4526280"/>
          </a:xfrm>
        </p:spPr>
        <p:txBody>
          <a:bodyPr/>
          <a:p>
            <a:pPr marL="485140" indent="-485140" fontAlgn="base">
              <a:lnSpc>
                <a:spcPct val="150000"/>
              </a:lnSpc>
              <a:spcBef>
                <a:spcPts val="0"/>
              </a:spcBef>
              <a:buFont typeface="Wingdings" panose="05000000000000000000" charset="0"/>
              <a:buChar char="n"/>
            </a:pPr>
            <a:r>
              <a:rPr lang="zh-CN" altLang="en-US" sz="2400" b="1" strike="noStrike" noProof="1"/>
              <a:t>例</a:t>
            </a:r>
            <a:r>
              <a:rPr lang="en-US" altLang="zh-CN" sz="2400" b="1" strike="noStrike" noProof="1"/>
              <a:t>7</a:t>
            </a:r>
            <a:r>
              <a:rPr lang="zh-CN" altLang="en-US" sz="2400" b="1" strike="noStrike" noProof="1"/>
              <a:t>-2</a:t>
            </a:r>
            <a:r>
              <a:rPr lang="zh-CN" altLang="en-US" sz="2400" strike="noStrike" noProof="1"/>
              <a:t>  编写程序，生成大量随机信息，这在需要获取大量数据来测试或演示软件功能的时候非常有用，不仅能真实展示软件功能或算法，还可以避免泄露真实数据或者引起不必要的争议。</a:t>
            </a:r>
            <a:endParaRPr lang="zh-CN" altLang="en-US" sz="1800" strike="noStrike" noProof="1">
              <a:latin typeface="Consolas" panose="020B0609020204030204" charset="0"/>
            </a:endParaRPr>
          </a:p>
          <a:p>
            <a:pPr marL="0" indent="0" fontAlgn="base">
              <a:spcBef>
                <a:spcPts val="0"/>
              </a:spcBef>
              <a:buNone/>
            </a:pPr>
            <a:endParaRPr lang="zh-CN" altLang="en-US" sz="1800" strike="noStrike" noProof="1">
              <a:latin typeface="Consolas" panose="020B0609020204030204" charset="0"/>
            </a:endParaRPr>
          </a:p>
          <a:p>
            <a:pPr marL="0" indent="0" fontAlgn="base">
              <a:spcBef>
                <a:spcPts val="0"/>
              </a:spcBef>
              <a:buNone/>
            </a:pPr>
            <a:endParaRPr lang="zh-CN" altLang="en-US" sz="1800" strike="noStrike" noProof="1">
              <a:latin typeface="Consolas" panose="020B0609020204030204" charset="0"/>
              <a:hlinkClick r:id="rId1" action="ppaction://hlinkfile"/>
            </a:endParaRPr>
          </a:p>
          <a:p>
            <a:pPr marL="0" indent="0" fontAlgn="base">
              <a:spcBef>
                <a:spcPts val="0"/>
              </a:spcBef>
              <a:buNone/>
            </a:pPr>
            <a:r>
              <a:rPr lang="zh-CN" altLang="en-US" sz="2000" strike="noStrike" noProof="1">
                <a:latin typeface="Consolas" panose="020B0609020204030204" charset="0"/>
                <a:hlinkClick r:id="rId1" action="ppaction://hlinkfile"/>
              </a:rPr>
              <a:t>code\例7-2.py</a:t>
            </a:r>
            <a:endParaRPr lang="zh-CN" altLang="en-US" sz="2000" strike="noStrike" noProof="1">
              <a:latin typeface="Consolas" panose="020B0609020204030204"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7.8  </a:t>
            </a:r>
            <a:r>
              <a:rPr lang="zh-CN" altLang="en-US">
                <a:sym typeface="+mn-ea"/>
              </a:rPr>
              <a:t>精彩案例赏析</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5" name="Content Placeholder 2"/>
          <p:cNvSpPr>
            <a:spLocks noGrp="1"/>
          </p:cNvSpPr>
          <p:nvPr>
            <p:ph idx="1"/>
          </p:nvPr>
        </p:nvSpPr>
        <p:spPr>
          <a:xfrm>
            <a:off x="749300" y="1290955"/>
            <a:ext cx="10852785" cy="4780280"/>
          </a:xfrm>
        </p:spPr>
        <p:txBody>
          <a:bodyPr>
            <a:normAutofit lnSpcReduction="20000"/>
          </a:bodyPr>
          <a:p>
            <a:pPr marL="377825" indent="-377825" fontAlgn="base">
              <a:lnSpc>
                <a:spcPct val="150000"/>
              </a:lnSpc>
              <a:spcBef>
                <a:spcPts val="0"/>
              </a:spcBef>
              <a:buFont typeface="Wingdings" panose="05000000000000000000" charset="0"/>
              <a:buChar char=""/>
            </a:pPr>
            <a:r>
              <a:rPr lang="zh-CN" altLang="en-US" sz="2400" b="1" strike="noStrike" noProof="1"/>
              <a:t>例</a:t>
            </a:r>
            <a:r>
              <a:rPr lang="en-US" altLang="zh-CN" sz="2400" b="1" strike="noStrike" noProof="1"/>
              <a:t>7-3</a:t>
            </a:r>
            <a:r>
              <a:rPr lang="en-US" altLang="zh-CN" sz="2400" strike="noStrike" noProof="1"/>
              <a:t>  </a:t>
            </a:r>
            <a:r>
              <a:rPr lang="en-US" sz="2400" strike="noStrike" noProof="1"/>
              <a:t>检查并判断密码字符串的安全强度。</a:t>
            </a:r>
            <a:r>
              <a:rPr lang="en-US" sz="2400" strike="noStrike" noProof="1">
                <a:hlinkClick r:id="rId1" action="ppaction://hlinkfile"/>
              </a:rPr>
              <a:t>code\例7-3.py</a:t>
            </a:r>
            <a:endParaRPr lang="zh-CN" altLang="en-US" sz="2400" strike="noStrike" noProof="1"/>
          </a:p>
          <a:p>
            <a:pPr marL="0" indent="0" fontAlgn="base">
              <a:buNone/>
            </a:pPr>
            <a:endParaRPr lang="en-US" sz="1600" strike="noStrike" noProof="1"/>
          </a:p>
          <a:p>
            <a:pPr marL="0" indent="0" fontAlgn="base">
              <a:buNone/>
            </a:pPr>
            <a:r>
              <a:rPr lang="en-US" sz="2000" strike="noStrike" noProof="1">
                <a:latin typeface="Consolas" panose="020B0609020204030204" charset="0"/>
              </a:rPr>
              <a:t>import string</a:t>
            </a:r>
            <a:endParaRPr lang="en-US" sz="2000" strike="noStrike" noProof="1">
              <a:latin typeface="Consolas" panose="020B0609020204030204" charset="0"/>
            </a:endParaRPr>
          </a:p>
          <a:p>
            <a:pPr marL="0" indent="0" fontAlgn="base">
              <a:buNone/>
            </a:pPr>
            <a:endParaRPr lang="en-US" sz="2000" strike="noStrike" noProof="1">
              <a:latin typeface="Consolas" panose="020B0609020204030204" charset="0"/>
            </a:endParaRPr>
          </a:p>
          <a:p>
            <a:pPr marL="0" indent="0" fontAlgn="base">
              <a:buNone/>
            </a:pPr>
            <a:r>
              <a:rPr lang="en-US" sz="2000" strike="noStrike" noProof="1">
                <a:latin typeface="Consolas" panose="020B0609020204030204" charset="0"/>
              </a:rPr>
              <a:t>def check(pwd):</a:t>
            </a:r>
            <a:endParaRPr lang="en-US" sz="2000" strike="noStrike" noProof="1">
              <a:latin typeface="Consolas" panose="020B0609020204030204" charset="0"/>
            </a:endParaRPr>
          </a:p>
          <a:p>
            <a:pPr marL="0" indent="0" fontAlgn="base">
              <a:buNone/>
            </a:pPr>
            <a:r>
              <a:rPr lang="en-US" sz="2000" strike="noStrike" noProof="1">
                <a:latin typeface="Consolas" panose="020B0609020204030204" charset="0"/>
              </a:rPr>
              <a:t>    # 密码必须至少包含6个字符</a:t>
            </a:r>
            <a:endParaRPr lang="en-US" sz="2000" strike="noStrike" noProof="1">
              <a:latin typeface="Consolas" panose="020B0609020204030204" charset="0"/>
            </a:endParaRPr>
          </a:p>
          <a:p>
            <a:pPr marL="0" indent="0" fontAlgn="base">
              <a:buNone/>
            </a:pPr>
            <a:r>
              <a:rPr lang="en-US" sz="2000" strike="noStrike" noProof="1">
                <a:latin typeface="Consolas" panose="020B0609020204030204" charset="0"/>
              </a:rPr>
              <a:t>    if not isinstance(pwd, str) or len(pwd)&lt;6:</a:t>
            </a:r>
            <a:endParaRPr lang="en-US" sz="2000" strike="noStrike" noProof="1">
              <a:latin typeface="Consolas" panose="020B0609020204030204" charset="0"/>
            </a:endParaRPr>
          </a:p>
          <a:p>
            <a:pPr marL="0" indent="0" fontAlgn="base">
              <a:buNone/>
            </a:pPr>
            <a:r>
              <a:rPr lang="en-US" sz="2000" strike="noStrike" noProof="1">
                <a:latin typeface="Consolas" panose="020B0609020204030204" charset="0"/>
              </a:rPr>
              <a:t>        return 'not suitable for password'</a:t>
            </a:r>
            <a:endParaRPr lang="en-US" sz="2000" strike="noStrike" noProof="1">
              <a:latin typeface="Consolas" panose="020B0609020204030204" charset="0"/>
            </a:endParaRPr>
          </a:p>
          <a:p>
            <a:pPr marL="0" indent="0" fontAlgn="base">
              <a:buNone/>
            </a:pPr>
            <a:r>
              <a:rPr lang="en-US" sz="2000" strike="noStrike" noProof="1">
                <a:latin typeface="Consolas" panose="020B0609020204030204" charset="0"/>
              </a:rPr>
              <a:t>    # 密码强度等级与包含字符种类的对应关系</a:t>
            </a:r>
            <a:endParaRPr lang="en-US" sz="2000" strike="noStrike" noProof="1">
              <a:latin typeface="Consolas" panose="020B0609020204030204" charset="0"/>
            </a:endParaRPr>
          </a:p>
          <a:p>
            <a:pPr marL="0" indent="0" fontAlgn="base">
              <a:buNone/>
            </a:pPr>
            <a:r>
              <a:rPr lang="en-US" sz="2000" strike="noStrike" noProof="1">
                <a:latin typeface="Consolas" panose="020B0609020204030204" charset="0"/>
              </a:rPr>
              <a:t>    d = {1:'weak', 2:'below middle', 3:'above middle', 4:'strong'}</a:t>
            </a:r>
            <a:endParaRPr lang="en-US" sz="2000" strike="noStrike" noProof="1">
              <a:latin typeface="Consolas" panose="020B0609020204030204" charset="0"/>
            </a:endParaRPr>
          </a:p>
          <a:p>
            <a:pPr marL="0" indent="0" fontAlgn="base">
              <a:buNone/>
            </a:pPr>
            <a:r>
              <a:rPr lang="en-US" sz="2000" strike="noStrike" noProof="1">
                <a:latin typeface="Consolas" panose="020B0609020204030204" charset="0"/>
              </a:rPr>
              <a:t>    # 分别用来标记pwd是否含有数字、小写字母、大写字母和指定的标点符号</a:t>
            </a:r>
            <a:endParaRPr lang="en-US" sz="2000" strike="noStrike" noProof="1">
              <a:latin typeface="Consolas" panose="020B0609020204030204" charset="0"/>
            </a:endParaRPr>
          </a:p>
          <a:p>
            <a:pPr marL="0" indent="0" fontAlgn="base">
              <a:buNone/>
            </a:pPr>
            <a:r>
              <a:rPr lang="en-US" sz="2000" strike="noStrike" noProof="1">
                <a:latin typeface="Consolas" panose="020B0609020204030204" charset="0"/>
              </a:rPr>
              <a:t>    r = [False] * 4</a:t>
            </a:r>
            <a:endParaRPr lang="en-US" sz="2000" strike="noStrike" noProof="1">
              <a:latin typeface="Consolas" panose="020B0609020204030204"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7.8  </a:t>
            </a:r>
            <a:r>
              <a:rPr lang="zh-CN" altLang="en-US">
                <a:sym typeface="+mn-ea"/>
              </a:rPr>
              <a:t>精彩案例赏析</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82945" name="Content Placeholder 2"/>
          <p:cNvSpPr>
            <a:spLocks noGrp="1"/>
          </p:cNvSpPr>
          <p:nvPr>
            <p:ph idx="1"/>
          </p:nvPr>
        </p:nvSpPr>
        <p:spPr/>
        <p:txBody>
          <a:bodyPr anchor="t">
            <a:noAutofit/>
          </a:bodyPr>
          <a:p>
            <a:pPr marL="0" indent="0">
              <a:spcBef>
                <a:spcPct val="0"/>
              </a:spcBef>
              <a:buNone/>
            </a:pPr>
            <a:r>
              <a:rPr lang="en-US" altLang="en-US" sz="2000">
                <a:latin typeface="Consolas" panose="020B0609020204030204" charset="0"/>
              </a:rPr>
              <a:t>    for ch in pwd:</a:t>
            </a:r>
            <a:endParaRPr lang="en-US" altLang="en-US" sz="2000">
              <a:latin typeface="Consolas" panose="020B0609020204030204" charset="0"/>
            </a:endParaRPr>
          </a:p>
          <a:p>
            <a:pPr marL="0" indent="0">
              <a:spcBef>
                <a:spcPct val="0"/>
              </a:spcBef>
              <a:buNone/>
            </a:pPr>
            <a:r>
              <a:rPr lang="en-US" altLang="en-US" sz="2000">
                <a:latin typeface="Consolas" panose="020B0609020204030204" charset="0"/>
              </a:rPr>
              <a:t>        # 是否包含数字</a:t>
            </a:r>
            <a:endParaRPr lang="en-US" altLang="en-US" sz="2000">
              <a:latin typeface="Consolas" panose="020B0609020204030204" charset="0"/>
            </a:endParaRPr>
          </a:p>
          <a:p>
            <a:pPr marL="0" indent="0">
              <a:spcBef>
                <a:spcPct val="0"/>
              </a:spcBef>
              <a:buNone/>
            </a:pPr>
            <a:r>
              <a:rPr lang="en-US" altLang="en-US" sz="2000">
                <a:latin typeface="Consolas" panose="020B0609020204030204" charset="0"/>
              </a:rPr>
              <a:t>        if not r[0] and ch in string.digits:</a:t>
            </a:r>
            <a:endParaRPr lang="en-US" altLang="en-US" sz="2000">
              <a:latin typeface="Consolas" panose="020B0609020204030204" charset="0"/>
            </a:endParaRPr>
          </a:p>
          <a:p>
            <a:pPr marL="0" indent="0">
              <a:spcBef>
                <a:spcPct val="0"/>
              </a:spcBef>
              <a:buNone/>
            </a:pPr>
            <a:r>
              <a:rPr lang="en-US" altLang="en-US" sz="2000">
                <a:latin typeface="Consolas" panose="020B0609020204030204" charset="0"/>
              </a:rPr>
              <a:t>            r[0] = True</a:t>
            </a:r>
            <a:endParaRPr lang="en-US" altLang="en-US" sz="2000">
              <a:latin typeface="Consolas" panose="020B0609020204030204" charset="0"/>
            </a:endParaRPr>
          </a:p>
          <a:p>
            <a:pPr marL="0" indent="0">
              <a:spcBef>
                <a:spcPct val="0"/>
              </a:spcBef>
              <a:buNone/>
            </a:pPr>
            <a:r>
              <a:rPr lang="en-US" altLang="en-US" sz="2000">
                <a:latin typeface="Consolas" panose="020B0609020204030204" charset="0"/>
              </a:rPr>
              <a:t>        # 是否包含小写字母</a:t>
            </a:r>
            <a:endParaRPr lang="en-US" altLang="en-US" sz="2000">
              <a:latin typeface="Consolas" panose="020B0609020204030204" charset="0"/>
            </a:endParaRPr>
          </a:p>
          <a:p>
            <a:pPr marL="0" indent="0">
              <a:spcBef>
                <a:spcPct val="0"/>
              </a:spcBef>
              <a:buNone/>
            </a:pPr>
            <a:r>
              <a:rPr lang="en-US" altLang="en-US" sz="2000">
                <a:latin typeface="Consolas" panose="020B0609020204030204" charset="0"/>
              </a:rPr>
              <a:t>        elif not r[1] and ch in string.ascii_lowercase:</a:t>
            </a:r>
            <a:endParaRPr lang="en-US" altLang="en-US" sz="2000">
              <a:latin typeface="Consolas" panose="020B0609020204030204" charset="0"/>
            </a:endParaRPr>
          </a:p>
          <a:p>
            <a:pPr marL="0" indent="0">
              <a:spcBef>
                <a:spcPct val="0"/>
              </a:spcBef>
              <a:buNone/>
            </a:pPr>
            <a:r>
              <a:rPr lang="en-US" altLang="en-US" sz="2000">
                <a:latin typeface="Consolas" panose="020B0609020204030204" charset="0"/>
              </a:rPr>
              <a:t>            r[1] = True</a:t>
            </a:r>
            <a:endParaRPr lang="en-US" altLang="en-US" sz="2000">
              <a:latin typeface="Consolas" panose="020B0609020204030204" charset="0"/>
            </a:endParaRPr>
          </a:p>
          <a:p>
            <a:pPr marL="0" indent="0">
              <a:spcBef>
                <a:spcPct val="0"/>
              </a:spcBef>
              <a:buNone/>
            </a:pPr>
            <a:r>
              <a:rPr lang="en-US" altLang="en-US" sz="2000">
                <a:latin typeface="Consolas" panose="020B0609020204030204" charset="0"/>
              </a:rPr>
              <a:t>        # 是否包含大写字母</a:t>
            </a:r>
            <a:endParaRPr lang="en-US" altLang="en-US" sz="2000">
              <a:latin typeface="Consolas" panose="020B0609020204030204" charset="0"/>
            </a:endParaRPr>
          </a:p>
          <a:p>
            <a:pPr marL="0" indent="0">
              <a:spcBef>
                <a:spcPct val="0"/>
              </a:spcBef>
              <a:buNone/>
            </a:pPr>
            <a:r>
              <a:rPr lang="en-US" altLang="en-US" sz="2000">
                <a:latin typeface="Consolas" panose="020B0609020204030204" charset="0"/>
              </a:rPr>
              <a:t>        elif not r[2] and ch in string.ascii_uppercase:</a:t>
            </a:r>
            <a:endParaRPr lang="en-US" altLang="en-US" sz="2000">
              <a:latin typeface="Consolas" panose="020B0609020204030204" charset="0"/>
            </a:endParaRPr>
          </a:p>
          <a:p>
            <a:pPr marL="0" indent="0">
              <a:spcBef>
                <a:spcPct val="0"/>
              </a:spcBef>
              <a:buNone/>
            </a:pPr>
            <a:r>
              <a:rPr lang="en-US" altLang="en-US" sz="2000">
                <a:latin typeface="Consolas" panose="020B0609020204030204" charset="0"/>
              </a:rPr>
              <a:t>            r[2] = True</a:t>
            </a:r>
            <a:endParaRPr lang="en-US" altLang="en-US" sz="2000">
              <a:latin typeface="Consolas" panose="020B0609020204030204" charset="0"/>
            </a:endParaRPr>
          </a:p>
          <a:p>
            <a:pPr marL="0" indent="0">
              <a:spcBef>
                <a:spcPct val="0"/>
              </a:spcBef>
              <a:buNone/>
            </a:pPr>
            <a:r>
              <a:rPr lang="en-US" altLang="en-US" sz="2000">
                <a:latin typeface="Consolas" panose="020B0609020204030204" charset="0"/>
              </a:rPr>
              <a:t>        # 是否包含指定的标点符号</a:t>
            </a:r>
            <a:endParaRPr lang="en-US" altLang="en-US" sz="2000">
              <a:latin typeface="Consolas" panose="020B0609020204030204" charset="0"/>
            </a:endParaRPr>
          </a:p>
          <a:p>
            <a:pPr marL="0" indent="0">
              <a:spcBef>
                <a:spcPct val="0"/>
              </a:spcBef>
              <a:buNone/>
            </a:pPr>
            <a:r>
              <a:rPr lang="en-US" altLang="en-US" sz="2000">
                <a:latin typeface="Consolas" panose="020B0609020204030204" charset="0"/>
              </a:rPr>
              <a:t>        elif not r[3] and ch in ',.!;?&lt;&gt;':</a:t>
            </a:r>
            <a:endParaRPr lang="en-US" altLang="en-US" sz="2000">
              <a:latin typeface="Consolas" panose="020B0609020204030204" charset="0"/>
            </a:endParaRPr>
          </a:p>
          <a:p>
            <a:pPr marL="0" indent="0">
              <a:spcBef>
                <a:spcPct val="0"/>
              </a:spcBef>
              <a:buNone/>
            </a:pPr>
            <a:r>
              <a:rPr lang="en-US" altLang="en-US" sz="2000">
                <a:latin typeface="Consolas" panose="020B0609020204030204" charset="0"/>
              </a:rPr>
              <a:t>            r[3] = True</a:t>
            </a:r>
            <a:endParaRPr lang="en-US" altLang="en-US" sz="2000">
              <a:latin typeface="Consolas" panose="020B0609020204030204" charset="0"/>
            </a:endParaRPr>
          </a:p>
          <a:p>
            <a:pPr marL="0" indent="0">
              <a:spcBef>
                <a:spcPct val="0"/>
              </a:spcBef>
              <a:buNone/>
            </a:pPr>
            <a:r>
              <a:rPr lang="en-US" altLang="en-US" sz="2000">
                <a:latin typeface="Consolas" panose="020B0609020204030204" charset="0"/>
              </a:rPr>
              <a:t>    # 统计包含的字符种类，返回密码强度</a:t>
            </a:r>
            <a:endParaRPr lang="en-US" altLang="en-US" sz="2000">
              <a:latin typeface="Consolas" panose="020B0609020204030204" charset="0"/>
            </a:endParaRPr>
          </a:p>
          <a:p>
            <a:pPr marL="0" indent="0">
              <a:spcBef>
                <a:spcPct val="0"/>
              </a:spcBef>
              <a:buNone/>
            </a:pPr>
            <a:r>
              <a:rPr lang="en-US" altLang="en-US" sz="2000">
                <a:latin typeface="Consolas" panose="020B0609020204030204" charset="0"/>
              </a:rPr>
              <a:t>    return d.get(r.count(True), 'error')</a:t>
            </a:r>
            <a:endParaRPr lang="en-US" altLang="en-US" sz="2000">
              <a:latin typeface="Consolas" panose="020B0609020204030204" charset="0"/>
            </a:endParaRPr>
          </a:p>
          <a:p>
            <a:pPr marL="0" indent="0">
              <a:spcBef>
                <a:spcPct val="0"/>
              </a:spcBef>
              <a:buNone/>
            </a:pPr>
            <a:endParaRPr lang="en-US" altLang="en-US" sz="2000">
              <a:latin typeface="Consolas" panose="020B0609020204030204" charset="0"/>
            </a:endParaRPr>
          </a:p>
          <a:p>
            <a:pPr marL="0" indent="0">
              <a:spcBef>
                <a:spcPct val="0"/>
              </a:spcBef>
              <a:buNone/>
            </a:pPr>
            <a:r>
              <a:rPr lang="en-US" altLang="en-US" sz="2000">
                <a:latin typeface="Consolas" panose="020B0609020204030204" charset="0"/>
              </a:rPr>
              <a:t>print(check('a2Cd,'))</a:t>
            </a:r>
            <a:endParaRPr lang="en-US" altLang="en-US" sz="2000">
              <a:latin typeface="Consolas" panose="020B0609020204030204" charset="0"/>
            </a:endParaRPr>
          </a:p>
        </p:txBody>
      </p:sp>
    </p:spTree>
  </p:cSld>
  <p:clrMapOvr>
    <a:masterClrMapping/>
  </p:clrMapOvr>
</p:sld>
</file>

<file path=ppt/tags/tag1.xml><?xml version="1.0" encoding="utf-8"?>
<p:tagLst xmlns:p="http://schemas.openxmlformats.org/presentationml/2006/main">
  <p:tag name="KSO_WM_UNIT_TABLE_BEAUTIFY" val="smartTable{5738a39d-2d79-4194-b562-421ce7f9f784}"/>
  <p:tag name="TABLE_ENDDRAG_ORIGIN_RECT" val="737*299"/>
  <p:tag name="TABLE_ENDDRAG_RECT" val="76*120*737*299"/>
</p:tagLst>
</file>

<file path=ppt/tags/tag2.xml><?xml version="1.0" encoding="utf-8"?>
<p:tagLst xmlns:p="http://schemas.openxmlformats.org/presentationml/2006/main">
  <p:tag name="KSO_WM_UNIT_TABLE_BEAUTIFY" val="smartTable{4af25cbf-c605-4c3b-a72f-9004d19db88c}"/>
  <p:tag name="TABLE_ENDDRAG_ORIGIN_RECT" val="730*336"/>
  <p:tag name="TABLE_ENDDRAG_RECT" val="75*146*731*336"/>
</p:tagLst>
</file>

<file path=ppt/tags/tag3.xml><?xml version="1.0" encoding="utf-8"?>
<p:tagLst xmlns:p="http://schemas.openxmlformats.org/presentationml/2006/main">
  <p:tag name="KSO_WM_UNIT_TABLE_BEAUTIFY" val="smartTable{2031a99c-85bc-441f-8e70-6cb5e75652ce}"/>
  <p:tag name="TABLE_ENDDRAG_ORIGIN_RECT" val="751*368"/>
  <p:tag name="TABLE_ENDDRAG_RECT" val="65*112*751*368"/>
</p:tagLst>
</file>

<file path=ppt/tags/tag4.xml><?xml version="1.0" encoding="utf-8"?>
<p:tagLst xmlns:p="http://schemas.openxmlformats.org/presentationml/2006/main">
  <p:tag name="KSO_WM_UNIT_TABLE_BEAUTIFY" val="smartTable{d7426a86-b37a-4287-bf56-a87368ed7217}"/>
  <p:tag name="TABLE_ENDDRAG_ORIGIN_RECT" val="741*391"/>
  <p:tag name="TABLE_ENDDRAG_RECT" val="71*106*741*391"/>
</p:tagLst>
</file>

<file path=ppt/tags/tag5.xml><?xml version="1.0" encoding="utf-8"?>
<p:tagLst xmlns:p="http://schemas.openxmlformats.org/presentationml/2006/main">
  <p:tag name="KSO_WM_UNIT_TABLE_BEAUTIFY" val="smartTable{9b76bf0e-61a5-43b5-9305-60f1b8a655bc}"/>
  <p:tag name="TABLE_ENDDRAG_ORIGIN_RECT" val="744*377"/>
  <p:tag name="TABLE_ENDDRAG_RECT" val="67*105*744*377"/>
</p:tagLst>
</file>

<file path=ppt/tags/tag6.xml><?xml version="1.0" encoding="utf-8"?>
<p:tagLst xmlns:p="http://schemas.openxmlformats.org/presentationml/2006/main">
  <p:tag name="KSO_WM_UNIT_TABLE_BEAUTIFY" val="smartTable{42d010b4-0942-4a37-883b-dc302a8eb687}"/>
  <p:tag name="TABLE_ENDDRAG_ORIGIN_RECT" val="747*409"/>
  <p:tag name="TABLE_ENDDRAG_RECT" val="67*109*747*409"/>
</p:tagLst>
</file>

<file path=ppt/tags/tag7.xml><?xml version="1.0" encoding="utf-8"?>
<p:tagLst xmlns:p="http://schemas.openxmlformats.org/presentationml/2006/main">
  <p:tag name="KSO_WPP_MARK_KEY" val="eeb35c47-6213-43d2-8926-f8a182a87ca7"/>
  <p:tag name="COMMONDATA" val="eyJoZGlkIjoiZWMwMWVkZjUwNGEzMTlmNGFmZGY4NzhhZDIwNTc5Zm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22129</Words>
  <Application>WPS 演示</Application>
  <PresentationFormat>宽屏</PresentationFormat>
  <Paragraphs>1124</Paragraphs>
  <Slides>66</Slides>
  <Notes>0</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66</vt:i4>
      </vt:variant>
    </vt:vector>
  </HeadingPairs>
  <TitlesOfParts>
    <vt:vector size="78" baseType="lpstr">
      <vt:lpstr>Arial</vt:lpstr>
      <vt:lpstr>宋体</vt:lpstr>
      <vt:lpstr>Wingdings</vt:lpstr>
      <vt:lpstr>Consolas</vt:lpstr>
      <vt:lpstr>Wingdings</vt:lpstr>
      <vt:lpstr>Calibri Light</vt:lpstr>
      <vt:lpstr>Calibri</vt:lpstr>
      <vt:lpstr>微软雅黑</vt:lpstr>
      <vt:lpstr>Arial Unicode MS</vt:lpstr>
      <vt:lpstr>Times New Roman</vt:lpstr>
      <vt:lpstr>Office 主题</vt:lpstr>
      <vt:lpstr>Paint.Picture</vt:lpstr>
      <vt:lpstr>第7章  字符串</vt:lpstr>
      <vt:lpstr>第7章  字符串</vt:lpstr>
      <vt:lpstr>第7章  字符串</vt:lpstr>
      <vt:lpstr>第7章  字符串</vt:lpstr>
      <vt:lpstr>7.1  字符串编码格式简介</vt:lpstr>
      <vt:lpstr>7.1  字符串编码格式简介</vt:lpstr>
      <vt:lpstr>7.1  字符串编码格式简介</vt:lpstr>
      <vt:lpstr>7.1  字符串编码格式简介</vt:lpstr>
      <vt:lpstr>7.1  字符串编码格式简介</vt:lpstr>
      <vt:lpstr>7.1  字符串编码格式简介</vt:lpstr>
      <vt:lpstr>7.2  转义字符与原始字符串</vt:lpstr>
      <vt:lpstr>7.2  转义字符与原始字符串</vt:lpstr>
      <vt:lpstr>7.2  转义字符与原始字符串</vt:lpstr>
      <vt:lpstr>7.2  转义字符与原始字符串</vt:lpstr>
      <vt:lpstr>7.3  字符串格式化</vt:lpstr>
      <vt:lpstr>7.3.1  使用%运算符进行格式化</vt:lpstr>
      <vt:lpstr>7.3.1  使用%运算符进行格式化</vt:lpstr>
      <vt:lpstr>7.3.1  使用%运算符进行格式化</vt:lpstr>
      <vt:lpstr>7.3.2  使用format()方法进行格式化</vt:lpstr>
      <vt:lpstr>7.3.2  使用format()方法进行格式化</vt:lpstr>
      <vt:lpstr>7.3.2  使用format()方法进行格式化</vt:lpstr>
      <vt:lpstr>7.3.2  使用format()方法进行格式化</vt:lpstr>
      <vt:lpstr>7.3.3  格式化的字符串常量</vt:lpstr>
      <vt:lpstr>7.3.3  格式化的字符串常量</vt:lpstr>
      <vt:lpstr>7.3.3  格式化的字符串常量</vt:lpstr>
      <vt:lpstr>7.4  字符串常用操作</vt:lpstr>
      <vt:lpstr>7.4  字符串常用操作</vt:lpstr>
      <vt:lpstr>7.4  字符串常用操作</vt:lpstr>
      <vt:lpstr>7.4  字符串常用操作</vt:lpstr>
      <vt:lpstr>7.4  字符串常用操作</vt:lpstr>
      <vt:lpstr>7.4.1  find()、rfind()、index()、rindex()、count()</vt:lpstr>
      <vt:lpstr>7.4.1  find()、rfind()、index()、rindex()、count()</vt:lpstr>
      <vt:lpstr>7.4.2  split()、rsplit()</vt:lpstr>
      <vt:lpstr>7.4.2  split()、rsplit()</vt:lpstr>
      <vt:lpstr>7.4.2  split()、rsplit()</vt:lpstr>
      <vt:lpstr>7.4.2  split()、rsplit()</vt:lpstr>
      <vt:lpstr>7.4.2  split()、rsplit()</vt:lpstr>
      <vt:lpstr>7.4.3  join()</vt:lpstr>
      <vt:lpstr>7.4.3  join()</vt:lpstr>
      <vt:lpstr>7.4.4  lower()、upper()、capitalize()、title()、swapcase()</vt:lpstr>
      <vt:lpstr>7.4.5  replace()、maketrans()、translate()</vt:lpstr>
      <vt:lpstr>7.4.5  replace()、maketrans()、translate()</vt:lpstr>
      <vt:lpstr>7.4.5  replace()、maketrans()、translate()</vt:lpstr>
      <vt:lpstr>7.4.6  strip()、rstrip()、lstrip()</vt:lpstr>
      <vt:lpstr>7.4.6  strip()、rstrip()、lstrip()</vt:lpstr>
      <vt:lpstr>7.4.7  startswith()、endswith()</vt:lpstr>
      <vt:lpstr>7.4.8  isalnum()、isalpha()、isdigit()、isdecimal()、isnumeric()、isspace()、isupper()、islower()</vt:lpstr>
      <vt:lpstr>7.4.8  isalnum()、isalpha()、isdigit()、isdecimal()、isnumeric()、isspace()、isupper()、islower()</vt:lpstr>
      <vt:lpstr>7.4.9  center()、ljust()、rjust()</vt:lpstr>
      <vt:lpstr>7.4.10  字符串对象支持的运算符</vt:lpstr>
      <vt:lpstr>7.4.10  字符串对象支持的运算符</vt:lpstr>
      <vt:lpstr>7.4.10  字符串对象支持的运算符</vt:lpstr>
      <vt:lpstr>7.4.5  replace()、maketrans()、translate()</vt:lpstr>
      <vt:lpstr>7.4.11  适用于字符串对象的内置函数</vt:lpstr>
      <vt:lpstr>7.4.11  适用于字符串对象的内置函数</vt:lpstr>
      <vt:lpstr>7.4.11  适用于字符串对象的内置函数</vt:lpstr>
      <vt:lpstr>7.4.11  适用于字符串对象的内置函数</vt:lpstr>
      <vt:lpstr>7.4.12  字符串对象的切片操作</vt:lpstr>
      <vt:lpstr>7.5  字符串常量</vt:lpstr>
      <vt:lpstr>7.5  字符串常量</vt:lpstr>
      <vt:lpstr>7.6  中英文分词</vt:lpstr>
      <vt:lpstr>7.7  汉字到拼音的转换</vt:lpstr>
      <vt:lpstr>7.8  精彩案例赏析</vt:lpstr>
      <vt:lpstr>7.8  精彩案例赏析</vt:lpstr>
      <vt:lpstr>7.8  精彩案例赏析</vt:lpstr>
      <vt:lpstr>7.8  精彩案例赏析</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Dong</dc:creator>
  <cp:lastModifiedBy>文文</cp:lastModifiedBy>
  <cp:revision>423</cp:revision>
  <dcterms:created xsi:type="dcterms:W3CDTF">2015-05-05T08:02:00Z</dcterms:created>
  <dcterms:modified xsi:type="dcterms:W3CDTF">2025-05-08T01:50:36Z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2052-12.1.0.21171</vt:lpwstr>
  </property>
  <property fmtid="{D5CDD505-2E9C-101B-9397-08002B2CF9AE}" pid="3" name="ICV">
    <vt:lpwstr>ED6912BF05F140C7A8463A67BA35E284_13</vt:lpwstr>
  </property>
</Properties>
</file>