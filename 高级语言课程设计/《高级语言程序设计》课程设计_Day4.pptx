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547" r:id="rId2"/>
    <p:sldId id="588" r:id="rId3"/>
    <p:sldId id="574" r:id="rId4"/>
    <p:sldId id="575" r:id="rId5"/>
    <p:sldId id="576" r:id="rId6"/>
    <p:sldId id="577" r:id="rId7"/>
    <p:sldId id="578" r:id="rId8"/>
    <p:sldId id="579" r:id="rId9"/>
    <p:sldId id="580" r:id="rId10"/>
    <p:sldId id="590" r:id="rId1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ng" initials="D" lastIdx="1" clrIdx="0">
    <p:extLst>
      <p:ext uri="{19B8F6BF-5375-455C-9EA6-DF929625EA0E}">
        <p15:presenceInfo xmlns:p15="http://schemas.microsoft.com/office/powerpoint/2012/main" userId="c0dae3c0225ace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0FF00"/>
    <a:srgbClr val="000000"/>
    <a:srgbClr val="FF33CC"/>
    <a:srgbClr val="FF0000"/>
    <a:srgbClr val="FFFF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2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D797D23-B8E0-4ECE-A4D8-379C36FFDF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59D1B6A-953B-4E08-B013-6A32734132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8259552-4B8E-431D-AAF0-EB4804A91EAB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D47C2BE0-3916-4BC1-A5B6-AF7A4D25923C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noProof="0"/>
              <a:t>单击此处编辑母版文本样式</a:t>
            </a:r>
          </a:p>
          <a:p>
            <a:pPr lvl="1"/>
            <a:r>
              <a:rPr lang="zh-CN" altLang="zh-CN" noProof="0"/>
              <a:t>第二级</a:t>
            </a:r>
          </a:p>
          <a:p>
            <a:pPr lvl="2"/>
            <a:r>
              <a:rPr lang="zh-CN" altLang="zh-CN" noProof="0"/>
              <a:t>第三级</a:t>
            </a:r>
          </a:p>
          <a:p>
            <a:pPr lvl="3"/>
            <a:r>
              <a:rPr lang="zh-CN" altLang="zh-CN" noProof="0"/>
              <a:t>第四级</a:t>
            </a:r>
          </a:p>
          <a:p>
            <a:pPr lvl="4"/>
            <a:r>
              <a:rPr lang="zh-CN" altLang="zh-CN" noProof="0"/>
              <a:t>第五级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CAC8FEC-5CA2-49D4-84EF-F4AF435159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D915CC7-C322-43AD-B317-27AA4C0EB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609C2-2FD7-4825-8F42-B1D34E8A54B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4AB274-BCF5-4A1A-B30E-33E40C2F4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3F23E2-2000-45DC-98F6-A7BBF11960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0D9287-7CE1-4F9B-94E9-8C4EFB5D71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B0619-654D-4ADC-83D9-19D3F0E481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40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DD09A-31EC-4E9B-9967-7A1C1CF0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6451EAA-6CAE-48E3-A144-6884A2798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E7249-3C24-4171-B81E-E10CB97F3DB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8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FFB71-6B16-4C66-89CC-4CDE1582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14D41E6-C3A8-4F23-BF48-9550CDD234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1DC9A-D0DF-45BC-AA5C-3EFAD36151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994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827CA1-8F1E-48C9-83AF-9548D530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98B4889C-F7EA-4565-BE01-4A6927784F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C29F9-199F-431A-B387-C015FFD994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8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6A3D4F-1656-43EC-9301-5AE8E37B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8">
            <a:extLst>
              <a:ext uri="{FF2B5EF4-FFF2-40B4-BE49-F238E27FC236}">
                <a16:creationId xmlns:a16="http://schemas.microsoft.com/office/drawing/2014/main" id="{364BBF4F-B1EF-455A-85CF-EF5F94E83A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EA694-AF73-4F21-B49B-F9BCAF0A70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614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38D7D2-59D9-4059-AE46-92A07464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1D3ACB0F-97B6-4AF1-BEE4-AB55A206E5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08C5-27AA-4DA1-B0AA-E71676E8C0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24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E7839A-DFFA-4BFF-B117-D0284672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E2E6EA4B-F12F-4D26-89DA-F0DA95A79E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E2DE5-46F6-4408-865D-05AE1F5483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69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397D3F-21F0-439A-9D6F-3B0FB121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36EC318A-4602-4875-A945-49B2CB4E58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F5796-02BC-4AA2-A690-95C7D740B2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1805D-4C2C-492D-9D38-EC4574B2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51F058D3-6D02-4528-AFBE-99C8F85B7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C7929-A820-4229-BA8F-55FF1E7D77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30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4650C-DEB9-4335-93AB-8CB28387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668A402-A7F5-4CBD-80F9-EBB6D53A4A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35C23-489A-4EDE-A344-B8AB8714CB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70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21693-0514-472D-87D6-D8AA1D51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27A72D8-1604-48C3-9384-580C10D28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7C137-734B-4589-9CD0-B52F10793B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529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AD367-2C5D-4767-BF6F-9E8D6554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5F94A75-F1BF-4C53-AD8F-31034C0A8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5B00-2202-4BAF-9577-B9BCA87402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567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28774-EE17-47DB-AD5D-163237EA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C6C2D794-DA38-4ED1-B0EC-773E01AA3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5F686-5F8C-4F31-B213-52607044D3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9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0D00C8-2945-4D02-93FD-5CD76793C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95CAF6-8558-4669-BBE0-8BAB4BF14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B6A222-A7E2-45F5-AB4A-568E6472F0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089FAA-E83A-4CF7-876F-74690FA138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7675F0-B44A-4CF4-9600-BEF534E044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1DEE4F0-593B-4518-B70E-879717E8429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5" r:id="rId2"/>
    <p:sldLayoutId id="2147484226" r:id="rId3"/>
    <p:sldLayoutId id="2147484227" r:id="rId4"/>
    <p:sldLayoutId id="2147484228" r:id="rId5"/>
    <p:sldLayoutId id="2147484229" r:id="rId6"/>
    <p:sldLayoutId id="2147484230" r:id="rId7"/>
    <p:sldLayoutId id="2147484231" r:id="rId8"/>
    <p:sldLayoutId id="2147484232" r:id="rId9"/>
    <p:sldLayoutId id="2147484233" r:id="rId10"/>
    <p:sldLayoutId id="2147484234" r:id="rId11"/>
    <p:sldLayoutId id="2147484235" r:id="rId12"/>
    <p:sldLayoutId id="2147484236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23CDFB4C-B160-4023-B106-82B8CD3B4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62E54F-ECB6-47FE-B365-6A4293C2D8ED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D68ABC6-9FB8-49B9-A492-704442B70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2684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《</a:t>
            </a: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高级语言程序设计</a:t>
            </a: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》</a:t>
            </a:r>
            <a:b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</a:b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课程设计</a:t>
            </a:r>
          </a:p>
        </p:txBody>
      </p:sp>
      <p:sp>
        <p:nvSpPr>
          <p:cNvPr id="15364" name="副标题 2">
            <a:extLst>
              <a:ext uri="{FF2B5EF4-FFF2-40B4-BE49-F238E27FC236}">
                <a16:creationId xmlns:a16="http://schemas.microsoft.com/office/drawing/2014/main" id="{C8EA317F-EAE0-445E-9D96-AD3168F04509}"/>
              </a:ext>
            </a:extLst>
          </p:cNvPr>
          <p:cNvSpPr txBox="1">
            <a:spLocks/>
          </p:cNvSpPr>
          <p:nvPr/>
        </p:nvSpPr>
        <p:spPr bwMode="auto">
          <a:xfrm>
            <a:off x="1568450" y="4076700"/>
            <a:ext cx="6172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信息与计算科学系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2024-2025-2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学期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FC56A-A553-403F-9204-D07707F6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74638"/>
            <a:ext cx="8435975" cy="1143000"/>
          </a:xfrm>
        </p:spPr>
        <p:txBody>
          <a:bodyPr/>
          <a:lstStyle/>
          <a:p>
            <a:pPr algn="l">
              <a:defRPr/>
            </a:pPr>
            <a:r>
              <a:rPr lang="en-US" altLang="zh-CN" sz="3400" b="1" dirty="0">
                <a:cs typeface="+mn-cs"/>
              </a:rPr>
              <a:t>S5</a:t>
            </a:r>
            <a:r>
              <a:rPr lang="zh-CN" altLang="en-US" sz="3400" b="1" dirty="0">
                <a:cs typeface="+mn-cs"/>
              </a:rPr>
              <a:t>：基于多态性的个人银行账户管理程序的完善</a:t>
            </a:r>
          </a:p>
        </p:txBody>
      </p:sp>
      <p:sp>
        <p:nvSpPr>
          <p:cNvPr id="48131" name="灯片编号占位符 3">
            <a:extLst>
              <a:ext uri="{FF2B5EF4-FFF2-40B4-BE49-F238E27FC236}">
                <a16:creationId xmlns:a16="http://schemas.microsoft.com/office/drawing/2014/main" id="{2F3239B6-CE15-455E-AF1A-A37178305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EA1A06-985A-4A68-B725-7C473B89D39F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/>
          </a:p>
        </p:txBody>
      </p:sp>
      <p:sp>
        <p:nvSpPr>
          <p:cNvPr id="48132" name="内容占位符 2">
            <a:extLst>
              <a:ext uri="{FF2B5EF4-FFF2-40B4-BE49-F238E27FC236}">
                <a16:creationId xmlns:a16="http://schemas.microsoft.com/office/drawing/2014/main" id="{16AD3019-6CD8-45B1-90D5-4CCC60A4A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68760"/>
            <a:ext cx="8352928" cy="531460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的基础上进行改进：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SavingsAccount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类和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CreditAccount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类中增加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函数声明为虚函数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类定义为抽象类，在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类中添加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settle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这三个函数的声明，并将它们都声明为纯虚函数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、使用运算符重载，对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类进行修改，将原先用于计算两个日期相差天数的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函数改为“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”减号运算符，使得计算两个日期相差天数的写法更直观、增加程序可读性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>
            <a:extLst>
              <a:ext uri="{FF2B5EF4-FFF2-40B4-BE49-F238E27FC236}">
                <a16:creationId xmlns:a16="http://schemas.microsoft.com/office/drawing/2014/main" id="{102FE71C-0796-4E04-A829-ABE2F0228E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334294-3F1E-4527-B3BE-E1C9844DCFD1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38E111-1843-4C0B-9999-18272BE2811F}"/>
              </a:ext>
            </a:extLst>
          </p:cNvPr>
          <p:cNvSpPr txBox="1"/>
          <p:nvPr/>
        </p:nvSpPr>
        <p:spPr>
          <a:xfrm>
            <a:off x="467544" y="980728"/>
            <a:ext cx="8424936" cy="445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两个派生类</a:t>
            </a:r>
            <a:r>
              <a:rPr lang="en-US" altLang="zh-CN" sz="2400" dirty="0" err="1">
                <a:solidFill>
                  <a:srgbClr val="00B0F0"/>
                </a:solidFill>
              </a:rPr>
              <a:t>SavingsAccount</a:t>
            </a:r>
            <a:r>
              <a:rPr lang="zh-CN" altLang="en-US" sz="2400" dirty="0">
                <a:solidFill>
                  <a:srgbClr val="00B0F0"/>
                </a:solidFill>
              </a:rPr>
              <a:t>和</a:t>
            </a:r>
            <a:r>
              <a:rPr lang="en-US" altLang="zh-CN" sz="2400" dirty="0" err="1">
                <a:solidFill>
                  <a:srgbClr val="00B0F0"/>
                </a:solidFill>
              </a:rPr>
              <a:t>CreditAccount</a:t>
            </a:r>
            <a:r>
              <a:rPr lang="zh-CN" altLang="en-US" sz="2400" dirty="0"/>
              <a:t>虽然具有相同的成员函数</a:t>
            </a:r>
            <a:r>
              <a:rPr lang="en-US" altLang="zh-CN" sz="2400" dirty="0"/>
              <a:t>deposit, withdraw</a:t>
            </a:r>
            <a:r>
              <a:rPr lang="zh-CN" altLang="en-US" sz="2400" dirty="0"/>
              <a:t>和</a:t>
            </a:r>
            <a:r>
              <a:rPr lang="en-US" altLang="zh-CN" sz="2400" dirty="0"/>
              <a:t>settle</a:t>
            </a:r>
            <a:r>
              <a:rPr lang="zh-CN" altLang="en-US" sz="2400" dirty="0"/>
              <a:t>，但由于其实现不同，只能在派生类中给出它们的实现，因而它们是彼此独立的函数。</a:t>
            </a:r>
          </a:p>
          <a:p>
            <a:pPr algn="just"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需要明确知道一个对象的具体类型之后才能够调用它的</a:t>
            </a:r>
            <a:r>
              <a:rPr lang="en-US" altLang="zh-CN" sz="2400" dirty="0"/>
              <a:t>deposit</a:t>
            </a:r>
            <a:r>
              <a:rPr lang="zh-CN" altLang="en-US" sz="2400" dirty="0"/>
              <a:t>，</a:t>
            </a:r>
            <a:r>
              <a:rPr lang="en-US" altLang="zh-CN" sz="2400" dirty="0"/>
              <a:t>withdraw</a:t>
            </a:r>
            <a:r>
              <a:rPr lang="zh-CN" altLang="en-US" sz="2400" dirty="0"/>
              <a:t>和</a:t>
            </a:r>
            <a:r>
              <a:rPr lang="en-US" altLang="zh-CN" sz="2400" dirty="0"/>
              <a:t>settle</a:t>
            </a:r>
            <a:r>
              <a:rPr lang="zh-CN" altLang="en-US" sz="2400" dirty="0"/>
              <a:t>函数</a:t>
            </a:r>
          </a:p>
          <a:p>
            <a:pPr algn="just"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因此，不能将</a:t>
            </a:r>
            <a:r>
              <a:rPr lang="en-US" altLang="zh-CN" sz="2400" dirty="0"/>
              <a:t>3</a:t>
            </a:r>
            <a:r>
              <a:rPr lang="zh-CN" altLang="en-US" sz="2400" dirty="0"/>
              <a:t>个账户放在一个数组中进行操作。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:a16="http://schemas.microsoft.com/office/drawing/2014/main" id="{D5D825FB-3BD3-46EF-B9A0-5153F9D2DD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9150E8-5F40-4EF6-BE89-94CA23A6FCA9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7B45C1-FC1D-4FBF-9767-1D5109E56C58}"/>
              </a:ext>
            </a:extLst>
          </p:cNvPr>
          <p:cNvSpPr txBox="1"/>
          <p:nvPr/>
        </p:nvSpPr>
        <p:spPr>
          <a:xfrm>
            <a:off x="539552" y="980728"/>
            <a:ext cx="7837934" cy="445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B0F0"/>
                </a:solidFill>
              </a:rPr>
              <a:t>将</a:t>
            </a:r>
            <a:r>
              <a:rPr lang="en-US" altLang="zh-CN" sz="2400" dirty="0">
                <a:solidFill>
                  <a:srgbClr val="00B0F0"/>
                </a:solidFill>
              </a:rPr>
              <a:t>show</a:t>
            </a:r>
            <a:r>
              <a:rPr lang="zh-CN" altLang="en-US" sz="2400" dirty="0">
                <a:solidFill>
                  <a:srgbClr val="00B0F0"/>
                </a:solidFill>
              </a:rPr>
              <a:t>函数声明为虚函数</a:t>
            </a:r>
            <a:endParaRPr lang="en-US" altLang="zh-CN" sz="2400" dirty="0">
              <a:solidFill>
                <a:srgbClr val="00B0F0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通过指向</a:t>
            </a:r>
            <a:r>
              <a:rPr lang="en-US" altLang="zh-CN" sz="2400" dirty="0" err="1"/>
              <a:t>CreditAccount</a:t>
            </a:r>
            <a:r>
              <a:rPr lang="en-US" altLang="zh-CN" sz="2400" dirty="0"/>
              <a:t>/</a:t>
            </a:r>
            <a:r>
              <a:rPr lang="en-US" altLang="zh-CN" sz="2400" dirty="0" err="1"/>
              <a:t>SavingsAccount</a:t>
            </a:r>
            <a:r>
              <a:rPr lang="zh-CN" altLang="en-US" sz="2400" dirty="0"/>
              <a:t>类实例的</a:t>
            </a:r>
            <a:r>
              <a:rPr lang="en-US" altLang="zh-CN" sz="2400" dirty="0"/>
              <a:t>Account</a:t>
            </a:r>
            <a:r>
              <a:rPr lang="zh-CN" altLang="en-US" sz="2400" dirty="0"/>
              <a:t>类型的指针来调用</a:t>
            </a:r>
            <a:r>
              <a:rPr lang="en-US" altLang="zh-CN" sz="2400" dirty="0"/>
              <a:t>show</a:t>
            </a:r>
            <a:r>
              <a:rPr lang="zh-CN" altLang="en-US" sz="2400" dirty="0"/>
              <a:t>函数时，被实际调用的将是为</a:t>
            </a:r>
            <a:r>
              <a:rPr lang="en-US" altLang="zh-CN" sz="2400" dirty="0" err="1"/>
              <a:t>CreditAccount</a:t>
            </a:r>
            <a:r>
              <a:rPr lang="en-US" altLang="zh-CN" sz="2400" dirty="0"/>
              <a:t>/</a:t>
            </a:r>
            <a:r>
              <a:rPr lang="en-US" altLang="zh-CN" sz="2400" dirty="0" err="1"/>
              <a:t>SavingsAccount</a:t>
            </a:r>
            <a:r>
              <a:rPr lang="zh-CN" altLang="en-US" sz="2400" dirty="0"/>
              <a:t>类定义的</a:t>
            </a:r>
            <a:r>
              <a:rPr lang="en-US" altLang="zh-CN" sz="2400" dirty="0"/>
              <a:t>show</a:t>
            </a:r>
            <a:r>
              <a:rPr lang="zh-CN" altLang="en-US" sz="2400" dirty="0"/>
              <a:t>函数。</a:t>
            </a:r>
            <a:endParaRPr lang="en-US" altLang="zh-CN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如果创建一个</a:t>
            </a:r>
            <a:r>
              <a:rPr lang="en-US" altLang="zh-CN" sz="2400" dirty="0"/>
              <a:t>Account</a:t>
            </a:r>
            <a:r>
              <a:rPr lang="zh-CN" altLang="en-US" sz="2400" dirty="0"/>
              <a:t>指针类型的数组，使各个元素分别指向各个账户对象，就可以通过一个循环来调用它们的</a:t>
            </a:r>
            <a:r>
              <a:rPr lang="en-US" altLang="zh-CN" sz="2400" dirty="0"/>
              <a:t>show</a:t>
            </a:r>
            <a:r>
              <a:rPr lang="zh-CN" altLang="en-US" sz="2400" dirty="0"/>
              <a:t>函数。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:a16="http://schemas.microsoft.com/office/drawing/2014/main" id="{3CFA9A2E-CF6A-444A-9927-9DCBD9BC0A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4FC84F-33A9-4554-919B-C12C5F14A9EE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0A3596-B2F6-445A-8188-F48982BB793D}"/>
              </a:ext>
            </a:extLst>
          </p:cNvPr>
          <p:cNvSpPr txBox="1"/>
          <p:nvPr/>
        </p:nvSpPr>
        <p:spPr>
          <a:xfrm>
            <a:off x="827584" y="1052736"/>
            <a:ext cx="7704856" cy="389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在</a:t>
            </a:r>
            <a:r>
              <a:rPr lang="en-US" altLang="zh-CN" sz="2400" dirty="0"/>
              <a:t>Account</a:t>
            </a:r>
            <a:r>
              <a:rPr lang="zh-CN" altLang="en-US" sz="2400" dirty="0"/>
              <a:t>类中添加</a:t>
            </a:r>
            <a:r>
              <a:rPr lang="en-US" altLang="zh-CN" sz="2400" dirty="0"/>
              <a:t>deposit, withdraw, settle</a:t>
            </a:r>
            <a:r>
              <a:rPr lang="zh-CN" altLang="en-US" sz="2400" dirty="0"/>
              <a:t>这</a:t>
            </a:r>
            <a:r>
              <a:rPr lang="en-US" altLang="zh-CN" sz="2400" dirty="0"/>
              <a:t>3</a:t>
            </a:r>
            <a:r>
              <a:rPr lang="zh-CN" altLang="en-US" sz="2400" dirty="0"/>
              <a:t>个函数的声明，并将它们都声明为纯虚函数。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通过基类的指针可以调用派生类的相应函数，而不需要给出它们在基类中的实现。</a:t>
            </a:r>
          </a:p>
          <a:p>
            <a:pPr algn="just"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经过这一改动之后，</a:t>
            </a:r>
            <a:r>
              <a:rPr lang="en-US" altLang="zh-CN" sz="2400" dirty="0">
                <a:solidFill>
                  <a:srgbClr val="00B0F0"/>
                </a:solidFill>
              </a:rPr>
              <a:t>Account</a:t>
            </a:r>
            <a:r>
              <a:rPr lang="zh-CN" altLang="en-US" sz="2400" dirty="0">
                <a:solidFill>
                  <a:srgbClr val="00B0F0"/>
                </a:solidFill>
              </a:rPr>
              <a:t>类就变成了抽象类。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67651BF0-8F85-4450-B06B-EB9A2783DF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EB64C3-B439-4E85-BEE9-E064492D3B60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41076E-FBF1-4504-B715-5609488F0F54}"/>
              </a:ext>
            </a:extLst>
          </p:cNvPr>
          <p:cNvSpPr txBox="1"/>
          <p:nvPr/>
        </p:nvSpPr>
        <p:spPr>
          <a:xfrm>
            <a:off x="539552" y="548680"/>
            <a:ext cx="7560840" cy="556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需要注意的是，虽然这几个函数在两个派生类中的原型相同，但是两个派生类的</a:t>
            </a:r>
            <a:r>
              <a:rPr lang="en-US" altLang="zh-CN" sz="2400" dirty="0"/>
              <a:t>settle</a:t>
            </a:r>
            <a:r>
              <a:rPr lang="zh-CN" altLang="en-US" sz="2400" dirty="0"/>
              <a:t>函数对外接口存在着隐式的差异：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B0F0"/>
                </a:solidFill>
              </a:rPr>
              <a:t>virtual void settle(const Date&amp; date)=0;</a:t>
            </a:r>
          </a:p>
          <a:p>
            <a:pPr algn="just">
              <a:lnSpc>
                <a:spcPct val="150000"/>
              </a:lnSpc>
            </a:pP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储蓄账户一年结算一次，</a:t>
            </a:r>
            <a:r>
              <a:rPr lang="en-US" altLang="zh-CN" sz="2400" dirty="0" err="1"/>
              <a:t>SavingsAccount</a:t>
            </a:r>
            <a:r>
              <a:rPr lang="zh-CN" altLang="en-US" sz="2400" dirty="0"/>
              <a:t>类的</a:t>
            </a:r>
            <a:r>
              <a:rPr lang="en-US" altLang="zh-CN" sz="2400" dirty="0"/>
              <a:t>settle</a:t>
            </a:r>
            <a:r>
              <a:rPr lang="zh-CN" altLang="en-US" sz="2400" dirty="0"/>
              <a:t>函数需要对每年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1</a:t>
            </a:r>
            <a:r>
              <a:rPr lang="zh-CN" altLang="en-US" sz="2400" dirty="0"/>
              <a:t>日调用。</a:t>
            </a:r>
          </a:p>
          <a:p>
            <a:pPr algn="just"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信用账户一月结算一次，</a:t>
            </a:r>
            <a:r>
              <a:rPr lang="en-US" altLang="zh-CN" sz="2400" dirty="0" err="1"/>
              <a:t>CreditAccount</a:t>
            </a:r>
            <a:r>
              <a:rPr lang="zh-CN" altLang="en-US" sz="2400" dirty="0"/>
              <a:t>类的</a:t>
            </a:r>
            <a:r>
              <a:rPr lang="en-US" altLang="zh-CN" sz="2400" dirty="0"/>
              <a:t>settle</a:t>
            </a:r>
            <a:r>
              <a:rPr lang="zh-CN" altLang="en-US" sz="2400" dirty="0"/>
              <a:t>函数需要对每月</a:t>
            </a:r>
            <a:r>
              <a:rPr lang="en-US" altLang="zh-CN" sz="2400" dirty="0"/>
              <a:t>1</a:t>
            </a:r>
            <a:r>
              <a:rPr lang="zh-CN" altLang="en-US" sz="2400" dirty="0"/>
              <a:t>日调用。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内容占位符 2">
            <a:extLst>
              <a:ext uri="{FF2B5EF4-FFF2-40B4-BE49-F238E27FC236}">
                <a16:creationId xmlns:a16="http://schemas.microsoft.com/office/drawing/2014/main" id="{01B558A0-2846-433F-BCD9-2BE82CF8C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93" y="764704"/>
            <a:ext cx="8229600" cy="45259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dirty="0"/>
              <a:t>使用基类</a:t>
            </a:r>
            <a:r>
              <a:rPr lang="en-US" altLang="zh-CN" sz="2400" dirty="0"/>
              <a:t>Account</a:t>
            </a:r>
            <a:r>
              <a:rPr lang="zh-CN" altLang="en-US" sz="2400" dirty="0"/>
              <a:t>的指针来调用</a:t>
            </a:r>
            <a:r>
              <a:rPr lang="en-US" altLang="zh-CN" sz="2400" dirty="0"/>
              <a:t>settle</a:t>
            </a:r>
            <a:r>
              <a:rPr lang="zh-CN" altLang="en-US" sz="2400" dirty="0"/>
              <a:t>函数时，事先并不知道该指针所指向对象的具体类型，无法决定采用何种方式调用</a:t>
            </a:r>
            <a:r>
              <a:rPr lang="en-US" altLang="zh-CN" sz="2400" dirty="0"/>
              <a:t>settle</a:t>
            </a:r>
            <a:r>
              <a:rPr lang="zh-CN" altLang="en-US" sz="2400" dirty="0"/>
              <a:t>函数。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dirty="0"/>
              <a:t>每月</a:t>
            </a:r>
            <a:r>
              <a:rPr lang="en-US" altLang="zh-CN" sz="2400" dirty="0"/>
              <a:t>1</a:t>
            </a:r>
            <a:r>
              <a:rPr lang="zh-CN" altLang="en-US" sz="2400" dirty="0"/>
              <a:t>日？还是每年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1</a:t>
            </a:r>
            <a:r>
              <a:rPr lang="zh-CN" altLang="en-US" sz="2400" dirty="0"/>
              <a:t>日？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dirty="0"/>
              <a:t>因此</a:t>
            </a:r>
            <a:r>
              <a:rPr lang="zh-CN" altLang="en-US" sz="2400" b="1" dirty="0">
                <a:solidFill>
                  <a:srgbClr val="00B0F0"/>
                </a:solidFill>
              </a:rPr>
              <a:t>只能将二者的调用要求统一为对每月</a:t>
            </a:r>
            <a:r>
              <a:rPr lang="en-US" altLang="zh-CN" sz="2400" b="1" dirty="0">
                <a:solidFill>
                  <a:srgbClr val="00B0F0"/>
                </a:solidFill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</a:rPr>
              <a:t>日的调用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dirty="0"/>
              <a:t>同时对活期储蓄账户</a:t>
            </a:r>
            <a:r>
              <a:rPr lang="en-US" altLang="zh-CN" sz="2400" dirty="0" err="1"/>
              <a:t>SavingsAccount</a:t>
            </a:r>
            <a:r>
              <a:rPr lang="zh-CN" altLang="en-US" sz="2400" dirty="0"/>
              <a:t>类的</a:t>
            </a:r>
            <a:r>
              <a:rPr lang="en-US" altLang="zh-CN" sz="2400" dirty="0"/>
              <a:t>settle</a:t>
            </a:r>
            <a:r>
              <a:rPr lang="zh-CN" altLang="en-US" sz="2400" dirty="0"/>
              <a:t>函数进行修改，使它</a:t>
            </a:r>
            <a:r>
              <a:rPr lang="zh-CN" altLang="en-US" sz="2400" dirty="0">
                <a:solidFill>
                  <a:srgbClr val="00B0F0"/>
                </a:solidFill>
              </a:rPr>
              <a:t>在结算利息之前先判断是否为</a:t>
            </a:r>
            <a:r>
              <a:rPr lang="en-US" altLang="zh-CN" sz="2400" dirty="0">
                <a:solidFill>
                  <a:srgbClr val="00B0F0"/>
                </a:solidFill>
              </a:rPr>
              <a:t>1</a:t>
            </a:r>
            <a:r>
              <a:rPr lang="zh-CN" altLang="en-US" sz="2400" dirty="0">
                <a:solidFill>
                  <a:srgbClr val="00B0F0"/>
                </a:solidFill>
              </a:rPr>
              <a:t>月</a:t>
            </a:r>
            <a:r>
              <a:rPr lang="zh-CN" altLang="en-US" sz="2400" dirty="0"/>
              <a:t>，只有参数所给的日期是</a:t>
            </a:r>
            <a:r>
              <a:rPr lang="en-US" altLang="zh-CN" sz="2400" dirty="0"/>
              <a:t>1</a:t>
            </a:r>
            <a:r>
              <a:rPr lang="zh-CN" altLang="en-US" sz="2400" dirty="0"/>
              <a:t>月时才进行结算。</a:t>
            </a:r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6ACDDF5C-7817-4B1C-8B35-98349F358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EE6CB1-250A-4DC8-9D2A-1A7D35FD7BA2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>
            <a:extLst>
              <a:ext uri="{FF2B5EF4-FFF2-40B4-BE49-F238E27FC236}">
                <a16:creationId xmlns:a16="http://schemas.microsoft.com/office/drawing/2014/main" id="{C7669B03-8D4C-468D-8032-E2A3AA0476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6D479A-294A-4F7E-B494-4142E77BC688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3F8070-7412-4CEB-B25F-B9B4A9D9FAD6}"/>
              </a:ext>
            </a:extLst>
          </p:cNvPr>
          <p:cNvSpPr txBox="1"/>
          <p:nvPr/>
        </p:nvSpPr>
        <p:spPr>
          <a:xfrm>
            <a:off x="971600" y="1772816"/>
            <a:ext cx="6912768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经过以上修改后，对账户所做的各种操作都可以通过基类的指针来调用。</a:t>
            </a:r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把</a:t>
            </a:r>
            <a:r>
              <a:rPr lang="zh-CN" altLang="en-US" sz="2400" dirty="0">
                <a:solidFill>
                  <a:srgbClr val="00B0F0"/>
                </a:solidFill>
              </a:rPr>
              <a:t>各账户对象的指针都放在一个数组</a:t>
            </a:r>
            <a:r>
              <a:rPr lang="zh-CN" altLang="en-US" sz="2400" dirty="0"/>
              <a:t>中，只要给出数组索引，就能够对几个账户对象进行操作。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3">
            <a:extLst>
              <a:ext uri="{FF2B5EF4-FFF2-40B4-BE49-F238E27FC236}">
                <a16:creationId xmlns:a16="http://schemas.microsoft.com/office/drawing/2014/main" id="{EDD144E0-17FA-440E-B123-7324213CB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6E3123-CD53-449C-8A3A-3344F70856F3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BA861E-9779-4996-8F47-A89C3002D6AD}"/>
              </a:ext>
            </a:extLst>
          </p:cNvPr>
          <p:cNvSpPr txBox="1"/>
          <p:nvPr/>
        </p:nvSpPr>
        <p:spPr>
          <a:xfrm>
            <a:off x="573560" y="1844824"/>
            <a:ext cx="81132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使用运算符重载，对</a:t>
            </a:r>
            <a:r>
              <a:rPr lang="en-US" altLang="zh-CN" sz="2400" dirty="0"/>
              <a:t>Date</a:t>
            </a:r>
            <a:r>
              <a:rPr lang="zh-CN" altLang="en-US" sz="2400" dirty="0"/>
              <a:t>类进行修改：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将原先用来计算两日期相差天数的</a:t>
            </a:r>
            <a:r>
              <a:rPr lang="en-US" altLang="zh-CN" sz="2400" dirty="0"/>
              <a:t>distance</a:t>
            </a:r>
            <a:r>
              <a:rPr lang="zh-CN" altLang="en-US" sz="2400" dirty="0"/>
              <a:t>函数改为“</a:t>
            </a:r>
            <a:r>
              <a:rPr lang="en-US" altLang="zh-CN" sz="2400" dirty="0"/>
              <a:t>-”</a:t>
            </a:r>
            <a:r>
              <a:rPr lang="zh-CN" altLang="en-US" sz="2400" dirty="0"/>
              <a:t>运算符，使得计算两日期相差天数的写法更直观、增加程序的可读性。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>
            <a:extLst>
              <a:ext uri="{FF2B5EF4-FFF2-40B4-BE49-F238E27FC236}">
                <a16:creationId xmlns:a16="http://schemas.microsoft.com/office/drawing/2014/main" id="{5099CD41-B4DC-4DCE-BB68-BF724F875D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AD6F09-5476-4500-ACA5-862C302C2A30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/>
          </a:p>
        </p:txBody>
      </p:sp>
      <p:pic>
        <p:nvPicPr>
          <p:cNvPr id="56323" name="图片 5">
            <a:extLst>
              <a:ext uri="{FF2B5EF4-FFF2-40B4-BE49-F238E27FC236}">
                <a16:creationId xmlns:a16="http://schemas.microsoft.com/office/drawing/2014/main" id="{69FFD6F7-F3E2-4EFB-81B9-24B985387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228725"/>
            <a:ext cx="822007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14867</TotalTime>
  <Pages>0</Pages>
  <Words>644</Words>
  <Characters>0</Characters>
  <Application>Microsoft Office PowerPoint</Application>
  <DocSecurity>0</DocSecurity>
  <PresentationFormat>全屏显示(4:3)</PresentationFormat>
  <Lines>0</Lines>
  <Paragraphs>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默认设计模板</vt:lpstr>
      <vt:lpstr>《高级语言程序设计》 课程设计</vt:lpstr>
      <vt:lpstr>S5：基于多态性的个人银行账户管理程序的完善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广西师范大学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C++的初步知识 </dc:title>
  <dc:subject/>
  <dc:creator>赵建州</dc:creator>
  <cp:keywords/>
  <dc:description/>
  <cp:lastModifiedBy>yanrui ding</cp:lastModifiedBy>
  <cp:revision>609</cp:revision>
  <cp:lastPrinted>1899-12-30T00:00:00Z</cp:lastPrinted>
  <dcterms:created xsi:type="dcterms:W3CDTF">2007-08-16T07:56:20Z</dcterms:created>
  <dcterms:modified xsi:type="dcterms:W3CDTF">2025-07-02T23:45:01Z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2052-6.6.0.2461</vt:lpwstr>
  </property>
</Properties>
</file>